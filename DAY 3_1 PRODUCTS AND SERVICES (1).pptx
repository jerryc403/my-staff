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50"/>
  </p:notesMasterIdLst>
  <p:sldIdLst>
    <p:sldId id="256" r:id="rId5"/>
    <p:sldId id="313" r:id="rId6"/>
    <p:sldId id="324" r:id="rId7"/>
    <p:sldId id="323" r:id="rId8"/>
    <p:sldId id="305" r:id="rId9"/>
    <p:sldId id="327" r:id="rId10"/>
    <p:sldId id="258" r:id="rId11"/>
    <p:sldId id="367" r:id="rId12"/>
    <p:sldId id="359" r:id="rId13"/>
    <p:sldId id="371" r:id="rId14"/>
    <p:sldId id="261" r:id="rId15"/>
    <p:sldId id="262" r:id="rId16"/>
    <p:sldId id="263" r:id="rId17"/>
    <p:sldId id="352" r:id="rId18"/>
    <p:sldId id="329" r:id="rId19"/>
    <p:sldId id="330" r:id="rId20"/>
    <p:sldId id="331" r:id="rId21"/>
    <p:sldId id="366" r:id="rId22"/>
    <p:sldId id="365" r:id="rId23"/>
    <p:sldId id="360" r:id="rId24"/>
    <p:sldId id="364" r:id="rId25"/>
    <p:sldId id="334" r:id="rId26"/>
    <p:sldId id="335" r:id="rId27"/>
    <p:sldId id="336" r:id="rId28"/>
    <p:sldId id="337" r:id="rId29"/>
    <p:sldId id="339" r:id="rId30"/>
    <p:sldId id="372" r:id="rId31"/>
    <p:sldId id="340" r:id="rId32"/>
    <p:sldId id="341" r:id="rId33"/>
    <p:sldId id="342" r:id="rId34"/>
    <p:sldId id="343" r:id="rId35"/>
    <p:sldId id="358" r:id="rId36"/>
    <p:sldId id="344" r:id="rId37"/>
    <p:sldId id="345" r:id="rId38"/>
    <p:sldId id="346" r:id="rId39"/>
    <p:sldId id="347" r:id="rId40"/>
    <p:sldId id="348" r:id="rId41"/>
    <p:sldId id="349" r:id="rId42"/>
    <p:sldId id="368" r:id="rId43"/>
    <p:sldId id="369" r:id="rId44"/>
    <p:sldId id="370" r:id="rId45"/>
    <p:sldId id="350" r:id="rId46"/>
    <p:sldId id="351" r:id="rId47"/>
    <p:sldId id="338" r:id="rId48"/>
    <p:sldId id="259"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4765"/>
    <a:srgbClr val="FFD7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721732-6E21-94ED-39C0-AEC319558487}" v="244" dt="2026-05-18T09:36:07.270"/>
    <p1510:client id="{D71AFFCC-A809-DA25-25C2-5BE1D0F1FFEB}" v="629" dt="2026-05-19T07:04:08.731"/>
    <p1510:client id="{D9EC9FA6-289E-DFEF-2B13-03F0483F3C36}" v="9" dt="2026-05-18T08:31:16.5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notesMaster" Target="notesMasters/notesMaster1.xml"/><Relationship Id="rId55"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ob L. Tanza" userId="S::jacob.tanza@rafimfi.ph::c73ea2af-f0b0-4bcf-84a9-6cb204e3222c" providerId="AD" clId="Web-{8AACCBF6-F05D-5B14-A785-53AD034FC81E}"/>
    <pc:docChg chg="sldOrd">
      <pc:chgData name="Jacob L. Tanza" userId="S::jacob.tanza@rafimfi.ph::c73ea2af-f0b0-4bcf-84a9-6cb204e3222c" providerId="AD" clId="Web-{8AACCBF6-F05D-5B14-A785-53AD034FC81E}" dt="2026-05-06T01:34:06.410" v="1"/>
      <pc:docMkLst>
        <pc:docMk/>
      </pc:docMkLst>
      <pc:sldChg chg="ord">
        <pc:chgData name="Jacob L. Tanza" userId="S::jacob.tanza@rafimfi.ph::c73ea2af-f0b0-4bcf-84a9-6cb204e3222c" providerId="AD" clId="Web-{8AACCBF6-F05D-5B14-A785-53AD034FC81E}" dt="2026-05-06T01:34:06.410" v="1"/>
        <pc:sldMkLst>
          <pc:docMk/>
          <pc:sldMk cId="2000270683" sldId="259"/>
        </pc:sldMkLst>
      </pc:sldChg>
      <pc:sldChg chg="ord">
        <pc:chgData name="Jacob L. Tanza" userId="S::jacob.tanza@rafimfi.ph::c73ea2af-f0b0-4bcf-84a9-6cb204e3222c" providerId="AD" clId="Web-{8AACCBF6-F05D-5B14-A785-53AD034FC81E}" dt="2026-05-06T01:34:04.097" v="0"/>
        <pc:sldMkLst>
          <pc:docMk/>
          <pc:sldMk cId="3394640407" sldId="338"/>
        </pc:sldMkLst>
      </pc:sldChg>
    </pc:docChg>
  </pc:docChgLst>
  <pc:docChgLst>
    <pc:chgData name="Maria Li C. Batucan" userId="S::maria.li.batucan@rafimfi.ph::06cb95ed-ca05-4c8e-b044-d3bc0485864b" providerId="AD" clId="Web-{00721732-6E21-94ED-39C0-AEC319558487}"/>
    <pc:docChg chg="addSld delSld modSld">
      <pc:chgData name="Maria Li C. Batucan" userId="S::maria.li.batucan@rafimfi.ph::06cb95ed-ca05-4c8e-b044-d3bc0485864b" providerId="AD" clId="Web-{00721732-6E21-94ED-39C0-AEC319558487}" dt="2026-05-18T09:35:45.535" v="231"/>
      <pc:docMkLst>
        <pc:docMk/>
      </pc:docMkLst>
      <pc:sldChg chg="modSp">
        <pc:chgData name="Maria Li C. Batucan" userId="S::maria.li.batucan@rafimfi.ph::06cb95ed-ca05-4c8e-b044-d3bc0485864b" providerId="AD" clId="Web-{00721732-6E21-94ED-39C0-AEC319558487}" dt="2026-05-18T09:35:45.535" v="231"/>
        <pc:sldMkLst>
          <pc:docMk/>
          <pc:sldMk cId="2361638804" sldId="349"/>
        </pc:sldMkLst>
        <pc:graphicFrameChg chg="mod modGraphic">
          <ac:chgData name="Maria Li C. Batucan" userId="S::maria.li.batucan@rafimfi.ph::06cb95ed-ca05-4c8e-b044-d3bc0485864b" providerId="AD" clId="Web-{00721732-6E21-94ED-39C0-AEC319558487}" dt="2026-05-18T09:35:30.769" v="211"/>
          <ac:graphicFrameMkLst>
            <pc:docMk/>
            <pc:sldMk cId="2361638804" sldId="349"/>
            <ac:graphicFrameMk id="6" creationId="{F22EEEAF-7DA7-3526-D129-918423E3B5D4}"/>
          </ac:graphicFrameMkLst>
        </pc:graphicFrameChg>
        <pc:graphicFrameChg chg="mod modGraphic">
          <ac:chgData name="Maria Li C. Batucan" userId="S::maria.li.batucan@rafimfi.ph::06cb95ed-ca05-4c8e-b044-d3bc0485864b" providerId="AD" clId="Web-{00721732-6E21-94ED-39C0-AEC319558487}" dt="2026-05-18T09:35:45.535" v="231"/>
          <ac:graphicFrameMkLst>
            <pc:docMk/>
            <pc:sldMk cId="2361638804" sldId="349"/>
            <ac:graphicFrameMk id="8" creationId="{CACE9BE0-404F-04AE-8D79-6AA7CB66AB52}"/>
          </ac:graphicFrameMkLst>
        </pc:graphicFrameChg>
      </pc:sldChg>
      <pc:sldChg chg="addSp delSp modSp add replId">
        <pc:chgData name="Maria Li C. Batucan" userId="S::maria.li.batucan@rafimfi.ph::06cb95ed-ca05-4c8e-b044-d3bc0485864b" providerId="AD" clId="Web-{00721732-6E21-94ED-39C0-AEC319558487}" dt="2026-05-18T09:27:51.722" v="27" actId="1076"/>
        <pc:sldMkLst>
          <pc:docMk/>
          <pc:sldMk cId="999458260" sldId="368"/>
        </pc:sldMkLst>
        <pc:spChg chg="add del mod">
          <ac:chgData name="Maria Li C. Batucan" userId="S::maria.li.batucan@rafimfi.ph::06cb95ed-ca05-4c8e-b044-d3bc0485864b" providerId="AD" clId="Web-{00721732-6E21-94ED-39C0-AEC319558487}" dt="2026-05-18T09:27:39.815" v="26"/>
          <ac:spMkLst>
            <pc:docMk/>
            <pc:sldMk cId="999458260" sldId="368"/>
            <ac:spMk id="4" creationId="{28C4C6A4-0A42-727B-A709-5F6F58B88F8A}"/>
          </ac:spMkLst>
        </pc:spChg>
        <pc:spChg chg="del mod">
          <ac:chgData name="Maria Li C. Batucan" userId="S::maria.li.batucan@rafimfi.ph::06cb95ed-ca05-4c8e-b044-d3bc0485864b" providerId="AD" clId="Web-{00721732-6E21-94ED-39C0-AEC319558487}" dt="2026-05-18T09:25:43.061" v="9"/>
          <ac:spMkLst>
            <pc:docMk/>
            <pc:sldMk cId="999458260" sldId="368"/>
            <ac:spMk id="5" creationId="{5EA759EB-4E53-98AD-ADD8-B5D03E18E0F9}"/>
          </ac:spMkLst>
        </pc:spChg>
        <pc:spChg chg="del">
          <ac:chgData name="Maria Li C. Batucan" userId="S::maria.li.batucan@rafimfi.ph::06cb95ed-ca05-4c8e-b044-d3bc0485864b" providerId="AD" clId="Web-{00721732-6E21-94ED-39C0-AEC319558487}" dt="2026-05-18T09:25:46.186" v="10"/>
          <ac:spMkLst>
            <pc:docMk/>
            <pc:sldMk cId="999458260" sldId="368"/>
            <ac:spMk id="9" creationId="{3610860B-5DE9-1011-E313-2819C6D5B21F}"/>
          </ac:spMkLst>
        </pc:spChg>
        <pc:grpChg chg="del">
          <ac:chgData name="Maria Li C. Batucan" userId="S::maria.li.batucan@rafimfi.ph::06cb95ed-ca05-4c8e-b044-d3bc0485864b" providerId="AD" clId="Web-{00721732-6E21-94ED-39C0-AEC319558487}" dt="2026-05-18T09:26:28.500" v="22"/>
          <ac:grpSpMkLst>
            <pc:docMk/>
            <pc:sldMk cId="999458260" sldId="368"/>
            <ac:grpSpMk id="11" creationId="{435E24EE-1144-E70B-6BDD-E6C2F963A843}"/>
          </ac:grpSpMkLst>
        </pc:grpChg>
        <pc:graphicFrameChg chg="del">
          <ac:chgData name="Maria Li C. Batucan" userId="S::maria.li.batucan@rafimfi.ph::06cb95ed-ca05-4c8e-b044-d3bc0485864b" providerId="AD" clId="Web-{00721732-6E21-94ED-39C0-AEC319558487}" dt="2026-05-18T09:25:35.264" v="2"/>
          <ac:graphicFrameMkLst>
            <pc:docMk/>
            <pc:sldMk cId="999458260" sldId="368"/>
            <ac:graphicFrameMk id="6" creationId="{A586288C-7F51-0206-3E4D-A7CCCE28AB4A}"/>
          </ac:graphicFrameMkLst>
        </pc:graphicFrameChg>
        <pc:graphicFrameChg chg="del mod modGraphic">
          <ac:chgData name="Maria Li C. Batucan" userId="S::maria.li.batucan@rafimfi.ph::06cb95ed-ca05-4c8e-b044-d3bc0485864b" providerId="AD" clId="Web-{00721732-6E21-94ED-39C0-AEC319558487}" dt="2026-05-18T09:26:23.890" v="21"/>
          <ac:graphicFrameMkLst>
            <pc:docMk/>
            <pc:sldMk cId="999458260" sldId="368"/>
            <ac:graphicFrameMk id="8" creationId="{3916E43D-3E3B-7EC3-91B1-4F5A0D1BAD53}"/>
          </ac:graphicFrameMkLst>
        </pc:graphicFrameChg>
        <pc:picChg chg="del">
          <ac:chgData name="Maria Li C. Batucan" userId="S::maria.li.batucan@rafimfi.ph::06cb95ed-ca05-4c8e-b044-d3bc0485864b" providerId="AD" clId="Web-{00721732-6E21-94ED-39C0-AEC319558487}" dt="2026-05-18T09:25:40.326" v="7"/>
          <ac:picMkLst>
            <pc:docMk/>
            <pc:sldMk cId="999458260" sldId="368"/>
            <ac:picMk id="7" creationId="{15A15CAE-C9AB-5049-E1C1-159DF801CE09}"/>
          </ac:picMkLst>
        </pc:picChg>
        <pc:picChg chg="del">
          <ac:chgData name="Maria Li C. Batucan" userId="S::maria.li.batucan@rafimfi.ph::06cb95ed-ca05-4c8e-b044-d3bc0485864b" providerId="AD" clId="Web-{00721732-6E21-94ED-39C0-AEC319558487}" dt="2026-05-18T09:25:33.482" v="1"/>
          <ac:picMkLst>
            <pc:docMk/>
            <pc:sldMk cId="999458260" sldId="368"/>
            <ac:picMk id="10" creationId="{623C3E67-F320-8FF7-53E0-4EE60C89723A}"/>
          </ac:picMkLst>
        </pc:picChg>
        <pc:picChg chg="del">
          <ac:chgData name="Maria Li C. Batucan" userId="S::maria.li.batucan@rafimfi.ph::06cb95ed-ca05-4c8e-b044-d3bc0485864b" providerId="AD" clId="Web-{00721732-6E21-94ED-39C0-AEC319558487}" dt="2026-05-18T09:25:36.654" v="3"/>
          <ac:picMkLst>
            <pc:docMk/>
            <pc:sldMk cId="999458260" sldId="368"/>
            <ac:picMk id="22" creationId="{22ABB809-2A7A-5A1C-5D06-9CB3194A1E12}"/>
          </ac:picMkLst>
        </pc:picChg>
        <pc:picChg chg="del">
          <ac:chgData name="Maria Li C. Batucan" userId="S::maria.li.batucan@rafimfi.ph::06cb95ed-ca05-4c8e-b044-d3bc0485864b" providerId="AD" clId="Web-{00721732-6E21-94ED-39C0-AEC319558487}" dt="2026-05-18T09:25:37.436" v="4"/>
          <ac:picMkLst>
            <pc:docMk/>
            <pc:sldMk cId="999458260" sldId="368"/>
            <ac:picMk id="23" creationId="{CBE80F1D-F666-E314-F8BC-3AB90A7C0C18}"/>
          </ac:picMkLst>
        </pc:picChg>
        <pc:picChg chg="del">
          <ac:chgData name="Maria Li C. Batucan" userId="S::maria.li.batucan@rafimfi.ph::06cb95ed-ca05-4c8e-b044-d3bc0485864b" providerId="AD" clId="Web-{00721732-6E21-94ED-39C0-AEC319558487}" dt="2026-05-18T09:25:39.029" v="6"/>
          <ac:picMkLst>
            <pc:docMk/>
            <pc:sldMk cId="999458260" sldId="368"/>
            <ac:picMk id="24" creationId="{1D83B838-773E-625E-0EC3-DCF2F612A7FB}"/>
          </ac:picMkLst>
        </pc:picChg>
        <pc:picChg chg="del">
          <ac:chgData name="Maria Li C. Batucan" userId="S::maria.li.batucan@rafimfi.ph::06cb95ed-ca05-4c8e-b044-d3bc0485864b" providerId="AD" clId="Web-{00721732-6E21-94ED-39C0-AEC319558487}" dt="2026-05-18T09:25:38.311" v="5"/>
          <ac:picMkLst>
            <pc:docMk/>
            <pc:sldMk cId="999458260" sldId="368"/>
            <ac:picMk id="25" creationId="{F179E07D-5F12-C600-2556-18CE8E12B166}"/>
          </ac:picMkLst>
        </pc:picChg>
        <pc:picChg chg="del">
          <ac:chgData name="Maria Li C. Batucan" userId="S::maria.li.batucan@rafimfi.ph::06cb95ed-ca05-4c8e-b044-d3bc0485864b" providerId="AD" clId="Web-{00721732-6E21-94ED-39C0-AEC319558487}" dt="2026-05-18T09:26:18.359" v="20"/>
          <ac:picMkLst>
            <pc:docMk/>
            <pc:sldMk cId="999458260" sldId="368"/>
            <ac:picMk id="26" creationId="{76A97B9D-90D0-04CE-2B3D-7FD249458A07}"/>
          </ac:picMkLst>
        </pc:picChg>
        <pc:picChg chg="del">
          <ac:chgData name="Maria Li C. Batucan" userId="S::maria.li.batucan@rafimfi.ph::06cb95ed-ca05-4c8e-b044-d3bc0485864b" providerId="AD" clId="Web-{00721732-6E21-94ED-39C0-AEC319558487}" dt="2026-05-18T09:26:17.390" v="19"/>
          <ac:picMkLst>
            <pc:docMk/>
            <pc:sldMk cId="999458260" sldId="368"/>
            <ac:picMk id="27" creationId="{7C0239C5-DDEA-F124-3433-3F724FB3D5B8}"/>
          </ac:picMkLst>
        </pc:picChg>
        <pc:picChg chg="del">
          <ac:chgData name="Maria Li C. Batucan" userId="S::maria.li.batucan@rafimfi.ph::06cb95ed-ca05-4c8e-b044-d3bc0485864b" providerId="AD" clId="Web-{00721732-6E21-94ED-39C0-AEC319558487}" dt="2026-05-18T09:26:16.656" v="18"/>
          <ac:picMkLst>
            <pc:docMk/>
            <pc:sldMk cId="999458260" sldId="368"/>
            <ac:picMk id="28" creationId="{1DBBD6B0-281A-AACA-EDF8-381D98A58148}"/>
          </ac:picMkLst>
        </pc:picChg>
        <pc:picChg chg="del">
          <ac:chgData name="Maria Li C. Batucan" userId="S::maria.li.batucan@rafimfi.ph::06cb95ed-ca05-4c8e-b044-d3bc0485864b" providerId="AD" clId="Web-{00721732-6E21-94ED-39C0-AEC319558487}" dt="2026-05-18T09:26:15.718" v="17"/>
          <ac:picMkLst>
            <pc:docMk/>
            <pc:sldMk cId="999458260" sldId="368"/>
            <ac:picMk id="29" creationId="{0B3DBDD2-AACB-4079-9C75-E75B9FB216B4}"/>
          </ac:picMkLst>
        </pc:picChg>
        <pc:picChg chg="add mod">
          <ac:chgData name="Maria Li C. Batucan" userId="S::maria.li.batucan@rafimfi.ph::06cb95ed-ca05-4c8e-b044-d3bc0485864b" providerId="AD" clId="Web-{00721732-6E21-94ED-39C0-AEC319558487}" dt="2026-05-18T09:27:51.722" v="27" actId="1076"/>
          <ac:picMkLst>
            <pc:docMk/>
            <pc:sldMk cId="999458260" sldId="368"/>
            <ac:picMk id="30" creationId="{F74443DC-48AB-29EA-8842-B020A0968030}"/>
          </ac:picMkLst>
        </pc:picChg>
      </pc:sldChg>
      <pc:sldChg chg="addSp delSp modSp add replId">
        <pc:chgData name="Maria Li C. Batucan" userId="S::maria.li.batucan@rafimfi.ph::06cb95ed-ca05-4c8e-b044-d3bc0485864b" providerId="AD" clId="Web-{00721732-6E21-94ED-39C0-AEC319558487}" dt="2026-05-18T09:30:35.118" v="39" actId="1076"/>
        <pc:sldMkLst>
          <pc:docMk/>
          <pc:sldMk cId="384185995" sldId="369"/>
        </pc:sldMkLst>
        <pc:spChg chg="del">
          <ac:chgData name="Maria Li C. Batucan" userId="S::maria.li.batucan@rafimfi.ph::06cb95ed-ca05-4c8e-b044-d3bc0485864b" providerId="AD" clId="Web-{00721732-6E21-94ED-39C0-AEC319558487}" dt="2026-05-18T09:28:45.818" v="28"/>
          <ac:spMkLst>
            <pc:docMk/>
            <pc:sldMk cId="384185995" sldId="369"/>
            <ac:spMk id="4" creationId="{D77F2F5F-E180-87FC-0AF2-09F36E453DBA}"/>
          </ac:spMkLst>
        </pc:spChg>
        <pc:picChg chg="add mod">
          <ac:chgData name="Maria Li C. Batucan" userId="S::maria.li.batucan@rafimfi.ph::06cb95ed-ca05-4c8e-b044-d3bc0485864b" providerId="AD" clId="Web-{00721732-6E21-94ED-39C0-AEC319558487}" dt="2026-05-18T09:30:35.118" v="39" actId="1076"/>
          <ac:picMkLst>
            <pc:docMk/>
            <pc:sldMk cId="384185995" sldId="369"/>
            <ac:picMk id="3" creationId="{90DDC944-4EAF-9B30-1404-8DD0BD615135}"/>
          </ac:picMkLst>
        </pc:picChg>
        <pc:picChg chg="add mod">
          <ac:chgData name="Maria Li C. Batucan" userId="S::maria.li.batucan@rafimfi.ph::06cb95ed-ca05-4c8e-b044-d3bc0485864b" providerId="AD" clId="Web-{00721732-6E21-94ED-39C0-AEC319558487}" dt="2026-05-18T09:30:24.290" v="37" actId="1076"/>
          <ac:picMkLst>
            <pc:docMk/>
            <pc:sldMk cId="384185995" sldId="369"/>
            <ac:picMk id="5" creationId="{99D60F13-5CDF-464F-EFE5-09DE6AB08976}"/>
          </ac:picMkLst>
        </pc:picChg>
      </pc:sldChg>
      <pc:sldChg chg="addSp delSp modSp add replId">
        <pc:chgData name="Maria Li C. Batucan" userId="S::maria.li.batucan@rafimfi.ph::06cb95ed-ca05-4c8e-b044-d3bc0485864b" providerId="AD" clId="Web-{00721732-6E21-94ED-39C0-AEC319558487}" dt="2026-05-18T09:31:35.167" v="44" actId="14100"/>
        <pc:sldMkLst>
          <pc:docMk/>
          <pc:sldMk cId="1387381748" sldId="370"/>
        </pc:sldMkLst>
        <pc:spChg chg="del">
          <ac:chgData name="Maria Li C. Batucan" userId="S::maria.li.batucan@rafimfi.ph::06cb95ed-ca05-4c8e-b044-d3bc0485864b" providerId="AD" clId="Web-{00721732-6E21-94ED-39C0-AEC319558487}" dt="2026-05-18T09:31:23.136" v="40"/>
          <ac:spMkLst>
            <pc:docMk/>
            <pc:sldMk cId="1387381748" sldId="370"/>
            <ac:spMk id="4" creationId="{DBA52445-4D6D-C39D-31A6-744F34B99159}"/>
          </ac:spMkLst>
        </pc:spChg>
        <pc:picChg chg="add mod">
          <ac:chgData name="Maria Li C. Batucan" userId="S::maria.li.batucan@rafimfi.ph::06cb95ed-ca05-4c8e-b044-d3bc0485864b" providerId="AD" clId="Web-{00721732-6E21-94ED-39C0-AEC319558487}" dt="2026-05-18T09:31:35.167" v="44" actId="14100"/>
          <ac:picMkLst>
            <pc:docMk/>
            <pc:sldMk cId="1387381748" sldId="370"/>
            <ac:picMk id="3" creationId="{01BA4E72-0446-EEE5-47ED-885C21F19C16}"/>
          </ac:picMkLst>
        </pc:picChg>
      </pc:sldChg>
      <pc:sldChg chg="add del replId">
        <pc:chgData name="Maria Li C. Batucan" userId="S::maria.li.batucan@rafimfi.ph::06cb95ed-ca05-4c8e-b044-d3bc0485864b" providerId="AD" clId="Web-{00721732-6E21-94ED-39C0-AEC319558487}" dt="2026-05-18T09:31:40.777" v="45"/>
        <pc:sldMkLst>
          <pc:docMk/>
          <pc:sldMk cId="1694870051" sldId="371"/>
        </pc:sldMkLst>
      </pc:sldChg>
    </pc:docChg>
  </pc:docChgLst>
  <pc:docChgLst>
    <pc:chgData name="Maria Li C. Batucan" userId="S::maria.li.batucan@rafimfi.ph::06cb95ed-ca05-4c8e-b044-d3bc0485864b" providerId="AD" clId="Web-{D9EC9FA6-289E-DFEF-2B13-03F0483F3C36}"/>
    <pc:docChg chg="addSld modSld">
      <pc:chgData name="Maria Li C. Batucan" userId="S::maria.li.batucan@rafimfi.ph::06cb95ed-ca05-4c8e-b044-d3bc0485864b" providerId="AD" clId="Web-{D9EC9FA6-289E-DFEF-2B13-03F0483F3C36}" dt="2026-05-18T08:31:15.884" v="5"/>
      <pc:docMkLst>
        <pc:docMk/>
      </pc:docMkLst>
      <pc:sldChg chg="addSp modSp">
        <pc:chgData name="Maria Li C. Batucan" userId="S::maria.li.batucan@rafimfi.ph::06cb95ed-ca05-4c8e-b044-d3bc0485864b" providerId="AD" clId="Web-{D9EC9FA6-289E-DFEF-2B13-03F0483F3C36}" dt="2026-05-18T08:31:15.884" v="5"/>
        <pc:sldMkLst>
          <pc:docMk/>
          <pc:sldMk cId="3505693841" sldId="258"/>
        </pc:sldMkLst>
        <pc:picChg chg="add mod">
          <ac:chgData name="Maria Li C. Batucan" userId="S::maria.li.batucan@rafimfi.ph::06cb95ed-ca05-4c8e-b044-d3bc0485864b" providerId="AD" clId="Web-{D9EC9FA6-289E-DFEF-2B13-03F0483F3C36}" dt="2026-05-18T08:31:15.884" v="5"/>
          <ac:picMkLst>
            <pc:docMk/>
            <pc:sldMk cId="3505693841" sldId="258"/>
            <ac:picMk id="3" creationId="{8AB69DF3-9250-9E1A-76A9-6A1CFC1BE984}"/>
          </ac:picMkLst>
        </pc:picChg>
      </pc:sldChg>
      <pc:sldChg chg="addSp delSp modSp">
        <pc:chgData name="Maria Li C. Batucan" userId="S::maria.li.batucan@rafimfi.ph::06cb95ed-ca05-4c8e-b044-d3bc0485864b" providerId="AD" clId="Web-{D9EC9FA6-289E-DFEF-2B13-03F0483F3C36}" dt="2026-05-18T08:31:07.883" v="4"/>
        <pc:sldMkLst>
          <pc:docMk/>
          <pc:sldMk cId="3559345366" sldId="327"/>
        </pc:sldMkLst>
        <pc:spChg chg="del">
          <ac:chgData name="Maria Li C. Batucan" userId="S::maria.li.batucan@rafimfi.ph::06cb95ed-ca05-4c8e-b044-d3bc0485864b" providerId="AD" clId="Web-{D9EC9FA6-289E-DFEF-2B13-03F0483F3C36}" dt="2026-05-18T08:30:41.148" v="1"/>
          <ac:spMkLst>
            <pc:docMk/>
            <pc:sldMk cId="3559345366" sldId="327"/>
            <ac:spMk id="4" creationId="{409E9CA6-24D6-9CAE-E064-BD695A94E94E}"/>
          </ac:spMkLst>
        </pc:spChg>
        <pc:spChg chg="add del mod">
          <ac:chgData name="Maria Li C. Batucan" userId="S::maria.li.batucan@rafimfi.ph::06cb95ed-ca05-4c8e-b044-d3bc0485864b" providerId="AD" clId="Web-{D9EC9FA6-289E-DFEF-2B13-03F0483F3C36}" dt="2026-05-18T08:31:00.805" v="3"/>
          <ac:spMkLst>
            <pc:docMk/>
            <pc:sldMk cId="3559345366" sldId="327"/>
            <ac:spMk id="7" creationId="{2F528884-4DF7-FA7A-4AB2-8FD7B3C642AF}"/>
          </ac:spMkLst>
        </pc:spChg>
        <pc:spChg chg="add mod">
          <ac:chgData name="Maria Li C. Batucan" userId="S::maria.li.batucan@rafimfi.ph::06cb95ed-ca05-4c8e-b044-d3bc0485864b" providerId="AD" clId="Web-{D9EC9FA6-289E-DFEF-2B13-03F0483F3C36}" dt="2026-05-18T08:31:07.883" v="4"/>
          <ac:spMkLst>
            <pc:docMk/>
            <pc:sldMk cId="3559345366" sldId="327"/>
            <ac:spMk id="10" creationId="{340EFE02-EC2C-966C-99B6-47446C645926}"/>
          </ac:spMkLst>
        </pc:spChg>
        <pc:picChg chg="add del mod ord">
          <ac:chgData name="Maria Li C. Batucan" userId="S::maria.li.batucan@rafimfi.ph::06cb95ed-ca05-4c8e-b044-d3bc0485864b" providerId="AD" clId="Web-{D9EC9FA6-289E-DFEF-2B13-03F0483F3C36}" dt="2026-05-18T08:30:47.820" v="2"/>
          <ac:picMkLst>
            <pc:docMk/>
            <pc:sldMk cId="3559345366" sldId="327"/>
            <ac:picMk id="5" creationId="{01396AD9-79C8-13CC-E439-1F63A42B0933}"/>
          </ac:picMkLst>
        </pc:picChg>
        <pc:picChg chg="add del mod ord">
          <ac:chgData name="Maria Li C. Batucan" userId="S::maria.li.batucan@rafimfi.ph::06cb95ed-ca05-4c8e-b044-d3bc0485864b" providerId="AD" clId="Web-{D9EC9FA6-289E-DFEF-2B13-03F0483F3C36}" dt="2026-05-18T08:31:07.883" v="4"/>
          <ac:picMkLst>
            <pc:docMk/>
            <pc:sldMk cId="3559345366" sldId="327"/>
            <ac:picMk id="8" creationId="{AFA7E1FC-9B46-0A0A-DBB9-EB66B8013846}"/>
          </ac:picMkLst>
        </pc:picChg>
      </pc:sldChg>
      <pc:sldChg chg="add replId">
        <pc:chgData name="Maria Li C. Batucan" userId="S::maria.li.batucan@rafimfi.ph::06cb95ed-ca05-4c8e-b044-d3bc0485864b" providerId="AD" clId="Web-{D9EC9FA6-289E-DFEF-2B13-03F0483F3C36}" dt="2026-05-18T08:30:14.788" v="0"/>
        <pc:sldMkLst>
          <pc:docMk/>
          <pc:sldMk cId="1710553999" sldId="367"/>
        </pc:sldMkLst>
      </pc:sldChg>
    </pc:docChg>
  </pc:docChgLst>
  <pc:docChgLst>
    <pc:chgData name="Leizel B. Dano" userId="S::leizel.dano@rafimfi.ph::b5265ea4-25f1-4a73-8d78-551983323526" providerId="AD" clId="Web-{D71AFFCC-A809-DA25-25C2-5BE1D0F1FFEB}"/>
    <pc:docChg chg="addSld modSld sldOrd">
      <pc:chgData name="Leizel B. Dano" userId="S::leizel.dano@rafimfi.ph::b5265ea4-25f1-4a73-8d78-551983323526" providerId="AD" clId="Web-{D71AFFCC-A809-DA25-25C2-5BE1D0F1FFEB}" dt="2026-05-19T07:04:08.731" v="666"/>
      <pc:docMkLst>
        <pc:docMk/>
      </pc:docMkLst>
      <pc:sldChg chg="addSp delSp modSp">
        <pc:chgData name="Leizel B. Dano" userId="S::leizel.dano@rafimfi.ph::b5265ea4-25f1-4a73-8d78-551983323526" providerId="AD" clId="Web-{D71AFFCC-A809-DA25-25C2-5BE1D0F1FFEB}" dt="2026-05-19T05:08:31.677" v="99"/>
        <pc:sldMkLst>
          <pc:docMk/>
          <pc:sldMk cId="2992703559" sldId="262"/>
        </pc:sldMkLst>
        <pc:spChg chg="mod">
          <ac:chgData name="Leizel B. Dano" userId="S::leizel.dano@rafimfi.ph::b5265ea4-25f1-4a73-8d78-551983323526" providerId="AD" clId="Web-{D71AFFCC-A809-DA25-25C2-5BE1D0F1FFEB}" dt="2026-05-19T05:00:19.689" v="63" actId="1076"/>
          <ac:spMkLst>
            <pc:docMk/>
            <pc:sldMk cId="2992703559" sldId="262"/>
            <ac:spMk id="4" creationId="{D56D78F0-6B45-9374-14A0-77B85D94885C}"/>
          </ac:spMkLst>
        </pc:spChg>
        <pc:spChg chg="del mod">
          <ac:chgData name="Leizel B. Dano" userId="S::leizel.dano@rafimfi.ph::b5265ea4-25f1-4a73-8d78-551983323526" providerId="AD" clId="Web-{D71AFFCC-A809-DA25-25C2-5BE1D0F1FFEB}" dt="2026-05-19T05:08:31.677" v="99"/>
          <ac:spMkLst>
            <pc:docMk/>
            <pc:sldMk cId="2992703559" sldId="262"/>
            <ac:spMk id="8" creationId="{1F07D43F-9DA6-2392-AC4C-00CEE0ABE420}"/>
          </ac:spMkLst>
        </pc:spChg>
        <pc:spChg chg="add mod">
          <ac:chgData name="Leizel B. Dano" userId="S::leizel.dano@rafimfi.ph::b5265ea4-25f1-4a73-8d78-551983323526" providerId="AD" clId="Web-{D71AFFCC-A809-DA25-25C2-5BE1D0F1FFEB}" dt="2026-05-19T04:59:21.734" v="57" actId="1076"/>
          <ac:spMkLst>
            <pc:docMk/>
            <pc:sldMk cId="2992703559" sldId="262"/>
            <ac:spMk id="123" creationId="{125388CB-17FE-2135-052C-CF6937719D87}"/>
          </ac:spMkLst>
        </pc:spChg>
        <pc:spChg chg="add mod">
          <ac:chgData name="Leizel B. Dano" userId="S::leizel.dano@rafimfi.ph::b5265ea4-25f1-4a73-8d78-551983323526" providerId="AD" clId="Web-{D71AFFCC-A809-DA25-25C2-5BE1D0F1FFEB}" dt="2026-05-19T05:06:20.672" v="83" actId="1076"/>
          <ac:spMkLst>
            <pc:docMk/>
            <pc:sldMk cId="2992703559" sldId="262"/>
            <ac:spMk id="124" creationId="{4BE8CE56-6F6F-AAD6-C177-8AA3C69827D1}"/>
          </ac:spMkLst>
        </pc:spChg>
        <pc:spChg chg="mod">
          <ac:chgData name="Leizel B. Dano" userId="S::leizel.dano@rafimfi.ph::b5265ea4-25f1-4a73-8d78-551983323526" providerId="AD" clId="Web-{D71AFFCC-A809-DA25-25C2-5BE1D0F1FFEB}" dt="2026-05-19T05:05:14.435" v="73" actId="1076"/>
          <ac:spMkLst>
            <pc:docMk/>
            <pc:sldMk cId="2992703559" sldId="262"/>
            <ac:spMk id="128" creationId="{7A51798D-348D-29BD-25F1-E2306B982A0E}"/>
          </ac:spMkLst>
        </pc:spChg>
        <pc:spChg chg="add mod">
          <ac:chgData name="Leizel B. Dano" userId="S::leizel.dano@rafimfi.ph::b5265ea4-25f1-4a73-8d78-551983323526" providerId="AD" clId="Web-{D71AFFCC-A809-DA25-25C2-5BE1D0F1FFEB}" dt="2026-05-19T05:07:55.332" v="98" actId="1076"/>
          <ac:spMkLst>
            <pc:docMk/>
            <pc:sldMk cId="2992703559" sldId="262"/>
            <ac:spMk id="131" creationId="{A81F2F5E-334A-369F-15F4-0DAC0D5923B5}"/>
          </ac:spMkLst>
        </pc:spChg>
        <pc:grpChg chg="add del">
          <ac:chgData name="Leizel B. Dano" userId="S::leizel.dano@rafimfi.ph::b5265ea4-25f1-4a73-8d78-551983323526" providerId="AD" clId="Web-{D71AFFCC-A809-DA25-25C2-5BE1D0F1FFEB}" dt="2026-05-19T04:57:45.949" v="17"/>
          <ac:grpSpMkLst>
            <pc:docMk/>
            <pc:sldMk cId="2992703559" sldId="262"/>
            <ac:grpSpMk id="9" creationId="{D3D1CBE4-81B9-FFD8-7C50-1A82A578D1C1}"/>
          </ac:grpSpMkLst>
        </pc:grpChg>
        <pc:grpChg chg="mod">
          <ac:chgData name="Leizel B. Dano" userId="S::leizel.dano@rafimfi.ph::b5265ea4-25f1-4a73-8d78-551983323526" providerId="AD" clId="Web-{D71AFFCC-A809-DA25-25C2-5BE1D0F1FFEB}" dt="2026-05-19T05:00:14.580" v="62" actId="1076"/>
          <ac:grpSpMkLst>
            <pc:docMk/>
            <pc:sldMk cId="2992703559" sldId="262"/>
            <ac:grpSpMk id="60" creationId="{47F89C20-F7A1-CB54-60C0-33388731BDDB}"/>
          </ac:grpSpMkLst>
        </pc:grpChg>
        <pc:graphicFrameChg chg="mod modGraphic">
          <ac:chgData name="Leizel B. Dano" userId="S::leizel.dano@rafimfi.ph::b5265ea4-25f1-4a73-8d78-551983323526" providerId="AD" clId="Web-{D71AFFCC-A809-DA25-25C2-5BE1D0F1FFEB}" dt="2026-05-19T04:58:21.013" v="53"/>
          <ac:graphicFrameMkLst>
            <pc:docMk/>
            <pc:sldMk cId="2992703559" sldId="262"/>
            <ac:graphicFrameMk id="125" creationId="{E844D99F-E0F2-C2E8-8B25-8F1EF0CFE3E3}"/>
          </ac:graphicFrameMkLst>
        </pc:graphicFrameChg>
        <pc:picChg chg="del mod">
          <ac:chgData name="Leizel B. Dano" userId="S::leizel.dano@rafimfi.ph::b5265ea4-25f1-4a73-8d78-551983323526" providerId="AD" clId="Web-{D71AFFCC-A809-DA25-25C2-5BE1D0F1FFEB}" dt="2026-05-19T05:02:52.742" v="69"/>
          <ac:picMkLst>
            <pc:docMk/>
            <pc:sldMk cId="2992703559" sldId="262"/>
            <ac:picMk id="3" creationId="{B5391190-4536-FD72-49C6-211A23DEB554}"/>
          </ac:picMkLst>
        </pc:picChg>
        <pc:picChg chg="del">
          <ac:chgData name="Leizel B. Dano" userId="S::leizel.dano@rafimfi.ph::b5265ea4-25f1-4a73-8d78-551983323526" providerId="AD" clId="Web-{D71AFFCC-A809-DA25-25C2-5BE1D0F1FFEB}" dt="2026-05-19T04:58:49.655" v="54"/>
          <ac:picMkLst>
            <pc:docMk/>
            <pc:sldMk cId="2992703559" sldId="262"/>
            <ac:picMk id="122" creationId="{49A83E81-F4F1-674E-DB7E-648A08B1308A}"/>
          </ac:picMkLst>
        </pc:picChg>
        <pc:picChg chg="add mod">
          <ac:chgData name="Leizel B. Dano" userId="S::leizel.dano@rafimfi.ph::b5265ea4-25f1-4a73-8d78-551983323526" providerId="AD" clId="Web-{D71AFFCC-A809-DA25-25C2-5BE1D0F1FFEB}" dt="2026-05-19T05:06:24.032" v="84" actId="1076"/>
          <ac:picMkLst>
            <pc:docMk/>
            <pc:sldMk cId="2992703559" sldId="262"/>
            <ac:picMk id="127" creationId="{0163737B-5C42-4787-8828-B115D84C3372}"/>
          </ac:picMkLst>
        </pc:picChg>
        <pc:picChg chg="add del mod">
          <ac:chgData name="Leizel B. Dano" userId="S::leizel.dano@rafimfi.ph::b5265ea4-25f1-4a73-8d78-551983323526" providerId="AD" clId="Web-{D71AFFCC-A809-DA25-25C2-5BE1D0F1FFEB}" dt="2026-05-19T05:07:29.565" v="90"/>
          <ac:picMkLst>
            <pc:docMk/>
            <pc:sldMk cId="2992703559" sldId="262"/>
            <ac:picMk id="130" creationId="{A478719B-5C21-E316-2E1E-2F07D8F18D58}"/>
          </ac:picMkLst>
        </pc:picChg>
      </pc:sldChg>
      <pc:sldChg chg="addSp modSp modNotes">
        <pc:chgData name="Leizel B. Dano" userId="S::leizel.dano@rafimfi.ph::b5265ea4-25f1-4a73-8d78-551983323526" providerId="AD" clId="Web-{D71AFFCC-A809-DA25-25C2-5BE1D0F1FFEB}" dt="2026-05-19T05:24:34.340" v="113"/>
        <pc:sldMkLst>
          <pc:docMk/>
          <pc:sldMk cId="876630678" sldId="329"/>
        </pc:sldMkLst>
        <pc:spChg chg="add mod">
          <ac:chgData name="Leizel B. Dano" userId="S::leizel.dano@rafimfi.ph::b5265ea4-25f1-4a73-8d78-551983323526" providerId="AD" clId="Web-{D71AFFCC-A809-DA25-25C2-5BE1D0F1FFEB}" dt="2026-05-19T05:24:30.121" v="112" actId="1076"/>
          <ac:spMkLst>
            <pc:docMk/>
            <pc:sldMk cId="876630678" sldId="329"/>
            <ac:spMk id="3" creationId="{14DD272D-9783-2421-BFC5-ECC8B54BC2E1}"/>
          </ac:spMkLst>
        </pc:spChg>
        <pc:graphicFrameChg chg="mod modGraphic">
          <ac:chgData name="Leizel B. Dano" userId="S::leizel.dano@rafimfi.ph::b5265ea4-25f1-4a73-8d78-551983323526" providerId="AD" clId="Web-{D71AFFCC-A809-DA25-25C2-5BE1D0F1FFEB}" dt="2026-05-19T05:23:57.635" v="106"/>
          <ac:graphicFrameMkLst>
            <pc:docMk/>
            <pc:sldMk cId="876630678" sldId="329"/>
            <ac:graphicFrameMk id="5" creationId="{370EC6D6-BAC2-7152-895D-949A9E3A1859}"/>
          </ac:graphicFrameMkLst>
        </pc:graphicFrameChg>
      </pc:sldChg>
      <pc:sldChg chg="modNotes">
        <pc:chgData name="Leizel B. Dano" userId="S::leizel.dano@rafimfi.ph::b5265ea4-25f1-4a73-8d78-551983323526" providerId="AD" clId="Web-{D71AFFCC-A809-DA25-25C2-5BE1D0F1FFEB}" dt="2026-05-19T06:08:34.097" v="189"/>
        <pc:sldMkLst>
          <pc:docMk/>
          <pc:sldMk cId="2408048317" sldId="335"/>
        </pc:sldMkLst>
      </pc:sldChg>
      <pc:sldChg chg="modSp">
        <pc:chgData name="Leizel B. Dano" userId="S::leizel.dano@rafimfi.ph::b5265ea4-25f1-4a73-8d78-551983323526" providerId="AD" clId="Web-{D71AFFCC-A809-DA25-25C2-5BE1D0F1FFEB}" dt="2026-05-19T06:09:34.927" v="201"/>
        <pc:sldMkLst>
          <pc:docMk/>
          <pc:sldMk cId="349731764" sldId="337"/>
        </pc:sldMkLst>
        <pc:graphicFrameChg chg="mod modGraphic">
          <ac:chgData name="Leizel B. Dano" userId="S::leizel.dano@rafimfi.ph::b5265ea4-25f1-4a73-8d78-551983323526" providerId="AD" clId="Web-{D71AFFCC-A809-DA25-25C2-5BE1D0F1FFEB}" dt="2026-05-19T06:09:34.927" v="201"/>
          <ac:graphicFrameMkLst>
            <pc:docMk/>
            <pc:sldMk cId="349731764" sldId="337"/>
            <ac:graphicFrameMk id="31" creationId="{55E410ED-930B-0A47-A456-DEB6E94A164C}"/>
          </ac:graphicFrameMkLst>
        </pc:graphicFrameChg>
      </pc:sldChg>
      <pc:sldChg chg="addSp delSp modSp modNotes">
        <pc:chgData name="Leizel B. Dano" userId="S::leizel.dano@rafimfi.ph::b5265ea4-25f1-4a73-8d78-551983323526" providerId="AD" clId="Web-{D71AFFCC-A809-DA25-25C2-5BE1D0F1FFEB}" dt="2026-05-19T06:15:47.473" v="261" actId="14100"/>
        <pc:sldMkLst>
          <pc:docMk/>
          <pc:sldMk cId="4180967332" sldId="339"/>
        </pc:sldMkLst>
        <pc:spChg chg="del">
          <ac:chgData name="Leizel B. Dano" userId="S::leizel.dano@rafimfi.ph::b5265ea4-25f1-4a73-8d78-551983323526" providerId="AD" clId="Web-{D71AFFCC-A809-DA25-25C2-5BE1D0F1FFEB}" dt="2026-05-19T06:12:39.607" v="219"/>
          <ac:spMkLst>
            <pc:docMk/>
            <pc:sldMk cId="4180967332" sldId="339"/>
            <ac:spMk id="2" creationId="{DF6243BD-AB11-B99C-1867-F147FE4D6164}"/>
          </ac:spMkLst>
        </pc:spChg>
        <pc:spChg chg="add del mod">
          <ac:chgData name="Leizel B. Dano" userId="S::leizel.dano@rafimfi.ph::b5265ea4-25f1-4a73-8d78-551983323526" providerId="AD" clId="Web-{D71AFFCC-A809-DA25-25C2-5BE1D0F1FFEB}" dt="2026-05-19T06:12:59.107" v="222"/>
          <ac:spMkLst>
            <pc:docMk/>
            <pc:sldMk cId="4180967332" sldId="339"/>
            <ac:spMk id="4" creationId="{50E6421E-FE82-D5B1-6FD5-FEB0B1C956A4}"/>
          </ac:spMkLst>
        </pc:spChg>
        <pc:spChg chg="del">
          <ac:chgData name="Leizel B. Dano" userId="S::leizel.dano@rafimfi.ph::b5265ea4-25f1-4a73-8d78-551983323526" providerId="AD" clId="Web-{D71AFFCC-A809-DA25-25C2-5BE1D0F1FFEB}" dt="2026-05-19T06:12:39.607" v="218"/>
          <ac:spMkLst>
            <pc:docMk/>
            <pc:sldMk cId="4180967332" sldId="339"/>
            <ac:spMk id="29" creationId="{C3998E40-6F1B-64A4-BBC6-7AAFC9E80EC4}"/>
          </ac:spMkLst>
        </pc:spChg>
        <pc:spChg chg="del">
          <ac:chgData name="Leizel B. Dano" userId="S::leizel.dano@rafimfi.ph::b5265ea4-25f1-4a73-8d78-551983323526" providerId="AD" clId="Web-{D71AFFCC-A809-DA25-25C2-5BE1D0F1FFEB}" dt="2026-05-19T06:12:39.325" v="211"/>
          <ac:spMkLst>
            <pc:docMk/>
            <pc:sldMk cId="4180967332" sldId="339"/>
            <ac:spMk id="36" creationId="{C3A215C5-6BE8-A11D-41AA-82CFB0B53D75}"/>
          </ac:spMkLst>
        </pc:spChg>
        <pc:grpChg chg="del">
          <ac:chgData name="Leizel B. Dano" userId="S::leizel.dano@rafimfi.ph::b5265ea4-25f1-4a73-8d78-551983323526" providerId="AD" clId="Web-{D71AFFCC-A809-DA25-25C2-5BE1D0F1FFEB}" dt="2026-05-19T06:12:39.325" v="208"/>
          <ac:grpSpMkLst>
            <pc:docMk/>
            <pc:sldMk cId="4180967332" sldId="339"/>
            <ac:grpSpMk id="39" creationId="{9BBC2066-AB99-6DCA-9D9A-FA13D63BD1B2}"/>
          </ac:grpSpMkLst>
        </pc:grpChg>
        <pc:graphicFrameChg chg="del">
          <ac:chgData name="Leizel B. Dano" userId="S::leizel.dano@rafimfi.ph::b5265ea4-25f1-4a73-8d78-551983323526" providerId="AD" clId="Web-{D71AFFCC-A809-DA25-25C2-5BE1D0F1FFEB}" dt="2026-05-19T06:12:39.325" v="217"/>
          <ac:graphicFrameMkLst>
            <pc:docMk/>
            <pc:sldMk cId="4180967332" sldId="339"/>
            <ac:graphicFrameMk id="30" creationId="{AC5E93DB-B2F9-67BF-5DAF-9BA2D0A22CC7}"/>
          </ac:graphicFrameMkLst>
        </pc:graphicFrameChg>
        <pc:graphicFrameChg chg="del">
          <ac:chgData name="Leizel B. Dano" userId="S::leizel.dano@rafimfi.ph::b5265ea4-25f1-4a73-8d78-551983323526" providerId="AD" clId="Web-{D71AFFCC-A809-DA25-25C2-5BE1D0F1FFEB}" dt="2026-05-19T06:12:39.325" v="204"/>
          <ac:graphicFrameMkLst>
            <pc:docMk/>
            <pc:sldMk cId="4180967332" sldId="339"/>
            <ac:graphicFrameMk id="53" creationId="{B3849147-753B-AFD5-4E0C-1E6903E90685}"/>
          </ac:graphicFrameMkLst>
        </pc:graphicFrameChg>
        <pc:picChg chg="add mod">
          <ac:chgData name="Leizel B. Dano" userId="S::leizel.dano@rafimfi.ph::b5265ea4-25f1-4a73-8d78-551983323526" providerId="AD" clId="Web-{D71AFFCC-A809-DA25-25C2-5BE1D0F1FFEB}" dt="2026-05-19T06:13:27.577" v="228" actId="14100"/>
          <ac:picMkLst>
            <pc:docMk/>
            <pc:sldMk cId="4180967332" sldId="339"/>
            <ac:picMk id="5" creationId="{6CE1624C-6694-AF7C-0880-4D249C8E3706}"/>
          </ac:picMkLst>
        </pc:picChg>
        <pc:picChg chg="add mod">
          <ac:chgData name="Leizel B. Dano" userId="S::leizel.dano@rafimfi.ph::b5265ea4-25f1-4a73-8d78-551983323526" providerId="AD" clId="Web-{D71AFFCC-A809-DA25-25C2-5BE1D0F1FFEB}" dt="2026-05-19T06:13:51.125" v="236" actId="1076"/>
          <ac:picMkLst>
            <pc:docMk/>
            <pc:sldMk cId="4180967332" sldId="339"/>
            <ac:picMk id="6" creationId="{8F5C8D9E-5DCC-2065-1160-6D3A735934D4}"/>
          </ac:picMkLst>
        </pc:picChg>
        <pc:picChg chg="add mod">
          <ac:chgData name="Leizel B. Dano" userId="S::leizel.dano@rafimfi.ph::b5265ea4-25f1-4a73-8d78-551983323526" providerId="AD" clId="Web-{D71AFFCC-A809-DA25-25C2-5BE1D0F1FFEB}" dt="2026-05-19T06:14:16.814" v="244" actId="1076"/>
          <ac:picMkLst>
            <pc:docMk/>
            <pc:sldMk cId="4180967332" sldId="339"/>
            <ac:picMk id="7" creationId="{E3798A77-4F25-CBC3-8225-93D429C1F168}"/>
          </ac:picMkLst>
        </pc:picChg>
        <pc:picChg chg="add mod">
          <ac:chgData name="Leizel B. Dano" userId="S::leizel.dano@rafimfi.ph::b5265ea4-25f1-4a73-8d78-551983323526" providerId="AD" clId="Web-{D71AFFCC-A809-DA25-25C2-5BE1D0F1FFEB}" dt="2026-05-19T06:14:54.690" v="253" actId="1076"/>
          <ac:picMkLst>
            <pc:docMk/>
            <pc:sldMk cId="4180967332" sldId="339"/>
            <ac:picMk id="8" creationId="{BC3ACE1D-0D20-F3E1-A1E0-4B1792244383}"/>
          </ac:picMkLst>
        </pc:picChg>
        <pc:picChg chg="add mod">
          <ac:chgData name="Leizel B. Dano" userId="S::leizel.dano@rafimfi.ph::b5265ea4-25f1-4a73-8d78-551983323526" providerId="AD" clId="Web-{D71AFFCC-A809-DA25-25C2-5BE1D0F1FFEB}" dt="2026-05-19T06:15:47.473" v="261" actId="14100"/>
          <ac:picMkLst>
            <pc:docMk/>
            <pc:sldMk cId="4180967332" sldId="339"/>
            <ac:picMk id="9" creationId="{2B43E3BA-DD35-BD35-C28E-3FE45EB52D8E}"/>
          </ac:picMkLst>
        </pc:picChg>
        <pc:picChg chg="del">
          <ac:chgData name="Leizel B. Dano" userId="S::leizel.dano@rafimfi.ph::b5265ea4-25f1-4a73-8d78-551983323526" providerId="AD" clId="Web-{D71AFFCC-A809-DA25-25C2-5BE1D0F1FFEB}" dt="2026-05-19T06:12:39.325" v="216"/>
          <ac:picMkLst>
            <pc:docMk/>
            <pc:sldMk cId="4180967332" sldId="339"/>
            <ac:picMk id="31" creationId="{93783967-D9BE-380B-CD18-96EAEE2FA414}"/>
          </ac:picMkLst>
        </pc:picChg>
        <pc:picChg chg="del">
          <ac:chgData name="Leizel B. Dano" userId="S::leizel.dano@rafimfi.ph::b5265ea4-25f1-4a73-8d78-551983323526" providerId="AD" clId="Web-{D71AFFCC-A809-DA25-25C2-5BE1D0F1FFEB}" dt="2026-05-19T06:12:39.325" v="215"/>
          <ac:picMkLst>
            <pc:docMk/>
            <pc:sldMk cId="4180967332" sldId="339"/>
            <ac:picMk id="32" creationId="{E6701FA7-7E02-38C9-D73D-31D6115F5372}"/>
          </ac:picMkLst>
        </pc:picChg>
        <pc:picChg chg="del">
          <ac:chgData name="Leizel B. Dano" userId="S::leizel.dano@rafimfi.ph::b5265ea4-25f1-4a73-8d78-551983323526" providerId="AD" clId="Web-{D71AFFCC-A809-DA25-25C2-5BE1D0F1FFEB}" dt="2026-05-19T06:12:39.325" v="214"/>
          <ac:picMkLst>
            <pc:docMk/>
            <pc:sldMk cId="4180967332" sldId="339"/>
            <ac:picMk id="33" creationId="{9F222DB3-F6F7-95E9-01E6-74C736D3B08F}"/>
          </ac:picMkLst>
        </pc:picChg>
        <pc:picChg chg="del">
          <ac:chgData name="Leizel B. Dano" userId="S::leizel.dano@rafimfi.ph::b5265ea4-25f1-4a73-8d78-551983323526" providerId="AD" clId="Web-{D71AFFCC-A809-DA25-25C2-5BE1D0F1FFEB}" dt="2026-05-19T06:12:39.325" v="213"/>
          <ac:picMkLst>
            <pc:docMk/>
            <pc:sldMk cId="4180967332" sldId="339"/>
            <ac:picMk id="34" creationId="{806A463F-F22B-BCE0-D73F-1B846A98AC1F}"/>
          </ac:picMkLst>
        </pc:picChg>
        <pc:picChg chg="del">
          <ac:chgData name="Leizel B. Dano" userId="S::leizel.dano@rafimfi.ph::b5265ea4-25f1-4a73-8d78-551983323526" providerId="AD" clId="Web-{D71AFFCC-A809-DA25-25C2-5BE1D0F1FFEB}" dt="2026-05-19T06:12:39.325" v="212"/>
          <ac:picMkLst>
            <pc:docMk/>
            <pc:sldMk cId="4180967332" sldId="339"/>
            <ac:picMk id="35" creationId="{D2CF957C-0811-3356-B91B-AE80A498F0C6}"/>
          </ac:picMkLst>
        </pc:picChg>
        <pc:picChg chg="del">
          <ac:chgData name="Leizel B. Dano" userId="S::leizel.dano@rafimfi.ph::b5265ea4-25f1-4a73-8d78-551983323526" providerId="AD" clId="Web-{D71AFFCC-A809-DA25-25C2-5BE1D0F1FFEB}" dt="2026-05-19T06:12:39.325" v="210"/>
          <ac:picMkLst>
            <pc:docMk/>
            <pc:sldMk cId="4180967332" sldId="339"/>
            <ac:picMk id="37" creationId="{A00057B2-EEBF-34C7-9A3D-9215EF83AB6A}"/>
          </ac:picMkLst>
        </pc:picChg>
        <pc:picChg chg="del">
          <ac:chgData name="Leizel B. Dano" userId="S::leizel.dano@rafimfi.ph::b5265ea4-25f1-4a73-8d78-551983323526" providerId="AD" clId="Web-{D71AFFCC-A809-DA25-25C2-5BE1D0F1FFEB}" dt="2026-05-19T06:12:39.325" v="209"/>
          <ac:picMkLst>
            <pc:docMk/>
            <pc:sldMk cId="4180967332" sldId="339"/>
            <ac:picMk id="38" creationId="{E0285CC1-7523-7D1D-1BE0-E2502DB10826}"/>
          </ac:picMkLst>
        </pc:picChg>
        <pc:picChg chg="del">
          <ac:chgData name="Leizel B. Dano" userId="S::leizel.dano@rafimfi.ph::b5265ea4-25f1-4a73-8d78-551983323526" providerId="AD" clId="Web-{D71AFFCC-A809-DA25-25C2-5BE1D0F1FFEB}" dt="2026-05-19T06:12:39.325" v="207"/>
          <ac:picMkLst>
            <pc:docMk/>
            <pc:sldMk cId="4180967332" sldId="339"/>
            <ac:picMk id="50" creationId="{2D4D9BF8-1D8B-BB28-F4A4-C81E61879168}"/>
          </ac:picMkLst>
        </pc:picChg>
        <pc:picChg chg="del">
          <ac:chgData name="Leizel B. Dano" userId="S::leizel.dano@rafimfi.ph::b5265ea4-25f1-4a73-8d78-551983323526" providerId="AD" clId="Web-{D71AFFCC-A809-DA25-25C2-5BE1D0F1FFEB}" dt="2026-05-19T06:12:39.325" v="206"/>
          <ac:picMkLst>
            <pc:docMk/>
            <pc:sldMk cId="4180967332" sldId="339"/>
            <ac:picMk id="51" creationId="{C47C0A73-29AD-2A87-5D9A-4310ABA8A491}"/>
          </ac:picMkLst>
        </pc:picChg>
        <pc:picChg chg="del">
          <ac:chgData name="Leizel B. Dano" userId="S::leizel.dano@rafimfi.ph::b5265ea4-25f1-4a73-8d78-551983323526" providerId="AD" clId="Web-{D71AFFCC-A809-DA25-25C2-5BE1D0F1FFEB}" dt="2026-05-19T06:12:39.325" v="205"/>
          <ac:picMkLst>
            <pc:docMk/>
            <pc:sldMk cId="4180967332" sldId="339"/>
            <ac:picMk id="52" creationId="{63F478F2-C51C-6E5E-60BB-41EAF8CFD06C}"/>
          </ac:picMkLst>
        </pc:picChg>
      </pc:sldChg>
      <pc:sldChg chg="addSp delSp modSp">
        <pc:chgData name="Leizel B. Dano" userId="S::leizel.dano@rafimfi.ph::b5265ea4-25f1-4a73-8d78-551983323526" providerId="AD" clId="Web-{D71AFFCC-A809-DA25-25C2-5BE1D0F1FFEB}" dt="2026-05-19T06:44:41.450" v="559" actId="14100"/>
        <pc:sldMkLst>
          <pc:docMk/>
          <pc:sldMk cId="568859250" sldId="345"/>
        </pc:sldMkLst>
        <pc:spChg chg="add del mod">
          <ac:chgData name="Leizel B. Dano" userId="S::leizel.dano@rafimfi.ph::b5265ea4-25f1-4a73-8d78-551983323526" providerId="AD" clId="Web-{D71AFFCC-A809-DA25-25C2-5BE1D0F1FFEB}" dt="2026-05-19T06:41:54.976" v="530"/>
          <ac:spMkLst>
            <pc:docMk/>
            <pc:sldMk cId="568859250" sldId="345"/>
            <ac:spMk id="4" creationId="{C3881565-03AB-D6DB-137A-9B267EA30DBC}"/>
          </ac:spMkLst>
        </pc:spChg>
        <pc:spChg chg="del">
          <ac:chgData name="Leizel B. Dano" userId="S::leizel.dano@rafimfi.ph::b5265ea4-25f1-4a73-8d78-551983323526" providerId="AD" clId="Web-{D71AFFCC-A809-DA25-25C2-5BE1D0F1FFEB}" dt="2026-05-19T06:41:47.646" v="526"/>
          <ac:spMkLst>
            <pc:docMk/>
            <pc:sldMk cId="568859250" sldId="345"/>
            <ac:spMk id="5" creationId="{E98526B7-D8E1-FE60-BA5B-81229CEC7077}"/>
          </ac:spMkLst>
        </pc:spChg>
        <pc:spChg chg="del">
          <ac:chgData name="Leizel B. Dano" userId="S::leizel.dano@rafimfi.ph::b5265ea4-25f1-4a73-8d78-551983323526" providerId="AD" clId="Web-{D71AFFCC-A809-DA25-25C2-5BE1D0F1FFEB}" dt="2026-05-19T06:41:56.303" v="531"/>
          <ac:spMkLst>
            <pc:docMk/>
            <pc:sldMk cId="568859250" sldId="345"/>
            <ac:spMk id="7" creationId="{04617737-1F17-285E-C05E-8DD03A18B407}"/>
          </ac:spMkLst>
        </pc:spChg>
        <pc:spChg chg="del mod">
          <ac:chgData name="Leizel B. Dano" userId="S::leizel.dano@rafimfi.ph::b5265ea4-25f1-4a73-8d78-551983323526" providerId="AD" clId="Web-{D71AFFCC-A809-DA25-25C2-5BE1D0F1FFEB}" dt="2026-05-19T06:41:52.646" v="529"/>
          <ac:spMkLst>
            <pc:docMk/>
            <pc:sldMk cId="568859250" sldId="345"/>
            <ac:spMk id="9" creationId="{8839C1D3-BAB8-DDCD-7EA1-E8BDB67C5D6F}"/>
          </ac:spMkLst>
        </pc:spChg>
        <pc:graphicFrameChg chg="del">
          <ac:chgData name="Leizel B. Dano" userId="S::leizel.dano@rafimfi.ph::b5265ea4-25f1-4a73-8d78-551983323526" providerId="AD" clId="Web-{D71AFFCC-A809-DA25-25C2-5BE1D0F1FFEB}" dt="2026-05-19T06:41:48.990" v="527"/>
          <ac:graphicFrameMkLst>
            <pc:docMk/>
            <pc:sldMk cId="568859250" sldId="345"/>
            <ac:graphicFrameMk id="6" creationId="{092249CE-F20B-8A47-A26E-DEC4AB7C2238}"/>
          </ac:graphicFrameMkLst>
        </pc:graphicFrameChg>
        <pc:graphicFrameChg chg="add del mod">
          <ac:chgData name="Leizel B. Dano" userId="S::leizel.dano@rafimfi.ph::b5265ea4-25f1-4a73-8d78-551983323526" providerId="AD" clId="Web-{D71AFFCC-A809-DA25-25C2-5BE1D0F1FFEB}" dt="2026-05-19T06:42:38.804" v="535"/>
          <ac:graphicFrameMkLst>
            <pc:docMk/>
            <pc:sldMk cId="568859250" sldId="345"/>
            <ac:graphicFrameMk id="11" creationId="{C9093966-B114-20F7-57F7-AE059FB7A2E0}"/>
          </ac:graphicFrameMkLst>
        </pc:graphicFrameChg>
        <pc:graphicFrameChg chg="add del mod modGraphic">
          <ac:chgData name="Leizel B. Dano" userId="S::leizel.dano@rafimfi.ph::b5265ea4-25f1-4a73-8d78-551983323526" providerId="AD" clId="Web-{D71AFFCC-A809-DA25-25C2-5BE1D0F1FFEB}" dt="2026-05-19T06:43:59.042" v="551"/>
          <ac:graphicFrameMkLst>
            <pc:docMk/>
            <pc:sldMk cId="568859250" sldId="345"/>
            <ac:graphicFrameMk id="14" creationId="{F1515DD1-5C31-1B05-1847-DE1C0550B20B}"/>
          </ac:graphicFrameMkLst>
        </pc:graphicFrameChg>
        <pc:picChg chg="add mod">
          <ac:chgData name="Leizel B. Dano" userId="S::leizel.dano@rafimfi.ph::b5265ea4-25f1-4a73-8d78-551983323526" providerId="AD" clId="Web-{D71AFFCC-A809-DA25-25C2-5BE1D0F1FFEB}" dt="2026-05-19T06:44:30.012" v="556" actId="14100"/>
          <ac:picMkLst>
            <pc:docMk/>
            <pc:sldMk cId="568859250" sldId="345"/>
            <ac:picMk id="12" creationId="{ACFEC96B-51C2-64F9-0CE6-A9379449DF8B}"/>
          </ac:picMkLst>
        </pc:picChg>
        <pc:picChg chg="add mod">
          <ac:chgData name="Leizel B. Dano" userId="S::leizel.dano@rafimfi.ph::b5265ea4-25f1-4a73-8d78-551983323526" providerId="AD" clId="Web-{D71AFFCC-A809-DA25-25C2-5BE1D0F1FFEB}" dt="2026-05-19T06:44:41.450" v="559" actId="14100"/>
          <ac:picMkLst>
            <pc:docMk/>
            <pc:sldMk cId="568859250" sldId="345"/>
            <ac:picMk id="15" creationId="{5C81534A-3E00-A38D-2069-9EE712CC4DAB}"/>
          </ac:picMkLst>
        </pc:picChg>
        <pc:cxnChg chg="del">
          <ac:chgData name="Leizel B. Dano" userId="S::leizel.dano@rafimfi.ph::b5265ea4-25f1-4a73-8d78-551983323526" providerId="AD" clId="Web-{D71AFFCC-A809-DA25-25C2-5BE1D0F1FFEB}" dt="2026-05-19T06:44:00.198" v="552"/>
          <ac:cxnSpMkLst>
            <pc:docMk/>
            <pc:sldMk cId="568859250" sldId="345"/>
            <ac:cxnSpMk id="8" creationId="{89713018-EDDC-16A2-36F7-B0374364129F}"/>
          </ac:cxnSpMkLst>
        </pc:cxnChg>
      </pc:sldChg>
      <pc:sldChg chg="modSp">
        <pc:chgData name="Leizel B. Dano" userId="S::leizel.dano@rafimfi.ph::b5265ea4-25f1-4a73-8d78-551983323526" providerId="AD" clId="Web-{D71AFFCC-A809-DA25-25C2-5BE1D0F1FFEB}" dt="2026-05-19T06:57:26.684" v="615"/>
        <pc:sldMkLst>
          <pc:docMk/>
          <pc:sldMk cId="3980322650" sldId="346"/>
        </pc:sldMkLst>
        <pc:graphicFrameChg chg="mod modGraphic">
          <ac:chgData name="Leizel B. Dano" userId="S::leizel.dano@rafimfi.ph::b5265ea4-25f1-4a73-8d78-551983323526" providerId="AD" clId="Web-{D71AFFCC-A809-DA25-25C2-5BE1D0F1FFEB}" dt="2026-05-19T06:57:26.684" v="615"/>
          <ac:graphicFrameMkLst>
            <pc:docMk/>
            <pc:sldMk cId="3980322650" sldId="346"/>
            <ac:graphicFrameMk id="12" creationId="{D80167F1-1D8F-ADB9-929A-A199D8B23FA3}"/>
          </ac:graphicFrameMkLst>
        </pc:graphicFrameChg>
      </pc:sldChg>
      <pc:sldChg chg="addSp delSp modSp">
        <pc:chgData name="Leizel B. Dano" userId="S::leizel.dano@rafimfi.ph::b5265ea4-25f1-4a73-8d78-551983323526" providerId="AD" clId="Web-{D71AFFCC-A809-DA25-25C2-5BE1D0F1FFEB}" dt="2026-05-19T07:04:08.731" v="666"/>
        <pc:sldMkLst>
          <pc:docMk/>
          <pc:sldMk cId="2361638804" sldId="349"/>
        </pc:sldMkLst>
        <pc:graphicFrameChg chg="add mod modGraphic">
          <ac:chgData name="Leizel B. Dano" userId="S::leizel.dano@rafimfi.ph::b5265ea4-25f1-4a73-8d78-551983323526" providerId="AD" clId="Web-{D71AFFCC-A809-DA25-25C2-5BE1D0F1FFEB}" dt="2026-05-19T07:04:08.731" v="666"/>
          <ac:graphicFrameMkLst>
            <pc:docMk/>
            <pc:sldMk cId="2361638804" sldId="349"/>
            <ac:graphicFrameMk id="4" creationId="{6E9D937A-6FDF-462A-2690-5554EFD979A7}"/>
          </ac:graphicFrameMkLst>
        </pc:graphicFrameChg>
        <pc:graphicFrameChg chg="del mod modGraphic">
          <ac:chgData name="Leizel B. Dano" userId="S::leizel.dano@rafimfi.ph::b5265ea4-25f1-4a73-8d78-551983323526" providerId="AD" clId="Web-{D71AFFCC-A809-DA25-25C2-5BE1D0F1FFEB}" dt="2026-05-19T06:58:04.639" v="616"/>
          <ac:graphicFrameMkLst>
            <pc:docMk/>
            <pc:sldMk cId="2361638804" sldId="349"/>
            <ac:graphicFrameMk id="6" creationId="{F22EEEAF-7DA7-3526-D129-918423E3B5D4}"/>
          </ac:graphicFrameMkLst>
        </pc:graphicFrameChg>
        <pc:graphicFrameChg chg="mod">
          <ac:chgData name="Leizel B. Dano" userId="S::leizel.dano@rafimfi.ph::b5265ea4-25f1-4a73-8d78-551983323526" providerId="AD" clId="Web-{D71AFFCC-A809-DA25-25C2-5BE1D0F1FFEB}" dt="2026-05-19T07:03:17.698" v="650" actId="1076"/>
          <ac:graphicFrameMkLst>
            <pc:docMk/>
            <pc:sldMk cId="2361638804" sldId="349"/>
            <ac:graphicFrameMk id="8" creationId="{CACE9BE0-404F-04AE-8D79-6AA7CB66AB52}"/>
          </ac:graphicFrameMkLst>
        </pc:graphicFrameChg>
        <pc:picChg chg="mod">
          <ac:chgData name="Leizel B. Dano" userId="S::leizel.dano@rafimfi.ph::b5265ea4-25f1-4a73-8d78-551983323526" providerId="AD" clId="Web-{D71AFFCC-A809-DA25-25C2-5BE1D0F1FFEB}" dt="2026-05-19T07:01:42.194" v="639" actId="1076"/>
          <ac:picMkLst>
            <pc:docMk/>
            <pc:sldMk cId="2361638804" sldId="349"/>
            <ac:picMk id="22" creationId="{131EE72D-04B8-B0F6-20F8-8F21FF7F79AE}"/>
          </ac:picMkLst>
        </pc:picChg>
        <pc:picChg chg="mod">
          <ac:chgData name="Leizel B. Dano" userId="S::leizel.dano@rafimfi.ph::b5265ea4-25f1-4a73-8d78-551983323526" providerId="AD" clId="Web-{D71AFFCC-A809-DA25-25C2-5BE1D0F1FFEB}" dt="2026-05-19T07:02:31.790" v="646" actId="1076"/>
          <ac:picMkLst>
            <pc:docMk/>
            <pc:sldMk cId="2361638804" sldId="349"/>
            <ac:picMk id="23" creationId="{B0D82555-F72C-36BB-F0EC-9E3E8378183D}"/>
          </ac:picMkLst>
        </pc:picChg>
        <pc:picChg chg="mod">
          <ac:chgData name="Leizel B. Dano" userId="S::leizel.dano@rafimfi.ph::b5265ea4-25f1-4a73-8d78-551983323526" providerId="AD" clId="Web-{D71AFFCC-A809-DA25-25C2-5BE1D0F1FFEB}" dt="2026-05-19T07:02:36.759" v="647" actId="1076"/>
          <ac:picMkLst>
            <pc:docMk/>
            <pc:sldMk cId="2361638804" sldId="349"/>
            <ac:picMk id="25" creationId="{1CBA445A-E573-07E9-2AE7-4D4A69FB38D1}"/>
          </ac:picMkLst>
        </pc:picChg>
      </pc:sldChg>
      <pc:sldChg chg="ord">
        <pc:chgData name="Leizel B. Dano" userId="S::leizel.dano@rafimfi.ph::b5265ea4-25f1-4a73-8d78-551983323526" providerId="AD" clId="Web-{D71AFFCC-A809-DA25-25C2-5BE1D0F1FFEB}" dt="2026-05-19T06:45:05.529" v="561"/>
        <pc:sldMkLst>
          <pc:docMk/>
          <pc:sldMk cId="2563323422" sldId="358"/>
        </pc:sldMkLst>
      </pc:sldChg>
      <pc:sldChg chg="addSp delSp modSp">
        <pc:chgData name="Leizel B. Dano" userId="S::leizel.dano@rafimfi.ph::b5265ea4-25f1-4a73-8d78-551983323526" providerId="AD" clId="Web-{D71AFFCC-A809-DA25-25C2-5BE1D0F1FFEB}" dt="2026-05-19T04:54:51.661" v="15" actId="14100"/>
        <pc:sldMkLst>
          <pc:docMk/>
          <pc:sldMk cId="4138230994" sldId="359"/>
        </pc:sldMkLst>
        <pc:spChg chg="del">
          <ac:chgData name="Leizel B. Dano" userId="S::leizel.dano@rafimfi.ph::b5265ea4-25f1-4a73-8d78-551983323526" providerId="AD" clId="Web-{D71AFFCC-A809-DA25-25C2-5BE1D0F1FFEB}" dt="2026-05-19T04:52:54.390" v="1"/>
          <ac:spMkLst>
            <pc:docMk/>
            <pc:sldMk cId="4138230994" sldId="359"/>
            <ac:spMk id="5" creationId="{E59D1DF8-5071-2B68-F7DB-A35395C1CF0B}"/>
          </ac:spMkLst>
        </pc:spChg>
        <pc:spChg chg="del topLvl">
          <ac:chgData name="Leizel B. Dano" userId="S::leizel.dano@rafimfi.ph::b5265ea4-25f1-4a73-8d78-551983323526" providerId="AD" clId="Web-{D71AFFCC-A809-DA25-25C2-5BE1D0F1FFEB}" dt="2026-05-19T04:53:07.125" v="3"/>
          <ac:spMkLst>
            <pc:docMk/>
            <pc:sldMk cId="4138230994" sldId="359"/>
            <ac:spMk id="9" creationId="{0BD7FECF-302A-2C2F-F2C0-93F9509C4FD8}"/>
          </ac:spMkLst>
        </pc:spChg>
        <pc:spChg chg="add del mod">
          <ac:chgData name="Leizel B. Dano" userId="S::leizel.dano@rafimfi.ph::b5265ea4-25f1-4a73-8d78-551983323526" providerId="AD" clId="Web-{D71AFFCC-A809-DA25-25C2-5BE1D0F1FFEB}" dt="2026-05-19T04:53:01.438" v="2"/>
          <ac:spMkLst>
            <pc:docMk/>
            <pc:sldMk cId="4138230994" sldId="359"/>
            <ac:spMk id="27" creationId="{0D98E08F-B8A8-AB17-8DCD-6E1F2C2EA861}"/>
          </ac:spMkLst>
        </pc:spChg>
        <pc:grpChg chg="del">
          <ac:chgData name="Leizel B. Dano" userId="S::leizel.dano@rafimfi.ph::b5265ea4-25f1-4a73-8d78-551983323526" providerId="AD" clId="Web-{D71AFFCC-A809-DA25-25C2-5BE1D0F1FFEB}" dt="2026-05-19T04:53:07.125" v="3"/>
          <ac:grpSpMkLst>
            <pc:docMk/>
            <pc:sldMk cId="4138230994" sldId="359"/>
            <ac:grpSpMk id="7" creationId="{0084C52A-3B3F-C7E8-1AFA-413F9F0A0BD9}"/>
          </ac:grpSpMkLst>
        </pc:grpChg>
        <pc:grpChg chg="del">
          <ac:chgData name="Leizel B. Dano" userId="S::leizel.dano@rafimfi.ph::b5265ea4-25f1-4a73-8d78-551983323526" providerId="AD" clId="Web-{D71AFFCC-A809-DA25-25C2-5BE1D0F1FFEB}" dt="2026-05-19T04:53:26.782" v="5"/>
          <ac:grpSpMkLst>
            <pc:docMk/>
            <pc:sldMk cId="4138230994" sldId="359"/>
            <ac:grpSpMk id="10" creationId="{5102ACCD-C8A8-CF83-33F3-70B29F64FCC6}"/>
          </ac:grpSpMkLst>
        </pc:grpChg>
        <pc:grpChg chg="del">
          <ac:chgData name="Leizel B. Dano" userId="S::leizel.dano@rafimfi.ph::b5265ea4-25f1-4a73-8d78-551983323526" providerId="AD" clId="Web-{D71AFFCC-A809-DA25-25C2-5BE1D0F1FFEB}" dt="2026-05-19T04:53:30.517" v="6"/>
          <ac:grpSpMkLst>
            <pc:docMk/>
            <pc:sldMk cId="4138230994" sldId="359"/>
            <ac:grpSpMk id="13" creationId="{CFDBE05B-ABB3-95D5-76D7-B82D7610CFA8}"/>
          </ac:grpSpMkLst>
        </pc:grpChg>
        <pc:grpChg chg="del">
          <ac:chgData name="Leizel B. Dano" userId="S::leizel.dano@rafimfi.ph::b5265ea4-25f1-4a73-8d78-551983323526" providerId="AD" clId="Web-{D71AFFCC-A809-DA25-25C2-5BE1D0F1FFEB}" dt="2026-05-19T04:53:31.423" v="7"/>
          <ac:grpSpMkLst>
            <pc:docMk/>
            <pc:sldMk cId="4138230994" sldId="359"/>
            <ac:grpSpMk id="16" creationId="{27F165F6-06BB-78E5-EA56-6194B5164564}"/>
          </ac:grpSpMkLst>
        </pc:grpChg>
        <pc:graphicFrameChg chg="del">
          <ac:chgData name="Leizel B. Dano" userId="S::leizel.dano@rafimfi.ph::b5265ea4-25f1-4a73-8d78-551983323526" providerId="AD" clId="Web-{D71AFFCC-A809-DA25-25C2-5BE1D0F1FFEB}" dt="2026-05-19T04:53:34.251" v="8"/>
          <ac:graphicFrameMkLst>
            <pc:docMk/>
            <pc:sldMk cId="4138230994" sldId="359"/>
            <ac:graphicFrameMk id="6" creationId="{CF997906-D5F1-F752-5868-CC19BB23B9BF}"/>
          </ac:graphicFrameMkLst>
        </pc:graphicFrameChg>
        <pc:picChg chg="del topLvl">
          <ac:chgData name="Leizel B. Dano" userId="S::leizel.dano@rafimfi.ph::b5265ea4-25f1-4a73-8d78-551983323526" providerId="AD" clId="Web-{D71AFFCC-A809-DA25-25C2-5BE1D0F1FFEB}" dt="2026-05-19T04:53:10.266" v="4"/>
          <ac:picMkLst>
            <pc:docMk/>
            <pc:sldMk cId="4138230994" sldId="359"/>
            <ac:picMk id="8" creationId="{CEDA7E8D-223B-7A3A-C9AF-7B71C473442E}"/>
          </ac:picMkLst>
        </pc:picChg>
        <pc:picChg chg="add mod">
          <ac:chgData name="Leizel B. Dano" userId="S::leizel.dano@rafimfi.ph::b5265ea4-25f1-4a73-8d78-551983323526" providerId="AD" clId="Web-{D71AFFCC-A809-DA25-25C2-5BE1D0F1FFEB}" dt="2026-05-19T04:53:56.377" v="10" actId="1076"/>
          <ac:picMkLst>
            <pc:docMk/>
            <pc:sldMk cId="4138230994" sldId="359"/>
            <ac:picMk id="46" creationId="{1F600CE1-D62A-2BEE-CD9E-D7A9EECC9371}"/>
          </ac:picMkLst>
        </pc:picChg>
        <pc:picChg chg="add mod">
          <ac:chgData name="Leizel B. Dano" userId="S::leizel.dano@rafimfi.ph::b5265ea4-25f1-4a73-8d78-551983323526" providerId="AD" clId="Web-{D71AFFCC-A809-DA25-25C2-5BE1D0F1FFEB}" dt="2026-05-19T04:54:51.661" v="15" actId="14100"/>
          <ac:picMkLst>
            <pc:docMk/>
            <pc:sldMk cId="4138230994" sldId="359"/>
            <ac:picMk id="47" creationId="{B88D48C1-F319-D3C2-4958-E2113A1D7411}"/>
          </ac:picMkLst>
        </pc:picChg>
      </pc:sldChg>
      <pc:sldChg chg="addSp delSp modSp modNotes">
        <pc:chgData name="Leizel B. Dano" userId="S::leizel.dano@rafimfi.ph::b5265ea4-25f1-4a73-8d78-551983323526" providerId="AD" clId="Web-{D71AFFCC-A809-DA25-25C2-5BE1D0F1FFEB}" dt="2026-05-19T05:40:15.642" v="161"/>
        <pc:sldMkLst>
          <pc:docMk/>
          <pc:sldMk cId="906579943" sldId="365"/>
        </pc:sldMkLst>
        <pc:spChg chg="add del">
          <ac:chgData name="Leizel B. Dano" userId="S::leizel.dano@rafimfi.ph::b5265ea4-25f1-4a73-8d78-551983323526" providerId="AD" clId="Web-{D71AFFCC-A809-DA25-25C2-5BE1D0F1FFEB}" dt="2026-05-19T05:37:42.808" v="148"/>
          <ac:spMkLst>
            <pc:docMk/>
            <pc:sldMk cId="906579943" sldId="365"/>
            <ac:spMk id="5" creationId="{F9D6B70A-71D4-67AD-753F-D52C1CABAB72}"/>
          </ac:spMkLst>
        </pc:spChg>
        <pc:spChg chg="add del mod">
          <ac:chgData name="Leizel B. Dano" userId="S::leizel.dano@rafimfi.ph::b5265ea4-25f1-4a73-8d78-551983323526" providerId="AD" clId="Web-{D71AFFCC-A809-DA25-25C2-5BE1D0F1FFEB}" dt="2026-05-19T05:37:51.980" v="153" actId="20577"/>
          <ac:spMkLst>
            <pc:docMk/>
            <pc:sldMk cId="906579943" sldId="365"/>
            <ac:spMk id="7" creationId="{FD8F0E33-A145-840A-2F42-EAF7C0886523}"/>
          </ac:spMkLst>
        </pc:spChg>
        <pc:picChg chg="add del mod">
          <ac:chgData name="Leizel B. Dano" userId="S::leizel.dano@rafimfi.ph::b5265ea4-25f1-4a73-8d78-551983323526" providerId="AD" clId="Web-{D71AFFCC-A809-DA25-25C2-5BE1D0F1FFEB}" dt="2026-05-19T05:37:57.215" v="155"/>
          <ac:picMkLst>
            <pc:docMk/>
            <pc:sldMk cId="906579943" sldId="365"/>
            <ac:picMk id="3" creationId="{D38F51D9-A4DC-E426-6EB7-3D7BC88C7544}"/>
          </ac:picMkLst>
        </pc:picChg>
        <pc:picChg chg="add del mod">
          <ac:chgData name="Leizel B. Dano" userId="S::leizel.dano@rafimfi.ph::b5265ea4-25f1-4a73-8d78-551983323526" providerId="AD" clId="Web-{D71AFFCC-A809-DA25-25C2-5BE1D0F1FFEB}" dt="2026-05-19T05:37:38.683" v="147"/>
          <ac:picMkLst>
            <pc:docMk/>
            <pc:sldMk cId="906579943" sldId="365"/>
            <ac:picMk id="4" creationId="{220B6E41-0035-DE43-1322-4582837A2DA4}"/>
          </ac:picMkLst>
        </pc:picChg>
        <pc:picChg chg="add del">
          <ac:chgData name="Leizel B. Dano" userId="S::leizel.dano@rafimfi.ph::b5265ea4-25f1-4a73-8d78-551983323526" providerId="AD" clId="Web-{D71AFFCC-A809-DA25-25C2-5BE1D0F1FFEB}" dt="2026-05-19T05:37:46.543" v="149"/>
          <ac:picMkLst>
            <pc:docMk/>
            <pc:sldMk cId="906579943" sldId="365"/>
            <ac:picMk id="6" creationId="{00A6B92B-CB0B-0ECD-852B-A3BC211A5E0A}"/>
          </ac:picMkLst>
        </pc:picChg>
        <pc:picChg chg="add del">
          <ac:chgData name="Leizel B. Dano" userId="S::leizel.dano@rafimfi.ph::b5265ea4-25f1-4a73-8d78-551983323526" providerId="AD" clId="Web-{D71AFFCC-A809-DA25-25C2-5BE1D0F1FFEB}" dt="2026-05-19T05:37:48.402" v="152"/>
          <ac:picMkLst>
            <pc:docMk/>
            <pc:sldMk cId="906579943" sldId="365"/>
            <ac:picMk id="8" creationId="{28B53AA6-8814-ED51-64DE-ABDC96AD06D6}"/>
          </ac:picMkLst>
        </pc:picChg>
        <pc:picChg chg="add mod">
          <ac:chgData name="Leizel B. Dano" userId="S::leizel.dano@rafimfi.ph::b5265ea4-25f1-4a73-8d78-551983323526" providerId="AD" clId="Web-{D71AFFCC-A809-DA25-25C2-5BE1D0F1FFEB}" dt="2026-05-19T05:38:34.904" v="160" actId="14100"/>
          <ac:picMkLst>
            <pc:docMk/>
            <pc:sldMk cId="906579943" sldId="365"/>
            <ac:picMk id="9" creationId="{BB33312B-AE78-3A29-6DAD-13022AA3BF70}"/>
          </ac:picMkLst>
        </pc:picChg>
      </pc:sldChg>
      <pc:sldChg chg="modSp modNotes">
        <pc:chgData name="Leizel B. Dano" userId="S::leizel.dano@rafimfi.ph::b5265ea4-25f1-4a73-8d78-551983323526" providerId="AD" clId="Web-{D71AFFCC-A809-DA25-25C2-5BE1D0F1FFEB}" dt="2026-05-19T05:33:34.204" v="122"/>
        <pc:sldMkLst>
          <pc:docMk/>
          <pc:sldMk cId="1329285034" sldId="366"/>
        </pc:sldMkLst>
        <pc:spChg chg="mod">
          <ac:chgData name="Leizel B. Dano" userId="S::leizel.dano@rafimfi.ph::b5265ea4-25f1-4a73-8d78-551983323526" providerId="AD" clId="Web-{D71AFFCC-A809-DA25-25C2-5BE1D0F1FFEB}" dt="2026-05-19T05:33:17.125" v="121" actId="20577"/>
          <ac:spMkLst>
            <pc:docMk/>
            <pc:sldMk cId="1329285034" sldId="366"/>
            <ac:spMk id="5" creationId="{0E2A313D-912E-3C18-7E60-B881F9610C49}"/>
          </ac:spMkLst>
        </pc:spChg>
      </pc:sldChg>
      <pc:sldChg chg="add replId">
        <pc:chgData name="Leizel B. Dano" userId="S::leizel.dano@rafimfi.ph::b5265ea4-25f1-4a73-8d78-551983323526" providerId="AD" clId="Web-{D71AFFCC-A809-DA25-25C2-5BE1D0F1FFEB}" dt="2026-05-19T04:52:50.359" v="0"/>
        <pc:sldMkLst>
          <pc:docMk/>
          <pc:sldMk cId="3266596911" sldId="371"/>
        </pc:sldMkLst>
      </pc:sldChg>
      <pc:sldChg chg="addSp delSp modSp add replId modNotes">
        <pc:chgData name="Leizel B. Dano" userId="S::leizel.dano@rafimfi.ph::b5265ea4-25f1-4a73-8d78-551983323526" providerId="AD" clId="Web-{D71AFFCC-A809-DA25-25C2-5BE1D0F1FFEB}" dt="2026-05-19T06:33:08.062" v="525"/>
        <pc:sldMkLst>
          <pc:docMk/>
          <pc:sldMk cId="2745825776" sldId="372"/>
        </pc:sldMkLst>
        <pc:spChg chg="add del mod">
          <ac:chgData name="Leizel B. Dano" userId="S::leizel.dano@rafimfi.ph::b5265ea4-25f1-4a73-8d78-551983323526" providerId="AD" clId="Web-{D71AFFCC-A809-DA25-25C2-5BE1D0F1FFEB}" dt="2026-05-19T06:25:05.309" v="407"/>
          <ac:spMkLst>
            <pc:docMk/>
            <pc:sldMk cId="2745825776" sldId="372"/>
            <ac:spMk id="3" creationId="{8FBB7A7A-0B2F-CD9C-A24D-D0C0E2B8A23C}"/>
          </ac:spMkLst>
        </pc:spChg>
        <pc:grpChg chg="del">
          <ac:chgData name="Leizel B. Dano" userId="S::leizel.dano@rafimfi.ph::b5265ea4-25f1-4a73-8d78-551983323526" providerId="AD" clId="Web-{D71AFFCC-A809-DA25-25C2-5BE1D0F1FFEB}" dt="2026-05-19T06:24:47.746" v="391"/>
          <ac:grpSpMkLst>
            <pc:docMk/>
            <pc:sldMk cId="2745825776" sldId="372"/>
            <ac:grpSpMk id="39" creationId="{76613EDA-0046-8E26-0A40-6E7D75230CF0}"/>
          </ac:grpSpMkLst>
        </pc:grpChg>
        <pc:graphicFrameChg chg="del mod modGraphic">
          <ac:chgData name="Leizel B. Dano" userId="S::leizel.dano@rafimfi.ph::b5265ea4-25f1-4a73-8d78-551983323526" providerId="AD" clId="Web-{D71AFFCC-A809-DA25-25C2-5BE1D0F1FFEB}" dt="2026-05-19T06:24:31.182" v="384"/>
          <ac:graphicFrameMkLst>
            <pc:docMk/>
            <pc:sldMk cId="2745825776" sldId="372"/>
            <ac:graphicFrameMk id="30" creationId="{C4252C02-D0AC-F3A3-6605-49F9FC48D6E6}"/>
          </ac:graphicFrameMkLst>
        </pc:graphicFrameChg>
        <pc:graphicFrameChg chg="del mod modGraphic">
          <ac:chgData name="Leizel B. Dano" userId="S::leizel.dano@rafimfi.ph::b5265ea4-25f1-4a73-8d78-551983323526" providerId="AD" clId="Web-{D71AFFCC-A809-DA25-25C2-5BE1D0F1FFEB}" dt="2026-05-19T06:24:55.324" v="402"/>
          <ac:graphicFrameMkLst>
            <pc:docMk/>
            <pc:sldMk cId="2745825776" sldId="372"/>
            <ac:graphicFrameMk id="53" creationId="{90C64C31-0B56-F880-20D8-965DC4D61536}"/>
          </ac:graphicFrameMkLst>
        </pc:graphicFrameChg>
        <pc:picChg chg="add del mod">
          <ac:chgData name="Leizel B. Dano" userId="S::leizel.dano@rafimfi.ph::b5265ea4-25f1-4a73-8d78-551983323526" providerId="AD" clId="Web-{D71AFFCC-A809-DA25-25C2-5BE1D0F1FFEB}" dt="2026-05-19T06:25:02.918" v="406"/>
          <ac:picMkLst>
            <pc:docMk/>
            <pc:sldMk cId="2745825776" sldId="372"/>
            <ac:picMk id="4" creationId="{AC5652E3-6576-38C2-D678-472AF12E90ED}"/>
          </ac:picMkLst>
        </pc:picChg>
        <pc:picChg chg="add mod">
          <ac:chgData name="Leizel B. Dano" userId="S::leizel.dano@rafimfi.ph::b5265ea4-25f1-4a73-8d78-551983323526" providerId="AD" clId="Web-{D71AFFCC-A809-DA25-25C2-5BE1D0F1FFEB}" dt="2026-05-19T06:25:34.435" v="411" actId="14100"/>
          <ac:picMkLst>
            <pc:docMk/>
            <pc:sldMk cId="2745825776" sldId="372"/>
            <ac:picMk id="5" creationId="{8E2E32EA-5D20-EBAB-E8BE-F4B3AFE24513}"/>
          </ac:picMkLst>
        </pc:picChg>
        <pc:picChg chg="del">
          <ac:chgData name="Leizel B. Dano" userId="S::leizel.dano@rafimfi.ph::b5265ea4-25f1-4a73-8d78-551983323526" providerId="AD" clId="Web-{D71AFFCC-A809-DA25-25C2-5BE1D0F1FFEB}" dt="2026-05-19T06:24:35.854" v="386"/>
          <ac:picMkLst>
            <pc:docMk/>
            <pc:sldMk cId="2745825776" sldId="372"/>
            <ac:picMk id="31" creationId="{E2657B9C-E06A-BE66-86CA-B1B390CB4928}"/>
          </ac:picMkLst>
        </pc:picChg>
        <pc:picChg chg="del">
          <ac:chgData name="Leizel B. Dano" userId="S::leizel.dano@rafimfi.ph::b5265ea4-25f1-4a73-8d78-551983323526" providerId="AD" clId="Web-{D71AFFCC-A809-DA25-25C2-5BE1D0F1FFEB}" dt="2026-05-19T06:24:42.089" v="388"/>
          <ac:picMkLst>
            <pc:docMk/>
            <pc:sldMk cId="2745825776" sldId="372"/>
            <ac:picMk id="32" creationId="{2867794D-3AE5-84F6-8782-D62DD60C4AAA}"/>
          </ac:picMkLst>
        </pc:picChg>
        <pc:picChg chg="del">
          <ac:chgData name="Leizel B. Dano" userId="S::leizel.dano@rafimfi.ph::b5265ea4-25f1-4a73-8d78-551983323526" providerId="AD" clId="Web-{D71AFFCC-A809-DA25-25C2-5BE1D0F1FFEB}" dt="2026-05-19T06:24:45.683" v="390"/>
          <ac:picMkLst>
            <pc:docMk/>
            <pc:sldMk cId="2745825776" sldId="372"/>
            <ac:picMk id="33" creationId="{FF6006E9-1A2F-9988-7914-004CFF065969}"/>
          </ac:picMkLst>
        </pc:picChg>
        <pc:picChg chg="del">
          <ac:chgData name="Leizel B. Dano" userId="S::leizel.dano@rafimfi.ph::b5265ea4-25f1-4a73-8d78-551983323526" providerId="AD" clId="Web-{D71AFFCC-A809-DA25-25C2-5BE1D0F1FFEB}" dt="2026-05-19T06:24:57.387" v="403"/>
          <ac:picMkLst>
            <pc:docMk/>
            <pc:sldMk cId="2745825776" sldId="372"/>
            <ac:picMk id="34" creationId="{6DE0BE07-19C2-4190-1168-68F37EC83848}"/>
          </ac:picMkLst>
        </pc:picChg>
        <pc:picChg chg="del">
          <ac:chgData name="Leizel B. Dano" userId="S::leizel.dano@rafimfi.ph::b5265ea4-25f1-4a73-8d78-551983323526" providerId="AD" clId="Web-{D71AFFCC-A809-DA25-25C2-5BE1D0F1FFEB}" dt="2026-05-19T06:24:59.309" v="404"/>
          <ac:picMkLst>
            <pc:docMk/>
            <pc:sldMk cId="2745825776" sldId="372"/>
            <ac:picMk id="35" creationId="{A6C835EF-C930-E434-5E63-1D86E471831B}"/>
          </ac:picMkLst>
        </pc:picChg>
        <pc:picChg chg="del">
          <ac:chgData name="Leizel B. Dano" userId="S::leizel.dano@rafimfi.ph::b5265ea4-25f1-4a73-8d78-551983323526" providerId="AD" clId="Web-{D71AFFCC-A809-DA25-25C2-5BE1D0F1FFEB}" dt="2026-05-19T06:25:01.230" v="405"/>
          <ac:picMkLst>
            <pc:docMk/>
            <pc:sldMk cId="2745825776" sldId="372"/>
            <ac:picMk id="38" creationId="{E51FCCAC-26FE-A106-8351-CDDE4300B8BE}"/>
          </ac:picMkLst>
        </pc:picChg>
        <pc:picChg chg="del">
          <ac:chgData name="Leizel B. Dano" userId="S::leizel.dano@rafimfi.ph::b5265ea4-25f1-4a73-8d78-551983323526" providerId="AD" clId="Web-{D71AFFCC-A809-DA25-25C2-5BE1D0F1FFEB}" dt="2026-05-19T06:24:32.964" v="385"/>
          <ac:picMkLst>
            <pc:docMk/>
            <pc:sldMk cId="2745825776" sldId="372"/>
            <ac:picMk id="50" creationId="{FB25453D-A5D2-D7F9-0B92-259107133B7B}"/>
          </ac:picMkLst>
        </pc:picChg>
        <pc:picChg chg="del">
          <ac:chgData name="Leizel B. Dano" userId="S::leizel.dano@rafimfi.ph::b5265ea4-25f1-4a73-8d78-551983323526" providerId="AD" clId="Web-{D71AFFCC-A809-DA25-25C2-5BE1D0F1FFEB}" dt="2026-05-19T06:24:37.011" v="387"/>
          <ac:picMkLst>
            <pc:docMk/>
            <pc:sldMk cId="2745825776" sldId="372"/>
            <ac:picMk id="51" creationId="{F5445E40-445E-C937-22C7-F9E8C2C04E48}"/>
          </ac:picMkLst>
        </pc:picChg>
        <pc:picChg chg="del">
          <ac:chgData name="Leizel B. Dano" userId="S::leizel.dano@rafimfi.ph::b5265ea4-25f1-4a73-8d78-551983323526" providerId="AD" clId="Web-{D71AFFCC-A809-DA25-25C2-5BE1D0F1FFEB}" dt="2026-05-19T06:24:44.683" v="389"/>
          <ac:picMkLst>
            <pc:docMk/>
            <pc:sldMk cId="2745825776" sldId="372"/>
            <ac:picMk id="52" creationId="{D2B7CC7C-9D00-B0B7-150B-DDF2376700E6}"/>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E5BEB56-A4F9-4A60-8B96-A82B49C95ACF}" type="doc">
      <dgm:prSet loTypeId="urn:microsoft.com/office/officeart/2005/8/layout/hList1" loCatId="list" qsTypeId="urn:microsoft.com/office/officeart/2005/8/quickstyle/simple5" qsCatId="simple" csTypeId="urn:microsoft.com/office/officeart/2005/8/colors/colorful5" csCatId="colorful" phldr="1"/>
      <dgm:spPr/>
      <dgm:t>
        <a:bodyPr/>
        <a:lstStyle/>
        <a:p>
          <a:endParaRPr lang="en-PH"/>
        </a:p>
      </dgm:t>
    </dgm:pt>
    <dgm:pt modelId="{FF8BD89D-004D-4C65-A8F1-A1C9A2B519D0}">
      <dgm:prSet phldrT="[Text]" custT="1"/>
      <dgm:spPr/>
      <dgm:t>
        <a:bodyPr/>
        <a:lstStyle/>
        <a:p>
          <a:r>
            <a:rPr lang="en-PH" sz="1800" b="1">
              <a:latin typeface="Lato" panose="020F0502020204030203" pitchFamily="34" charset="0"/>
              <a:ea typeface="Lato" panose="020F0502020204030203" pitchFamily="34" charset="0"/>
              <a:cs typeface="Lato" panose="020F0502020204030203" pitchFamily="34" charset="0"/>
            </a:rPr>
            <a:t>Production Loan</a:t>
          </a:r>
        </a:p>
      </dgm:t>
    </dgm:pt>
    <dgm:pt modelId="{C42FAD61-1407-4C79-8691-75523D6B6B77}" type="parTrans" cxnId="{347DD376-2F8F-4E0E-8043-2C930E1707ED}">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D91A6D25-6F32-46E7-BA6B-406FD854F42F}" type="sibTrans" cxnId="{347DD376-2F8F-4E0E-8043-2C930E1707ED}">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BCEAC048-89E0-456D-BEC4-C5D72942ADD8}">
      <dgm:prSet phldrT="[Text]" custT="1"/>
      <dgm:spPr/>
      <dgm:t>
        <a:bodyPr/>
        <a:lstStyle/>
        <a:p>
          <a:r>
            <a:rPr lang="en-PH" sz="1800" b="1">
              <a:latin typeface="Lato"/>
              <a:ea typeface="Lato"/>
              <a:cs typeface="Lato"/>
            </a:rPr>
            <a:t>Supplemental Loan</a:t>
          </a:r>
        </a:p>
      </dgm:t>
    </dgm:pt>
    <dgm:pt modelId="{738DD7AA-F5A4-4C06-94B5-4E86A8AE69ED}" type="parTrans" cxnId="{8E9BC9E6-F589-4E73-91C0-FADE5EDE592A}">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A1B880AE-1529-4997-B1BC-8BDC05EC344E}" type="sibTrans" cxnId="{8E9BC9E6-F589-4E73-91C0-FADE5EDE592A}">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FF8EBD9E-43DC-45CC-B943-51C33C03EE35}">
      <dgm:prSet phldrT="[Text]" custT="1"/>
      <dgm:spPr/>
      <dgm:t>
        <a:bodyPr/>
        <a:lstStyle/>
        <a:p>
          <a:r>
            <a:rPr lang="en-PH" sz="1200">
              <a:latin typeface="Lato"/>
              <a:ea typeface="Lato"/>
              <a:cs typeface="Lato"/>
            </a:rPr>
            <a:t>SAGIP Loan as Disaster Recovery</a:t>
          </a:r>
        </a:p>
      </dgm:t>
    </dgm:pt>
    <dgm:pt modelId="{AB49615D-078B-4538-BBD1-842DFBA9F00E}" type="parTrans" cxnId="{6B2B3F8D-560C-4DEB-9DAA-2D28EE220F8A}">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2601B70F-4932-4B54-83A4-55DA2BFD721E}" type="sibTrans" cxnId="{6B2B3F8D-560C-4DEB-9DAA-2D28EE220F8A}">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CA9C283A-10B6-4777-ADA6-7F15C235B8C7}">
      <dgm:prSet phldrT="[Text]" custT="1"/>
      <dgm:spPr/>
      <dgm:t>
        <a:bodyPr/>
        <a:lstStyle/>
        <a:p>
          <a:r>
            <a:rPr lang="en-PH" sz="1800" b="1">
              <a:latin typeface="Lato"/>
              <a:ea typeface="Lato"/>
              <a:cs typeface="Lato"/>
            </a:rPr>
            <a:t>Microinsurance</a:t>
          </a:r>
        </a:p>
      </dgm:t>
    </dgm:pt>
    <dgm:pt modelId="{5304F7D4-4161-4B11-A555-20CDC86F1FDD}" type="parTrans" cxnId="{F0929E3F-519E-46F0-8422-2AA5E19FD962}">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818AC874-764D-4D6D-89CE-099C6F94422F}" type="sibTrans" cxnId="{F0929E3F-519E-46F0-8422-2AA5E19FD962}">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B180F672-34C0-4207-AB47-DEEA60EEB22E}">
      <dgm:prSet phldrT="[Text]" custT="1"/>
      <dgm:spPr/>
      <dgm:t>
        <a:bodyPr/>
        <a:lstStyle/>
        <a:p>
          <a:r>
            <a:rPr lang="en-PH" sz="1200" err="1">
              <a:latin typeface="Lato"/>
              <a:ea typeface="Lato"/>
              <a:cs typeface="Lato"/>
            </a:rPr>
            <a:t>Kabuhayan</a:t>
          </a:r>
          <a:r>
            <a:rPr lang="en-PH" sz="1200">
              <a:latin typeface="Lato"/>
              <a:ea typeface="Lato"/>
              <a:cs typeface="Lato"/>
            </a:rPr>
            <a:t> Hog</a:t>
          </a:r>
        </a:p>
      </dgm:t>
    </dgm:pt>
    <dgm:pt modelId="{0447C90C-4B98-42D4-BEA7-B56D14238E8B}" type="parTrans" cxnId="{F1A24518-B1FC-4CB5-BB47-82DC7D56B416}">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305D5D07-9BD8-4DB4-8CA9-03038F673AC3}" type="sibTrans" cxnId="{F1A24518-B1FC-4CB5-BB47-82DC7D56B416}">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299A38AF-4BCF-40F8-B579-7DD0F69BB056}">
      <dgm:prSet phldrT="[Text]" custT="1"/>
      <dgm:spPr/>
      <dgm:t>
        <a:bodyPr/>
        <a:lstStyle/>
        <a:p>
          <a:r>
            <a:rPr lang="en-PH" sz="1200">
              <a:latin typeface="Lato"/>
              <a:ea typeface="Lato"/>
              <a:cs typeface="Lato"/>
            </a:rPr>
            <a:t>Education Loan</a:t>
          </a:r>
        </a:p>
      </dgm:t>
    </dgm:pt>
    <dgm:pt modelId="{F019AFA0-70D9-4371-86F1-EA07B58B2BA8}" type="parTrans" cxnId="{26FEADA7-CA7E-464A-8F43-CD632512BA17}">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9626E7D3-80B8-4DBD-B2DF-A4D29B5C0FE1}" type="sibTrans" cxnId="{26FEADA7-CA7E-464A-8F43-CD632512BA17}">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F0E6D9BD-D5A0-4678-9CE7-08B7F963E360}">
      <dgm:prSet phldrT="[Text]" custT="1"/>
      <dgm:spPr/>
      <dgm:t>
        <a:bodyPr/>
        <a:lstStyle/>
        <a:p>
          <a:r>
            <a:rPr lang="en-PH" sz="1200">
              <a:latin typeface="Lato"/>
              <a:ea typeface="Lato"/>
              <a:cs typeface="Lato"/>
            </a:rPr>
            <a:t>SAGIP Loan as Emergency</a:t>
          </a:r>
        </a:p>
      </dgm:t>
    </dgm:pt>
    <dgm:pt modelId="{9EF69EFA-FC4A-4CAA-88CD-316530BBB48A}" type="parTrans" cxnId="{E92CF623-2938-475B-B958-35A3B0BF9F3A}">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7F0D8F41-C747-4003-856F-487B9ED71AFB}" type="sibTrans" cxnId="{E92CF623-2938-475B-B958-35A3B0BF9F3A}">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06375E0C-580A-4895-84B9-8338AFB0FD51}">
      <dgm:prSet phldrT="[Text]" custT="1"/>
      <dgm:spPr/>
      <dgm:t>
        <a:bodyPr/>
        <a:lstStyle/>
        <a:p>
          <a:r>
            <a:rPr lang="en-PH" sz="1200">
              <a:latin typeface="Lato"/>
              <a:ea typeface="Lato"/>
              <a:cs typeface="Lato"/>
            </a:rPr>
            <a:t>Loan Redemption Fund</a:t>
          </a:r>
        </a:p>
      </dgm:t>
    </dgm:pt>
    <dgm:pt modelId="{77B1B29A-B6BE-4A5B-9E8F-64676F10CE40}" type="parTrans" cxnId="{F3F443F1-6260-400D-A313-F51E876A9F6B}">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DAA69A8B-FE79-4E59-B7F7-067F2ADB02B5}" type="sibTrans" cxnId="{F3F443F1-6260-400D-A313-F51E876A9F6B}">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9E24B190-1E08-49F1-98DB-33518077CBF0}">
      <dgm:prSet phldrT="[Text]" custT="1"/>
      <dgm:spPr/>
      <dgm:t>
        <a:bodyPr/>
        <a:lstStyle/>
        <a:p>
          <a:r>
            <a:rPr lang="en-US" sz="1800" b="1" err="1">
              <a:latin typeface="Lato" panose="020F0502020204030203" pitchFamily="34" charset="0"/>
              <a:ea typeface="Lato" panose="020F0502020204030203" pitchFamily="34" charset="0"/>
              <a:cs typeface="Lato" panose="020F0502020204030203" pitchFamily="34" charset="0"/>
            </a:rPr>
            <a:t>Microsavings</a:t>
          </a:r>
          <a:endParaRPr lang="en-PH" sz="1800" b="1">
            <a:latin typeface="Lato" panose="020F0502020204030203" pitchFamily="34" charset="0"/>
            <a:ea typeface="Lato" panose="020F0502020204030203" pitchFamily="34" charset="0"/>
            <a:cs typeface="Lato" panose="020F0502020204030203" pitchFamily="34" charset="0"/>
          </a:endParaRPr>
        </a:p>
      </dgm:t>
    </dgm:pt>
    <dgm:pt modelId="{DF524816-1526-42CB-ADF1-C894921C6C91}" type="parTrans" cxnId="{5D3B113F-3A4B-4D6E-A0A0-FBD300AC4250}">
      <dgm:prSet/>
      <dgm:spPr/>
      <dgm:t>
        <a:bodyPr/>
        <a:lstStyle/>
        <a:p>
          <a:endParaRPr lang="en-PH" sz="1600"/>
        </a:p>
      </dgm:t>
    </dgm:pt>
    <dgm:pt modelId="{5400F607-3678-440B-BD5A-39FE3B2BED30}" type="sibTrans" cxnId="{5D3B113F-3A4B-4D6E-A0A0-FBD300AC4250}">
      <dgm:prSet/>
      <dgm:spPr/>
      <dgm:t>
        <a:bodyPr/>
        <a:lstStyle/>
        <a:p>
          <a:endParaRPr lang="en-PH" sz="1600"/>
        </a:p>
      </dgm:t>
    </dgm:pt>
    <dgm:pt modelId="{A7A426B3-A57B-4122-BF5B-1DBA016900FB}">
      <dgm:prSet phldrT="[Text]" custT="1"/>
      <dgm:spPr/>
      <dgm:t>
        <a:bodyPr/>
        <a:lstStyle/>
        <a:p>
          <a:r>
            <a:rPr lang="en-US" sz="1200" err="1">
              <a:latin typeface="Lato" panose="020F0502020204030203" pitchFamily="34" charset="0"/>
              <a:ea typeface="Lato" panose="020F0502020204030203" pitchFamily="34" charset="0"/>
              <a:cs typeface="Lato" panose="020F0502020204030203" pitchFamily="34" charset="0"/>
            </a:rPr>
            <a:t>MyIpon</a:t>
          </a:r>
          <a:endParaRPr lang="en-PH" sz="1200">
            <a:latin typeface="Lato" panose="020F0502020204030203" pitchFamily="34" charset="0"/>
            <a:ea typeface="Lato" panose="020F0502020204030203" pitchFamily="34" charset="0"/>
            <a:cs typeface="Lato" panose="020F0502020204030203" pitchFamily="34" charset="0"/>
          </a:endParaRPr>
        </a:p>
      </dgm:t>
    </dgm:pt>
    <dgm:pt modelId="{5279E597-BED1-444C-8C0D-ED31A2051784}" type="parTrans" cxnId="{27F1F177-B3EE-42C9-B105-ED425A48472C}">
      <dgm:prSet/>
      <dgm:spPr/>
      <dgm:t>
        <a:bodyPr/>
        <a:lstStyle/>
        <a:p>
          <a:endParaRPr lang="en-PH" sz="1600"/>
        </a:p>
      </dgm:t>
    </dgm:pt>
    <dgm:pt modelId="{E204EC84-9E60-45E2-8E38-594E33D38CE3}" type="sibTrans" cxnId="{27F1F177-B3EE-42C9-B105-ED425A48472C}">
      <dgm:prSet/>
      <dgm:spPr/>
      <dgm:t>
        <a:bodyPr/>
        <a:lstStyle/>
        <a:p>
          <a:endParaRPr lang="en-PH" sz="1600"/>
        </a:p>
      </dgm:t>
    </dgm:pt>
    <dgm:pt modelId="{6BD48CE0-CA13-42A2-81A3-5BCDA559B2E9}">
      <dgm:prSet phldrT="[Text]" custT="1"/>
      <dgm:spPr/>
      <dgm:t>
        <a:bodyPr/>
        <a:lstStyle/>
        <a:p>
          <a:r>
            <a:rPr lang="en-PH" sz="1200" err="1">
              <a:latin typeface="Lato"/>
              <a:ea typeface="Lato"/>
              <a:cs typeface="Lato"/>
            </a:rPr>
            <a:t>Mauswagon</a:t>
          </a:r>
          <a:r>
            <a:rPr lang="en-PH" sz="1200">
              <a:latin typeface="Lato"/>
              <a:ea typeface="Lato"/>
              <a:cs typeface="Lato"/>
            </a:rPr>
            <a:t> Loan</a:t>
          </a:r>
          <a:endParaRPr lang="en-PH" sz="1600">
            <a:latin typeface="Lato" panose="020F0502020204030203" pitchFamily="34" charset="0"/>
            <a:ea typeface="Lato" panose="020F0502020204030203" pitchFamily="34" charset="0"/>
            <a:cs typeface="Lato" panose="020F0502020204030203" pitchFamily="34" charset="0"/>
          </a:endParaRPr>
        </a:p>
      </dgm:t>
    </dgm:pt>
    <dgm:pt modelId="{558DE988-6B90-4F20-BC16-C33782D1CCE7}" type="parTrans" cxnId="{945D5DB3-D86A-48AD-8206-9056C36EF282}">
      <dgm:prSet/>
      <dgm:spPr/>
      <dgm:t>
        <a:bodyPr/>
        <a:lstStyle/>
        <a:p>
          <a:endParaRPr lang="en-PH"/>
        </a:p>
      </dgm:t>
    </dgm:pt>
    <dgm:pt modelId="{0176D81A-4DE9-4480-B3E5-81F5BB8D1A0E}" type="sibTrans" cxnId="{945D5DB3-D86A-48AD-8206-9056C36EF282}">
      <dgm:prSet/>
      <dgm:spPr/>
      <dgm:t>
        <a:bodyPr/>
        <a:lstStyle/>
        <a:p>
          <a:endParaRPr lang="en-PH"/>
        </a:p>
      </dgm:t>
    </dgm:pt>
    <dgm:pt modelId="{10883F33-F6CB-4432-B1AA-2727492E24C0}">
      <dgm:prSet phldrT="[Text]" custT="1"/>
      <dgm:spPr/>
      <dgm:t>
        <a:bodyPr/>
        <a:lstStyle/>
        <a:p>
          <a:r>
            <a:rPr lang="en-PH" sz="1200">
              <a:latin typeface="Lato" panose="020F0502020204030203" pitchFamily="34" charset="0"/>
              <a:ea typeface="Lato" panose="020F0502020204030203" pitchFamily="34" charset="0"/>
              <a:cs typeface="Lato" panose="020F0502020204030203" pitchFamily="34" charset="0"/>
            </a:rPr>
            <a:t>Housing Improvement Loan</a:t>
          </a:r>
          <a:endParaRPr lang="en-PH" sz="1600">
            <a:latin typeface="Lato" panose="020F0502020204030203" pitchFamily="34" charset="0"/>
            <a:ea typeface="Lato" panose="020F0502020204030203" pitchFamily="34" charset="0"/>
            <a:cs typeface="Lato" panose="020F0502020204030203" pitchFamily="34" charset="0"/>
          </a:endParaRPr>
        </a:p>
      </dgm:t>
    </dgm:pt>
    <dgm:pt modelId="{31E74D7C-C551-47C1-946D-1B2FBCCEA63D}" type="parTrans" cxnId="{978DB50F-6FAD-4503-9983-250E0DFC89F9}">
      <dgm:prSet/>
      <dgm:spPr/>
      <dgm:t>
        <a:bodyPr/>
        <a:lstStyle/>
        <a:p>
          <a:endParaRPr lang="en-PH"/>
        </a:p>
      </dgm:t>
    </dgm:pt>
    <dgm:pt modelId="{D9F9BB48-268A-4CB8-92B4-A0A241259416}" type="sibTrans" cxnId="{978DB50F-6FAD-4503-9983-250E0DFC89F9}">
      <dgm:prSet/>
      <dgm:spPr/>
      <dgm:t>
        <a:bodyPr/>
        <a:lstStyle/>
        <a:p>
          <a:endParaRPr lang="en-PH"/>
        </a:p>
      </dgm:t>
    </dgm:pt>
    <dgm:pt modelId="{3FF69756-A2CF-47DD-874F-C00EA160CC5A}">
      <dgm:prSet phldrT="[Text]" custT="1"/>
      <dgm:spPr/>
      <dgm:t>
        <a:bodyPr/>
        <a:lstStyle/>
        <a:p>
          <a:r>
            <a:rPr lang="en-US" sz="1200">
              <a:latin typeface="Lato" panose="020F0502020204030203" pitchFamily="34" charset="0"/>
              <a:ea typeface="Lato" panose="020F0502020204030203" pitchFamily="34" charset="0"/>
              <a:cs typeface="Lato" panose="020F0502020204030203" pitchFamily="34" charset="0"/>
            </a:rPr>
            <a:t>CBU</a:t>
          </a:r>
          <a:endParaRPr lang="en-PH" sz="1600">
            <a:latin typeface="Lato" panose="020F0502020204030203" pitchFamily="34" charset="0"/>
            <a:ea typeface="Lato" panose="020F0502020204030203" pitchFamily="34" charset="0"/>
            <a:cs typeface="Lato" panose="020F0502020204030203" pitchFamily="34" charset="0"/>
          </a:endParaRPr>
        </a:p>
      </dgm:t>
    </dgm:pt>
    <dgm:pt modelId="{4B07A39B-AE71-48E0-A7BB-6C8C0642CB41}" type="parTrans" cxnId="{71A93DFA-AA3F-4A18-9C69-041BEAB77F4D}">
      <dgm:prSet/>
      <dgm:spPr/>
      <dgm:t>
        <a:bodyPr/>
        <a:lstStyle/>
        <a:p>
          <a:endParaRPr lang="en-PH"/>
        </a:p>
      </dgm:t>
    </dgm:pt>
    <dgm:pt modelId="{2EFD5A6E-074D-4989-9839-0CB3DC8A7956}" type="sibTrans" cxnId="{71A93DFA-AA3F-4A18-9C69-041BEAB77F4D}">
      <dgm:prSet/>
      <dgm:spPr/>
      <dgm:t>
        <a:bodyPr/>
        <a:lstStyle/>
        <a:p>
          <a:endParaRPr lang="en-PH"/>
        </a:p>
      </dgm:t>
    </dgm:pt>
    <dgm:pt modelId="{B36B8591-9784-47C0-BBD3-4725E5BE9275}">
      <dgm:prSet phldrT="[Text]" custT="1"/>
      <dgm:spPr/>
      <dgm:t>
        <a:bodyPr/>
        <a:lstStyle/>
        <a:p>
          <a:r>
            <a:rPr lang="en-PH" sz="1200">
              <a:latin typeface="Lato"/>
              <a:ea typeface="Lato"/>
              <a:cs typeface="Lato"/>
            </a:rPr>
            <a:t>Family Relief Plan</a:t>
          </a:r>
        </a:p>
      </dgm:t>
    </dgm:pt>
    <dgm:pt modelId="{8F2269EA-B155-4611-BA31-7E3B74C68F5B}" type="parTrans" cxnId="{7F8C40AB-F6E4-405D-9D6A-5C6A3D4DE4A4}">
      <dgm:prSet/>
      <dgm:spPr/>
      <dgm:t>
        <a:bodyPr/>
        <a:lstStyle/>
        <a:p>
          <a:endParaRPr lang="en-PH"/>
        </a:p>
      </dgm:t>
    </dgm:pt>
    <dgm:pt modelId="{6C5741CC-4EC7-4037-8C42-6DAB5D877EBF}" type="sibTrans" cxnId="{7F8C40AB-F6E4-405D-9D6A-5C6A3D4DE4A4}">
      <dgm:prSet/>
      <dgm:spPr/>
      <dgm:t>
        <a:bodyPr/>
        <a:lstStyle/>
        <a:p>
          <a:endParaRPr lang="en-PH"/>
        </a:p>
      </dgm:t>
    </dgm:pt>
    <dgm:pt modelId="{76AF8EC6-D37B-440E-AFE8-5EEBFDA4B12B}">
      <dgm:prSet phldrT="[Text]" custT="1"/>
      <dgm:spPr/>
      <dgm:t>
        <a:bodyPr/>
        <a:lstStyle/>
        <a:p>
          <a:r>
            <a:rPr lang="en-PH" sz="1200" err="1">
              <a:latin typeface="Lato" panose="020F0502020204030203" pitchFamily="34" charset="0"/>
              <a:ea typeface="Lato" panose="020F0502020204030203" pitchFamily="34" charset="0"/>
              <a:cs typeface="Lato" panose="020F0502020204030203" pitchFamily="34" charset="0"/>
            </a:rPr>
            <a:t>Kaagabay</a:t>
          </a:r>
          <a:r>
            <a:rPr lang="en-PH" sz="1200">
              <a:latin typeface="Lato" panose="020F0502020204030203" pitchFamily="34" charset="0"/>
              <a:ea typeface="Lato" panose="020F0502020204030203" pitchFamily="34" charset="0"/>
              <a:cs typeface="Lato" panose="020F0502020204030203" pitchFamily="34" charset="0"/>
            </a:rPr>
            <a:t> (GPA)</a:t>
          </a:r>
        </a:p>
      </dgm:t>
    </dgm:pt>
    <dgm:pt modelId="{B7CBB29F-71DA-4502-BD6C-9FA593340009}" type="parTrans" cxnId="{A73821C7-D8E9-400E-A7CC-43D07236E7E3}">
      <dgm:prSet/>
      <dgm:spPr/>
      <dgm:t>
        <a:bodyPr/>
        <a:lstStyle/>
        <a:p>
          <a:endParaRPr lang="en-PH"/>
        </a:p>
      </dgm:t>
    </dgm:pt>
    <dgm:pt modelId="{6F732D8F-A789-428C-A408-00552C0269A0}" type="sibTrans" cxnId="{A73821C7-D8E9-400E-A7CC-43D07236E7E3}">
      <dgm:prSet/>
      <dgm:spPr/>
      <dgm:t>
        <a:bodyPr/>
        <a:lstStyle/>
        <a:p>
          <a:endParaRPr lang="en-PH"/>
        </a:p>
      </dgm:t>
    </dgm:pt>
    <dgm:pt modelId="{79A26EE2-2438-4F7B-AF38-DAB6A25D063A}" type="pres">
      <dgm:prSet presAssocID="{DE5BEB56-A4F9-4A60-8B96-A82B49C95ACF}" presName="Name0" presStyleCnt="0">
        <dgm:presLayoutVars>
          <dgm:dir/>
          <dgm:animLvl val="lvl"/>
          <dgm:resizeHandles val="exact"/>
        </dgm:presLayoutVars>
      </dgm:prSet>
      <dgm:spPr/>
    </dgm:pt>
    <dgm:pt modelId="{D8E26213-D029-4D83-9F23-8ED24E21BD96}" type="pres">
      <dgm:prSet presAssocID="{FF8BD89D-004D-4C65-A8F1-A1C9A2B519D0}" presName="composite" presStyleCnt="0"/>
      <dgm:spPr/>
    </dgm:pt>
    <dgm:pt modelId="{7559BF76-63B5-445F-8BFB-A94017391464}" type="pres">
      <dgm:prSet presAssocID="{FF8BD89D-004D-4C65-A8F1-A1C9A2B519D0}" presName="parTx" presStyleLbl="alignNode1" presStyleIdx="0" presStyleCnt="4" custScaleY="96129">
        <dgm:presLayoutVars>
          <dgm:chMax val="0"/>
          <dgm:chPref val="0"/>
          <dgm:bulletEnabled val="1"/>
        </dgm:presLayoutVars>
      </dgm:prSet>
      <dgm:spPr/>
    </dgm:pt>
    <dgm:pt modelId="{C87DBAC9-2291-4FAA-905D-3C22E81CE32E}" type="pres">
      <dgm:prSet presAssocID="{FF8BD89D-004D-4C65-A8F1-A1C9A2B519D0}" presName="desTx" presStyleLbl="alignAccFollowNode1" presStyleIdx="0" presStyleCnt="4">
        <dgm:presLayoutVars>
          <dgm:bulletEnabled val="1"/>
        </dgm:presLayoutVars>
      </dgm:prSet>
      <dgm:spPr/>
    </dgm:pt>
    <dgm:pt modelId="{3A2D0020-7B98-4560-B4DA-6A0516786176}" type="pres">
      <dgm:prSet presAssocID="{D91A6D25-6F32-46E7-BA6B-406FD854F42F}" presName="space" presStyleCnt="0"/>
      <dgm:spPr/>
    </dgm:pt>
    <dgm:pt modelId="{D0508F32-2858-4ED3-AED6-DFF6D2284D9D}" type="pres">
      <dgm:prSet presAssocID="{BCEAC048-89E0-456D-BEC4-C5D72942ADD8}" presName="composite" presStyleCnt="0"/>
      <dgm:spPr/>
    </dgm:pt>
    <dgm:pt modelId="{8C3B7137-A507-4964-8EAE-A8BDFEF0BAE8}" type="pres">
      <dgm:prSet presAssocID="{BCEAC048-89E0-456D-BEC4-C5D72942ADD8}" presName="parTx" presStyleLbl="alignNode1" presStyleIdx="1" presStyleCnt="4" custScaleY="96129">
        <dgm:presLayoutVars>
          <dgm:chMax val="0"/>
          <dgm:chPref val="0"/>
          <dgm:bulletEnabled val="1"/>
        </dgm:presLayoutVars>
      </dgm:prSet>
      <dgm:spPr/>
    </dgm:pt>
    <dgm:pt modelId="{A6C8B00C-A138-418C-880F-20BD333101A1}" type="pres">
      <dgm:prSet presAssocID="{BCEAC048-89E0-456D-BEC4-C5D72942ADD8}" presName="desTx" presStyleLbl="alignAccFollowNode1" presStyleIdx="1" presStyleCnt="4">
        <dgm:presLayoutVars>
          <dgm:bulletEnabled val="1"/>
        </dgm:presLayoutVars>
      </dgm:prSet>
      <dgm:spPr/>
    </dgm:pt>
    <dgm:pt modelId="{453A7038-0344-4984-B786-9EE039A7CE38}" type="pres">
      <dgm:prSet presAssocID="{A1B880AE-1529-4997-B1BC-8BDC05EC344E}" presName="space" presStyleCnt="0"/>
      <dgm:spPr/>
    </dgm:pt>
    <dgm:pt modelId="{31EA04F8-8DE9-4007-8E73-CC4DA2BBA390}" type="pres">
      <dgm:prSet presAssocID="{CA9C283A-10B6-4777-ADA6-7F15C235B8C7}" presName="composite" presStyleCnt="0"/>
      <dgm:spPr/>
    </dgm:pt>
    <dgm:pt modelId="{4DB9AE7B-489D-4F24-B987-26DA59C16979}" type="pres">
      <dgm:prSet presAssocID="{CA9C283A-10B6-4777-ADA6-7F15C235B8C7}" presName="parTx" presStyleLbl="alignNode1" presStyleIdx="2" presStyleCnt="4" custScaleY="96129">
        <dgm:presLayoutVars>
          <dgm:chMax val="0"/>
          <dgm:chPref val="0"/>
          <dgm:bulletEnabled val="1"/>
        </dgm:presLayoutVars>
      </dgm:prSet>
      <dgm:spPr/>
    </dgm:pt>
    <dgm:pt modelId="{B0323036-6C52-44BC-8ECD-51763DFD2A22}" type="pres">
      <dgm:prSet presAssocID="{CA9C283A-10B6-4777-ADA6-7F15C235B8C7}" presName="desTx" presStyleLbl="alignAccFollowNode1" presStyleIdx="2" presStyleCnt="4">
        <dgm:presLayoutVars>
          <dgm:bulletEnabled val="1"/>
        </dgm:presLayoutVars>
      </dgm:prSet>
      <dgm:spPr/>
    </dgm:pt>
    <dgm:pt modelId="{E311D686-4FBB-48EA-B6AE-51193BB87B3D}" type="pres">
      <dgm:prSet presAssocID="{818AC874-764D-4D6D-89CE-099C6F94422F}" presName="space" presStyleCnt="0"/>
      <dgm:spPr/>
    </dgm:pt>
    <dgm:pt modelId="{D5D5E32E-BE6C-4914-828E-323ED9810ECD}" type="pres">
      <dgm:prSet presAssocID="{9E24B190-1E08-49F1-98DB-33518077CBF0}" presName="composite" presStyleCnt="0"/>
      <dgm:spPr/>
    </dgm:pt>
    <dgm:pt modelId="{96915571-B7BF-4602-B37B-19A29E8A0FF4}" type="pres">
      <dgm:prSet presAssocID="{9E24B190-1E08-49F1-98DB-33518077CBF0}" presName="parTx" presStyleLbl="alignNode1" presStyleIdx="3" presStyleCnt="4">
        <dgm:presLayoutVars>
          <dgm:chMax val="0"/>
          <dgm:chPref val="0"/>
          <dgm:bulletEnabled val="1"/>
        </dgm:presLayoutVars>
      </dgm:prSet>
      <dgm:spPr/>
    </dgm:pt>
    <dgm:pt modelId="{DE19332E-A8DC-4931-A37C-1F5D486B6D2B}" type="pres">
      <dgm:prSet presAssocID="{9E24B190-1E08-49F1-98DB-33518077CBF0}" presName="desTx" presStyleLbl="alignAccFollowNode1" presStyleIdx="3" presStyleCnt="4">
        <dgm:presLayoutVars>
          <dgm:bulletEnabled val="1"/>
        </dgm:presLayoutVars>
      </dgm:prSet>
      <dgm:spPr/>
    </dgm:pt>
  </dgm:ptLst>
  <dgm:cxnLst>
    <dgm:cxn modelId="{43387C06-7554-46C1-871B-C3AD64277D00}" type="presOf" srcId="{299A38AF-4BCF-40F8-B579-7DD0F69BB056}" destId="{A6C8B00C-A138-418C-880F-20BD333101A1}" srcOrd="0" destOrd="1" presId="urn:microsoft.com/office/officeart/2005/8/layout/hList1"/>
    <dgm:cxn modelId="{13C62F0C-229E-4072-8671-EC50209BBDF1}" type="presOf" srcId="{B36B8591-9784-47C0-BBD3-4725E5BE9275}" destId="{B0323036-6C52-44BC-8ECD-51763DFD2A22}" srcOrd="0" destOrd="1" presId="urn:microsoft.com/office/officeart/2005/8/layout/hList1"/>
    <dgm:cxn modelId="{978DB50F-6FAD-4503-9983-250E0DFC89F9}" srcId="{BCEAC048-89E0-456D-BEC4-C5D72942ADD8}" destId="{10883F33-F6CB-4432-B1AA-2727492E24C0}" srcOrd="0" destOrd="0" parTransId="{31E74D7C-C551-47C1-946D-1B2FBCCEA63D}" sibTransId="{D9F9BB48-268A-4CB8-92B4-A0A241259416}"/>
    <dgm:cxn modelId="{F1A24518-B1FC-4CB5-BB47-82DC7D56B416}" srcId="{FF8BD89D-004D-4C65-A8F1-A1C9A2B519D0}" destId="{B180F672-34C0-4207-AB47-DEEA60EEB22E}" srcOrd="1" destOrd="0" parTransId="{0447C90C-4B98-42D4-BEA7-B56D14238E8B}" sibTransId="{305D5D07-9BD8-4DB4-8CA9-03038F673AC3}"/>
    <dgm:cxn modelId="{2EB5E91D-ABAF-4393-8824-05CF0D46EFEE}" type="presOf" srcId="{DE5BEB56-A4F9-4A60-8B96-A82B49C95ACF}" destId="{79A26EE2-2438-4F7B-AF38-DAB6A25D063A}" srcOrd="0" destOrd="0" presId="urn:microsoft.com/office/officeart/2005/8/layout/hList1"/>
    <dgm:cxn modelId="{E92CF623-2938-475B-B958-35A3B0BF9F3A}" srcId="{BCEAC048-89E0-456D-BEC4-C5D72942ADD8}" destId="{F0E6D9BD-D5A0-4678-9CE7-08B7F963E360}" srcOrd="2" destOrd="0" parTransId="{9EF69EFA-FC4A-4CAA-88CD-316530BBB48A}" sibTransId="{7F0D8F41-C747-4003-856F-487B9ED71AFB}"/>
    <dgm:cxn modelId="{CA56C138-5909-4E5C-8908-642E1FF8341D}" type="presOf" srcId="{76AF8EC6-D37B-440E-AFE8-5EEBFDA4B12B}" destId="{B0323036-6C52-44BC-8ECD-51763DFD2A22}" srcOrd="0" destOrd="0" presId="urn:microsoft.com/office/officeart/2005/8/layout/hList1"/>
    <dgm:cxn modelId="{5D3B113F-3A4B-4D6E-A0A0-FBD300AC4250}" srcId="{DE5BEB56-A4F9-4A60-8B96-A82B49C95ACF}" destId="{9E24B190-1E08-49F1-98DB-33518077CBF0}" srcOrd="3" destOrd="0" parTransId="{DF524816-1526-42CB-ADF1-C894921C6C91}" sibTransId="{5400F607-3678-440B-BD5A-39FE3B2BED30}"/>
    <dgm:cxn modelId="{F0929E3F-519E-46F0-8422-2AA5E19FD962}" srcId="{DE5BEB56-A4F9-4A60-8B96-A82B49C95ACF}" destId="{CA9C283A-10B6-4777-ADA6-7F15C235B8C7}" srcOrd="2" destOrd="0" parTransId="{5304F7D4-4161-4B11-A555-20CDC86F1FDD}" sibTransId="{818AC874-764D-4D6D-89CE-099C6F94422F}"/>
    <dgm:cxn modelId="{54DBA064-C23B-4ED5-A1A5-B730718BCE85}" type="presOf" srcId="{CA9C283A-10B6-4777-ADA6-7F15C235B8C7}" destId="{4DB9AE7B-489D-4F24-B987-26DA59C16979}" srcOrd="0" destOrd="0" presId="urn:microsoft.com/office/officeart/2005/8/layout/hList1"/>
    <dgm:cxn modelId="{E7E54467-8E85-469D-A3C9-704415C4FD61}" type="presOf" srcId="{A7A426B3-A57B-4122-BF5B-1DBA016900FB}" destId="{DE19332E-A8DC-4931-A37C-1F5D486B6D2B}" srcOrd="0" destOrd="1" presId="urn:microsoft.com/office/officeart/2005/8/layout/hList1"/>
    <dgm:cxn modelId="{D09D4C55-7F5C-44AD-82FE-7FE49273B8D0}" type="presOf" srcId="{10883F33-F6CB-4432-B1AA-2727492E24C0}" destId="{A6C8B00C-A138-418C-880F-20BD333101A1}" srcOrd="0" destOrd="0" presId="urn:microsoft.com/office/officeart/2005/8/layout/hList1"/>
    <dgm:cxn modelId="{347DD376-2F8F-4E0E-8043-2C930E1707ED}" srcId="{DE5BEB56-A4F9-4A60-8B96-A82B49C95ACF}" destId="{FF8BD89D-004D-4C65-A8F1-A1C9A2B519D0}" srcOrd="0" destOrd="0" parTransId="{C42FAD61-1407-4C79-8691-75523D6B6B77}" sibTransId="{D91A6D25-6F32-46E7-BA6B-406FD854F42F}"/>
    <dgm:cxn modelId="{27F1F177-B3EE-42C9-B105-ED425A48472C}" srcId="{9E24B190-1E08-49F1-98DB-33518077CBF0}" destId="{A7A426B3-A57B-4122-BF5B-1DBA016900FB}" srcOrd="1" destOrd="0" parTransId="{5279E597-BED1-444C-8C0D-ED31A2051784}" sibTransId="{E204EC84-9E60-45E2-8E38-594E33D38CE3}"/>
    <dgm:cxn modelId="{4BBBE279-06F2-4A27-9C6C-CE22034AAFCB}" type="presOf" srcId="{6BD48CE0-CA13-42A2-81A3-5BCDA559B2E9}" destId="{C87DBAC9-2291-4FAA-905D-3C22E81CE32E}" srcOrd="0" destOrd="0" presId="urn:microsoft.com/office/officeart/2005/8/layout/hList1"/>
    <dgm:cxn modelId="{2B0C865A-6E57-4D29-B2B6-978E88DA7F2C}" type="presOf" srcId="{B180F672-34C0-4207-AB47-DEEA60EEB22E}" destId="{C87DBAC9-2291-4FAA-905D-3C22E81CE32E}" srcOrd="0" destOrd="1" presId="urn:microsoft.com/office/officeart/2005/8/layout/hList1"/>
    <dgm:cxn modelId="{7743EC7B-2407-4421-8889-A34C0A8C11CE}" type="presOf" srcId="{F0E6D9BD-D5A0-4678-9CE7-08B7F963E360}" destId="{A6C8B00C-A138-418C-880F-20BD333101A1}" srcOrd="0" destOrd="2" presId="urn:microsoft.com/office/officeart/2005/8/layout/hList1"/>
    <dgm:cxn modelId="{42C95482-EB08-4DA1-833A-307F0BB6EE6B}" type="presOf" srcId="{BCEAC048-89E0-456D-BEC4-C5D72942ADD8}" destId="{8C3B7137-A507-4964-8EAE-A8BDFEF0BAE8}" srcOrd="0" destOrd="0" presId="urn:microsoft.com/office/officeart/2005/8/layout/hList1"/>
    <dgm:cxn modelId="{6B2B3F8D-560C-4DEB-9DAA-2D28EE220F8A}" srcId="{BCEAC048-89E0-456D-BEC4-C5D72942ADD8}" destId="{FF8EBD9E-43DC-45CC-B943-51C33C03EE35}" srcOrd="3" destOrd="0" parTransId="{AB49615D-078B-4538-BBD1-842DFBA9F00E}" sibTransId="{2601B70F-4932-4B54-83A4-55DA2BFD721E}"/>
    <dgm:cxn modelId="{26FEADA7-CA7E-464A-8F43-CD632512BA17}" srcId="{BCEAC048-89E0-456D-BEC4-C5D72942ADD8}" destId="{299A38AF-4BCF-40F8-B579-7DD0F69BB056}" srcOrd="1" destOrd="0" parTransId="{F019AFA0-70D9-4371-86F1-EA07B58B2BA8}" sibTransId="{9626E7D3-80B8-4DBD-B2DF-A4D29B5C0FE1}"/>
    <dgm:cxn modelId="{9B3DD1A9-022E-4CA0-B23A-65FEB900AF4E}" type="presOf" srcId="{3FF69756-A2CF-47DD-874F-C00EA160CC5A}" destId="{DE19332E-A8DC-4931-A37C-1F5D486B6D2B}" srcOrd="0" destOrd="0" presId="urn:microsoft.com/office/officeart/2005/8/layout/hList1"/>
    <dgm:cxn modelId="{7F8C40AB-F6E4-405D-9D6A-5C6A3D4DE4A4}" srcId="{CA9C283A-10B6-4777-ADA6-7F15C235B8C7}" destId="{B36B8591-9784-47C0-BBD3-4725E5BE9275}" srcOrd="1" destOrd="0" parTransId="{8F2269EA-B155-4611-BA31-7E3B74C68F5B}" sibTransId="{6C5741CC-4EC7-4037-8C42-6DAB5D877EBF}"/>
    <dgm:cxn modelId="{945D5DB3-D86A-48AD-8206-9056C36EF282}" srcId="{FF8BD89D-004D-4C65-A8F1-A1C9A2B519D0}" destId="{6BD48CE0-CA13-42A2-81A3-5BCDA559B2E9}" srcOrd="0" destOrd="0" parTransId="{558DE988-6B90-4F20-BC16-C33782D1CCE7}" sibTransId="{0176D81A-4DE9-4480-B3E5-81F5BB8D1A0E}"/>
    <dgm:cxn modelId="{0318BDC1-6B7E-4253-A9A7-C26EB16C6D92}" type="presOf" srcId="{9E24B190-1E08-49F1-98DB-33518077CBF0}" destId="{96915571-B7BF-4602-B37B-19A29E8A0FF4}" srcOrd="0" destOrd="0" presId="urn:microsoft.com/office/officeart/2005/8/layout/hList1"/>
    <dgm:cxn modelId="{A73821C7-D8E9-400E-A7CC-43D07236E7E3}" srcId="{CA9C283A-10B6-4777-ADA6-7F15C235B8C7}" destId="{76AF8EC6-D37B-440E-AFE8-5EEBFDA4B12B}" srcOrd="0" destOrd="0" parTransId="{B7CBB29F-71DA-4502-BD6C-9FA593340009}" sibTransId="{6F732D8F-A789-428C-A408-00552C0269A0}"/>
    <dgm:cxn modelId="{8E9BC9E6-F589-4E73-91C0-FADE5EDE592A}" srcId="{DE5BEB56-A4F9-4A60-8B96-A82B49C95ACF}" destId="{BCEAC048-89E0-456D-BEC4-C5D72942ADD8}" srcOrd="1" destOrd="0" parTransId="{738DD7AA-F5A4-4C06-94B5-4E86A8AE69ED}" sibTransId="{A1B880AE-1529-4997-B1BC-8BDC05EC344E}"/>
    <dgm:cxn modelId="{388971EB-F14F-4B3C-9B51-D7EB7603BB85}" type="presOf" srcId="{06375E0C-580A-4895-84B9-8338AFB0FD51}" destId="{B0323036-6C52-44BC-8ECD-51763DFD2A22}" srcOrd="0" destOrd="2" presId="urn:microsoft.com/office/officeart/2005/8/layout/hList1"/>
    <dgm:cxn modelId="{86FFD0ED-D767-4955-81AB-9711768B3284}" type="presOf" srcId="{FF8EBD9E-43DC-45CC-B943-51C33C03EE35}" destId="{A6C8B00C-A138-418C-880F-20BD333101A1}" srcOrd="0" destOrd="3" presId="urn:microsoft.com/office/officeart/2005/8/layout/hList1"/>
    <dgm:cxn modelId="{F3F443F1-6260-400D-A313-F51E876A9F6B}" srcId="{CA9C283A-10B6-4777-ADA6-7F15C235B8C7}" destId="{06375E0C-580A-4895-84B9-8338AFB0FD51}" srcOrd="2" destOrd="0" parTransId="{77B1B29A-B6BE-4A5B-9E8F-64676F10CE40}" sibTransId="{DAA69A8B-FE79-4E59-B7F7-067F2ADB02B5}"/>
    <dgm:cxn modelId="{F5A84DF1-73F5-4CBC-BCEF-CF96DC5B9A6B}" type="presOf" srcId="{FF8BD89D-004D-4C65-A8F1-A1C9A2B519D0}" destId="{7559BF76-63B5-445F-8BFB-A94017391464}" srcOrd="0" destOrd="0" presId="urn:microsoft.com/office/officeart/2005/8/layout/hList1"/>
    <dgm:cxn modelId="{71A93DFA-AA3F-4A18-9C69-041BEAB77F4D}" srcId="{9E24B190-1E08-49F1-98DB-33518077CBF0}" destId="{3FF69756-A2CF-47DD-874F-C00EA160CC5A}" srcOrd="0" destOrd="0" parTransId="{4B07A39B-AE71-48E0-A7BB-6C8C0642CB41}" sibTransId="{2EFD5A6E-074D-4989-9839-0CB3DC8A7956}"/>
    <dgm:cxn modelId="{C31E8676-81A5-49AC-B7A7-F54C53091761}" type="presParOf" srcId="{79A26EE2-2438-4F7B-AF38-DAB6A25D063A}" destId="{D8E26213-D029-4D83-9F23-8ED24E21BD96}" srcOrd="0" destOrd="0" presId="urn:microsoft.com/office/officeart/2005/8/layout/hList1"/>
    <dgm:cxn modelId="{8841E271-617D-4596-A091-8105241B31AA}" type="presParOf" srcId="{D8E26213-D029-4D83-9F23-8ED24E21BD96}" destId="{7559BF76-63B5-445F-8BFB-A94017391464}" srcOrd="0" destOrd="0" presId="urn:microsoft.com/office/officeart/2005/8/layout/hList1"/>
    <dgm:cxn modelId="{4CC3C308-8278-4C94-8820-F89AAE7016B5}" type="presParOf" srcId="{D8E26213-D029-4D83-9F23-8ED24E21BD96}" destId="{C87DBAC9-2291-4FAA-905D-3C22E81CE32E}" srcOrd="1" destOrd="0" presId="urn:microsoft.com/office/officeart/2005/8/layout/hList1"/>
    <dgm:cxn modelId="{B8E83E0D-5C8E-44B6-BCA3-FB2C2538C467}" type="presParOf" srcId="{79A26EE2-2438-4F7B-AF38-DAB6A25D063A}" destId="{3A2D0020-7B98-4560-B4DA-6A0516786176}" srcOrd="1" destOrd="0" presId="urn:microsoft.com/office/officeart/2005/8/layout/hList1"/>
    <dgm:cxn modelId="{260850A2-9A21-4CFA-A5E4-3864C04FE722}" type="presParOf" srcId="{79A26EE2-2438-4F7B-AF38-DAB6A25D063A}" destId="{D0508F32-2858-4ED3-AED6-DFF6D2284D9D}" srcOrd="2" destOrd="0" presId="urn:microsoft.com/office/officeart/2005/8/layout/hList1"/>
    <dgm:cxn modelId="{3CD64A36-E0FD-40CC-9C80-4E731BDD4136}" type="presParOf" srcId="{D0508F32-2858-4ED3-AED6-DFF6D2284D9D}" destId="{8C3B7137-A507-4964-8EAE-A8BDFEF0BAE8}" srcOrd="0" destOrd="0" presId="urn:microsoft.com/office/officeart/2005/8/layout/hList1"/>
    <dgm:cxn modelId="{ED592160-7516-458B-A5A6-491CD44143B5}" type="presParOf" srcId="{D0508F32-2858-4ED3-AED6-DFF6D2284D9D}" destId="{A6C8B00C-A138-418C-880F-20BD333101A1}" srcOrd="1" destOrd="0" presId="urn:microsoft.com/office/officeart/2005/8/layout/hList1"/>
    <dgm:cxn modelId="{855B2A2F-ABBF-4DD3-85C2-59DADAFDCD49}" type="presParOf" srcId="{79A26EE2-2438-4F7B-AF38-DAB6A25D063A}" destId="{453A7038-0344-4984-B786-9EE039A7CE38}" srcOrd="3" destOrd="0" presId="urn:microsoft.com/office/officeart/2005/8/layout/hList1"/>
    <dgm:cxn modelId="{67C7C620-8946-46A8-A073-C9FF3B0B6F1B}" type="presParOf" srcId="{79A26EE2-2438-4F7B-AF38-DAB6A25D063A}" destId="{31EA04F8-8DE9-4007-8E73-CC4DA2BBA390}" srcOrd="4" destOrd="0" presId="urn:microsoft.com/office/officeart/2005/8/layout/hList1"/>
    <dgm:cxn modelId="{1A9C821C-5BFB-42C5-AEEC-3D36AFA5AF52}" type="presParOf" srcId="{31EA04F8-8DE9-4007-8E73-CC4DA2BBA390}" destId="{4DB9AE7B-489D-4F24-B987-26DA59C16979}" srcOrd="0" destOrd="0" presId="urn:microsoft.com/office/officeart/2005/8/layout/hList1"/>
    <dgm:cxn modelId="{B46D9DA5-52A9-457A-B35E-6E52C6049BA3}" type="presParOf" srcId="{31EA04F8-8DE9-4007-8E73-CC4DA2BBA390}" destId="{B0323036-6C52-44BC-8ECD-51763DFD2A22}" srcOrd="1" destOrd="0" presId="urn:microsoft.com/office/officeart/2005/8/layout/hList1"/>
    <dgm:cxn modelId="{EAB4E8F2-AF22-4E6E-B824-F133CBD309E1}" type="presParOf" srcId="{79A26EE2-2438-4F7B-AF38-DAB6A25D063A}" destId="{E311D686-4FBB-48EA-B6AE-51193BB87B3D}" srcOrd="5" destOrd="0" presId="urn:microsoft.com/office/officeart/2005/8/layout/hList1"/>
    <dgm:cxn modelId="{D80CEBB2-B6DF-4FE3-A5B3-306CB801B15F}" type="presParOf" srcId="{79A26EE2-2438-4F7B-AF38-DAB6A25D063A}" destId="{D5D5E32E-BE6C-4914-828E-323ED9810ECD}" srcOrd="6" destOrd="0" presId="urn:microsoft.com/office/officeart/2005/8/layout/hList1"/>
    <dgm:cxn modelId="{CF373F28-B571-4AF8-A9C9-877565E7FB41}" type="presParOf" srcId="{D5D5E32E-BE6C-4914-828E-323ED9810ECD}" destId="{96915571-B7BF-4602-B37B-19A29E8A0FF4}" srcOrd="0" destOrd="0" presId="urn:microsoft.com/office/officeart/2005/8/layout/hList1"/>
    <dgm:cxn modelId="{9A81462A-395E-4E09-BBBB-929FE62EBEE4}" type="presParOf" srcId="{D5D5E32E-BE6C-4914-828E-323ED9810ECD}" destId="{DE19332E-A8DC-4931-A37C-1F5D486B6D2B}"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E5BEB56-A4F9-4A60-8B96-A82B49C95ACF}" type="doc">
      <dgm:prSet loTypeId="urn:microsoft.com/office/officeart/2005/8/layout/hList1" loCatId="list" qsTypeId="urn:microsoft.com/office/officeart/2005/8/quickstyle/simple5" qsCatId="simple" csTypeId="urn:microsoft.com/office/officeart/2005/8/colors/colorful5" csCatId="colorful" phldr="1"/>
      <dgm:spPr/>
      <dgm:t>
        <a:bodyPr/>
        <a:lstStyle/>
        <a:p>
          <a:endParaRPr lang="en-PH"/>
        </a:p>
      </dgm:t>
    </dgm:pt>
    <dgm:pt modelId="{FF8BD89D-004D-4C65-A8F1-A1C9A2B519D0}">
      <dgm:prSet phldrT="[Text]" custT="1"/>
      <dgm:spPr/>
      <dgm:t>
        <a:bodyPr/>
        <a:lstStyle/>
        <a:p>
          <a:r>
            <a:rPr lang="en-PH" sz="1800" b="1">
              <a:latin typeface="Lato" panose="020F0502020204030203" pitchFamily="34" charset="0"/>
              <a:ea typeface="Lato" panose="020F0502020204030203" pitchFamily="34" charset="0"/>
              <a:cs typeface="Lato" panose="020F0502020204030203" pitchFamily="34" charset="0"/>
            </a:rPr>
            <a:t>Production Loan</a:t>
          </a:r>
        </a:p>
      </dgm:t>
    </dgm:pt>
    <dgm:pt modelId="{C42FAD61-1407-4C79-8691-75523D6B6B77}" type="parTrans" cxnId="{347DD376-2F8F-4E0E-8043-2C930E1707ED}">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D91A6D25-6F32-46E7-BA6B-406FD854F42F}" type="sibTrans" cxnId="{347DD376-2F8F-4E0E-8043-2C930E1707ED}">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BCEAC048-89E0-456D-BEC4-C5D72942ADD8}">
      <dgm:prSet phldrT="[Text]" custT="1"/>
      <dgm:spPr/>
      <dgm:t>
        <a:bodyPr/>
        <a:lstStyle/>
        <a:p>
          <a:r>
            <a:rPr lang="en-PH" sz="1800" b="1">
              <a:latin typeface="Lato" panose="020F0502020204030203" pitchFamily="34" charset="0"/>
              <a:ea typeface="Lato" panose="020F0502020204030203" pitchFamily="34" charset="0"/>
              <a:cs typeface="Lato" panose="020F0502020204030203" pitchFamily="34" charset="0"/>
            </a:rPr>
            <a:t>Supplemental Loan</a:t>
          </a:r>
        </a:p>
      </dgm:t>
    </dgm:pt>
    <dgm:pt modelId="{738DD7AA-F5A4-4C06-94B5-4E86A8AE69ED}" type="parTrans" cxnId="{8E9BC9E6-F589-4E73-91C0-FADE5EDE592A}">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A1B880AE-1529-4997-B1BC-8BDC05EC344E}" type="sibTrans" cxnId="{8E9BC9E6-F589-4E73-91C0-FADE5EDE592A}">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FF8EBD9E-43DC-45CC-B943-51C33C03EE35}">
      <dgm:prSet phldrT="[Text]" custT="1"/>
      <dgm:spPr/>
      <dgm:t>
        <a:bodyPr/>
        <a:lstStyle/>
        <a:p>
          <a:r>
            <a:rPr lang="en-PH" sz="1200">
              <a:latin typeface="Lato" panose="020F0502020204030203" pitchFamily="34" charset="0"/>
              <a:ea typeface="Lato" panose="020F0502020204030203" pitchFamily="34" charset="0"/>
              <a:cs typeface="Lato" panose="020F0502020204030203" pitchFamily="34" charset="0"/>
            </a:rPr>
            <a:t>SAGIP Loan as Disaster Recovery</a:t>
          </a:r>
        </a:p>
      </dgm:t>
    </dgm:pt>
    <dgm:pt modelId="{AB49615D-078B-4538-BBD1-842DFBA9F00E}" type="parTrans" cxnId="{6B2B3F8D-560C-4DEB-9DAA-2D28EE220F8A}">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2601B70F-4932-4B54-83A4-55DA2BFD721E}" type="sibTrans" cxnId="{6B2B3F8D-560C-4DEB-9DAA-2D28EE220F8A}">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CA9C283A-10B6-4777-ADA6-7F15C235B8C7}">
      <dgm:prSet phldrT="[Text]" custT="1"/>
      <dgm:spPr/>
      <dgm:t>
        <a:bodyPr/>
        <a:lstStyle/>
        <a:p>
          <a:r>
            <a:rPr lang="en-PH" sz="1800" b="1">
              <a:latin typeface="Lato" panose="020F0502020204030203" pitchFamily="34" charset="0"/>
              <a:ea typeface="Lato" panose="020F0502020204030203" pitchFamily="34" charset="0"/>
              <a:cs typeface="Lato" panose="020F0502020204030203" pitchFamily="34" charset="0"/>
            </a:rPr>
            <a:t>Microinsurance</a:t>
          </a:r>
        </a:p>
      </dgm:t>
    </dgm:pt>
    <dgm:pt modelId="{5304F7D4-4161-4B11-A555-20CDC86F1FDD}" type="parTrans" cxnId="{F0929E3F-519E-46F0-8422-2AA5E19FD962}">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818AC874-764D-4D6D-89CE-099C6F94422F}" type="sibTrans" cxnId="{F0929E3F-519E-46F0-8422-2AA5E19FD962}">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B180F672-34C0-4207-AB47-DEEA60EEB22E}">
      <dgm:prSet phldrT="[Text]" custT="1"/>
      <dgm:spPr/>
      <dgm:t>
        <a:bodyPr/>
        <a:lstStyle/>
        <a:p>
          <a:r>
            <a:rPr lang="en-PH" sz="1200">
              <a:latin typeface="Lato" panose="020F0502020204030203" pitchFamily="34" charset="0"/>
              <a:ea typeface="Lato" panose="020F0502020204030203" pitchFamily="34" charset="0"/>
              <a:cs typeface="Lato" panose="020F0502020204030203" pitchFamily="34" charset="0"/>
            </a:rPr>
            <a:t>Kabuhayan Hog</a:t>
          </a:r>
        </a:p>
      </dgm:t>
    </dgm:pt>
    <dgm:pt modelId="{0447C90C-4B98-42D4-BEA7-B56D14238E8B}" type="parTrans" cxnId="{F1A24518-B1FC-4CB5-BB47-82DC7D56B416}">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305D5D07-9BD8-4DB4-8CA9-03038F673AC3}" type="sibTrans" cxnId="{F1A24518-B1FC-4CB5-BB47-82DC7D56B416}">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299A38AF-4BCF-40F8-B579-7DD0F69BB056}">
      <dgm:prSet phldrT="[Text]" custT="1"/>
      <dgm:spPr/>
      <dgm:t>
        <a:bodyPr/>
        <a:lstStyle/>
        <a:p>
          <a:r>
            <a:rPr lang="en-PH" sz="1200">
              <a:latin typeface="Lato" panose="020F0502020204030203" pitchFamily="34" charset="0"/>
              <a:ea typeface="Lato" panose="020F0502020204030203" pitchFamily="34" charset="0"/>
              <a:cs typeface="Lato" panose="020F0502020204030203" pitchFamily="34" charset="0"/>
            </a:rPr>
            <a:t>Education Loan</a:t>
          </a:r>
        </a:p>
      </dgm:t>
    </dgm:pt>
    <dgm:pt modelId="{F019AFA0-70D9-4371-86F1-EA07B58B2BA8}" type="parTrans" cxnId="{26FEADA7-CA7E-464A-8F43-CD632512BA17}">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9626E7D3-80B8-4DBD-B2DF-A4D29B5C0FE1}" type="sibTrans" cxnId="{26FEADA7-CA7E-464A-8F43-CD632512BA17}">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F0E6D9BD-D5A0-4678-9CE7-08B7F963E360}">
      <dgm:prSet phldrT="[Text]" custT="1"/>
      <dgm:spPr/>
      <dgm:t>
        <a:bodyPr/>
        <a:lstStyle/>
        <a:p>
          <a:r>
            <a:rPr lang="en-PH" sz="1200">
              <a:latin typeface="Lato" panose="020F0502020204030203" pitchFamily="34" charset="0"/>
              <a:ea typeface="Lato" panose="020F0502020204030203" pitchFamily="34" charset="0"/>
              <a:cs typeface="Lato" panose="020F0502020204030203" pitchFamily="34" charset="0"/>
            </a:rPr>
            <a:t>SAGIP Loan as Emergency</a:t>
          </a:r>
        </a:p>
      </dgm:t>
    </dgm:pt>
    <dgm:pt modelId="{9EF69EFA-FC4A-4CAA-88CD-316530BBB48A}" type="parTrans" cxnId="{E92CF623-2938-475B-B958-35A3B0BF9F3A}">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7F0D8F41-C747-4003-856F-487B9ED71AFB}" type="sibTrans" cxnId="{E92CF623-2938-475B-B958-35A3B0BF9F3A}">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06375E0C-580A-4895-84B9-8338AFB0FD51}">
      <dgm:prSet phldrT="[Text]" custT="1"/>
      <dgm:spPr/>
      <dgm:t>
        <a:bodyPr/>
        <a:lstStyle/>
        <a:p>
          <a:r>
            <a:rPr lang="en-PH" sz="1200">
              <a:latin typeface="Lato" panose="020F0502020204030203" pitchFamily="34" charset="0"/>
              <a:ea typeface="Lato" panose="020F0502020204030203" pitchFamily="34" charset="0"/>
              <a:cs typeface="Lato" panose="020F0502020204030203" pitchFamily="34" charset="0"/>
            </a:rPr>
            <a:t>Loan Redemption Fund</a:t>
          </a:r>
        </a:p>
      </dgm:t>
    </dgm:pt>
    <dgm:pt modelId="{77B1B29A-B6BE-4A5B-9E8F-64676F10CE40}" type="parTrans" cxnId="{F3F443F1-6260-400D-A313-F51E876A9F6B}">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DAA69A8B-FE79-4E59-B7F7-067F2ADB02B5}" type="sibTrans" cxnId="{F3F443F1-6260-400D-A313-F51E876A9F6B}">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9E24B190-1E08-49F1-98DB-33518077CBF0}">
      <dgm:prSet phldrT="[Text]" custT="1"/>
      <dgm:spPr/>
      <dgm:t>
        <a:bodyPr/>
        <a:lstStyle/>
        <a:p>
          <a:r>
            <a:rPr lang="en-US" sz="1800" b="1" err="1">
              <a:latin typeface="Lato" panose="020F0502020204030203" pitchFamily="34" charset="0"/>
              <a:ea typeface="Lato" panose="020F0502020204030203" pitchFamily="34" charset="0"/>
              <a:cs typeface="Lato" panose="020F0502020204030203" pitchFamily="34" charset="0"/>
            </a:rPr>
            <a:t>Microsavings</a:t>
          </a:r>
          <a:endParaRPr lang="en-PH" sz="1800" b="1">
            <a:latin typeface="Lato" panose="020F0502020204030203" pitchFamily="34" charset="0"/>
            <a:ea typeface="Lato" panose="020F0502020204030203" pitchFamily="34" charset="0"/>
            <a:cs typeface="Lato" panose="020F0502020204030203" pitchFamily="34" charset="0"/>
          </a:endParaRPr>
        </a:p>
      </dgm:t>
    </dgm:pt>
    <dgm:pt modelId="{DF524816-1526-42CB-ADF1-C894921C6C91}" type="parTrans" cxnId="{5D3B113F-3A4B-4D6E-A0A0-FBD300AC4250}">
      <dgm:prSet/>
      <dgm:spPr/>
      <dgm:t>
        <a:bodyPr/>
        <a:lstStyle/>
        <a:p>
          <a:endParaRPr lang="en-PH" sz="1600"/>
        </a:p>
      </dgm:t>
    </dgm:pt>
    <dgm:pt modelId="{5400F607-3678-440B-BD5A-39FE3B2BED30}" type="sibTrans" cxnId="{5D3B113F-3A4B-4D6E-A0A0-FBD300AC4250}">
      <dgm:prSet/>
      <dgm:spPr/>
      <dgm:t>
        <a:bodyPr/>
        <a:lstStyle/>
        <a:p>
          <a:endParaRPr lang="en-PH" sz="1600"/>
        </a:p>
      </dgm:t>
    </dgm:pt>
    <dgm:pt modelId="{A7A426B3-A57B-4122-BF5B-1DBA016900FB}">
      <dgm:prSet phldrT="[Text]" custT="1"/>
      <dgm:spPr/>
      <dgm:t>
        <a:bodyPr/>
        <a:lstStyle/>
        <a:p>
          <a:r>
            <a:rPr lang="en-US" sz="1200" err="1">
              <a:latin typeface="Lato" panose="020F0502020204030203" pitchFamily="34" charset="0"/>
              <a:ea typeface="Lato" panose="020F0502020204030203" pitchFamily="34" charset="0"/>
              <a:cs typeface="Lato" panose="020F0502020204030203" pitchFamily="34" charset="0"/>
            </a:rPr>
            <a:t>MyIpon</a:t>
          </a:r>
          <a:endParaRPr lang="en-PH" sz="1200">
            <a:latin typeface="Lato" panose="020F0502020204030203" pitchFamily="34" charset="0"/>
            <a:ea typeface="Lato" panose="020F0502020204030203" pitchFamily="34" charset="0"/>
            <a:cs typeface="Lato" panose="020F0502020204030203" pitchFamily="34" charset="0"/>
          </a:endParaRPr>
        </a:p>
      </dgm:t>
    </dgm:pt>
    <dgm:pt modelId="{5279E597-BED1-444C-8C0D-ED31A2051784}" type="parTrans" cxnId="{27F1F177-B3EE-42C9-B105-ED425A48472C}">
      <dgm:prSet/>
      <dgm:spPr/>
      <dgm:t>
        <a:bodyPr/>
        <a:lstStyle/>
        <a:p>
          <a:endParaRPr lang="en-PH" sz="1600"/>
        </a:p>
      </dgm:t>
    </dgm:pt>
    <dgm:pt modelId="{E204EC84-9E60-45E2-8E38-594E33D38CE3}" type="sibTrans" cxnId="{27F1F177-B3EE-42C9-B105-ED425A48472C}">
      <dgm:prSet/>
      <dgm:spPr/>
      <dgm:t>
        <a:bodyPr/>
        <a:lstStyle/>
        <a:p>
          <a:endParaRPr lang="en-PH" sz="1600"/>
        </a:p>
      </dgm:t>
    </dgm:pt>
    <dgm:pt modelId="{6BD48CE0-CA13-42A2-81A3-5BCDA559B2E9}">
      <dgm:prSet phldrT="[Text]" custT="1"/>
      <dgm:spPr/>
      <dgm:t>
        <a:bodyPr/>
        <a:lstStyle/>
        <a:p>
          <a:r>
            <a:rPr lang="en-PH" sz="1200" err="1">
              <a:latin typeface="Lato" panose="020F0502020204030203" pitchFamily="34" charset="0"/>
              <a:ea typeface="Lato" panose="020F0502020204030203" pitchFamily="34" charset="0"/>
              <a:cs typeface="Lato" panose="020F0502020204030203" pitchFamily="34" charset="0"/>
            </a:rPr>
            <a:t>Mauswagon</a:t>
          </a:r>
          <a:r>
            <a:rPr lang="en-PH" sz="1200">
              <a:latin typeface="Lato" panose="020F0502020204030203" pitchFamily="34" charset="0"/>
              <a:ea typeface="Lato" panose="020F0502020204030203" pitchFamily="34" charset="0"/>
              <a:cs typeface="Lato" panose="020F0502020204030203" pitchFamily="34" charset="0"/>
            </a:rPr>
            <a:t> Loan</a:t>
          </a:r>
          <a:endParaRPr lang="en-PH" sz="1600">
            <a:latin typeface="Lato" panose="020F0502020204030203" pitchFamily="34" charset="0"/>
            <a:ea typeface="Lato" panose="020F0502020204030203" pitchFamily="34" charset="0"/>
            <a:cs typeface="Lato" panose="020F0502020204030203" pitchFamily="34" charset="0"/>
          </a:endParaRPr>
        </a:p>
      </dgm:t>
    </dgm:pt>
    <dgm:pt modelId="{558DE988-6B90-4F20-BC16-C33782D1CCE7}" type="parTrans" cxnId="{945D5DB3-D86A-48AD-8206-9056C36EF282}">
      <dgm:prSet/>
      <dgm:spPr/>
      <dgm:t>
        <a:bodyPr/>
        <a:lstStyle/>
        <a:p>
          <a:endParaRPr lang="en-PH"/>
        </a:p>
      </dgm:t>
    </dgm:pt>
    <dgm:pt modelId="{0176D81A-4DE9-4480-B3E5-81F5BB8D1A0E}" type="sibTrans" cxnId="{945D5DB3-D86A-48AD-8206-9056C36EF282}">
      <dgm:prSet/>
      <dgm:spPr/>
      <dgm:t>
        <a:bodyPr/>
        <a:lstStyle/>
        <a:p>
          <a:endParaRPr lang="en-PH"/>
        </a:p>
      </dgm:t>
    </dgm:pt>
    <dgm:pt modelId="{10883F33-F6CB-4432-B1AA-2727492E24C0}">
      <dgm:prSet phldrT="[Text]" custT="1"/>
      <dgm:spPr/>
      <dgm:t>
        <a:bodyPr/>
        <a:lstStyle/>
        <a:p>
          <a:r>
            <a:rPr lang="en-PH" sz="1200">
              <a:latin typeface="Lato" panose="020F0502020204030203" pitchFamily="34" charset="0"/>
              <a:ea typeface="Lato" panose="020F0502020204030203" pitchFamily="34" charset="0"/>
              <a:cs typeface="Lato" panose="020F0502020204030203" pitchFamily="34" charset="0"/>
            </a:rPr>
            <a:t>Housing Improvement Loan</a:t>
          </a:r>
          <a:endParaRPr lang="en-PH" sz="1600">
            <a:latin typeface="Lato" panose="020F0502020204030203" pitchFamily="34" charset="0"/>
            <a:ea typeface="Lato" panose="020F0502020204030203" pitchFamily="34" charset="0"/>
            <a:cs typeface="Lato" panose="020F0502020204030203" pitchFamily="34" charset="0"/>
          </a:endParaRPr>
        </a:p>
      </dgm:t>
    </dgm:pt>
    <dgm:pt modelId="{31E74D7C-C551-47C1-946D-1B2FBCCEA63D}" type="parTrans" cxnId="{978DB50F-6FAD-4503-9983-250E0DFC89F9}">
      <dgm:prSet/>
      <dgm:spPr/>
      <dgm:t>
        <a:bodyPr/>
        <a:lstStyle/>
        <a:p>
          <a:endParaRPr lang="en-PH"/>
        </a:p>
      </dgm:t>
    </dgm:pt>
    <dgm:pt modelId="{D9F9BB48-268A-4CB8-92B4-A0A241259416}" type="sibTrans" cxnId="{978DB50F-6FAD-4503-9983-250E0DFC89F9}">
      <dgm:prSet/>
      <dgm:spPr/>
      <dgm:t>
        <a:bodyPr/>
        <a:lstStyle/>
        <a:p>
          <a:endParaRPr lang="en-PH"/>
        </a:p>
      </dgm:t>
    </dgm:pt>
    <dgm:pt modelId="{3FF69756-A2CF-47DD-874F-C00EA160CC5A}">
      <dgm:prSet phldrT="[Text]" custT="1"/>
      <dgm:spPr/>
      <dgm:t>
        <a:bodyPr/>
        <a:lstStyle/>
        <a:p>
          <a:r>
            <a:rPr lang="en-US" sz="1200">
              <a:latin typeface="Lato" panose="020F0502020204030203" pitchFamily="34" charset="0"/>
              <a:ea typeface="Lato" panose="020F0502020204030203" pitchFamily="34" charset="0"/>
              <a:cs typeface="Lato" panose="020F0502020204030203" pitchFamily="34" charset="0"/>
            </a:rPr>
            <a:t>CBU</a:t>
          </a:r>
          <a:endParaRPr lang="en-PH" sz="1600">
            <a:latin typeface="Lato" panose="020F0502020204030203" pitchFamily="34" charset="0"/>
            <a:ea typeface="Lato" panose="020F0502020204030203" pitchFamily="34" charset="0"/>
            <a:cs typeface="Lato" panose="020F0502020204030203" pitchFamily="34" charset="0"/>
          </a:endParaRPr>
        </a:p>
      </dgm:t>
    </dgm:pt>
    <dgm:pt modelId="{4B07A39B-AE71-48E0-A7BB-6C8C0642CB41}" type="parTrans" cxnId="{71A93DFA-AA3F-4A18-9C69-041BEAB77F4D}">
      <dgm:prSet/>
      <dgm:spPr/>
      <dgm:t>
        <a:bodyPr/>
        <a:lstStyle/>
        <a:p>
          <a:endParaRPr lang="en-PH"/>
        </a:p>
      </dgm:t>
    </dgm:pt>
    <dgm:pt modelId="{2EFD5A6E-074D-4989-9839-0CB3DC8A7956}" type="sibTrans" cxnId="{71A93DFA-AA3F-4A18-9C69-041BEAB77F4D}">
      <dgm:prSet/>
      <dgm:spPr/>
      <dgm:t>
        <a:bodyPr/>
        <a:lstStyle/>
        <a:p>
          <a:endParaRPr lang="en-PH"/>
        </a:p>
      </dgm:t>
    </dgm:pt>
    <dgm:pt modelId="{B36B8591-9784-47C0-BBD3-4725E5BE9275}">
      <dgm:prSet phldrT="[Text]" custT="1"/>
      <dgm:spPr/>
      <dgm:t>
        <a:bodyPr/>
        <a:lstStyle/>
        <a:p>
          <a:r>
            <a:rPr lang="en-PH" sz="1200">
              <a:latin typeface="Lato" panose="020F0502020204030203" pitchFamily="34" charset="0"/>
              <a:ea typeface="Lato" panose="020F0502020204030203" pitchFamily="34" charset="0"/>
              <a:cs typeface="Lato" panose="020F0502020204030203" pitchFamily="34" charset="0"/>
            </a:rPr>
            <a:t>Family Relief Plan</a:t>
          </a:r>
        </a:p>
      </dgm:t>
    </dgm:pt>
    <dgm:pt modelId="{8F2269EA-B155-4611-BA31-7E3B74C68F5B}" type="parTrans" cxnId="{7F8C40AB-F6E4-405D-9D6A-5C6A3D4DE4A4}">
      <dgm:prSet/>
      <dgm:spPr/>
      <dgm:t>
        <a:bodyPr/>
        <a:lstStyle/>
        <a:p>
          <a:endParaRPr lang="en-PH"/>
        </a:p>
      </dgm:t>
    </dgm:pt>
    <dgm:pt modelId="{6C5741CC-4EC7-4037-8C42-6DAB5D877EBF}" type="sibTrans" cxnId="{7F8C40AB-F6E4-405D-9D6A-5C6A3D4DE4A4}">
      <dgm:prSet/>
      <dgm:spPr/>
      <dgm:t>
        <a:bodyPr/>
        <a:lstStyle/>
        <a:p>
          <a:endParaRPr lang="en-PH"/>
        </a:p>
      </dgm:t>
    </dgm:pt>
    <dgm:pt modelId="{76AF8EC6-D37B-440E-AFE8-5EEBFDA4B12B}">
      <dgm:prSet phldrT="[Text]" custT="1"/>
      <dgm:spPr/>
      <dgm:t>
        <a:bodyPr/>
        <a:lstStyle/>
        <a:p>
          <a:r>
            <a:rPr lang="en-PH" sz="1200" err="1">
              <a:latin typeface="Lato" panose="020F0502020204030203" pitchFamily="34" charset="0"/>
              <a:ea typeface="Lato" panose="020F0502020204030203" pitchFamily="34" charset="0"/>
              <a:cs typeface="Lato" panose="020F0502020204030203" pitchFamily="34" charset="0"/>
            </a:rPr>
            <a:t>Kaagabay</a:t>
          </a:r>
          <a:r>
            <a:rPr lang="en-PH" sz="1200">
              <a:latin typeface="Lato" panose="020F0502020204030203" pitchFamily="34" charset="0"/>
              <a:ea typeface="Lato" panose="020F0502020204030203" pitchFamily="34" charset="0"/>
              <a:cs typeface="Lato" panose="020F0502020204030203" pitchFamily="34" charset="0"/>
            </a:rPr>
            <a:t> (GPA)</a:t>
          </a:r>
        </a:p>
      </dgm:t>
    </dgm:pt>
    <dgm:pt modelId="{B7CBB29F-71DA-4502-BD6C-9FA593340009}" type="parTrans" cxnId="{A73821C7-D8E9-400E-A7CC-43D07236E7E3}">
      <dgm:prSet/>
      <dgm:spPr/>
      <dgm:t>
        <a:bodyPr/>
        <a:lstStyle/>
        <a:p>
          <a:endParaRPr lang="en-PH"/>
        </a:p>
      </dgm:t>
    </dgm:pt>
    <dgm:pt modelId="{6F732D8F-A789-428C-A408-00552C0269A0}" type="sibTrans" cxnId="{A73821C7-D8E9-400E-A7CC-43D07236E7E3}">
      <dgm:prSet/>
      <dgm:spPr/>
      <dgm:t>
        <a:bodyPr/>
        <a:lstStyle/>
        <a:p>
          <a:endParaRPr lang="en-PH"/>
        </a:p>
      </dgm:t>
    </dgm:pt>
    <dgm:pt modelId="{79A26EE2-2438-4F7B-AF38-DAB6A25D063A}" type="pres">
      <dgm:prSet presAssocID="{DE5BEB56-A4F9-4A60-8B96-A82B49C95ACF}" presName="Name0" presStyleCnt="0">
        <dgm:presLayoutVars>
          <dgm:dir/>
          <dgm:animLvl val="lvl"/>
          <dgm:resizeHandles val="exact"/>
        </dgm:presLayoutVars>
      </dgm:prSet>
      <dgm:spPr/>
    </dgm:pt>
    <dgm:pt modelId="{D8E26213-D029-4D83-9F23-8ED24E21BD96}" type="pres">
      <dgm:prSet presAssocID="{FF8BD89D-004D-4C65-A8F1-A1C9A2B519D0}" presName="composite" presStyleCnt="0"/>
      <dgm:spPr/>
    </dgm:pt>
    <dgm:pt modelId="{7559BF76-63B5-445F-8BFB-A94017391464}" type="pres">
      <dgm:prSet presAssocID="{FF8BD89D-004D-4C65-A8F1-A1C9A2B519D0}" presName="parTx" presStyleLbl="alignNode1" presStyleIdx="0" presStyleCnt="4" custScaleY="96129">
        <dgm:presLayoutVars>
          <dgm:chMax val="0"/>
          <dgm:chPref val="0"/>
          <dgm:bulletEnabled val="1"/>
        </dgm:presLayoutVars>
      </dgm:prSet>
      <dgm:spPr/>
    </dgm:pt>
    <dgm:pt modelId="{C87DBAC9-2291-4FAA-905D-3C22E81CE32E}" type="pres">
      <dgm:prSet presAssocID="{FF8BD89D-004D-4C65-A8F1-A1C9A2B519D0}" presName="desTx" presStyleLbl="alignAccFollowNode1" presStyleIdx="0" presStyleCnt="4" custScaleY="86204">
        <dgm:presLayoutVars>
          <dgm:bulletEnabled val="1"/>
        </dgm:presLayoutVars>
      </dgm:prSet>
      <dgm:spPr/>
    </dgm:pt>
    <dgm:pt modelId="{3A2D0020-7B98-4560-B4DA-6A0516786176}" type="pres">
      <dgm:prSet presAssocID="{D91A6D25-6F32-46E7-BA6B-406FD854F42F}" presName="space" presStyleCnt="0"/>
      <dgm:spPr/>
    </dgm:pt>
    <dgm:pt modelId="{D0508F32-2858-4ED3-AED6-DFF6D2284D9D}" type="pres">
      <dgm:prSet presAssocID="{BCEAC048-89E0-456D-BEC4-C5D72942ADD8}" presName="composite" presStyleCnt="0"/>
      <dgm:spPr/>
    </dgm:pt>
    <dgm:pt modelId="{8C3B7137-A507-4964-8EAE-A8BDFEF0BAE8}" type="pres">
      <dgm:prSet presAssocID="{BCEAC048-89E0-456D-BEC4-C5D72942ADD8}" presName="parTx" presStyleLbl="alignNode1" presStyleIdx="1" presStyleCnt="4" custScaleY="96129">
        <dgm:presLayoutVars>
          <dgm:chMax val="0"/>
          <dgm:chPref val="0"/>
          <dgm:bulletEnabled val="1"/>
        </dgm:presLayoutVars>
      </dgm:prSet>
      <dgm:spPr/>
    </dgm:pt>
    <dgm:pt modelId="{A6C8B00C-A138-418C-880F-20BD333101A1}" type="pres">
      <dgm:prSet presAssocID="{BCEAC048-89E0-456D-BEC4-C5D72942ADD8}" presName="desTx" presStyleLbl="alignAccFollowNode1" presStyleIdx="1" presStyleCnt="4">
        <dgm:presLayoutVars>
          <dgm:bulletEnabled val="1"/>
        </dgm:presLayoutVars>
      </dgm:prSet>
      <dgm:spPr/>
    </dgm:pt>
    <dgm:pt modelId="{453A7038-0344-4984-B786-9EE039A7CE38}" type="pres">
      <dgm:prSet presAssocID="{A1B880AE-1529-4997-B1BC-8BDC05EC344E}" presName="space" presStyleCnt="0"/>
      <dgm:spPr/>
    </dgm:pt>
    <dgm:pt modelId="{31EA04F8-8DE9-4007-8E73-CC4DA2BBA390}" type="pres">
      <dgm:prSet presAssocID="{CA9C283A-10B6-4777-ADA6-7F15C235B8C7}" presName="composite" presStyleCnt="0"/>
      <dgm:spPr/>
    </dgm:pt>
    <dgm:pt modelId="{4DB9AE7B-489D-4F24-B987-26DA59C16979}" type="pres">
      <dgm:prSet presAssocID="{CA9C283A-10B6-4777-ADA6-7F15C235B8C7}" presName="parTx" presStyleLbl="alignNode1" presStyleIdx="2" presStyleCnt="4" custScaleY="96129">
        <dgm:presLayoutVars>
          <dgm:chMax val="0"/>
          <dgm:chPref val="0"/>
          <dgm:bulletEnabled val="1"/>
        </dgm:presLayoutVars>
      </dgm:prSet>
      <dgm:spPr/>
    </dgm:pt>
    <dgm:pt modelId="{B0323036-6C52-44BC-8ECD-51763DFD2A22}" type="pres">
      <dgm:prSet presAssocID="{CA9C283A-10B6-4777-ADA6-7F15C235B8C7}" presName="desTx" presStyleLbl="alignAccFollowNode1" presStyleIdx="2" presStyleCnt="4">
        <dgm:presLayoutVars>
          <dgm:bulletEnabled val="1"/>
        </dgm:presLayoutVars>
      </dgm:prSet>
      <dgm:spPr/>
    </dgm:pt>
    <dgm:pt modelId="{E311D686-4FBB-48EA-B6AE-51193BB87B3D}" type="pres">
      <dgm:prSet presAssocID="{818AC874-764D-4D6D-89CE-099C6F94422F}" presName="space" presStyleCnt="0"/>
      <dgm:spPr/>
    </dgm:pt>
    <dgm:pt modelId="{D5D5E32E-BE6C-4914-828E-323ED9810ECD}" type="pres">
      <dgm:prSet presAssocID="{9E24B190-1E08-49F1-98DB-33518077CBF0}" presName="composite" presStyleCnt="0"/>
      <dgm:spPr/>
    </dgm:pt>
    <dgm:pt modelId="{96915571-B7BF-4602-B37B-19A29E8A0FF4}" type="pres">
      <dgm:prSet presAssocID="{9E24B190-1E08-49F1-98DB-33518077CBF0}" presName="parTx" presStyleLbl="alignNode1" presStyleIdx="3" presStyleCnt="4">
        <dgm:presLayoutVars>
          <dgm:chMax val="0"/>
          <dgm:chPref val="0"/>
          <dgm:bulletEnabled val="1"/>
        </dgm:presLayoutVars>
      </dgm:prSet>
      <dgm:spPr/>
    </dgm:pt>
    <dgm:pt modelId="{DE19332E-A8DC-4931-A37C-1F5D486B6D2B}" type="pres">
      <dgm:prSet presAssocID="{9E24B190-1E08-49F1-98DB-33518077CBF0}" presName="desTx" presStyleLbl="alignAccFollowNode1" presStyleIdx="3" presStyleCnt="4">
        <dgm:presLayoutVars>
          <dgm:bulletEnabled val="1"/>
        </dgm:presLayoutVars>
      </dgm:prSet>
      <dgm:spPr/>
    </dgm:pt>
  </dgm:ptLst>
  <dgm:cxnLst>
    <dgm:cxn modelId="{43387C06-7554-46C1-871B-C3AD64277D00}" type="presOf" srcId="{299A38AF-4BCF-40F8-B579-7DD0F69BB056}" destId="{A6C8B00C-A138-418C-880F-20BD333101A1}" srcOrd="0" destOrd="1" presId="urn:microsoft.com/office/officeart/2005/8/layout/hList1"/>
    <dgm:cxn modelId="{13C62F0C-229E-4072-8671-EC50209BBDF1}" type="presOf" srcId="{B36B8591-9784-47C0-BBD3-4725E5BE9275}" destId="{B0323036-6C52-44BC-8ECD-51763DFD2A22}" srcOrd="0" destOrd="1" presId="urn:microsoft.com/office/officeart/2005/8/layout/hList1"/>
    <dgm:cxn modelId="{978DB50F-6FAD-4503-9983-250E0DFC89F9}" srcId="{BCEAC048-89E0-456D-BEC4-C5D72942ADD8}" destId="{10883F33-F6CB-4432-B1AA-2727492E24C0}" srcOrd="0" destOrd="0" parTransId="{31E74D7C-C551-47C1-946D-1B2FBCCEA63D}" sibTransId="{D9F9BB48-268A-4CB8-92B4-A0A241259416}"/>
    <dgm:cxn modelId="{F1A24518-B1FC-4CB5-BB47-82DC7D56B416}" srcId="{FF8BD89D-004D-4C65-A8F1-A1C9A2B519D0}" destId="{B180F672-34C0-4207-AB47-DEEA60EEB22E}" srcOrd="1" destOrd="0" parTransId="{0447C90C-4B98-42D4-BEA7-B56D14238E8B}" sibTransId="{305D5D07-9BD8-4DB4-8CA9-03038F673AC3}"/>
    <dgm:cxn modelId="{2EB5E91D-ABAF-4393-8824-05CF0D46EFEE}" type="presOf" srcId="{DE5BEB56-A4F9-4A60-8B96-A82B49C95ACF}" destId="{79A26EE2-2438-4F7B-AF38-DAB6A25D063A}" srcOrd="0" destOrd="0" presId="urn:microsoft.com/office/officeart/2005/8/layout/hList1"/>
    <dgm:cxn modelId="{E92CF623-2938-475B-B958-35A3B0BF9F3A}" srcId="{BCEAC048-89E0-456D-BEC4-C5D72942ADD8}" destId="{F0E6D9BD-D5A0-4678-9CE7-08B7F963E360}" srcOrd="2" destOrd="0" parTransId="{9EF69EFA-FC4A-4CAA-88CD-316530BBB48A}" sibTransId="{7F0D8F41-C747-4003-856F-487B9ED71AFB}"/>
    <dgm:cxn modelId="{CA56C138-5909-4E5C-8908-642E1FF8341D}" type="presOf" srcId="{76AF8EC6-D37B-440E-AFE8-5EEBFDA4B12B}" destId="{B0323036-6C52-44BC-8ECD-51763DFD2A22}" srcOrd="0" destOrd="0" presId="urn:microsoft.com/office/officeart/2005/8/layout/hList1"/>
    <dgm:cxn modelId="{5D3B113F-3A4B-4D6E-A0A0-FBD300AC4250}" srcId="{DE5BEB56-A4F9-4A60-8B96-A82B49C95ACF}" destId="{9E24B190-1E08-49F1-98DB-33518077CBF0}" srcOrd="3" destOrd="0" parTransId="{DF524816-1526-42CB-ADF1-C894921C6C91}" sibTransId="{5400F607-3678-440B-BD5A-39FE3B2BED30}"/>
    <dgm:cxn modelId="{F0929E3F-519E-46F0-8422-2AA5E19FD962}" srcId="{DE5BEB56-A4F9-4A60-8B96-A82B49C95ACF}" destId="{CA9C283A-10B6-4777-ADA6-7F15C235B8C7}" srcOrd="2" destOrd="0" parTransId="{5304F7D4-4161-4B11-A555-20CDC86F1FDD}" sibTransId="{818AC874-764D-4D6D-89CE-099C6F94422F}"/>
    <dgm:cxn modelId="{54DBA064-C23B-4ED5-A1A5-B730718BCE85}" type="presOf" srcId="{CA9C283A-10B6-4777-ADA6-7F15C235B8C7}" destId="{4DB9AE7B-489D-4F24-B987-26DA59C16979}" srcOrd="0" destOrd="0" presId="urn:microsoft.com/office/officeart/2005/8/layout/hList1"/>
    <dgm:cxn modelId="{E7E54467-8E85-469D-A3C9-704415C4FD61}" type="presOf" srcId="{A7A426B3-A57B-4122-BF5B-1DBA016900FB}" destId="{DE19332E-A8DC-4931-A37C-1F5D486B6D2B}" srcOrd="0" destOrd="1" presId="urn:microsoft.com/office/officeart/2005/8/layout/hList1"/>
    <dgm:cxn modelId="{D09D4C55-7F5C-44AD-82FE-7FE49273B8D0}" type="presOf" srcId="{10883F33-F6CB-4432-B1AA-2727492E24C0}" destId="{A6C8B00C-A138-418C-880F-20BD333101A1}" srcOrd="0" destOrd="0" presId="urn:microsoft.com/office/officeart/2005/8/layout/hList1"/>
    <dgm:cxn modelId="{347DD376-2F8F-4E0E-8043-2C930E1707ED}" srcId="{DE5BEB56-A4F9-4A60-8B96-A82B49C95ACF}" destId="{FF8BD89D-004D-4C65-A8F1-A1C9A2B519D0}" srcOrd="0" destOrd="0" parTransId="{C42FAD61-1407-4C79-8691-75523D6B6B77}" sibTransId="{D91A6D25-6F32-46E7-BA6B-406FD854F42F}"/>
    <dgm:cxn modelId="{27F1F177-B3EE-42C9-B105-ED425A48472C}" srcId="{9E24B190-1E08-49F1-98DB-33518077CBF0}" destId="{A7A426B3-A57B-4122-BF5B-1DBA016900FB}" srcOrd="1" destOrd="0" parTransId="{5279E597-BED1-444C-8C0D-ED31A2051784}" sibTransId="{E204EC84-9E60-45E2-8E38-594E33D38CE3}"/>
    <dgm:cxn modelId="{4BBBE279-06F2-4A27-9C6C-CE22034AAFCB}" type="presOf" srcId="{6BD48CE0-CA13-42A2-81A3-5BCDA559B2E9}" destId="{C87DBAC9-2291-4FAA-905D-3C22E81CE32E}" srcOrd="0" destOrd="0" presId="urn:microsoft.com/office/officeart/2005/8/layout/hList1"/>
    <dgm:cxn modelId="{2B0C865A-6E57-4D29-B2B6-978E88DA7F2C}" type="presOf" srcId="{B180F672-34C0-4207-AB47-DEEA60EEB22E}" destId="{C87DBAC9-2291-4FAA-905D-3C22E81CE32E}" srcOrd="0" destOrd="1" presId="urn:microsoft.com/office/officeart/2005/8/layout/hList1"/>
    <dgm:cxn modelId="{7743EC7B-2407-4421-8889-A34C0A8C11CE}" type="presOf" srcId="{F0E6D9BD-D5A0-4678-9CE7-08B7F963E360}" destId="{A6C8B00C-A138-418C-880F-20BD333101A1}" srcOrd="0" destOrd="2" presId="urn:microsoft.com/office/officeart/2005/8/layout/hList1"/>
    <dgm:cxn modelId="{42C95482-EB08-4DA1-833A-307F0BB6EE6B}" type="presOf" srcId="{BCEAC048-89E0-456D-BEC4-C5D72942ADD8}" destId="{8C3B7137-A507-4964-8EAE-A8BDFEF0BAE8}" srcOrd="0" destOrd="0" presId="urn:microsoft.com/office/officeart/2005/8/layout/hList1"/>
    <dgm:cxn modelId="{6B2B3F8D-560C-4DEB-9DAA-2D28EE220F8A}" srcId="{BCEAC048-89E0-456D-BEC4-C5D72942ADD8}" destId="{FF8EBD9E-43DC-45CC-B943-51C33C03EE35}" srcOrd="3" destOrd="0" parTransId="{AB49615D-078B-4538-BBD1-842DFBA9F00E}" sibTransId="{2601B70F-4932-4B54-83A4-55DA2BFD721E}"/>
    <dgm:cxn modelId="{26FEADA7-CA7E-464A-8F43-CD632512BA17}" srcId="{BCEAC048-89E0-456D-BEC4-C5D72942ADD8}" destId="{299A38AF-4BCF-40F8-B579-7DD0F69BB056}" srcOrd="1" destOrd="0" parTransId="{F019AFA0-70D9-4371-86F1-EA07B58B2BA8}" sibTransId="{9626E7D3-80B8-4DBD-B2DF-A4D29B5C0FE1}"/>
    <dgm:cxn modelId="{9B3DD1A9-022E-4CA0-B23A-65FEB900AF4E}" type="presOf" srcId="{3FF69756-A2CF-47DD-874F-C00EA160CC5A}" destId="{DE19332E-A8DC-4931-A37C-1F5D486B6D2B}" srcOrd="0" destOrd="0" presId="urn:microsoft.com/office/officeart/2005/8/layout/hList1"/>
    <dgm:cxn modelId="{7F8C40AB-F6E4-405D-9D6A-5C6A3D4DE4A4}" srcId="{CA9C283A-10B6-4777-ADA6-7F15C235B8C7}" destId="{B36B8591-9784-47C0-BBD3-4725E5BE9275}" srcOrd="1" destOrd="0" parTransId="{8F2269EA-B155-4611-BA31-7E3B74C68F5B}" sibTransId="{6C5741CC-4EC7-4037-8C42-6DAB5D877EBF}"/>
    <dgm:cxn modelId="{945D5DB3-D86A-48AD-8206-9056C36EF282}" srcId="{FF8BD89D-004D-4C65-A8F1-A1C9A2B519D0}" destId="{6BD48CE0-CA13-42A2-81A3-5BCDA559B2E9}" srcOrd="0" destOrd="0" parTransId="{558DE988-6B90-4F20-BC16-C33782D1CCE7}" sibTransId="{0176D81A-4DE9-4480-B3E5-81F5BB8D1A0E}"/>
    <dgm:cxn modelId="{0318BDC1-6B7E-4253-A9A7-C26EB16C6D92}" type="presOf" srcId="{9E24B190-1E08-49F1-98DB-33518077CBF0}" destId="{96915571-B7BF-4602-B37B-19A29E8A0FF4}" srcOrd="0" destOrd="0" presId="urn:microsoft.com/office/officeart/2005/8/layout/hList1"/>
    <dgm:cxn modelId="{A73821C7-D8E9-400E-A7CC-43D07236E7E3}" srcId="{CA9C283A-10B6-4777-ADA6-7F15C235B8C7}" destId="{76AF8EC6-D37B-440E-AFE8-5EEBFDA4B12B}" srcOrd="0" destOrd="0" parTransId="{B7CBB29F-71DA-4502-BD6C-9FA593340009}" sibTransId="{6F732D8F-A789-428C-A408-00552C0269A0}"/>
    <dgm:cxn modelId="{8E9BC9E6-F589-4E73-91C0-FADE5EDE592A}" srcId="{DE5BEB56-A4F9-4A60-8B96-A82B49C95ACF}" destId="{BCEAC048-89E0-456D-BEC4-C5D72942ADD8}" srcOrd="1" destOrd="0" parTransId="{738DD7AA-F5A4-4C06-94B5-4E86A8AE69ED}" sibTransId="{A1B880AE-1529-4997-B1BC-8BDC05EC344E}"/>
    <dgm:cxn modelId="{388971EB-F14F-4B3C-9B51-D7EB7603BB85}" type="presOf" srcId="{06375E0C-580A-4895-84B9-8338AFB0FD51}" destId="{B0323036-6C52-44BC-8ECD-51763DFD2A22}" srcOrd="0" destOrd="2" presId="urn:microsoft.com/office/officeart/2005/8/layout/hList1"/>
    <dgm:cxn modelId="{86FFD0ED-D767-4955-81AB-9711768B3284}" type="presOf" srcId="{FF8EBD9E-43DC-45CC-B943-51C33C03EE35}" destId="{A6C8B00C-A138-418C-880F-20BD333101A1}" srcOrd="0" destOrd="3" presId="urn:microsoft.com/office/officeart/2005/8/layout/hList1"/>
    <dgm:cxn modelId="{F3F443F1-6260-400D-A313-F51E876A9F6B}" srcId="{CA9C283A-10B6-4777-ADA6-7F15C235B8C7}" destId="{06375E0C-580A-4895-84B9-8338AFB0FD51}" srcOrd="2" destOrd="0" parTransId="{77B1B29A-B6BE-4A5B-9E8F-64676F10CE40}" sibTransId="{DAA69A8B-FE79-4E59-B7F7-067F2ADB02B5}"/>
    <dgm:cxn modelId="{F5A84DF1-73F5-4CBC-BCEF-CF96DC5B9A6B}" type="presOf" srcId="{FF8BD89D-004D-4C65-A8F1-A1C9A2B519D0}" destId="{7559BF76-63B5-445F-8BFB-A94017391464}" srcOrd="0" destOrd="0" presId="urn:microsoft.com/office/officeart/2005/8/layout/hList1"/>
    <dgm:cxn modelId="{71A93DFA-AA3F-4A18-9C69-041BEAB77F4D}" srcId="{9E24B190-1E08-49F1-98DB-33518077CBF0}" destId="{3FF69756-A2CF-47DD-874F-C00EA160CC5A}" srcOrd="0" destOrd="0" parTransId="{4B07A39B-AE71-48E0-A7BB-6C8C0642CB41}" sibTransId="{2EFD5A6E-074D-4989-9839-0CB3DC8A7956}"/>
    <dgm:cxn modelId="{C31E8676-81A5-49AC-B7A7-F54C53091761}" type="presParOf" srcId="{79A26EE2-2438-4F7B-AF38-DAB6A25D063A}" destId="{D8E26213-D029-4D83-9F23-8ED24E21BD96}" srcOrd="0" destOrd="0" presId="urn:microsoft.com/office/officeart/2005/8/layout/hList1"/>
    <dgm:cxn modelId="{8841E271-617D-4596-A091-8105241B31AA}" type="presParOf" srcId="{D8E26213-D029-4D83-9F23-8ED24E21BD96}" destId="{7559BF76-63B5-445F-8BFB-A94017391464}" srcOrd="0" destOrd="0" presId="urn:microsoft.com/office/officeart/2005/8/layout/hList1"/>
    <dgm:cxn modelId="{4CC3C308-8278-4C94-8820-F89AAE7016B5}" type="presParOf" srcId="{D8E26213-D029-4D83-9F23-8ED24E21BD96}" destId="{C87DBAC9-2291-4FAA-905D-3C22E81CE32E}" srcOrd="1" destOrd="0" presId="urn:microsoft.com/office/officeart/2005/8/layout/hList1"/>
    <dgm:cxn modelId="{B8E83E0D-5C8E-44B6-BCA3-FB2C2538C467}" type="presParOf" srcId="{79A26EE2-2438-4F7B-AF38-DAB6A25D063A}" destId="{3A2D0020-7B98-4560-B4DA-6A0516786176}" srcOrd="1" destOrd="0" presId="urn:microsoft.com/office/officeart/2005/8/layout/hList1"/>
    <dgm:cxn modelId="{260850A2-9A21-4CFA-A5E4-3864C04FE722}" type="presParOf" srcId="{79A26EE2-2438-4F7B-AF38-DAB6A25D063A}" destId="{D0508F32-2858-4ED3-AED6-DFF6D2284D9D}" srcOrd="2" destOrd="0" presId="urn:microsoft.com/office/officeart/2005/8/layout/hList1"/>
    <dgm:cxn modelId="{3CD64A36-E0FD-40CC-9C80-4E731BDD4136}" type="presParOf" srcId="{D0508F32-2858-4ED3-AED6-DFF6D2284D9D}" destId="{8C3B7137-A507-4964-8EAE-A8BDFEF0BAE8}" srcOrd="0" destOrd="0" presId="urn:microsoft.com/office/officeart/2005/8/layout/hList1"/>
    <dgm:cxn modelId="{ED592160-7516-458B-A5A6-491CD44143B5}" type="presParOf" srcId="{D0508F32-2858-4ED3-AED6-DFF6D2284D9D}" destId="{A6C8B00C-A138-418C-880F-20BD333101A1}" srcOrd="1" destOrd="0" presId="urn:microsoft.com/office/officeart/2005/8/layout/hList1"/>
    <dgm:cxn modelId="{855B2A2F-ABBF-4DD3-85C2-59DADAFDCD49}" type="presParOf" srcId="{79A26EE2-2438-4F7B-AF38-DAB6A25D063A}" destId="{453A7038-0344-4984-B786-9EE039A7CE38}" srcOrd="3" destOrd="0" presId="urn:microsoft.com/office/officeart/2005/8/layout/hList1"/>
    <dgm:cxn modelId="{67C7C620-8946-46A8-A073-C9FF3B0B6F1B}" type="presParOf" srcId="{79A26EE2-2438-4F7B-AF38-DAB6A25D063A}" destId="{31EA04F8-8DE9-4007-8E73-CC4DA2BBA390}" srcOrd="4" destOrd="0" presId="urn:microsoft.com/office/officeart/2005/8/layout/hList1"/>
    <dgm:cxn modelId="{1A9C821C-5BFB-42C5-AEEC-3D36AFA5AF52}" type="presParOf" srcId="{31EA04F8-8DE9-4007-8E73-CC4DA2BBA390}" destId="{4DB9AE7B-489D-4F24-B987-26DA59C16979}" srcOrd="0" destOrd="0" presId="urn:microsoft.com/office/officeart/2005/8/layout/hList1"/>
    <dgm:cxn modelId="{B46D9DA5-52A9-457A-B35E-6E52C6049BA3}" type="presParOf" srcId="{31EA04F8-8DE9-4007-8E73-CC4DA2BBA390}" destId="{B0323036-6C52-44BC-8ECD-51763DFD2A22}" srcOrd="1" destOrd="0" presId="urn:microsoft.com/office/officeart/2005/8/layout/hList1"/>
    <dgm:cxn modelId="{EAB4E8F2-AF22-4E6E-B824-F133CBD309E1}" type="presParOf" srcId="{79A26EE2-2438-4F7B-AF38-DAB6A25D063A}" destId="{E311D686-4FBB-48EA-B6AE-51193BB87B3D}" srcOrd="5" destOrd="0" presId="urn:microsoft.com/office/officeart/2005/8/layout/hList1"/>
    <dgm:cxn modelId="{D80CEBB2-B6DF-4FE3-A5B3-306CB801B15F}" type="presParOf" srcId="{79A26EE2-2438-4F7B-AF38-DAB6A25D063A}" destId="{D5D5E32E-BE6C-4914-828E-323ED9810ECD}" srcOrd="6" destOrd="0" presId="urn:microsoft.com/office/officeart/2005/8/layout/hList1"/>
    <dgm:cxn modelId="{CF373F28-B571-4AF8-A9C9-877565E7FB41}" type="presParOf" srcId="{D5D5E32E-BE6C-4914-828E-323ED9810ECD}" destId="{96915571-B7BF-4602-B37B-19A29E8A0FF4}" srcOrd="0" destOrd="0" presId="urn:microsoft.com/office/officeart/2005/8/layout/hList1"/>
    <dgm:cxn modelId="{9A81462A-395E-4E09-BBBB-929FE62EBEE4}" type="presParOf" srcId="{D5D5E32E-BE6C-4914-828E-323ED9810ECD}" destId="{DE19332E-A8DC-4931-A37C-1F5D486B6D2B}"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E5BEB56-A4F9-4A60-8B96-A82B49C95ACF}" type="doc">
      <dgm:prSet loTypeId="urn:microsoft.com/office/officeart/2005/8/layout/hList1" loCatId="list" qsTypeId="urn:microsoft.com/office/officeart/2005/8/quickstyle/simple5" qsCatId="simple" csTypeId="urn:microsoft.com/office/officeart/2005/8/colors/colorful5" csCatId="colorful" phldr="1"/>
      <dgm:spPr/>
      <dgm:t>
        <a:bodyPr/>
        <a:lstStyle/>
        <a:p>
          <a:endParaRPr lang="en-PH"/>
        </a:p>
      </dgm:t>
    </dgm:pt>
    <dgm:pt modelId="{FF8BD89D-004D-4C65-A8F1-A1C9A2B519D0}">
      <dgm:prSet phldrT="[Text]" custT="1"/>
      <dgm:spPr/>
      <dgm:t>
        <a:bodyPr/>
        <a:lstStyle/>
        <a:p>
          <a:r>
            <a:rPr lang="en-PH" sz="1800" b="1">
              <a:latin typeface="Lato"/>
              <a:ea typeface="Lato"/>
              <a:cs typeface="Lato"/>
            </a:rPr>
            <a:t>Production Loan</a:t>
          </a:r>
        </a:p>
      </dgm:t>
    </dgm:pt>
    <dgm:pt modelId="{C42FAD61-1407-4C79-8691-75523D6B6B77}" type="parTrans" cxnId="{347DD376-2F8F-4E0E-8043-2C930E1707ED}">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D91A6D25-6F32-46E7-BA6B-406FD854F42F}" type="sibTrans" cxnId="{347DD376-2F8F-4E0E-8043-2C930E1707ED}">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BCEAC048-89E0-456D-BEC4-C5D72942ADD8}">
      <dgm:prSet phldrT="[Text]" custT="1"/>
      <dgm:spPr/>
      <dgm:t>
        <a:bodyPr/>
        <a:lstStyle/>
        <a:p>
          <a:r>
            <a:rPr lang="en-PH" sz="1800" b="1">
              <a:latin typeface="Lato"/>
              <a:ea typeface="Lato"/>
              <a:cs typeface="Lato"/>
            </a:rPr>
            <a:t>Supplemental Loan</a:t>
          </a:r>
        </a:p>
      </dgm:t>
    </dgm:pt>
    <dgm:pt modelId="{738DD7AA-F5A4-4C06-94B5-4E86A8AE69ED}" type="parTrans" cxnId="{8E9BC9E6-F589-4E73-91C0-FADE5EDE592A}">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A1B880AE-1529-4997-B1BC-8BDC05EC344E}" type="sibTrans" cxnId="{8E9BC9E6-F589-4E73-91C0-FADE5EDE592A}">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FF8EBD9E-43DC-45CC-B943-51C33C03EE35}">
      <dgm:prSet phldrT="[Text]" custT="1"/>
      <dgm:spPr/>
      <dgm:t>
        <a:bodyPr/>
        <a:lstStyle/>
        <a:p>
          <a:r>
            <a:rPr lang="en-PH" sz="1200">
              <a:latin typeface="Lato"/>
              <a:ea typeface="Lato"/>
              <a:cs typeface="Lato"/>
            </a:rPr>
            <a:t>SAGIP Loan as Disaster Recovery</a:t>
          </a:r>
        </a:p>
      </dgm:t>
    </dgm:pt>
    <dgm:pt modelId="{AB49615D-078B-4538-BBD1-842DFBA9F00E}" type="parTrans" cxnId="{6B2B3F8D-560C-4DEB-9DAA-2D28EE220F8A}">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2601B70F-4932-4B54-83A4-55DA2BFD721E}" type="sibTrans" cxnId="{6B2B3F8D-560C-4DEB-9DAA-2D28EE220F8A}">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CA9C283A-10B6-4777-ADA6-7F15C235B8C7}">
      <dgm:prSet phldrT="[Text]" custT="1"/>
      <dgm:spPr/>
      <dgm:t>
        <a:bodyPr/>
        <a:lstStyle/>
        <a:p>
          <a:r>
            <a:rPr lang="en-PH" sz="1800" b="1">
              <a:latin typeface="Lato"/>
              <a:ea typeface="Lato"/>
              <a:cs typeface="Lato"/>
            </a:rPr>
            <a:t>Microinsurance</a:t>
          </a:r>
        </a:p>
      </dgm:t>
    </dgm:pt>
    <dgm:pt modelId="{5304F7D4-4161-4B11-A555-20CDC86F1FDD}" type="parTrans" cxnId="{F0929E3F-519E-46F0-8422-2AA5E19FD962}">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818AC874-764D-4D6D-89CE-099C6F94422F}" type="sibTrans" cxnId="{F0929E3F-519E-46F0-8422-2AA5E19FD962}">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B180F672-34C0-4207-AB47-DEEA60EEB22E}">
      <dgm:prSet phldrT="[Text]" custT="1"/>
      <dgm:spPr/>
      <dgm:t>
        <a:bodyPr/>
        <a:lstStyle/>
        <a:p>
          <a:r>
            <a:rPr lang="en-PH" sz="1200" err="1">
              <a:latin typeface="Lato"/>
              <a:ea typeface="Lato"/>
              <a:cs typeface="Lato"/>
            </a:rPr>
            <a:t>Kabuhayan</a:t>
          </a:r>
          <a:r>
            <a:rPr lang="en-PH" sz="1200">
              <a:latin typeface="Lato"/>
              <a:ea typeface="Lato"/>
              <a:cs typeface="Lato"/>
            </a:rPr>
            <a:t> Hog</a:t>
          </a:r>
        </a:p>
      </dgm:t>
    </dgm:pt>
    <dgm:pt modelId="{0447C90C-4B98-42D4-BEA7-B56D14238E8B}" type="parTrans" cxnId="{F1A24518-B1FC-4CB5-BB47-82DC7D56B416}">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305D5D07-9BD8-4DB4-8CA9-03038F673AC3}" type="sibTrans" cxnId="{F1A24518-B1FC-4CB5-BB47-82DC7D56B416}">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299A38AF-4BCF-40F8-B579-7DD0F69BB056}">
      <dgm:prSet phldrT="[Text]" custT="1"/>
      <dgm:spPr/>
      <dgm:t>
        <a:bodyPr/>
        <a:lstStyle/>
        <a:p>
          <a:r>
            <a:rPr lang="en-PH" sz="1200">
              <a:latin typeface="Lato"/>
              <a:ea typeface="Lato"/>
              <a:cs typeface="Lato"/>
            </a:rPr>
            <a:t>Education Loan</a:t>
          </a:r>
        </a:p>
      </dgm:t>
    </dgm:pt>
    <dgm:pt modelId="{F019AFA0-70D9-4371-86F1-EA07B58B2BA8}" type="parTrans" cxnId="{26FEADA7-CA7E-464A-8F43-CD632512BA17}">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9626E7D3-80B8-4DBD-B2DF-A4D29B5C0FE1}" type="sibTrans" cxnId="{26FEADA7-CA7E-464A-8F43-CD632512BA17}">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F0E6D9BD-D5A0-4678-9CE7-08B7F963E360}">
      <dgm:prSet phldrT="[Text]" custT="1"/>
      <dgm:spPr/>
      <dgm:t>
        <a:bodyPr/>
        <a:lstStyle/>
        <a:p>
          <a:r>
            <a:rPr lang="en-PH" sz="1200">
              <a:latin typeface="Lato"/>
              <a:ea typeface="Lato"/>
              <a:cs typeface="Lato"/>
            </a:rPr>
            <a:t>SAGIP Loan as Emergency</a:t>
          </a:r>
        </a:p>
      </dgm:t>
    </dgm:pt>
    <dgm:pt modelId="{9EF69EFA-FC4A-4CAA-88CD-316530BBB48A}" type="parTrans" cxnId="{E92CF623-2938-475B-B958-35A3B0BF9F3A}">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7F0D8F41-C747-4003-856F-487B9ED71AFB}" type="sibTrans" cxnId="{E92CF623-2938-475B-B958-35A3B0BF9F3A}">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06375E0C-580A-4895-84B9-8338AFB0FD51}">
      <dgm:prSet phldrT="[Text]" custT="1"/>
      <dgm:spPr/>
      <dgm:t>
        <a:bodyPr/>
        <a:lstStyle/>
        <a:p>
          <a:r>
            <a:rPr lang="en-PH" sz="1200">
              <a:latin typeface="Lato"/>
              <a:ea typeface="Lato"/>
              <a:cs typeface="Lato"/>
            </a:rPr>
            <a:t>Loan Redemption Fund</a:t>
          </a:r>
        </a:p>
      </dgm:t>
    </dgm:pt>
    <dgm:pt modelId="{77B1B29A-B6BE-4A5B-9E8F-64676F10CE40}" type="parTrans" cxnId="{F3F443F1-6260-400D-A313-F51E876A9F6B}">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DAA69A8B-FE79-4E59-B7F7-067F2ADB02B5}" type="sibTrans" cxnId="{F3F443F1-6260-400D-A313-F51E876A9F6B}">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9E24B190-1E08-49F1-98DB-33518077CBF0}">
      <dgm:prSet phldrT="[Text]" custT="1"/>
      <dgm:spPr/>
      <dgm:t>
        <a:bodyPr/>
        <a:lstStyle/>
        <a:p>
          <a:r>
            <a:rPr lang="en-US" sz="1800" b="1" err="1">
              <a:latin typeface="Lato" panose="020F0502020204030203" pitchFamily="34" charset="0"/>
              <a:ea typeface="Lato" panose="020F0502020204030203" pitchFamily="34" charset="0"/>
              <a:cs typeface="Lato" panose="020F0502020204030203" pitchFamily="34" charset="0"/>
            </a:rPr>
            <a:t>Microsavings</a:t>
          </a:r>
          <a:endParaRPr lang="en-PH" sz="1800" b="1">
            <a:latin typeface="Lato" panose="020F0502020204030203" pitchFamily="34" charset="0"/>
            <a:ea typeface="Lato" panose="020F0502020204030203" pitchFamily="34" charset="0"/>
            <a:cs typeface="Lato" panose="020F0502020204030203" pitchFamily="34" charset="0"/>
          </a:endParaRPr>
        </a:p>
      </dgm:t>
    </dgm:pt>
    <dgm:pt modelId="{DF524816-1526-42CB-ADF1-C894921C6C91}" type="parTrans" cxnId="{5D3B113F-3A4B-4D6E-A0A0-FBD300AC4250}">
      <dgm:prSet/>
      <dgm:spPr/>
      <dgm:t>
        <a:bodyPr/>
        <a:lstStyle/>
        <a:p>
          <a:endParaRPr lang="en-PH" sz="1600"/>
        </a:p>
      </dgm:t>
    </dgm:pt>
    <dgm:pt modelId="{5400F607-3678-440B-BD5A-39FE3B2BED30}" type="sibTrans" cxnId="{5D3B113F-3A4B-4D6E-A0A0-FBD300AC4250}">
      <dgm:prSet/>
      <dgm:spPr/>
      <dgm:t>
        <a:bodyPr/>
        <a:lstStyle/>
        <a:p>
          <a:endParaRPr lang="en-PH" sz="1600"/>
        </a:p>
      </dgm:t>
    </dgm:pt>
    <dgm:pt modelId="{A7A426B3-A57B-4122-BF5B-1DBA016900FB}">
      <dgm:prSet phldrT="[Text]" custT="1"/>
      <dgm:spPr/>
      <dgm:t>
        <a:bodyPr/>
        <a:lstStyle/>
        <a:p>
          <a:r>
            <a:rPr lang="en-US" sz="1200" err="1">
              <a:latin typeface="Lato" panose="020F0502020204030203" pitchFamily="34" charset="0"/>
              <a:ea typeface="Lato" panose="020F0502020204030203" pitchFamily="34" charset="0"/>
              <a:cs typeface="Lato" panose="020F0502020204030203" pitchFamily="34" charset="0"/>
            </a:rPr>
            <a:t>MyIpon</a:t>
          </a:r>
          <a:endParaRPr lang="en-PH" sz="1200">
            <a:latin typeface="Lato" panose="020F0502020204030203" pitchFamily="34" charset="0"/>
            <a:ea typeface="Lato" panose="020F0502020204030203" pitchFamily="34" charset="0"/>
            <a:cs typeface="Lato" panose="020F0502020204030203" pitchFamily="34" charset="0"/>
          </a:endParaRPr>
        </a:p>
      </dgm:t>
    </dgm:pt>
    <dgm:pt modelId="{5279E597-BED1-444C-8C0D-ED31A2051784}" type="parTrans" cxnId="{27F1F177-B3EE-42C9-B105-ED425A48472C}">
      <dgm:prSet/>
      <dgm:spPr/>
      <dgm:t>
        <a:bodyPr/>
        <a:lstStyle/>
        <a:p>
          <a:endParaRPr lang="en-PH" sz="1600"/>
        </a:p>
      </dgm:t>
    </dgm:pt>
    <dgm:pt modelId="{E204EC84-9E60-45E2-8E38-594E33D38CE3}" type="sibTrans" cxnId="{27F1F177-B3EE-42C9-B105-ED425A48472C}">
      <dgm:prSet/>
      <dgm:spPr/>
      <dgm:t>
        <a:bodyPr/>
        <a:lstStyle/>
        <a:p>
          <a:endParaRPr lang="en-PH" sz="1600"/>
        </a:p>
      </dgm:t>
    </dgm:pt>
    <dgm:pt modelId="{6BD48CE0-CA13-42A2-81A3-5BCDA559B2E9}">
      <dgm:prSet phldrT="[Text]" custT="1"/>
      <dgm:spPr/>
      <dgm:t>
        <a:bodyPr/>
        <a:lstStyle/>
        <a:p>
          <a:r>
            <a:rPr lang="en-PH" sz="1200" err="1">
              <a:latin typeface="Lato"/>
              <a:ea typeface="Lato"/>
              <a:cs typeface="Lato"/>
            </a:rPr>
            <a:t>Mauswagon</a:t>
          </a:r>
          <a:r>
            <a:rPr lang="en-PH" sz="1200">
              <a:latin typeface="Lato"/>
              <a:ea typeface="Lato"/>
              <a:cs typeface="Lato"/>
            </a:rPr>
            <a:t> Loan</a:t>
          </a:r>
          <a:endParaRPr lang="en-PH" sz="1600">
            <a:latin typeface="Lato"/>
            <a:ea typeface="Lato"/>
            <a:cs typeface="Lato"/>
          </a:endParaRPr>
        </a:p>
      </dgm:t>
    </dgm:pt>
    <dgm:pt modelId="{558DE988-6B90-4F20-BC16-C33782D1CCE7}" type="parTrans" cxnId="{945D5DB3-D86A-48AD-8206-9056C36EF282}">
      <dgm:prSet/>
      <dgm:spPr/>
      <dgm:t>
        <a:bodyPr/>
        <a:lstStyle/>
        <a:p>
          <a:endParaRPr lang="en-PH"/>
        </a:p>
      </dgm:t>
    </dgm:pt>
    <dgm:pt modelId="{0176D81A-4DE9-4480-B3E5-81F5BB8D1A0E}" type="sibTrans" cxnId="{945D5DB3-D86A-48AD-8206-9056C36EF282}">
      <dgm:prSet/>
      <dgm:spPr/>
      <dgm:t>
        <a:bodyPr/>
        <a:lstStyle/>
        <a:p>
          <a:endParaRPr lang="en-PH"/>
        </a:p>
      </dgm:t>
    </dgm:pt>
    <dgm:pt modelId="{10883F33-F6CB-4432-B1AA-2727492E24C0}">
      <dgm:prSet phldrT="[Text]" custT="1"/>
      <dgm:spPr/>
      <dgm:t>
        <a:bodyPr/>
        <a:lstStyle/>
        <a:p>
          <a:r>
            <a:rPr lang="en-PH" sz="1200">
              <a:latin typeface="Lato" panose="020F0502020204030203" pitchFamily="34" charset="0"/>
              <a:ea typeface="Lato" panose="020F0502020204030203" pitchFamily="34" charset="0"/>
              <a:cs typeface="Lato" panose="020F0502020204030203" pitchFamily="34" charset="0"/>
            </a:rPr>
            <a:t>Housing Improvement Loan</a:t>
          </a:r>
          <a:endParaRPr lang="en-PH" sz="1600">
            <a:latin typeface="Lato" panose="020F0502020204030203" pitchFamily="34" charset="0"/>
            <a:ea typeface="Lato" panose="020F0502020204030203" pitchFamily="34" charset="0"/>
            <a:cs typeface="Lato" panose="020F0502020204030203" pitchFamily="34" charset="0"/>
          </a:endParaRPr>
        </a:p>
      </dgm:t>
    </dgm:pt>
    <dgm:pt modelId="{31E74D7C-C551-47C1-946D-1B2FBCCEA63D}" type="parTrans" cxnId="{978DB50F-6FAD-4503-9983-250E0DFC89F9}">
      <dgm:prSet/>
      <dgm:spPr/>
      <dgm:t>
        <a:bodyPr/>
        <a:lstStyle/>
        <a:p>
          <a:endParaRPr lang="en-PH"/>
        </a:p>
      </dgm:t>
    </dgm:pt>
    <dgm:pt modelId="{D9F9BB48-268A-4CB8-92B4-A0A241259416}" type="sibTrans" cxnId="{978DB50F-6FAD-4503-9983-250E0DFC89F9}">
      <dgm:prSet/>
      <dgm:spPr/>
      <dgm:t>
        <a:bodyPr/>
        <a:lstStyle/>
        <a:p>
          <a:endParaRPr lang="en-PH"/>
        </a:p>
      </dgm:t>
    </dgm:pt>
    <dgm:pt modelId="{3FF69756-A2CF-47DD-874F-C00EA160CC5A}">
      <dgm:prSet phldrT="[Text]" custT="1"/>
      <dgm:spPr/>
      <dgm:t>
        <a:bodyPr/>
        <a:lstStyle/>
        <a:p>
          <a:r>
            <a:rPr lang="en-US" sz="1200">
              <a:latin typeface="Lato" panose="020F0502020204030203" pitchFamily="34" charset="0"/>
              <a:ea typeface="Lato" panose="020F0502020204030203" pitchFamily="34" charset="0"/>
              <a:cs typeface="Lato" panose="020F0502020204030203" pitchFamily="34" charset="0"/>
            </a:rPr>
            <a:t>CBU</a:t>
          </a:r>
          <a:endParaRPr lang="en-PH" sz="1600">
            <a:latin typeface="Lato" panose="020F0502020204030203" pitchFamily="34" charset="0"/>
            <a:ea typeface="Lato" panose="020F0502020204030203" pitchFamily="34" charset="0"/>
            <a:cs typeface="Lato" panose="020F0502020204030203" pitchFamily="34" charset="0"/>
          </a:endParaRPr>
        </a:p>
      </dgm:t>
    </dgm:pt>
    <dgm:pt modelId="{4B07A39B-AE71-48E0-A7BB-6C8C0642CB41}" type="parTrans" cxnId="{71A93DFA-AA3F-4A18-9C69-041BEAB77F4D}">
      <dgm:prSet/>
      <dgm:spPr/>
      <dgm:t>
        <a:bodyPr/>
        <a:lstStyle/>
        <a:p>
          <a:endParaRPr lang="en-PH"/>
        </a:p>
      </dgm:t>
    </dgm:pt>
    <dgm:pt modelId="{2EFD5A6E-074D-4989-9839-0CB3DC8A7956}" type="sibTrans" cxnId="{71A93DFA-AA3F-4A18-9C69-041BEAB77F4D}">
      <dgm:prSet/>
      <dgm:spPr/>
      <dgm:t>
        <a:bodyPr/>
        <a:lstStyle/>
        <a:p>
          <a:endParaRPr lang="en-PH"/>
        </a:p>
      </dgm:t>
    </dgm:pt>
    <dgm:pt modelId="{B36B8591-9784-47C0-BBD3-4725E5BE9275}">
      <dgm:prSet phldrT="[Text]" custT="1"/>
      <dgm:spPr/>
      <dgm:t>
        <a:bodyPr/>
        <a:lstStyle/>
        <a:p>
          <a:r>
            <a:rPr lang="en-PH" sz="1200">
              <a:latin typeface="Lato" panose="020F0502020204030203" pitchFamily="34" charset="0"/>
              <a:ea typeface="Lato" panose="020F0502020204030203" pitchFamily="34" charset="0"/>
              <a:cs typeface="Lato" panose="020F0502020204030203" pitchFamily="34" charset="0"/>
            </a:rPr>
            <a:t>Family Relief Plan</a:t>
          </a:r>
        </a:p>
      </dgm:t>
    </dgm:pt>
    <dgm:pt modelId="{8F2269EA-B155-4611-BA31-7E3B74C68F5B}" type="parTrans" cxnId="{7F8C40AB-F6E4-405D-9D6A-5C6A3D4DE4A4}">
      <dgm:prSet/>
      <dgm:spPr/>
      <dgm:t>
        <a:bodyPr/>
        <a:lstStyle/>
        <a:p>
          <a:endParaRPr lang="en-PH"/>
        </a:p>
      </dgm:t>
    </dgm:pt>
    <dgm:pt modelId="{6C5741CC-4EC7-4037-8C42-6DAB5D877EBF}" type="sibTrans" cxnId="{7F8C40AB-F6E4-405D-9D6A-5C6A3D4DE4A4}">
      <dgm:prSet/>
      <dgm:spPr/>
      <dgm:t>
        <a:bodyPr/>
        <a:lstStyle/>
        <a:p>
          <a:endParaRPr lang="en-PH"/>
        </a:p>
      </dgm:t>
    </dgm:pt>
    <dgm:pt modelId="{76AF8EC6-D37B-440E-AFE8-5EEBFDA4B12B}">
      <dgm:prSet phldrT="[Text]" custT="1"/>
      <dgm:spPr/>
      <dgm:t>
        <a:bodyPr/>
        <a:lstStyle/>
        <a:p>
          <a:r>
            <a:rPr lang="en-PH" sz="1200" err="1">
              <a:latin typeface="Lato" panose="020F0502020204030203" pitchFamily="34" charset="0"/>
              <a:ea typeface="Lato" panose="020F0502020204030203" pitchFamily="34" charset="0"/>
              <a:cs typeface="Lato" panose="020F0502020204030203" pitchFamily="34" charset="0"/>
            </a:rPr>
            <a:t>Kaagabay</a:t>
          </a:r>
          <a:r>
            <a:rPr lang="en-PH" sz="1200">
              <a:latin typeface="Lato" panose="020F0502020204030203" pitchFamily="34" charset="0"/>
              <a:ea typeface="Lato" panose="020F0502020204030203" pitchFamily="34" charset="0"/>
              <a:cs typeface="Lato" panose="020F0502020204030203" pitchFamily="34" charset="0"/>
            </a:rPr>
            <a:t> (GPA)</a:t>
          </a:r>
        </a:p>
      </dgm:t>
    </dgm:pt>
    <dgm:pt modelId="{B7CBB29F-71DA-4502-BD6C-9FA593340009}" type="parTrans" cxnId="{A73821C7-D8E9-400E-A7CC-43D07236E7E3}">
      <dgm:prSet/>
      <dgm:spPr/>
      <dgm:t>
        <a:bodyPr/>
        <a:lstStyle/>
        <a:p>
          <a:endParaRPr lang="en-PH"/>
        </a:p>
      </dgm:t>
    </dgm:pt>
    <dgm:pt modelId="{6F732D8F-A789-428C-A408-00552C0269A0}" type="sibTrans" cxnId="{A73821C7-D8E9-400E-A7CC-43D07236E7E3}">
      <dgm:prSet/>
      <dgm:spPr/>
      <dgm:t>
        <a:bodyPr/>
        <a:lstStyle/>
        <a:p>
          <a:endParaRPr lang="en-PH"/>
        </a:p>
      </dgm:t>
    </dgm:pt>
    <dgm:pt modelId="{79A26EE2-2438-4F7B-AF38-DAB6A25D063A}" type="pres">
      <dgm:prSet presAssocID="{DE5BEB56-A4F9-4A60-8B96-A82B49C95ACF}" presName="Name0" presStyleCnt="0">
        <dgm:presLayoutVars>
          <dgm:dir/>
          <dgm:animLvl val="lvl"/>
          <dgm:resizeHandles val="exact"/>
        </dgm:presLayoutVars>
      </dgm:prSet>
      <dgm:spPr/>
    </dgm:pt>
    <dgm:pt modelId="{D8E26213-D029-4D83-9F23-8ED24E21BD96}" type="pres">
      <dgm:prSet presAssocID="{FF8BD89D-004D-4C65-A8F1-A1C9A2B519D0}" presName="composite" presStyleCnt="0"/>
      <dgm:spPr/>
    </dgm:pt>
    <dgm:pt modelId="{7559BF76-63B5-445F-8BFB-A94017391464}" type="pres">
      <dgm:prSet presAssocID="{FF8BD89D-004D-4C65-A8F1-A1C9A2B519D0}" presName="parTx" presStyleLbl="alignNode1" presStyleIdx="0" presStyleCnt="4" custScaleY="96129">
        <dgm:presLayoutVars>
          <dgm:chMax val="0"/>
          <dgm:chPref val="0"/>
          <dgm:bulletEnabled val="1"/>
        </dgm:presLayoutVars>
      </dgm:prSet>
      <dgm:spPr/>
    </dgm:pt>
    <dgm:pt modelId="{C87DBAC9-2291-4FAA-905D-3C22E81CE32E}" type="pres">
      <dgm:prSet presAssocID="{FF8BD89D-004D-4C65-A8F1-A1C9A2B519D0}" presName="desTx" presStyleLbl="alignAccFollowNode1" presStyleIdx="0" presStyleCnt="4">
        <dgm:presLayoutVars>
          <dgm:bulletEnabled val="1"/>
        </dgm:presLayoutVars>
      </dgm:prSet>
      <dgm:spPr/>
    </dgm:pt>
    <dgm:pt modelId="{3A2D0020-7B98-4560-B4DA-6A0516786176}" type="pres">
      <dgm:prSet presAssocID="{D91A6D25-6F32-46E7-BA6B-406FD854F42F}" presName="space" presStyleCnt="0"/>
      <dgm:spPr/>
    </dgm:pt>
    <dgm:pt modelId="{D0508F32-2858-4ED3-AED6-DFF6D2284D9D}" type="pres">
      <dgm:prSet presAssocID="{BCEAC048-89E0-456D-BEC4-C5D72942ADD8}" presName="composite" presStyleCnt="0"/>
      <dgm:spPr/>
    </dgm:pt>
    <dgm:pt modelId="{8C3B7137-A507-4964-8EAE-A8BDFEF0BAE8}" type="pres">
      <dgm:prSet presAssocID="{BCEAC048-89E0-456D-BEC4-C5D72942ADD8}" presName="parTx" presStyleLbl="alignNode1" presStyleIdx="1" presStyleCnt="4" custScaleY="96129">
        <dgm:presLayoutVars>
          <dgm:chMax val="0"/>
          <dgm:chPref val="0"/>
          <dgm:bulletEnabled val="1"/>
        </dgm:presLayoutVars>
      </dgm:prSet>
      <dgm:spPr/>
    </dgm:pt>
    <dgm:pt modelId="{A6C8B00C-A138-418C-880F-20BD333101A1}" type="pres">
      <dgm:prSet presAssocID="{BCEAC048-89E0-456D-BEC4-C5D72942ADD8}" presName="desTx" presStyleLbl="alignAccFollowNode1" presStyleIdx="1" presStyleCnt="4">
        <dgm:presLayoutVars>
          <dgm:bulletEnabled val="1"/>
        </dgm:presLayoutVars>
      </dgm:prSet>
      <dgm:spPr/>
    </dgm:pt>
    <dgm:pt modelId="{453A7038-0344-4984-B786-9EE039A7CE38}" type="pres">
      <dgm:prSet presAssocID="{A1B880AE-1529-4997-B1BC-8BDC05EC344E}" presName="space" presStyleCnt="0"/>
      <dgm:spPr/>
    </dgm:pt>
    <dgm:pt modelId="{31EA04F8-8DE9-4007-8E73-CC4DA2BBA390}" type="pres">
      <dgm:prSet presAssocID="{CA9C283A-10B6-4777-ADA6-7F15C235B8C7}" presName="composite" presStyleCnt="0"/>
      <dgm:spPr/>
    </dgm:pt>
    <dgm:pt modelId="{4DB9AE7B-489D-4F24-B987-26DA59C16979}" type="pres">
      <dgm:prSet presAssocID="{CA9C283A-10B6-4777-ADA6-7F15C235B8C7}" presName="parTx" presStyleLbl="alignNode1" presStyleIdx="2" presStyleCnt="4" custScaleY="96129">
        <dgm:presLayoutVars>
          <dgm:chMax val="0"/>
          <dgm:chPref val="0"/>
          <dgm:bulletEnabled val="1"/>
        </dgm:presLayoutVars>
      </dgm:prSet>
      <dgm:spPr/>
    </dgm:pt>
    <dgm:pt modelId="{B0323036-6C52-44BC-8ECD-51763DFD2A22}" type="pres">
      <dgm:prSet presAssocID="{CA9C283A-10B6-4777-ADA6-7F15C235B8C7}" presName="desTx" presStyleLbl="alignAccFollowNode1" presStyleIdx="2" presStyleCnt="4">
        <dgm:presLayoutVars>
          <dgm:bulletEnabled val="1"/>
        </dgm:presLayoutVars>
      </dgm:prSet>
      <dgm:spPr/>
    </dgm:pt>
    <dgm:pt modelId="{E311D686-4FBB-48EA-B6AE-51193BB87B3D}" type="pres">
      <dgm:prSet presAssocID="{818AC874-764D-4D6D-89CE-099C6F94422F}" presName="space" presStyleCnt="0"/>
      <dgm:spPr/>
    </dgm:pt>
    <dgm:pt modelId="{D5D5E32E-BE6C-4914-828E-323ED9810ECD}" type="pres">
      <dgm:prSet presAssocID="{9E24B190-1E08-49F1-98DB-33518077CBF0}" presName="composite" presStyleCnt="0"/>
      <dgm:spPr/>
    </dgm:pt>
    <dgm:pt modelId="{96915571-B7BF-4602-B37B-19A29E8A0FF4}" type="pres">
      <dgm:prSet presAssocID="{9E24B190-1E08-49F1-98DB-33518077CBF0}" presName="parTx" presStyleLbl="alignNode1" presStyleIdx="3" presStyleCnt="4">
        <dgm:presLayoutVars>
          <dgm:chMax val="0"/>
          <dgm:chPref val="0"/>
          <dgm:bulletEnabled val="1"/>
        </dgm:presLayoutVars>
      </dgm:prSet>
      <dgm:spPr/>
    </dgm:pt>
    <dgm:pt modelId="{DE19332E-A8DC-4931-A37C-1F5D486B6D2B}" type="pres">
      <dgm:prSet presAssocID="{9E24B190-1E08-49F1-98DB-33518077CBF0}" presName="desTx" presStyleLbl="alignAccFollowNode1" presStyleIdx="3" presStyleCnt="4">
        <dgm:presLayoutVars>
          <dgm:bulletEnabled val="1"/>
        </dgm:presLayoutVars>
      </dgm:prSet>
      <dgm:spPr/>
    </dgm:pt>
  </dgm:ptLst>
  <dgm:cxnLst>
    <dgm:cxn modelId="{2A0F2402-54F5-4DDA-B71E-B47D26CB56C0}" type="presOf" srcId="{A7A426B3-A57B-4122-BF5B-1DBA016900FB}" destId="{DE19332E-A8DC-4931-A37C-1F5D486B6D2B}" srcOrd="0" destOrd="1" presId="urn:microsoft.com/office/officeart/2005/8/layout/hList1"/>
    <dgm:cxn modelId="{978DB50F-6FAD-4503-9983-250E0DFC89F9}" srcId="{BCEAC048-89E0-456D-BEC4-C5D72942ADD8}" destId="{10883F33-F6CB-4432-B1AA-2727492E24C0}" srcOrd="0" destOrd="0" parTransId="{31E74D7C-C551-47C1-946D-1B2FBCCEA63D}" sibTransId="{D9F9BB48-268A-4CB8-92B4-A0A241259416}"/>
    <dgm:cxn modelId="{F7395616-2CE6-4B03-9D97-5C820B1BD748}" type="presOf" srcId="{3FF69756-A2CF-47DD-874F-C00EA160CC5A}" destId="{DE19332E-A8DC-4931-A37C-1F5D486B6D2B}" srcOrd="0" destOrd="0" presId="urn:microsoft.com/office/officeart/2005/8/layout/hList1"/>
    <dgm:cxn modelId="{F1A24518-B1FC-4CB5-BB47-82DC7D56B416}" srcId="{FF8BD89D-004D-4C65-A8F1-A1C9A2B519D0}" destId="{B180F672-34C0-4207-AB47-DEEA60EEB22E}" srcOrd="1" destOrd="0" parTransId="{0447C90C-4B98-42D4-BEA7-B56D14238E8B}" sibTransId="{305D5D07-9BD8-4DB4-8CA9-03038F673AC3}"/>
    <dgm:cxn modelId="{D88F4719-F046-45DA-B053-EC6845AF7205}" type="presOf" srcId="{BCEAC048-89E0-456D-BEC4-C5D72942ADD8}" destId="{8C3B7137-A507-4964-8EAE-A8BDFEF0BAE8}" srcOrd="0" destOrd="0" presId="urn:microsoft.com/office/officeart/2005/8/layout/hList1"/>
    <dgm:cxn modelId="{2EB5E91D-ABAF-4393-8824-05CF0D46EFEE}" type="presOf" srcId="{DE5BEB56-A4F9-4A60-8B96-A82B49C95ACF}" destId="{79A26EE2-2438-4F7B-AF38-DAB6A25D063A}" srcOrd="0" destOrd="0" presId="urn:microsoft.com/office/officeart/2005/8/layout/hList1"/>
    <dgm:cxn modelId="{E92CF623-2938-475B-B958-35A3B0BF9F3A}" srcId="{BCEAC048-89E0-456D-BEC4-C5D72942ADD8}" destId="{F0E6D9BD-D5A0-4678-9CE7-08B7F963E360}" srcOrd="2" destOrd="0" parTransId="{9EF69EFA-FC4A-4CAA-88CD-316530BBB48A}" sibTransId="{7F0D8F41-C747-4003-856F-487B9ED71AFB}"/>
    <dgm:cxn modelId="{082A342B-4F4A-413C-A86C-7621F2CE182D}" type="presOf" srcId="{10883F33-F6CB-4432-B1AA-2727492E24C0}" destId="{A6C8B00C-A138-418C-880F-20BD333101A1}" srcOrd="0" destOrd="0" presId="urn:microsoft.com/office/officeart/2005/8/layout/hList1"/>
    <dgm:cxn modelId="{5D3B113F-3A4B-4D6E-A0A0-FBD300AC4250}" srcId="{DE5BEB56-A4F9-4A60-8B96-A82B49C95ACF}" destId="{9E24B190-1E08-49F1-98DB-33518077CBF0}" srcOrd="3" destOrd="0" parTransId="{DF524816-1526-42CB-ADF1-C894921C6C91}" sibTransId="{5400F607-3678-440B-BD5A-39FE3B2BED30}"/>
    <dgm:cxn modelId="{F0929E3F-519E-46F0-8422-2AA5E19FD962}" srcId="{DE5BEB56-A4F9-4A60-8B96-A82B49C95ACF}" destId="{CA9C283A-10B6-4777-ADA6-7F15C235B8C7}" srcOrd="2" destOrd="0" parTransId="{5304F7D4-4161-4B11-A555-20CDC86F1FDD}" sibTransId="{818AC874-764D-4D6D-89CE-099C6F94422F}"/>
    <dgm:cxn modelId="{40669845-393E-4D18-B7B0-4595099938A5}" type="presOf" srcId="{FF8BD89D-004D-4C65-A8F1-A1C9A2B519D0}" destId="{7559BF76-63B5-445F-8BFB-A94017391464}" srcOrd="0" destOrd="0" presId="urn:microsoft.com/office/officeart/2005/8/layout/hList1"/>
    <dgm:cxn modelId="{CCC89D68-474C-4F41-9743-4ACC91AEE0B4}" type="presOf" srcId="{9E24B190-1E08-49F1-98DB-33518077CBF0}" destId="{96915571-B7BF-4602-B37B-19A29E8A0FF4}" srcOrd="0" destOrd="0" presId="urn:microsoft.com/office/officeart/2005/8/layout/hList1"/>
    <dgm:cxn modelId="{76D14B72-9DD3-4A24-B89F-8A831C54DBF7}" type="presOf" srcId="{76AF8EC6-D37B-440E-AFE8-5EEBFDA4B12B}" destId="{B0323036-6C52-44BC-8ECD-51763DFD2A22}" srcOrd="0" destOrd="0" presId="urn:microsoft.com/office/officeart/2005/8/layout/hList1"/>
    <dgm:cxn modelId="{347DD376-2F8F-4E0E-8043-2C930E1707ED}" srcId="{DE5BEB56-A4F9-4A60-8B96-A82B49C95ACF}" destId="{FF8BD89D-004D-4C65-A8F1-A1C9A2B519D0}" srcOrd="0" destOrd="0" parTransId="{C42FAD61-1407-4C79-8691-75523D6B6B77}" sibTransId="{D91A6D25-6F32-46E7-BA6B-406FD854F42F}"/>
    <dgm:cxn modelId="{27F1F177-B3EE-42C9-B105-ED425A48472C}" srcId="{9E24B190-1E08-49F1-98DB-33518077CBF0}" destId="{A7A426B3-A57B-4122-BF5B-1DBA016900FB}" srcOrd="1" destOrd="0" parTransId="{5279E597-BED1-444C-8C0D-ED31A2051784}" sibTransId="{E204EC84-9E60-45E2-8E38-594E33D38CE3}"/>
    <dgm:cxn modelId="{EE7A2E7E-5C47-4451-BBA9-EAAD520359CE}" type="presOf" srcId="{F0E6D9BD-D5A0-4678-9CE7-08B7F963E360}" destId="{A6C8B00C-A138-418C-880F-20BD333101A1}" srcOrd="0" destOrd="2" presId="urn:microsoft.com/office/officeart/2005/8/layout/hList1"/>
    <dgm:cxn modelId="{1FF72386-97C6-4804-86A0-E7DF9BDB66F8}" type="presOf" srcId="{CA9C283A-10B6-4777-ADA6-7F15C235B8C7}" destId="{4DB9AE7B-489D-4F24-B987-26DA59C16979}" srcOrd="0" destOrd="0" presId="urn:microsoft.com/office/officeart/2005/8/layout/hList1"/>
    <dgm:cxn modelId="{6B2B3F8D-560C-4DEB-9DAA-2D28EE220F8A}" srcId="{BCEAC048-89E0-456D-BEC4-C5D72942ADD8}" destId="{FF8EBD9E-43DC-45CC-B943-51C33C03EE35}" srcOrd="3" destOrd="0" parTransId="{AB49615D-078B-4538-BBD1-842DFBA9F00E}" sibTransId="{2601B70F-4932-4B54-83A4-55DA2BFD721E}"/>
    <dgm:cxn modelId="{26FEADA7-CA7E-464A-8F43-CD632512BA17}" srcId="{BCEAC048-89E0-456D-BEC4-C5D72942ADD8}" destId="{299A38AF-4BCF-40F8-B579-7DD0F69BB056}" srcOrd="1" destOrd="0" parTransId="{F019AFA0-70D9-4371-86F1-EA07B58B2BA8}" sibTransId="{9626E7D3-80B8-4DBD-B2DF-A4D29B5C0FE1}"/>
    <dgm:cxn modelId="{E0EEC6A7-DA6C-4138-91B4-F9647D517E99}" type="presOf" srcId="{6BD48CE0-CA13-42A2-81A3-5BCDA559B2E9}" destId="{C87DBAC9-2291-4FAA-905D-3C22E81CE32E}" srcOrd="0" destOrd="0" presId="urn:microsoft.com/office/officeart/2005/8/layout/hList1"/>
    <dgm:cxn modelId="{7F8C40AB-F6E4-405D-9D6A-5C6A3D4DE4A4}" srcId="{CA9C283A-10B6-4777-ADA6-7F15C235B8C7}" destId="{B36B8591-9784-47C0-BBD3-4725E5BE9275}" srcOrd="1" destOrd="0" parTransId="{8F2269EA-B155-4611-BA31-7E3B74C68F5B}" sibTransId="{6C5741CC-4EC7-4037-8C42-6DAB5D877EBF}"/>
    <dgm:cxn modelId="{945D5DB3-D86A-48AD-8206-9056C36EF282}" srcId="{FF8BD89D-004D-4C65-A8F1-A1C9A2B519D0}" destId="{6BD48CE0-CA13-42A2-81A3-5BCDA559B2E9}" srcOrd="0" destOrd="0" parTransId="{558DE988-6B90-4F20-BC16-C33782D1CCE7}" sibTransId="{0176D81A-4DE9-4480-B3E5-81F5BB8D1A0E}"/>
    <dgm:cxn modelId="{A73821C7-D8E9-400E-A7CC-43D07236E7E3}" srcId="{CA9C283A-10B6-4777-ADA6-7F15C235B8C7}" destId="{76AF8EC6-D37B-440E-AFE8-5EEBFDA4B12B}" srcOrd="0" destOrd="0" parTransId="{B7CBB29F-71DA-4502-BD6C-9FA593340009}" sibTransId="{6F732D8F-A789-428C-A408-00552C0269A0}"/>
    <dgm:cxn modelId="{D60E58DB-EF7E-4C05-8F6E-57081CDCE56E}" type="presOf" srcId="{B36B8591-9784-47C0-BBD3-4725E5BE9275}" destId="{B0323036-6C52-44BC-8ECD-51763DFD2A22}" srcOrd="0" destOrd="1" presId="urn:microsoft.com/office/officeart/2005/8/layout/hList1"/>
    <dgm:cxn modelId="{24DC80E4-52D2-4950-AC4B-94330EE097E6}" type="presOf" srcId="{06375E0C-580A-4895-84B9-8338AFB0FD51}" destId="{B0323036-6C52-44BC-8ECD-51763DFD2A22}" srcOrd="0" destOrd="2" presId="urn:microsoft.com/office/officeart/2005/8/layout/hList1"/>
    <dgm:cxn modelId="{8E9BC9E6-F589-4E73-91C0-FADE5EDE592A}" srcId="{DE5BEB56-A4F9-4A60-8B96-A82B49C95ACF}" destId="{BCEAC048-89E0-456D-BEC4-C5D72942ADD8}" srcOrd="1" destOrd="0" parTransId="{738DD7AA-F5A4-4C06-94B5-4E86A8AE69ED}" sibTransId="{A1B880AE-1529-4997-B1BC-8BDC05EC344E}"/>
    <dgm:cxn modelId="{E0C15CE8-3453-49EC-835D-18B2A1940D2B}" type="presOf" srcId="{299A38AF-4BCF-40F8-B579-7DD0F69BB056}" destId="{A6C8B00C-A138-418C-880F-20BD333101A1}" srcOrd="0" destOrd="1" presId="urn:microsoft.com/office/officeart/2005/8/layout/hList1"/>
    <dgm:cxn modelId="{01A401ED-A97C-4191-9782-4F695C815CBC}" type="presOf" srcId="{B180F672-34C0-4207-AB47-DEEA60EEB22E}" destId="{C87DBAC9-2291-4FAA-905D-3C22E81CE32E}" srcOrd="0" destOrd="1" presId="urn:microsoft.com/office/officeart/2005/8/layout/hList1"/>
    <dgm:cxn modelId="{F3F443F1-6260-400D-A313-F51E876A9F6B}" srcId="{CA9C283A-10B6-4777-ADA6-7F15C235B8C7}" destId="{06375E0C-580A-4895-84B9-8338AFB0FD51}" srcOrd="2" destOrd="0" parTransId="{77B1B29A-B6BE-4A5B-9E8F-64676F10CE40}" sibTransId="{DAA69A8B-FE79-4E59-B7F7-067F2ADB02B5}"/>
    <dgm:cxn modelId="{71A93DFA-AA3F-4A18-9C69-041BEAB77F4D}" srcId="{9E24B190-1E08-49F1-98DB-33518077CBF0}" destId="{3FF69756-A2CF-47DD-874F-C00EA160CC5A}" srcOrd="0" destOrd="0" parTransId="{4B07A39B-AE71-48E0-A7BB-6C8C0642CB41}" sibTransId="{2EFD5A6E-074D-4989-9839-0CB3DC8A7956}"/>
    <dgm:cxn modelId="{379F89FE-32B9-46E4-9DEA-FC66535CE0A2}" type="presOf" srcId="{FF8EBD9E-43DC-45CC-B943-51C33C03EE35}" destId="{A6C8B00C-A138-418C-880F-20BD333101A1}" srcOrd="0" destOrd="3" presId="urn:microsoft.com/office/officeart/2005/8/layout/hList1"/>
    <dgm:cxn modelId="{569BCDDC-37AE-4922-B7C9-B3D5C43AFE8A}" type="presParOf" srcId="{79A26EE2-2438-4F7B-AF38-DAB6A25D063A}" destId="{D8E26213-D029-4D83-9F23-8ED24E21BD96}" srcOrd="0" destOrd="0" presId="urn:microsoft.com/office/officeart/2005/8/layout/hList1"/>
    <dgm:cxn modelId="{430E5986-CDEA-406A-8510-A62D33158543}" type="presParOf" srcId="{D8E26213-D029-4D83-9F23-8ED24E21BD96}" destId="{7559BF76-63B5-445F-8BFB-A94017391464}" srcOrd="0" destOrd="0" presId="urn:microsoft.com/office/officeart/2005/8/layout/hList1"/>
    <dgm:cxn modelId="{2D3718A1-C683-49E6-B3E1-7A7AAD44D6B4}" type="presParOf" srcId="{D8E26213-D029-4D83-9F23-8ED24E21BD96}" destId="{C87DBAC9-2291-4FAA-905D-3C22E81CE32E}" srcOrd="1" destOrd="0" presId="urn:microsoft.com/office/officeart/2005/8/layout/hList1"/>
    <dgm:cxn modelId="{A3B8FF32-ACAC-4510-B281-D4FFF9CC1F8C}" type="presParOf" srcId="{79A26EE2-2438-4F7B-AF38-DAB6A25D063A}" destId="{3A2D0020-7B98-4560-B4DA-6A0516786176}" srcOrd="1" destOrd="0" presId="urn:microsoft.com/office/officeart/2005/8/layout/hList1"/>
    <dgm:cxn modelId="{C3F8696F-BCC6-4BEA-8C3A-672369CF541E}" type="presParOf" srcId="{79A26EE2-2438-4F7B-AF38-DAB6A25D063A}" destId="{D0508F32-2858-4ED3-AED6-DFF6D2284D9D}" srcOrd="2" destOrd="0" presId="urn:microsoft.com/office/officeart/2005/8/layout/hList1"/>
    <dgm:cxn modelId="{19EE9333-40A5-4155-9F88-F45922DC9824}" type="presParOf" srcId="{D0508F32-2858-4ED3-AED6-DFF6D2284D9D}" destId="{8C3B7137-A507-4964-8EAE-A8BDFEF0BAE8}" srcOrd="0" destOrd="0" presId="urn:microsoft.com/office/officeart/2005/8/layout/hList1"/>
    <dgm:cxn modelId="{0296754F-AECD-4DDD-9018-9B22D1CD38F2}" type="presParOf" srcId="{D0508F32-2858-4ED3-AED6-DFF6D2284D9D}" destId="{A6C8B00C-A138-418C-880F-20BD333101A1}" srcOrd="1" destOrd="0" presId="urn:microsoft.com/office/officeart/2005/8/layout/hList1"/>
    <dgm:cxn modelId="{442B25AB-51F4-4770-B3F9-B5AE0DF34F16}" type="presParOf" srcId="{79A26EE2-2438-4F7B-AF38-DAB6A25D063A}" destId="{453A7038-0344-4984-B786-9EE039A7CE38}" srcOrd="3" destOrd="0" presId="urn:microsoft.com/office/officeart/2005/8/layout/hList1"/>
    <dgm:cxn modelId="{89B7772C-5AF6-43EB-8AFE-273CC7A19A00}" type="presParOf" srcId="{79A26EE2-2438-4F7B-AF38-DAB6A25D063A}" destId="{31EA04F8-8DE9-4007-8E73-CC4DA2BBA390}" srcOrd="4" destOrd="0" presId="urn:microsoft.com/office/officeart/2005/8/layout/hList1"/>
    <dgm:cxn modelId="{283B1807-A6BC-4AC4-ADB7-AB0B0C9C075A}" type="presParOf" srcId="{31EA04F8-8DE9-4007-8E73-CC4DA2BBA390}" destId="{4DB9AE7B-489D-4F24-B987-26DA59C16979}" srcOrd="0" destOrd="0" presId="urn:microsoft.com/office/officeart/2005/8/layout/hList1"/>
    <dgm:cxn modelId="{30C66F0E-841E-40C8-99B6-F7363E4E1872}" type="presParOf" srcId="{31EA04F8-8DE9-4007-8E73-CC4DA2BBA390}" destId="{B0323036-6C52-44BC-8ECD-51763DFD2A22}" srcOrd="1" destOrd="0" presId="urn:microsoft.com/office/officeart/2005/8/layout/hList1"/>
    <dgm:cxn modelId="{172CADFA-5131-4168-9C2C-CA0F2C1BDA0E}" type="presParOf" srcId="{79A26EE2-2438-4F7B-AF38-DAB6A25D063A}" destId="{E311D686-4FBB-48EA-B6AE-51193BB87B3D}" srcOrd="5" destOrd="0" presId="urn:microsoft.com/office/officeart/2005/8/layout/hList1"/>
    <dgm:cxn modelId="{C0FA3E2B-AF8A-4EA6-AAFB-63783F66B7FD}" type="presParOf" srcId="{79A26EE2-2438-4F7B-AF38-DAB6A25D063A}" destId="{D5D5E32E-BE6C-4914-828E-323ED9810ECD}" srcOrd="6" destOrd="0" presId="urn:microsoft.com/office/officeart/2005/8/layout/hList1"/>
    <dgm:cxn modelId="{88391FE4-D6D0-463F-8B44-C31DDBE0646D}" type="presParOf" srcId="{D5D5E32E-BE6C-4914-828E-323ED9810ECD}" destId="{96915571-B7BF-4602-B37B-19A29E8A0FF4}" srcOrd="0" destOrd="0" presId="urn:microsoft.com/office/officeart/2005/8/layout/hList1"/>
    <dgm:cxn modelId="{18839841-E8D2-432A-A1D0-871132C1A795}" type="presParOf" srcId="{D5D5E32E-BE6C-4914-828E-323ED9810ECD}" destId="{DE19332E-A8DC-4931-A37C-1F5D486B6D2B}"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E5BEB56-A4F9-4A60-8B96-A82B49C95ACF}" type="doc">
      <dgm:prSet loTypeId="urn:microsoft.com/office/officeart/2005/8/layout/hList1" loCatId="list" qsTypeId="urn:microsoft.com/office/officeart/2005/8/quickstyle/simple5" qsCatId="simple" csTypeId="urn:microsoft.com/office/officeart/2005/8/colors/colorful5" csCatId="colorful" phldr="1"/>
      <dgm:spPr/>
      <dgm:t>
        <a:bodyPr/>
        <a:lstStyle/>
        <a:p>
          <a:endParaRPr lang="en-PH"/>
        </a:p>
      </dgm:t>
    </dgm:pt>
    <dgm:pt modelId="{FF8BD89D-004D-4C65-A8F1-A1C9A2B519D0}">
      <dgm:prSet phldrT="[Text]" custT="1"/>
      <dgm:spPr/>
      <dgm:t>
        <a:bodyPr/>
        <a:lstStyle/>
        <a:p>
          <a:r>
            <a:rPr lang="en-PH" sz="1800" b="1">
              <a:latin typeface="Lato"/>
              <a:ea typeface="Lato"/>
              <a:cs typeface="Lato"/>
            </a:rPr>
            <a:t>Production Loan</a:t>
          </a:r>
        </a:p>
      </dgm:t>
    </dgm:pt>
    <dgm:pt modelId="{C42FAD61-1407-4C79-8691-75523D6B6B77}" type="parTrans" cxnId="{347DD376-2F8F-4E0E-8043-2C930E1707ED}">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D91A6D25-6F32-46E7-BA6B-406FD854F42F}" type="sibTrans" cxnId="{347DD376-2F8F-4E0E-8043-2C930E1707ED}">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BCEAC048-89E0-456D-BEC4-C5D72942ADD8}">
      <dgm:prSet phldrT="[Text]" custT="1"/>
      <dgm:spPr/>
      <dgm:t>
        <a:bodyPr/>
        <a:lstStyle/>
        <a:p>
          <a:r>
            <a:rPr lang="en-PH" sz="1800" b="1">
              <a:latin typeface="Lato"/>
              <a:ea typeface="Lato"/>
              <a:cs typeface="Lato"/>
            </a:rPr>
            <a:t>Supplemental Loan</a:t>
          </a:r>
        </a:p>
      </dgm:t>
    </dgm:pt>
    <dgm:pt modelId="{738DD7AA-F5A4-4C06-94B5-4E86A8AE69ED}" type="parTrans" cxnId="{8E9BC9E6-F589-4E73-91C0-FADE5EDE592A}">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A1B880AE-1529-4997-B1BC-8BDC05EC344E}" type="sibTrans" cxnId="{8E9BC9E6-F589-4E73-91C0-FADE5EDE592A}">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FF8EBD9E-43DC-45CC-B943-51C33C03EE35}">
      <dgm:prSet phldrT="[Text]" custT="1"/>
      <dgm:spPr/>
      <dgm:t>
        <a:bodyPr/>
        <a:lstStyle/>
        <a:p>
          <a:r>
            <a:rPr lang="en-PH" sz="1200">
              <a:latin typeface="Lato"/>
              <a:ea typeface="Lato"/>
              <a:cs typeface="Lato"/>
            </a:rPr>
            <a:t>SAGIP Loan as Disaster Recovery</a:t>
          </a:r>
        </a:p>
      </dgm:t>
    </dgm:pt>
    <dgm:pt modelId="{AB49615D-078B-4538-BBD1-842DFBA9F00E}" type="parTrans" cxnId="{6B2B3F8D-560C-4DEB-9DAA-2D28EE220F8A}">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2601B70F-4932-4B54-83A4-55DA2BFD721E}" type="sibTrans" cxnId="{6B2B3F8D-560C-4DEB-9DAA-2D28EE220F8A}">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CA9C283A-10B6-4777-ADA6-7F15C235B8C7}">
      <dgm:prSet phldrT="[Text]" custT="1"/>
      <dgm:spPr/>
      <dgm:t>
        <a:bodyPr/>
        <a:lstStyle/>
        <a:p>
          <a:r>
            <a:rPr lang="en-PH" sz="1800" b="1">
              <a:latin typeface="Lato"/>
              <a:ea typeface="Lato"/>
              <a:cs typeface="Lato"/>
            </a:rPr>
            <a:t>Microinsurance</a:t>
          </a:r>
        </a:p>
      </dgm:t>
    </dgm:pt>
    <dgm:pt modelId="{5304F7D4-4161-4B11-A555-20CDC86F1FDD}" type="parTrans" cxnId="{F0929E3F-519E-46F0-8422-2AA5E19FD962}">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818AC874-764D-4D6D-89CE-099C6F94422F}" type="sibTrans" cxnId="{F0929E3F-519E-46F0-8422-2AA5E19FD962}">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B180F672-34C0-4207-AB47-DEEA60EEB22E}">
      <dgm:prSet phldrT="[Text]" custT="1"/>
      <dgm:spPr/>
      <dgm:t>
        <a:bodyPr/>
        <a:lstStyle/>
        <a:p>
          <a:r>
            <a:rPr lang="en-PH" sz="1200" err="1">
              <a:latin typeface="Lato"/>
              <a:ea typeface="Lato"/>
              <a:cs typeface="Lato"/>
            </a:rPr>
            <a:t>Kabuhayan</a:t>
          </a:r>
          <a:r>
            <a:rPr lang="en-PH" sz="1200">
              <a:latin typeface="Lato"/>
              <a:ea typeface="Lato"/>
              <a:cs typeface="Lato"/>
            </a:rPr>
            <a:t> Hog</a:t>
          </a:r>
        </a:p>
      </dgm:t>
    </dgm:pt>
    <dgm:pt modelId="{0447C90C-4B98-42D4-BEA7-B56D14238E8B}" type="parTrans" cxnId="{F1A24518-B1FC-4CB5-BB47-82DC7D56B416}">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305D5D07-9BD8-4DB4-8CA9-03038F673AC3}" type="sibTrans" cxnId="{F1A24518-B1FC-4CB5-BB47-82DC7D56B416}">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299A38AF-4BCF-40F8-B579-7DD0F69BB056}">
      <dgm:prSet phldrT="[Text]" custT="1"/>
      <dgm:spPr/>
      <dgm:t>
        <a:bodyPr/>
        <a:lstStyle/>
        <a:p>
          <a:r>
            <a:rPr lang="en-PH" sz="1200">
              <a:latin typeface="Lato"/>
              <a:ea typeface="Lato"/>
              <a:cs typeface="Lato"/>
            </a:rPr>
            <a:t>Education Loan</a:t>
          </a:r>
        </a:p>
      </dgm:t>
    </dgm:pt>
    <dgm:pt modelId="{F019AFA0-70D9-4371-86F1-EA07B58B2BA8}" type="parTrans" cxnId="{26FEADA7-CA7E-464A-8F43-CD632512BA17}">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9626E7D3-80B8-4DBD-B2DF-A4D29B5C0FE1}" type="sibTrans" cxnId="{26FEADA7-CA7E-464A-8F43-CD632512BA17}">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F0E6D9BD-D5A0-4678-9CE7-08B7F963E360}">
      <dgm:prSet phldrT="[Text]" custT="1"/>
      <dgm:spPr/>
      <dgm:t>
        <a:bodyPr/>
        <a:lstStyle/>
        <a:p>
          <a:r>
            <a:rPr lang="en-PH" sz="1200">
              <a:latin typeface="Lato"/>
              <a:ea typeface="Lato"/>
              <a:cs typeface="Lato"/>
            </a:rPr>
            <a:t>SAGIP Loan as Emergency</a:t>
          </a:r>
        </a:p>
      </dgm:t>
    </dgm:pt>
    <dgm:pt modelId="{9EF69EFA-FC4A-4CAA-88CD-316530BBB48A}" type="parTrans" cxnId="{E92CF623-2938-475B-B958-35A3B0BF9F3A}">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7F0D8F41-C747-4003-856F-487B9ED71AFB}" type="sibTrans" cxnId="{E92CF623-2938-475B-B958-35A3B0BF9F3A}">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06375E0C-580A-4895-84B9-8338AFB0FD51}">
      <dgm:prSet phldrT="[Text]" custT="1"/>
      <dgm:spPr/>
      <dgm:t>
        <a:bodyPr/>
        <a:lstStyle/>
        <a:p>
          <a:r>
            <a:rPr lang="en-PH" sz="1200">
              <a:latin typeface="Lato"/>
              <a:ea typeface="Lato"/>
              <a:cs typeface="Lato"/>
            </a:rPr>
            <a:t>Loan Redemption Fund</a:t>
          </a:r>
        </a:p>
      </dgm:t>
    </dgm:pt>
    <dgm:pt modelId="{77B1B29A-B6BE-4A5B-9E8F-64676F10CE40}" type="parTrans" cxnId="{F3F443F1-6260-400D-A313-F51E876A9F6B}">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DAA69A8B-FE79-4E59-B7F7-067F2ADB02B5}" type="sibTrans" cxnId="{F3F443F1-6260-400D-A313-F51E876A9F6B}">
      <dgm:prSet/>
      <dgm:spPr/>
      <dgm:t>
        <a:bodyPr/>
        <a:lstStyle/>
        <a:p>
          <a:endParaRPr lang="en-PH" sz="2000">
            <a:latin typeface="Lato" panose="020F0502020204030203" pitchFamily="34" charset="0"/>
            <a:ea typeface="Lato" panose="020F0502020204030203" pitchFamily="34" charset="0"/>
            <a:cs typeface="Lato" panose="020F0502020204030203" pitchFamily="34" charset="0"/>
          </a:endParaRPr>
        </a:p>
      </dgm:t>
    </dgm:pt>
    <dgm:pt modelId="{9E24B190-1E08-49F1-98DB-33518077CBF0}">
      <dgm:prSet phldrT="[Text]" custT="1"/>
      <dgm:spPr/>
      <dgm:t>
        <a:bodyPr/>
        <a:lstStyle/>
        <a:p>
          <a:r>
            <a:rPr lang="en-US" sz="1800" b="1" err="1">
              <a:latin typeface="Lato" panose="020F0502020204030203" pitchFamily="34" charset="0"/>
              <a:ea typeface="Lato" panose="020F0502020204030203" pitchFamily="34" charset="0"/>
              <a:cs typeface="Lato" panose="020F0502020204030203" pitchFamily="34" charset="0"/>
            </a:rPr>
            <a:t>Microsavings</a:t>
          </a:r>
          <a:endParaRPr lang="en-PH" sz="1800" b="1">
            <a:latin typeface="Lato" panose="020F0502020204030203" pitchFamily="34" charset="0"/>
            <a:ea typeface="Lato" panose="020F0502020204030203" pitchFamily="34" charset="0"/>
            <a:cs typeface="Lato" panose="020F0502020204030203" pitchFamily="34" charset="0"/>
          </a:endParaRPr>
        </a:p>
      </dgm:t>
    </dgm:pt>
    <dgm:pt modelId="{DF524816-1526-42CB-ADF1-C894921C6C91}" type="parTrans" cxnId="{5D3B113F-3A4B-4D6E-A0A0-FBD300AC4250}">
      <dgm:prSet/>
      <dgm:spPr/>
      <dgm:t>
        <a:bodyPr/>
        <a:lstStyle/>
        <a:p>
          <a:endParaRPr lang="en-PH" sz="1600"/>
        </a:p>
      </dgm:t>
    </dgm:pt>
    <dgm:pt modelId="{5400F607-3678-440B-BD5A-39FE3B2BED30}" type="sibTrans" cxnId="{5D3B113F-3A4B-4D6E-A0A0-FBD300AC4250}">
      <dgm:prSet/>
      <dgm:spPr/>
      <dgm:t>
        <a:bodyPr/>
        <a:lstStyle/>
        <a:p>
          <a:endParaRPr lang="en-PH" sz="1600"/>
        </a:p>
      </dgm:t>
    </dgm:pt>
    <dgm:pt modelId="{A7A426B3-A57B-4122-BF5B-1DBA016900FB}">
      <dgm:prSet phldrT="[Text]" custT="1"/>
      <dgm:spPr/>
      <dgm:t>
        <a:bodyPr/>
        <a:lstStyle/>
        <a:p>
          <a:r>
            <a:rPr lang="en-US" sz="1200" err="1">
              <a:latin typeface="Lato" panose="020F0502020204030203" pitchFamily="34" charset="0"/>
              <a:ea typeface="Lato" panose="020F0502020204030203" pitchFamily="34" charset="0"/>
              <a:cs typeface="Lato" panose="020F0502020204030203" pitchFamily="34" charset="0"/>
            </a:rPr>
            <a:t>MyIpon</a:t>
          </a:r>
          <a:endParaRPr lang="en-PH" sz="1200">
            <a:latin typeface="Lato" panose="020F0502020204030203" pitchFamily="34" charset="0"/>
            <a:ea typeface="Lato" panose="020F0502020204030203" pitchFamily="34" charset="0"/>
            <a:cs typeface="Lato" panose="020F0502020204030203" pitchFamily="34" charset="0"/>
          </a:endParaRPr>
        </a:p>
      </dgm:t>
    </dgm:pt>
    <dgm:pt modelId="{5279E597-BED1-444C-8C0D-ED31A2051784}" type="parTrans" cxnId="{27F1F177-B3EE-42C9-B105-ED425A48472C}">
      <dgm:prSet/>
      <dgm:spPr/>
      <dgm:t>
        <a:bodyPr/>
        <a:lstStyle/>
        <a:p>
          <a:endParaRPr lang="en-PH" sz="1600"/>
        </a:p>
      </dgm:t>
    </dgm:pt>
    <dgm:pt modelId="{E204EC84-9E60-45E2-8E38-594E33D38CE3}" type="sibTrans" cxnId="{27F1F177-B3EE-42C9-B105-ED425A48472C}">
      <dgm:prSet/>
      <dgm:spPr/>
      <dgm:t>
        <a:bodyPr/>
        <a:lstStyle/>
        <a:p>
          <a:endParaRPr lang="en-PH" sz="1600"/>
        </a:p>
      </dgm:t>
    </dgm:pt>
    <dgm:pt modelId="{6BD48CE0-CA13-42A2-81A3-5BCDA559B2E9}">
      <dgm:prSet phldrT="[Text]" custT="1"/>
      <dgm:spPr/>
      <dgm:t>
        <a:bodyPr/>
        <a:lstStyle/>
        <a:p>
          <a:r>
            <a:rPr lang="en-PH" sz="1200" err="1">
              <a:latin typeface="Lato"/>
              <a:ea typeface="Lato"/>
              <a:cs typeface="Lato"/>
            </a:rPr>
            <a:t>Mauswagon</a:t>
          </a:r>
          <a:r>
            <a:rPr lang="en-PH" sz="1200">
              <a:latin typeface="Lato"/>
              <a:ea typeface="Lato"/>
              <a:cs typeface="Lato"/>
            </a:rPr>
            <a:t> Loan</a:t>
          </a:r>
          <a:endParaRPr lang="en-PH" sz="1600">
            <a:latin typeface="Lato"/>
            <a:ea typeface="Lato"/>
            <a:cs typeface="Lato"/>
          </a:endParaRPr>
        </a:p>
      </dgm:t>
    </dgm:pt>
    <dgm:pt modelId="{558DE988-6B90-4F20-BC16-C33782D1CCE7}" type="parTrans" cxnId="{945D5DB3-D86A-48AD-8206-9056C36EF282}">
      <dgm:prSet/>
      <dgm:spPr/>
      <dgm:t>
        <a:bodyPr/>
        <a:lstStyle/>
        <a:p>
          <a:endParaRPr lang="en-PH"/>
        </a:p>
      </dgm:t>
    </dgm:pt>
    <dgm:pt modelId="{0176D81A-4DE9-4480-B3E5-81F5BB8D1A0E}" type="sibTrans" cxnId="{945D5DB3-D86A-48AD-8206-9056C36EF282}">
      <dgm:prSet/>
      <dgm:spPr/>
      <dgm:t>
        <a:bodyPr/>
        <a:lstStyle/>
        <a:p>
          <a:endParaRPr lang="en-PH"/>
        </a:p>
      </dgm:t>
    </dgm:pt>
    <dgm:pt modelId="{10883F33-F6CB-4432-B1AA-2727492E24C0}">
      <dgm:prSet phldrT="[Text]" custT="1"/>
      <dgm:spPr/>
      <dgm:t>
        <a:bodyPr/>
        <a:lstStyle/>
        <a:p>
          <a:r>
            <a:rPr lang="en-PH" sz="1200">
              <a:latin typeface="Lato" panose="020F0502020204030203" pitchFamily="34" charset="0"/>
              <a:ea typeface="Lato" panose="020F0502020204030203" pitchFamily="34" charset="0"/>
              <a:cs typeface="Lato" panose="020F0502020204030203" pitchFamily="34" charset="0"/>
            </a:rPr>
            <a:t>Housing Improvement Loan</a:t>
          </a:r>
          <a:endParaRPr lang="en-PH" sz="1600">
            <a:latin typeface="Lato" panose="020F0502020204030203" pitchFamily="34" charset="0"/>
            <a:ea typeface="Lato" panose="020F0502020204030203" pitchFamily="34" charset="0"/>
            <a:cs typeface="Lato" panose="020F0502020204030203" pitchFamily="34" charset="0"/>
          </a:endParaRPr>
        </a:p>
      </dgm:t>
    </dgm:pt>
    <dgm:pt modelId="{31E74D7C-C551-47C1-946D-1B2FBCCEA63D}" type="parTrans" cxnId="{978DB50F-6FAD-4503-9983-250E0DFC89F9}">
      <dgm:prSet/>
      <dgm:spPr/>
      <dgm:t>
        <a:bodyPr/>
        <a:lstStyle/>
        <a:p>
          <a:endParaRPr lang="en-PH"/>
        </a:p>
      </dgm:t>
    </dgm:pt>
    <dgm:pt modelId="{D9F9BB48-268A-4CB8-92B4-A0A241259416}" type="sibTrans" cxnId="{978DB50F-6FAD-4503-9983-250E0DFC89F9}">
      <dgm:prSet/>
      <dgm:spPr/>
      <dgm:t>
        <a:bodyPr/>
        <a:lstStyle/>
        <a:p>
          <a:endParaRPr lang="en-PH"/>
        </a:p>
      </dgm:t>
    </dgm:pt>
    <dgm:pt modelId="{3FF69756-A2CF-47DD-874F-C00EA160CC5A}">
      <dgm:prSet phldrT="[Text]" custT="1"/>
      <dgm:spPr/>
      <dgm:t>
        <a:bodyPr/>
        <a:lstStyle/>
        <a:p>
          <a:r>
            <a:rPr lang="en-US" sz="1200">
              <a:latin typeface="Lato" panose="020F0502020204030203" pitchFamily="34" charset="0"/>
              <a:ea typeface="Lato" panose="020F0502020204030203" pitchFamily="34" charset="0"/>
              <a:cs typeface="Lato" panose="020F0502020204030203" pitchFamily="34" charset="0"/>
            </a:rPr>
            <a:t>CBU</a:t>
          </a:r>
          <a:endParaRPr lang="en-PH" sz="1600">
            <a:latin typeface="Lato" panose="020F0502020204030203" pitchFamily="34" charset="0"/>
            <a:ea typeface="Lato" panose="020F0502020204030203" pitchFamily="34" charset="0"/>
            <a:cs typeface="Lato" panose="020F0502020204030203" pitchFamily="34" charset="0"/>
          </a:endParaRPr>
        </a:p>
      </dgm:t>
    </dgm:pt>
    <dgm:pt modelId="{4B07A39B-AE71-48E0-A7BB-6C8C0642CB41}" type="parTrans" cxnId="{71A93DFA-AA3F-4A18-9C69-041BEAB77F4D}">
      <dgm:prSet/>
      <dgm:spPr/>
      <dgm:t>
        <a:bodyPr/>
        <a:lstStyle/>
        <a:p>
          <a:endParaRPr lang="en-PH"/>
        </a:p>
      </dgm:t>
    </dgm:pt>
    <dgm:pt modelId="{2EFD5A6E-074D-4989-9839-0CB3DC8A7956}" type="sibTrans" cxnId="{71A93DFA-AA3F-4A18-9C69-041BEAB77F4D}">
      <dgm:prSet/>
      <dgm:spPr/>
      <dgm:t>
        <a:bodyPr/>
        <a:lstStyle/>
        <a:p>
          <a:endParaRPr lang="en-PH"/>
        </a:p>
      </dgm:t>
    </dgm:pt>
    <dgm:pt modelId="{B36B8591-9784-47C0-BBD3-4725E5BE9275}">
      <dgm:prSet phldrT="[Text]" custT="1"/>
      <dgm:spPr/>
      <dgm:t>
        <a:bodyPr/>
        <a:lstStyle/>
        <a:p>
          <a:r>
            <a:rPr lang="en-PH" sz="1200">
              <a:latin typeface="Lato"/>
              <a:ea typeface="Lato"/>
              <a:cs typeface="Lato"/>
            </a:rPr>
            <a:t>Family Relief Plan</a:t>
          </a:r>
        </a:p>
      </dgm:t>
    </dgm:pt>
    <dgm:pt modelId="{8F2269EA-B155-4611-BA31-7E3B74C68F5B}" type="parTrans" cxnId="{7F8C40AB-F6E4-405D-9D6A-5C6A3D4DE4A4}">
      <dgm:prSet/>
      <dgm:spPr/>
      <dgm:t>
        <a:bodyPr/>
        <a:lstStyle/>
        <a:p>
          <a:endParaRPr lang="en-PH"/>
        </a:p>
      </dgm:t>
    </dgm:pt>
    <dgm:pt modelId="{6C5741CC-4EC7-4037-8C42-6DAB5D877EBF}" type="sibTrans" cxnId="{7F8C40AB-F6E4-405D-9D6A-5C6A3D4DE4A4}">
      <dgm:prSet/>
      <dgm:spPr/>
      <dgm:t>
        <a:bodyPr/>
        <a:lstStyle/>
        <a:p>
          <a:endParaRPr lang="en-PH"/>
        </a:p>
      </dgm:t>
    </dgm:pt>
    <dgm:pt modelId="{76AF8EC6-D37B-440E-AFE8-5EEBFDA4B12B}">
      <dgm:prSet phldrT="[Text]" custT="1"/>
      <dgm:spPr/>
      <dgm:t>
        <a:bodyPr/>
        <a:lstStyle/>
        <a:p>
          <a:r>
            <a:rPr lang="en-PH" sz="1200" err="1">
              <a:latin typeface="Lato" panose="020F0502020204030203" pitchFamily="34" charset="0"/>
              <a:ea typeface="Lato" panose="020F0502020204030203" pitchFamily="34" charset="0"/>
              <a:cs typeface="Lato" panose="020F0502020204030203" pitchFamily="34" charset="0"/>
            </a:rPr>
            <a:t>Kaagabay</a:t>
          </a:r>
          <a:r>
            <a:rPr lang="en-PH" sz="1200">
              <a:latin typeface="Lato" panose="020F0502020204030203" pitchFamily="34" charset="0"/>
              <a:ea typeface="Lato" panose="020F0502020204030203" pitchFamily="34" charset="0"/>
              <a:cs typeface="Lato" panose="020F0502020204030203" pitchFamily="34" charset="0"/>
            </a:rPr>
            <a:t> (GPA)</a:t>
          </a:r>
        </a:p>
      </dgm:t>
    </dgm:pt>
    <dgm:pt modelId="{B7CBB29F-71DA-4502-BD6C-9FA593340009}" type="parTrans" cxnId="{A73821C7-D8E9-400E-A7CC-43D07236E7E3}">
      <dgm:prSet/>
      <dgm:spPr/>
      <dgm:t>
        <a:bodyPr/>
        <a:lstStyle/>
        <a:p>
          <a:endParaRPr lang="en-PH"/>
        </a:p>
      </dgm:t>
    </dgm:pt>
    <dgm:pt modelId="{6F732D8F-A789-428C-A408-00552C0269A0}" type="sibTrans" cxnId="{A73821C7-D8E9-400E-A7CC-43D07236E7E3}">
      <dgm:prSet/>
      <dgm:spPr/>
      <dgm:t>
        <a:bodyPr/>
        <a:lstStyle/>
        <a:p>
          <a:endParaRPr lang="en-PH"/>
        </a:p>
      </dgm:t>
    </dgm:pt>
    <dgm:pt modelId="{79A26EE2-2438-4F7B-AF38-DAB6A25D063A}" type="pres">
      <dgm:prSet presAssocID="{DE5BEB56-A4F9-4A60-8B96-A82B49C95ACF}" presName="Name0" presStyleCnt="0">
        <dgm:presLayoutVars>
          <dgm:dir/>
          <dgm:animLvl val="lvl"/>
          <dgm:resizeHandles val="exact"/>
        </dgm:presLayoutVars>
      </dgm:prSet>
      <dgm:spPr/>
    </dgm:pt>
    <dgm:pt modelId="{D8E26213-D029-4D83-9F23-8ED24E21BD96}" type="pres">
      <dgm:prSet presAssocID="{FF8BD89D-004D-4C65-A8F1-A1C9A2B519D0}" presName="composite" presStyleCnt="0"/>
      <dgm:spPr/>
    </dgm:pt>
    <dgm:pt modelId="{7559BF76-63B5-445F-8BFB-A94017391464}" type="pres">
      <dgm:prSet presAssocID="{FF8BD89D-004D-4C65-A8F1-A1C9A2B519D0}" presName="parTx" presStyleLbl="alignNode1" presStyleIdx="0" presStyleCnt="4" custScaleY="96129">
        <dgm:presLayoutVars>
          <dgm:chMax val="0"/>
          <dgm:chPref val="0"/>
          <dgm:bulletEnabled val="1"/>
        </dgm:presLayoutVars>
      </dgm:prSet>
      <dgm:spPr/>
    </dgm:pt>
    <dgm:pt modelId="{C87DBAC9-2291-4FAA-905D-3C22E81CE32E}" type="pres">
      <dgm:prSet presAssocID="{FF8BD89D-004D-4C65-A8F1-A1C9A2B519D0}" presName="desTx" presStyleLbl="alignAccFollowNode1" presStyleIdx="0" presStyleCnt="4">
        <dgm:presLayoutVars>
          <dgm:bulletEnabled val="1"/>
        </dgm:presLayoutVars>
      </dgm:prSet>
      <dgm:spPr/>
    </dgm:pt>
    <dgm:pt modelId="{3A2D0020-7B98-4560-B4DA-6A0516786176}" type="pres">
      <dgm:prSet presAssocID="{D91A6D25-6F32-46E7-BA6B-406FD854F42F}" presName="space" presStyleCnt="0"/>
      <dgm:spPr/>
    </dgm:pt>
    <dgm:pt modelId="{D0508F32-2858-4ED3-AED6-DFF6D2284D9D}" type="pres">
      <dgm:prSet presAssocID="{BCEAC048-89E0-456D-BEC4-C5D72942ADD8}" presName="composite" presStyleCnt="0"/>
      <dgm:spPr/>
    </dgm:pt>
    <dgm:pt modelId="{8C3B7137-A507-4964-8EAE-A8BDFEF0BAE8}" type="pres">
      <dgm:prSet presAssocID="{BCEAC048-89E0-456D-BEC4-C5D72942ADD8}" presName="parTx" presStyleLbl="alignNode1" presStyleIdx="1" presStyleCnt="4" custScaleY="96129">
        <dgm:presLayoutVars>
          <dgm:chMax val="0"/>
          <dgm:chPref val="0"/>
          <dgm:bulletEnabled val="1"/>
        </dgm:presLayoutVars>
      </dgm:prSet>
      <dgm:spPr/>
    </dgm:pt>
    <dgm:pt modelId="{A6C8B00C-A138-418C-880F-20BD333101A1}" type="pres">
      <dgm:prSet presAssocID="{BCEAC048-89E0-456D-BEC4-C5D72942ADD8}" presName="desTx" presStyleLbl="alignAccFollowNode1" presStyleIdx="1" presStyleCnt="4">
        <dgm:presLayoutVars>
          <dgm:bulletEnabled val="1"/>
        </dgm:presLayoutVars>
      </dgm:prSet>
      <dgm:spPr/>
    </dgm:pt>
    <dgm:pt modelId="{453A7038-0344-4984-B786-9EE039A7CE38}" type="pres">
      <dgm:prSet presAssocID="{A1B880AE-1529-4997-B1BC-8BDC05EC344E}" presName="space" presStyleCnt="0"/>
      <dgm:spPr/>
    </dgm:pt>
    <dgm:pt modelId="{31EA04F8-8DE9-4007-8E73-CC4DA2BBA390}" type="pres">
      <dgm:prSet presAssocID="{CA9C283A-10B6-4777-ADA6-7F15C235B8C7}" presName="composite" presStyleCnt="0"/>
      <dgm:spPr/>
    </dgm:pt>
    <dgm:pt modelId="{4DB9AE7B-489D-4F24-B987-26DA59C16979}" type="pres">
      <dgm:prSet presAssocID="{CA9C283A-10B6-4777-ADA6-7F15C235B8C7}" presName="parTx" presStyleLbl="alignNode1" presStyleIdx="2" presStyleCnt="4" custScaleY="96129">
        <dgm:presLayoutVars>
          <dgm:chMax val="0"/>
          <dgm:chPref val="0"/>
          <dgm:bulletEnabled val="1"/>
        </dgm:presLayoutVars>
      </dgm:prSet>
      <dgm:spPr/>
    </dgm:pt>
    <dgm:pt modelId="{B0323036-6C52-44BC-8ECD-51763DFD2A22}" type="pres">
      <dgm:prSet presAssocID="{CA9C283A-10B6-4777-ADA6-7F15C235B8C7}" presName="desTx" presStyleLbl="alignAccFollowNode1" presStyleIdx="2" presStyleCnt="4">
        <dgm:presLayoutVars>
          <dgm:bulletEnabled val="1"/>
        </dgm:presLayoutVars>
      </dgm:prSet>
      <dgm:spPr/>
    </dgm:pt>
    <dgm:pt modelId="{E311D686-4FBB-48EA-B6AE-51193BB87B3D}" type="pres">
      <dgm:prSet presAssocID="{818AC874-764D-4D6D-89CE-099C6F94422F}" presName="space" presStyleCnt="0"/>
      <dgm:spPr/>
    </dgm:pt>
    <dgm:pt modelId="{D5D5E32E-BE6C-4914-828E-323ED9810ECD}" type="pres">
      <dgm:prSet presAssocID="{9E24B190-1E08-49F1-98DB-33518077CBF0}" presName="composite" presStyleCnt="0"/>
      <dgm:spPr/>
    </dgm:pt>
    <dgm:pt modelId="{96915571-B7BF-4602-B37B-19A29E8A0FF4}" type="pres">
      <dgm:prSet presAssocID="{9E24B190-1E08-49F1-98DB-33518077CBF0}" presName="parTx" presStyleLbl="alignNode1" presStyleIdx="3" presStyleCnt="4">
        <dgm:presLayoutVars>
          <dgm:chMax val="0"/>
          <dgm:chPref val="0"/>
          <dgm:bulletEnabled val="1"/>
        </dgm:presLayoutVars>
      </dgm:prSet>
      <dgm:spPr/>
    </dgm:pt>
    <dgm:pt modelId="{DE19332E-A8DC-4931-A37C-1F5D486B6D2B}" type="pres">
      <dgm:prSet presAssocID="{9E24B190-1E08-49F1-98DB-33518077CBF0}" presName="desTx" presStyleLbl="alignAccFollowNode1" presStyleIdx="3" presStyleCnt="4">
        <dgm:presLayoutVars>
          <dgm:bulletEnabled val="1"/>
        </dgm:presLayoutVars>
      </dgm:prSet>
      <dgm:spPr/>
    </dgm:pt>
  </dgm:ptLst>
  <dgm:cxnLst>
    <dgm:cxn modelId="{FF458302-6695-410C-883D-99B86D808C29}" type="presOf" srcId="{6BD48CE0-CA13-42A2-81A3-5BCDA559B2E9}" destId="{C87DBAC9-2291-4FAA-905D-3C22E81CE32E}" srcOrd="0" destOrd="0" presId="urn:microsoft.com/office/officeart/2005/8/layout/hList1"/>
    <dgm:cxn modelId="{978DB50F-6FAD-4503-9983-250E0DFC89F9}" srcId="{BCEAC048-89E0-456D-BEC4-C5D72942ADD8}" destId="{10883F33-F6CB-4432-B1AA-2727492E24C0}" srcOrd="0" destOrd="0" parTransId="{31E74D7C-C551-47C1-946D-1B2FBCCEA63D}" sibTransId="{D9F9BB48-268A-4CB8-92B4-A0A241259416}"/>
    <dgm:cxn modelId="{F1A24518-B1FC-4CB5-BB47-82DC7D56B416}" srcId="{FF8BD89D-004D-4C65-A8F1-A1C9A2B519D0}" destId="{B180F672-34C0-4207-AB47-DEEA60EEB22E}" srcOrd="1" destOrd="0" parTransId="{0447C90C-4B98-42D4-BEA7-B56D14238E8B}" sibTransId="{305D5D07-9BD8-4DB4-8CA9-03038F673AC3}"/>
    <dgm:cxn modelId="{2EB5E91D-ABAF-4393-8824-05CF0D46EFEE}" type="presOf" srcId="{DE5BEB56-A4F9-4A60-8B96-A82B49C95ACF}" destId="{79A26EE2-2438-4F7B-AF38-DAB6A25D063A}" srcOrd="0" destOrd="0" presId="urn:microsoft.com/office/officeart/2005/8/layout/hList1"/>
    <dgm:cxn modelId="{E92CF623-2938-475B-B958-35A3B0BF9F3A}" srcId="{BCEAC048-89E0-456D-BEC4-C5D72942ADD8}" destId="{F0E6D9BD-D5A0-4678-9CE7-08B7F963E360}" srcOrd="2" destOrd="0" parTransId="{9EF69EFA-FC4A-4CAA-88CD-316530BBB48A}" sibTransId="{7F0D8F41-C747-4003-856F-487B9ED71AFB}"/>
    <dgm:cxn modelId="{D3C73B38-5C5B-4FE3-B4F4-4706E48F168D}" type="presOf" srcId="{B36B8591-9784-47C0-BBD3-4725E5BE9275}" destId="{B0323036-6C52-44BC-8ECD-51763DFD2A22}" srcOrd="0" destOrd="1" presId="urn:microsoft.com/office/officeart/2005/8/layout/hList1"/>
    <dgm:cxn modelId="{08C91E39-6C07-4D29-9079-01DA90A5873A}" type="presOf" srcId="{FF8EBD9E-43DC-45CC-B943-51C33C03EE35}" destId="{A6C8B00C-A138-418C-880F-20BD333101A1}" srcOrd="0" destOrd="3" presId="urn:microsoft.com/office/officeart/2005/8/layout/hList1"/>
    <dgm:cxn modelId="{5D3B113F-3A4B-4D6E-A0A0-FBD300AC4250}" srcId="{DE5BEB56-A4F9-4A60-8B96-A82B49C95ACF}" destId="{9E24B190-1E08-49F1-98DB-33518077CBF0}" srcOrd="3" destOrd="0" parTransId="{DF524816-1526-42CB-ADF1-C894921C6C91}" sibTransId="{5400F607-3678-440B-BD5A-39FE3B2BED30}"/>
    <dgm:cxn modelId="{F0929E3F-519E-46F0-8422-2AA5E19FD962}" srcId="{DE5BEB56-A4F9-4A60-8B96-A82B49C95ACF}" destId="{CA9C283A-10B6-4777-ADA6-7F15C235B8C7}" srcOrd="2" destOrd="0" parTransId="{5304F7D4-4161-4B11-A555-20CDC86F1FDD}" sibTransId="{818AC874-764D-4D6D-89CE-099C6F94422F}"/>
    <dgm:cxn modelId="{0A69985F-DC98-48F2-9F5D-C2792F6BCC73}" type="presOf" srcId="{CA9C283A-10B6-4777-ADA6-7F15C235B8C7}" destId="{4DB9AE7B-489D-4F24-B987-26DA59C16979}" srcOrd="0" destOrd="0" presId="urn:microsoft.com/office/officeart/2005/8/layout/hList1"/>
    <dgm:cxn modelId="{2D461A70-F57B-4E99-9DF4-DCF08C8404BC}" type="presOf" srcId="{10883F33-F6CB-4432-B1AA-2727492E24C0}" destId="{A6C8B00C-A138-418C-880F-20BD333101A1}" srcOrd="0" destOrd="0" presId="urn:microsoft.com/office/officeart/2005/8/layout/hList1"/>
    <dgm:cxn modelId="{347DD376-2F8F-4E0E-8043-2C930E1707ED}" srcId="{DE5BEB56-A4F9-4A60-8B96-A82B49C95ACF}" destId="{FF8BD89D-004D-4C65-A8F1-A1C9A2B519D0}" srcOrd="0" destOrd="0" parTransId="{C42FAD61-1407-4C79-8691-75523D6B6B77}" sibTransId="{D91A6D25-6F32-46E7-BA6B-406FD854F42F}"/>
    <dgm:cxn modelId="{27F1F177-B3EE-42C9-B105-ED425A48472C}" srcId="{9E24B190-1E08-49F1-98DB-33518077CBF0}" destId="{A7A426B3-A57B-4122-BF5B-1DBA016900FB}" srcOrd="1" destOrd="0" parTransId="{5279E597-BED1-444C-8C0D-ED31A2051784}" sibTransId="{E204EC84-9E60-45E2-8E38-594E33D38CE3}"/>
    <dgm:cxn modelId="{ECE16689-1639-4F5F-9235-3E80A279BB5C}" type="presOf" srcId="{76AF8EC6-D37B-440E-AFE8-5EEBFDA4B12B}" destId="{B0323036-6C52-44BC-8ECD-51763DFD2A22}" srcOrd="0" destOrd="0" presId="urn:microsoft.com/office/officeart/2005/8/layout/hList1"/>
    <dgm:cxn modelId="{6B2B3F8D-560C-4DEB-9DAA-2D28EE220F8A}" srcId="{BCEAC048-89E0-456D-BEC4-C5D72942ADD8}" destId="{FF8EBD9E-43DC-45CC-B943-51C33C03EE35}" srcOrd="3" destOrd="0" parTransId="{AB49615D-078B-4538-BBD1-842DFBA9F00E}" sibTransId="{2601B70F-4932-4B54-83A4-55DA2BFD721E}"/>
    <dgm:cxn modelId="{4FD8099D-33B0-4B64-AFBB-22EF6655D2E3}" type="presOf" srcId="{A7A426B3-A57B-4122-BF5B-1DBA016900FB}" destId="{DE19332E-A8DC-4931-A37C-1F5D486B6D2B}" srcOrd="0" destOrd="1" presId="urn:microsoft.com/office/officeart/2005/8/layout/hList1"/>
    <dgm:cxn modelId="{26FEADA7-CA7E-464A-8F43-CD632512BA17}" srcId="{BCEAC048-89E0-456D-BEC4-C5D72942ADD8}" destId="{299A38AF-4BCF-40F8-B579-7DD0F69BB056}" srcOrd="1" destOrd="0" parTransId="{F019AFA0-70D9-4371-86F1-EA07B58B2BA8}" sibTransId="{9626E7D3-80B8-4DBD-B2DF-A4D29B5C0FE1}"/>
    <dgm:cxn modelId="{7F8C40AB-F6E4-405D-9D6A-5C6A3D4DE4A4}" srcId="{CA9C283A-10B6-4777-ADA6-7F15C235B8C7}" destId="{B36B8591-9784-47C0-BBD3-4725E5BE9275}" srcOrd="1" destOrd="0" parTransId="{8F2269EA-B155-4611-BA31-7E3B74C68F5B}" sibTransId="{6C5741CC-4EC7-4037-8C42-6DAB5D877EBF}"/>
    <dgm:cxn modelId="{851887AB-C554-4968-A7AB-2D61B8C703EA}" type="presOf" srcId="{F0E6D9BD-D5A0-4678-9CE7-08B7F963E360}" destId="{A6C8B00C-A138-418C-880F-20BD333101A1}" srcOrd="0" destOrd="2" presId="urn:microsoft.com/office/officeart/2005/8/layout/hList1"/>
    <dgm:cxn modelId="{945D5DB3-D86A-48AD-8206-9056C36EF282}" srcId="{FF8BD89D-004D-4C65-A8F1-A1C9A2B519D0}" destId="{6BD48CE0-CA13-42A2-81A3-5BCDA559B2E9}" srcOrd="0" destOrd="0" parTransId="{558DE988-6B90-4F20-BC16-C33782D1CCE7}" sibTransId="{0176D81A-4DE9-4480-B3E5-81F5BB8D1A0E}"/>
    <dgm:cxn modelId="{DF970BB7-F52D-4C15-82B0-209CDF084DFD}" type="presOf" srcId="{06375E0C-580A-4895-84B9-8338AFB0FD51}" destId="{B0323036-6C52-44BC-8ECD-51763DFD2A22}" srcOrd="0" destOrd="2" presId="urn:microsoft.com/office/officeart/2005/8/layout/hList1"/>
    <dgm:cxn modelId="{CD1A94C6-13AD-4CFF-80E1-A2FE4BB1BDB9}" type="presOf" srcId="{BCEAC048-89E0-456D-BEC4-C5D72942ADD8}" destId="{8C3B7137-A507-4964-8EAE-A8BDFEF0BAE8}" srcOrd="0" destOrd="0" presId="urn:microsoft.com/office/officeart/2005/8/layout/hList1"/>
    <dgm:cxn modelId="{A73821C7-D8E9-400E-A7CC-43D07236E7E3}" srcId="{CA9C283A-10B6-4777-ADA6-7F15C235B8C7}" destId="{76AF8EC6-D37B-440E-AFE8-5EEBFDA4B12B}" srcOrd="0" destOrd="0" parTransId="{B7CBB29F-71DA-4502-BD6C-9FA593340009}" sibTransId="{6F732D8F-A789-428C-A408-00552C0269A0}"/>
    <dgm:cxn modelId="{5D8926D2-6041-4721-95CD-637EAD68F450}" type="presOf" srcId="{B180F672-34C0-4207-AB47-DEEA60EEB22E}" destId="{C87DBAC9-2291-4FAA-905D-3C22E81CE32E}" srcOrd="0" destOrd="1" presId="urn:microsoft.com/office/officeart/2005/8/layout/hList1"/>
    <dgm:cxn modelId="{0FCAF3D2-7BC5-4EDA-BCC0-59D0212A0499}" type="presOf" srcId="{FF8BD89D-004D-4C65-A8F1-A1C9A2B519D0}" destId="{7559BF76-63B5-445F-8BFB-A94017391464}" srcOrd="0" destOrd="0" presId="urn:microsoft.com/office/officeart/2005/8/layout/hList1"/>
    <dgm:cxn modelId="{8E9BC9E6-F589-4E73-91C0-FADE5EDE592A}" srcId="{DE5BEB56-A4F9-4A60-8B96-A82B49C95ACF}" destId="{BCEAC048-89E0-456D-BEC4-C5D72942ADD8}" srcOrd="1" destOrd="0" parTransId="{738DD7AA-F5A4-4C06-94B5-4E86A8AE69ED}" sibTransId="{A1B880AE-1529-4997-B1BC-8BDC05EC344E}"/>
    <dgm:cxn modelId="{F3F443F1-6260-400D-A313-F51E876A9F6B}" srcId="{CA9C283A-10B6-4777-ADA6-7F15C235B8C7}" destId="{06375E0C-580A-4895-84B9-8338AFB0FD51}" srcOrd="2" destOrd="0" parTransId="{77B1B29A-B6BE-4A5B-9E8F-64676F10CE40}" sibTransId="{DAA69A8B-FE79-4E59-B7F7-067F2ADB02B5}"/>
    <dgm:cxn modelId="{0571BDF6-0768-48EC-9F0E-3CCEE2EB4398}" type="presOf" srcId="{3FF69756-A2CF-47DD-874F-C00EA160CC5A}" destId="{DE19332E-A8DC-4931-A37C-1F5D486B6D2B}" srcOrd="0" destOrd="0" presId="urn:microsoft.com/office/officeart/2005/8/layout/hList1"/>
    <dgm:cxn modelId="{ED0461F8-FC5F-41E4-B68F-EBAE7851B1E9}" type="presOf" srcId="{299A38AF-4BCF-40F8-B579-7DD0F69BB056}" destId="{A6C8B00C-A138-418C-880F-20BD333101A1}" srcOrd="0" destOrd="1" presId="urn:microsoft.com/office/officeart/2005/8/layout/hList1"/>
    <dgm:cxn modelId="{6A0CAAF9-3670-4F2D-9F52-D4B55899A738}" type="presOf" srcId="{9E24B190-1E08-49F1-98DB-33518077CBF0}" destId="{96915571-B7BF-4602-B37B-19A29E8A0FF4}" srcOrd="0" destOrd="0" presId="urn:microsoft.com/office/officeart/2005/8/layout/hList1"/>
    <dgm:cxn modelId="{71A93DFA-AA3F-4A18-9C69-041BEAB77F4D}" srcId="{9E24B190-1E08-49F1-98DB-33518077CBF0}" destId="{3FF69756-A2CF-47DD-874F-C00EA160CC5A}" srcOrd="0" destOrd="0" parTransId="{4B07A39B-AE71-48E0-A7BB-6C8C0642CB41}" sibTransId="{2EFD5A6E-074D-4989-9839-0CB3DC8A7956}"/>
    <dgm:cxn modelId="{193EC65A-1DA7-4311-8A1D-848BB63CBF44}" type="presParOf" srcId="{79A26EE2-2438-4F7B-AF38-DAB6A25D063A}" destId="{D8E26213-D029-4D83-9F23-8ED24E21BD96}" srcOrd="0" destOrd="0" presId="urn:microsoft.com/office/officeart/2005/8/layout/hList1"/>
    <dgm:cxn modelId="{F9592368-933B-49AF-8478-08E22D0AC091}" type="presParOf" srcId="{D8E26213-D029-4D83-9F23-8ED24E21BD96}" destId="{7559BF76-63B5-445F-8BFB-A94017391464}" srcOrd="0" destOrd="0" presId="urn:microsoft.com/office/officeart/2005/8/layout/hList1"/>
    <dgm:cxn modelId="{E85F8589-79FB-4EF0-9D2E-95BAF923BBA9}" type="presParOf" srcId="{D8E26213-D029-4D83-9F23-8ED24E21BD96}" destId="{C87DBAC9-2291-4FAA-905D-3C22E81CE32E}" srcOrd="1" destOrd="0" presId="urn:microsoft.com/office/officeart/2005/8/layout/hList1"/>
    <dgm:cxn modelId="{9941D1CB-8BFD-434B-B8EC-C8934A4140FC}" type="presParOf" srcId="{79A26EE2-2438-4F7B-AF38-DAB6A25D063A}" destId="{3A2D0020-7B98-4560-B4DA-6A0516786176}" srcOrd="1" destOrd="0" presId="urn:microsoft.com/office/officeart/2005/8/layout/hList1"/>
    <dgm:cxn modelId="{07DD8E59-1366-4B75-B188-6EC3739A27E9}" type="presParOf" srcId="{79A26EE2-2438-4F7B-AF38-DAB6A25D063A}" destId="{D0508F32-2858-4ED3-AED6-DFF6D2284D9D}" srcOrd="2" destOrd="0" presId="urn:microsoft.com/office/officeart/2005/8/layout/hList1"/>
    <dgm:cxn modelId="{132B2AE2-DBC4-4C71-94D1-B73C63A234BF}" type="presParOf" srcId="{D0508F32-2858-4ED3-AED6-DFF6D2284D9D}" destId="{8C3B7137-A507-4964-8EAE-A8BDFEF0BAE8}" srcOrd="0" destOrd="0" presId="urn:microsoft.com/office/officeart/2005/8/layout/hList1"/>
    <dgm:cxn modelId="{9358EA5A-DD71-4935-B8E0-72FA98FC08EE}" type="presParOf" srcId="{D0508F32-2858-4ED3-AED6-DFF6D2284D9D}" destId="{A6C8B00C-A138-418C-880F-20BD333101A1}" srcOrd="1" destOrd="0" presId="urn:microsoft.com/office/officeart/2005/8/layout/hList1"/>
    <dgm:cxn modelId="{78A675BA-A4A2-404D-B6D6-E4FE1A071D17}" type="presParOf" srcId="{79A26EE2-2438-4F7B-AF38-DAB6A25D063A}" destId="{453A7038-0344-4984-B786-9EE039A7CE38}" srcOrd="3" destOrd="0" presId="urn:microsoft.com/office/officeart/2005/8/layout/hList1"/>
    <dgm:cxn modelId="{4AA112FA-944D-4B58-AC56-8257DC68FC97}" type="presParOf" srcId="{79A26EE2-2438-4F7B-AF38-DAB6A25D063A}" destId="{31EA04F8-8DE9-4007-8E73-CC4DA2BBA390}" srcOrd="4" destOrd="0" presId="urn:microsoft.com/office/officeart/2005/8/layout/hList1"/>
    <dgm:cxn modelId="{6491089A-F738-4AA7-BEB3-2A8DFACC4E8F}" type="presParOf" srcId="{31EA04F8-8DE9-4007-8E73-CC4DA2BBA390}" destId="{4DB9AE7B-489D-4F24-B987-26DA59C16979}" srcOrd="0" destOrd="0" presId="urn:microsoft.com/office/officeart/2005/8/layout/hList1"/>
    <dgm:cxn modelId="{1DA3318C-38DE-43CA-B956-648CEBA0CBB0}" type="presParOf" srcId="{31EA04F8-8DE9-4007-8E73-CC4DA2BBA390}" destId="{B0323036-6C52-44BC-8ECD-51763DFD2A22}" srcOrd="1" destOrd="0" presId="urn:microsoft.com/office/officeart/2005/8/layout/hList1"/>
    <dgm:cxn modelId="{427A5EC6-2569-4976-B778-86B1B1B1DBDE}" type="presParOf" srcId="{79A26EE2-2438-4F7B-AF38-DAB6A25D063A}" destId="{E311D686-4FBB-48EA-B6AE-51193BB87B3D}" srcOrd="5" destOrd="0" presId="urn:microsoft.com/office/officeart/2005/8/layout/hList1"/>
    <dgm:cxn modelId="{6ED1E42E-4776-41E1-A6C4-391A7CCC6228}" type="presParOf" srcId="{79A26EE2-2438-4F7B-AF38-DAB6A25D063A}" destId="{D5D5E32E-BE6C-4914-828E-323ED9810ECD}" srcOrd="6" destOrd="0" presId="urn:microsoft.com/office/officeart/2005/8/layout/hList1"/>
    <dgm:cxn modelId="{98BE7801-C599-4CF8-95DF-AA9C93912BC3}" type="presParOf" srcId="{D5D5E32E-BE6C-4914-828E-323ED9810ECD}" destId="{96915571-B7BF-4602-B37B-19A29E8A0FF4}" srcOrd="0" destOrd="0" presId="urn:microsoft.com/office/officeart/2005/8/layout/hList1"/>
    <dgm:cxn modelId="{E9D75F06-C2A4-46DF-9AA3-81C0430B5EA4}" type="presParOf" srcId="{D5D5E32E-BE6C-4914-828E-323ED9810ECD}" destId="{DE19332E-A8DC-4931-A37C-1F5D486B6D2B}"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59BF76-63B5-445F-8BFB-A94017391464}">
      <dsp:nvSpPr>
        <dsp:cNvPr id="0" name=""/>
        <dsp:cNvSpPr/>
      </dsp:nvSpPr>
      <dsp:spPr>
        <a:xfrm>
          <a:off x="4115" y="36539"/>
          <a:ext cx="2474703" cy="858239"/>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w="6350" cap="flat" cmpd="sng" algn="ctr">
          <a:solidFill>
            <a:schemeClr val="accent5">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PH" sz="1800" b="1" kern="1200">
              <a:latin typeface="Lato" panose="020F0502020204030203" pitchFamily="34" charset="0"/>
              <a:ea typeface="Lato" panose="020F0502020204030203" pitchFamily="34" charset="0"/>
              <a:cs typeface="Lato" panose="020F0502020204030203" pitchFamily="34" charset="0"/>
            </a:rPr>
            <a:t>Production Loan</a:t>
          </a:r>
        </a:p>
      </dsp:txBody>
      <dsp:txXfrm>
        <a:off x="4115" y="36539"/>
        <a:ext cx="2474703" cy="858239"/>
      </dsp:txXfrm>
    </dsp:sp>
    <dsp:sp modelId="{C87DBAC9-2291-4FAA-905D-3C22E81CE32E}">
      <dsp:nvSpPr>
        <dsp:cNvPr id="0" name=""/>
        <dsp:cNvSpPr/>
      </dsp:nvSpPr>
      <dsp:spPr>
        <a:xfrm>
          <a:off x="4115" y="877499"/>
          <a:ext cx="2474703" cy="1361520"/>
        </a:xfrm>
        <a:prstGeom prst="rect">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PH" sz="1200" kern="1200" err="1">
              <a:latin typeface="Lato"/>
              <a:ea typeface="Lato"/>
              <a:cs typeface="Lato"/>
            </a:rPr>
            <a:t>Mauswagon</a:t>
          </a:r>
          <a:r>
            <a:rPr lang="en-PH" sz="1200" kern="1200">
              <a:latin typeface="Lato"/>
              <a:ea typeface="Lato"/>
              <a:cs typeface="Lato"/>
            </a:rPr>
            <a:t> Loan</a:t>
          </a:r>
          <a:endParaRPr lang="en-PH" sz="1600" kern="1200">
            <a:latin typeface="Lato" panose="020F0502020204030203" pitchFamily="34" charset="0"/>
            <a:ea typeface="Lato" panose="020F0502020204030203" pitchFamily="34" charset="0"/>
            <a:cs typeface="Lato" panose="020F0502020204030203" pitchFamily="34" charset="0"/>
          </a:endParaRPr>
        </a:p>
        <a:p>
          <a:pPr marL="114300" lvl="1" indent="-114300" algn="l" defTabSz="533400">
            <a:lnSpc>
              <a:spcPct val="90000"/>
            </a:lnSpc>
            <a:spcBef>
              <a:spcPct val="0"/>
            </a:spcBef>
            <a:spcAft>
              <a:spcPct val="15000"/>
            </a:spcAft>
            <a:buChar char="•"/>
          </a:pPr>
          <a:r>
            <a:rPr lang="en-PH" sz="1200" kern="1200" err="1">
              <a:latin typeface="Lato"/>
              <a:ea typeface="Lato"/>
              <a:cs typeface="Lato"/>
            </a:rPr>
            <a:t>Kabuhayan</a:t>
          </a:r>
          <a:r>
            <a:rPr lang="en-PH" sz="1200" kern="1200">
              <a:latin typeface="Lato"/>
              <a:ea typeface="Lato"/>
              <a:cs typeface="Lato"/>
            </a:rPr>
            <a:t> Hog</a:t>
          </a:r>
        </a:p>
      </dsp:txBody>
      <dsp:txXfrm>
        <a:off x="4115" y="877499"/>
        <a:ext cx="2474703" cy="1361520"/>
      </dsp:txXfrm>
    </dsp:sp>
    <dsp:sp modelId="{8C3B7137-A507-4964-8EAE-A8BDFEF0BAE8}">
      <dsp:nvSpPr>
        <dsp:cNvPr id="0" name=""/>
        <dsp:cNvSpPr/>
      </dsp:nvSpPr>
      <dsp:spPr>
        <a:xfrm>
          <a:off x="2825277" y="36539"/>
          <a:ext cx="2474703" cy="858239"/>
        </a:xfrm>
        <a:prstGeom prst="rect">
          <a:avLst/>
        </a:prstGeom>
        <a:gradFill rotWithShape="0">
          <a:gsLst>
            <a:gs pos="0">
              <a:schemeClr val="accent5">
                <a:hueOff val="-2451115"/>
                <a:satOff val="-3409"/>
                <a:lumOff val="-1307"/>
                <a:alphaOff val="0"/>
                <a:satMod val="103000"/>
                <a:lumMod val="102000"/>
                <a:tint val="94000"/>
              </a:schemeClr>
            </a:gs>
            <a:gs pos="50000">
              <a:schemeClr val="accent5">
                <a:hueOff val="-2451115"/>
                <a:satOff val="-3409"/>
                <a:lumOff val="-1307"/>
                <a:alphaOff val="0"/>
                <a:satMod val="110000"/>
                <a:lumMod val="100000"/>
                <a:shade val="100000"/>
              </a:schemeClr>
            </a:gs>
            <a:gs pos="100000">
              <a:schemeClr val="accent5">
                <a:hueOff val="-2451115"/>
                <a:satOff val="-3409"/>
                <a:lumOff val="-1307"/>
                <a:alphaOff val="0"/>
                <a:lumMod val="99000"/>
                <a:satMod val="120000"/>
                <a:shade val="78000"/>
              </a:schemeClr>
            </a:gs>
          </a:gsLst>
          <a:lin ang="5400000" scaled="0"/>
        </a:gradFill>
        <a:ln w="6350" cap="flat" cmpd="sng" algn="ctr">
          <a:solidFill>
            <a:schemeClr val="accent5">
              <a:hueOff val="-2451115"/>
              <a:satOff val="-3409"/>
              <a:lumOff val="-1307"/>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PH" sz="1800" b="1" kern="1200">
              <a:latin typeface="Lato"/>
              <a:ea typeface="Lato"/>
              <a:cs typeface="Lato"/>
            </a:rPr>
            <a:t>Supplemental Loan</a:t>
          </a:r>
        </a:p>
      </dsp:txBody>
      <dsp:txXfrm>
        <a:off x="2825277" y="36539"/>
        <a:ext cx="2474703" cy="858239"/>
      </dsp:txXfrm>
    </dsp:sp>
    <dsp:sp modelId="{A6C8B00C-A138-418C-880F-20BD333101A1}">
      <dsp:nvSpPr>
        <dsp:cNvPr id="0" name=""/>
        <dsp:cNvSpPr/>
      </dsp:nvSpPr>
      <dsp:spPr>
        <a:xfrm>
          <a:off x="2825277" y="877499"/>
          <a:ext cx="2474703" cy="1361520"/>
        </a:xfrm>
        <a:prstGeom prst="rect">
          <a:avLst/>
        </a:prstGeom>
        <a:solidFill>
          <a:schemeClr val="accent5">
            <a:tint val="40000"/>
            <a:alpha val="90000"/>
            <a:hueOff val="-2463918"/>
            <a:satOff val="-4272"/>
            <a:lumOff val="-430"/>
            <a:alphaOff val="0"/>
          </a:schemeClr>
        </a:solidFill>
        <a:ln w="6350" cap="flat" cmpd="sng" algn="ctr">
          <a:solidFill>
            <a:schemeClr val="accent5">
              <a:tint val="40000"/>
              <a:alpha val="90000"/>
              <a:hueOff val="-2463918"/>
              <a:satOff val="-4272"/>
              <a:lumOff val="-43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PH" sz="1200" kern="1200">
              <a:latin typeface="Lato" panose="020F0502020204030203" pitchFamily="34" charset="0"/>
              <a:ea typeface="Lato" panose="020F0502020204030203" pitchFamily="34" charset="0"/>
              <a:cs typeface="Lato" panose="020F0502020204030203" pitchFamily="34" charset="0"/>
            </a:rPr>
            <a:t>Housing Improvement Loan</a:t>
          </a:r>
          <a:endParaRPr lang="en-PH" sz="1600" kern="1200">
            <a:latin typeface="Lato" panose="020F0502020204030203" pitchFamily="34" charset="0"/>
            <a:ea typeface="Lato" panose="020F0502020204030203" pitchFamily="34" charset="0"/>
            <a:cs typeface="Lato" panose="020F0502020204030203" pitchFamily="34" charset="0"/>
          </a:endParaRPr>
        </a:p>
        <a:p>
          <a:pPr marL="114300" lvl="1" indent="-114300" algn="l" defTabSz="533400">
            <a:lnSpc>
              <a:spcPct val="90000"/>
            </a:lnSpc>
            <a:spcBef>
              <a:spcPct val="0"/>
            </a:spcBef>
            <a:spcAft>
              <a:spcPct val="15000"/>
            </a:spcAft>
            <a:buChar char="•"/>
          </a:pPr>
          <a:r>
            <a:rPr lang="en-PH" sz="1200" kern="1200">
              <a:latin typeface="Lato"/>
              <a:ea typeface="Lato"/>
              <a:cs typeface="Lato"/>
            </a:rPr>
            <a:t>Education Loan</a:t>
          </a:r>
        </a:p>
        <a:p>
          <a:pPr marL="114300" lvl="1" indent="-114300" algn="l" defTabSz="533400">
            <a:lnSpc>
              <a:spcPct val="90000"/>
            </a:lnSpc>
            <a:spcBef>
              <a:spcPct val="0"/>
            </a:spcBef>
            <a:spcAft>
              <a:spcPct val="15000"/>
            </a:spcAft>
            <a:buChar char="•"/>
          </a:pPr>
          <a:r>
            <a:rPr lang="en-PH" sz="1200" kern="1200">
              <a:latin typeface="Lato"/>
              <a:ea typeface="Lato"/>
              <a:cs typeface="Lato"/>
            </a:rPr>
            <a:t>SAGIP Loan as Emergency</a:t>
          </a:r>
        </a:p>
        <a:p>
          <a:pPr marL="114300" lvl="1" indent="-114300" algn="l" defTabSz="533400">
            <a:lnSpc>
              <a:spcPct val="90000"/>
            </a:lnSpc>
            <a:spcBef>
              <a:spcPct val="0"/>
            </a:spcBef>
            <a:spcAft>
              <a:spcPct val="15000"/>
            </a:spcAft>
            <a:buChar char="•"/>
          </a:pPr>
          <a:r>
            <a:rPr lang="en-PH" sz="1200" kern="1200">
              <a:latin typeface="Lato"/>
              <a:ea typeface="Lato"/>
              <a:cs typeface="Lato"/>
            </a:rPr>
            <a:t>SAGIP Loan as Disaster Recovery</a:t>
          </a:r>
        </a:p>
      </dsp:txBody>
      <dsp:txXfrm>
        <a:off x="2825277" y="877499"/>
        <a:ext cx="2474703" cy="1361520"/>
      </dsp:txXfrm>
    </dsp:sp>
    <dsp:sp modelId="{4DB9AE7B-489D-4F24-B987-26DA59C16979}">
      <dsp:nvSpPr>
        <dsp:cNvPr id="0" name=""/>
        <dsp:cNvSpPr/>
      </dsp:nvSpPr>
      <dsp:spPr>
        <a:xfrm>
          <a:off x="5646440" y="36539"/>
          <a:ext cx="2474703" cy="858239"/>
        </a:xfrm>
        <a:prstGeom prst="rect">
          <a:avLst/>
        </a:prstGeom>
        <a:gradFill rotWithShape="0">
          <a:gsLst>
            <a:gs pos="0">
              <a:schemeClr val="accent5">
                <a:hueOff val="-4902230"/>
                <a:satOff val="-6819"/>
                <a:lumOff val="-2615"/>
                <a:alphaOff val="0"/>
                <a:satMod val="103000"/>
                <a:lumMod val="102000"/>
                <a:tint val="94000"/>
              </a:schemeClr>
            </a:gs>
            <a:gs pos="50000">
              <a:schemeClr val="accent5">
                <a:hueOff val="-4902230"/>
                <a:satOff val="-6819"/>
                <a:lumOff val="-2615"/>
                <a:alphaOff val="0"/>
                <a:satMod val="110000"/>
                <a:lumMod val="100000"/>
                <a:shade val="100000"/>
              </a:schemeClr>
            </a:gs>
            <a:gs pos="100000">
              <a:schemeClr val="accent5">
                <a:hueOff val="-4902230"/>
                <a:satOff val="-6819"/>
                <a:lumOff val="-2615"/>
                <a:alphaOff val="0"/>
                <a:lumMod val="99000"/>
                <a:satMod val="120000"/>
                <a:shade val="78000"/>
              </a:schemeClr>
            </a:gs>
          </a:gsLst>
          <a:lin ang="5400000" scaled="0"/>
        </a:gradFill>
        <a:ln w="6350" cap="flat" cmpd="sng" algn="ctr">
          <a:solidFill>
            <a:schemeClr val="accent5">
              <a:hueOff val="-4902230"/>
              <a:satOff val="-6819"/>
              <a:lumOff val="-2615"/>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PH" sz="1800" b="1" kern="1200">
              <a:latin typeface="Lato"/>
              <a:ea typeface="Lato"/>
              <a:cs typeface="Lato"/>
            </a:rPr>
            <a:t>Microinsurance</a:t>
          </a:r>
        </a:p>
      </dsp:txBody>
      <dsp:txXfrm>
        <a:off x="5646440" y="36539"/>
        <a:ext cx="2474703" cy="858239"/>
      </dsp:txXfrm>
    </dsp:sp>
    <dsp:sp modelId="{B0323036-6C52-44BC-8ECD-51763DFD2A22}">
      <dsp:nvSpPr>
        <dsp:cNvPr id="0" name=""/>
        <dsp:cNvSpPr/>
      </dsp:nvSpPr>
      <dsp:spPr>
        <a:xfrm>
          <a:off x="5646440" y="877499"/>
          <a:ext cx="2474703" cy="1361520"/>
        </a:xfrm>
        <a:prstGeom prst="rect">
          <a:avLst/>
        </a:prstGeom>
        <a:solidFill>
          <a:schemeClr val="accent5">
            <a:tint val="40000"/>
            <a:alpha val="90000"/>
            <a:hueOff val="-4927837"/>
            <a:satOff val="-8544"/>
            <a:lumOff val="-859"/>
            <a:alphaOff val="0"/>
          </a:schemeClr>
        </a:solidFill>
        <a:ln w="6350" cap="flat" cmpd="sng" algn="ctr">
          <a:solidFill>
            <a:schemeClr val="accent5">
              <a:tint val="40000"/>
              <a:alpha val="90000"/>
              <a:hueOff val="-4927837"/>
              <a:satOff val="-8544"/>
              <a:lumOff val="-859"/>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PH" sz="1200" kern="1200" err="1">
              <a:latin typeface="Lato" panose="020F0502020204030203" pitchFamily="34" charset="0"/>
              <a:ea typeface="Lato" panose="020F0502020204030203" pitchFamily="34" charset="0"/>
              <a:cs typeface="Lato" panose="020F0502020204030203" pitchFamily="34" charset="0"/>
            </a:rPr>
            <a:t>Kaagabay</a:t>
          </a:r>
          <a:r>
            <a:rPr lang="en-PH" sz="1200" kern="1200">
              <a:latin typeface="Lato" panose="020F0502020204030203" pitchFamily="34" charset="0"/>
              <a:ea typeface="Lato" panose="020F0502020204030203" pitchFamily="34" charset="0"/>
              <a:cs typeface="Lato" panose="020F0502020204030203" pitchFamily="34" charset="0"/>
            </a:rPr>
            <a:t> (GPA)</a:t>
          </a:r>
        </a:p>
        <a:p>
          <a:pPr marL="114300" lvl="1" indent="-114300" algn="l" defTabSz="533400">
            <a:lnSpc>
              <a:spcPct val="90000"/>
            </a:lnSpc>
            <a:spcBef>
              <a:spcPct val="0"/>
            </a:spcBef>
            <a:spcAft>
              <a:spcPct val="15000"/>
            </a:spcAft>
            <a:buChar char="•"/>
          </a:pPr>
          <a:r>
            <a:rPr lang="en-PH" sz="1200" kern="1200">
              <a:latin typeface="Lato"/>
              <a:ea typeface="Lato"/>
              <a:cs typeface="Lato"/>
            </a:rPr>
            <a:t>Family Relief Plan</a:t>
          </a:r>
        </a:p>
        <a:p>
          <a:pPr marL="114300" lvl="1" indent="-114300" algn="l" defTabSz="533400">
            <a:lnSpc>
              <a:spcPct val="90000"/>
            </a:lnSpc>
            <a:spcBef>
              <a:spcPct val="0"/>
            </a:spcBef>
            <a:spcAft>
              <a:spcPct val="15000"/>
            </a:spcAft>
            <a:buChar char="•"/>
          </a:pPr>
          <a:r>
            <a:rPr lang="en-PH" sz="1200" kern="1200">
              <a:latin typeface="Lato"/>
              <a:ea typeface="Lato"/>
              <a:cs typeface="Lato"/>
            </a:rPr>
            <a:t>Loan Redemption Fund</a:t>
          </a:r>
        </a:p>
      </dsp:txBody>
      <dsp:txXfrm>
        <a:off x="5646440" y="877499"/>
        <a:ext cx="2474703" cy="1361520"/>
      </dsp:txXfrm>
    </dsp:sp>
    <dsp:sp modelId="{96915571-B7BF-4602-B37B-19A29E8A0FF4}">
      <dsp:nvSpPr>
        <dsp:cNvPr id="0" name=""/>
        <dsp:cNvSpPr/>
      </dsp:nvSpPr>
      <dsp:spPr>
        <a:xfrm>
          <a:off x="8467602" y="10619"/>
          <a:ext cx="2474703" cy="892800"/>
        </a:xfrm>
        <a:prstGeom prst="rect">
          <a:avLst/>
        </a:prstGeom>
        <a:gradFill rotWithShape="0">
          <a:gsLst>
            <a:gs pos="0">
              <a:schemeClr val="accent5">
                <a:hueOff val="-7353344"/>
                <a:satOff val="-10228"/>
                <a:lumOff val="-3922"/>
                <a:alphaOff val="0"/>
                <a:satMod val="103000"/>
                <a:lumMod val="102000"/>
                <a:tint val="94000"/>
              </a:schemeClr>
            </a:gs>
            <a:gs pos="50000">
              <a:schemeClr val="accent5">
                <a:hueOff val="-7353344"/>
                <a:satOff val="-10228"/>
                <a:lumOff val="-3922"/>
                <a:alphaOff val="0"/>
                <a:satMod val="110000"/>
                <a:lumMod val="100000"/>
                <a:shade val="100000"/>
              </a:schemeClr>
            </a:gs>
            <a:gs pos="100000">
              <a:schemeClr val="accent5">
                <a:hueOff val="-7353344"/>
                <a:satOff val="-10228"/>
                <a:lumOff val="-3922"/>
                <a:alphaOff val="0"/>
                <a:lumMod val="99000"/>
                <a:satMod val="120000"/>
                <a:shade val="78000"/>
              </a:schemeClr>
            </a:gs>
          </a:gsLst>
          <a:lin ang="5400000" scaled="0"/>
        </a:gradFill>
        <a:ln w="6350" cap="flat" cmpd="sng" algn="ctr">
          <a:solidFill>
            <a:schemeClr val="accent5">
              <a:hueOff val="-7353344"/>
              <a:satOff val="-10228"/>
              <a:lumOff val="-3922"/>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b="1" kern="1200" err="1">
              <a:latin typeface="Lato" panose="020F0502020204030203" pitchFamily="34" charset="0"/>
              <a:ea typeface="Lato" panose="020F0502020204030203" pitchFamily="34" charset="0"/>
              <a:cs typeface="Lato" panose="020F0502020204030203" pitchFamily="34" charset="0"/>
            </a:rPr>
            <a:t>Microsavings</a:t>
          </a:r>
          <a:endParaRPr lang="en-PH" sz="1800" b="1" kern="1200">
            <a:latin typeface="Lato" panose="020F0502020204030203" pitchFamily="34" charset="0"/>
            <a:ea typeface="Lato" panose="020F0502020204030203" pitchFamily="34" charset="0"/>
            <a:cs typeface="Lato" panose="020F0502020204030203" pitchFamily="34" charset="0"/>
          </a:endParaRPr>
        </a:p>
      </dsp:txBody>
      <dsp:txXfrm>
        <a:off x="8467602" y="10619"/>
        <a:ext cx="2474703" cy="892800"/>
      </dsp:txXfrm>
    </dsp:sp>
    <dsp:sp modelId="{DE19332E-A8DC-4931-A37C-1F5D486B6D2B}">
      <dsp:nvSpPr>
        <dsp:cNvPr id="0" name=""/>
        <dsp:cNvSpPr/>
      </dsp:nvSpPr>
      <dsp:spPr>
        <a:xfrm>
          <a:off x="8467602" y="903419"/>
          <a:ext cx="2474703" cy="1361520"/>
        </a:xfrm>
        <a:prstGeom prst="rect">
          <a:avLst/>
        </a:prstGeom>
        <a:solidFill>
          <a:schemeClr val="accent5">
            <a:tint val="40000"/>
            <a:alpha val="90000"/>
            <a:hueOff val="-7391755"/>
            <a:satOff val="-12816"/>
            <a:lumOff val="-1289"/>
            <a:alphaOff val="0"/>
          </a:schemeClr>
        </a:solidFill>
        <a:ln w="6350" cap="flat" cmpd="sng" algn="ctr">
          <a:solidFill>
            <a:schemeClr val="accent5">
              <a:tint val="40000"/>
              <a:alpha val="90000"/>
              <a:hueOff val="-7391755"/>
              <a:satOff val="-12816"/>
              <a:lumOff val="-1289"/>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US" sz="1200" kern="1200">
              <a:latin typeface="Lato" panose="020F0502020204030203" pitchFamily="34" charset="0"/>
              <a:ea typeface="Lato" panose="020F0502020204030203" pitchFamily="34" charset="0"/>
              <a:cs typeface="Lato" panose="020F0502020204030203" pitchFamily="34" charset="0"/>
            </a:rPr>
            <a:t>CBU</a:t>
          </a:r>
          <a:endParaRPr lang="en-PH" sz="1600" kern="1200">
            <a:latin typeface="Lato" panose="020F0502020204030203" pitchFamily="34" charset="0"/>
            <a:ea typeface="Lato" panose="020F0502020204030203" pitchFamily="34" charset="0"/>
            <a:cs typeface="Lato" panose="020F0502020204030203" pitchFamily="34" charset="0"/>
          </a:endParaRPr>
        </a:p>
        <a:p>
          <a:pPr marL="114300" lvl="1" indent="-114300" algn="l" defTabSz="533400">
            <a:lnSpc>
              <a:spcPct val="90000"/>
            </a:lnSpc>
            <a:spcBef>
              <a:spcPct val="0"/>
            </a:spcBef>
            <a:spcAft>
              <a:spcPct val="15000"/>
            </a:spcAft>
            <a:buChar char="•"/>
          </a:pPr>
          <a:r>
            <a:rPr lang="en-US" sz="1200" kern="1200" err="1">
              <a:latin typeface="Lato" panose="020F0502020204030203" pitchFamily="34" charset="0"/>
              <a:ea typeface="Lato" panose="020F0502020204030203" pitchFamily="34" charset="0"/>
              <a:cs typeface="Lato" panose="020F0502020204030203" pitchFamily="34" charset="0"/>
            </a:rPr>
            <a:t>MyIpon</a:t>
          </a:r>
          <a:endParaRPr lang="en-PH" sz="1200" kern="1200">
            <a:latin typeface="Lato" panose="020F0502020204030203" pitchFamily="34" charset="0"/>
            <a:ea typeface="Lato" panose="020F0502020204030203" pitchFamily="34" charset="0"/>
            <a:cs typeface="Lato" panose="020F0502020204030203" pitchFamily="34" charset="0"/>
          </a:endParaRPr>
        </a:p>
      </dsp:txBody>
      <dsp:txXfrm>
        <a:off x="8467602" y="903419"/>
        <a:ext cx="2474703" cy="13615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59BF76-63B5-445F-8BFB-A94017391464}">
      <dsp:nvSpPr>
        <dsp:cNvPr id="0" name=""/>
        <dsp:cNvSpPr/>
      </dsp:nvSpPr>
      <dsp:spPr>
        <a:xfrm>
          <a:off x="4089" y="721013"/>
          <a:ext cx="2459056" cy="670688"/>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w="6350" cap="flat" cmpd="sng" algn="ctr">
          <a:solidFill>
            <a:schemeClr val="accent5">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PH" sz="1800" b="1" kern="1200">
              <a:latin typeface="Lato" panose="020F0502020204030203" pitchFamily="34" charset="0"/>
              <a:ea typeface="Lato" panose="020F0502020204030203" pitchFamily="34" charset="0"/>
              <a:cs typeface="Lato" panose="020F0502020204030203" pitchFamily="34" charset="0"/>
            </a:rPr>
            <a:t>Production Loan</a:t>
          </a:r>
        </a:p>
      </dsp:txBody>
      <dsp:txXfrm>
        <a:off x="4089" y="721013"/>
        <a:ext cx="2459056" cy="670688"/>
      </dsp:txXfrm>
    </dsp:sp>
    <dsp:sp modelId="{C87DBAC9-2291-4FAA-905D-3C22E81CE32E}">
      <dsp:nvSpPr>
        <dsp:cNvPr id="0" name=""/>
        <dsp:cNvSpPr/>
      </dsp:nvSpPr>
      <dsp:spPr>
        <a:xfrm>
          <a:off x="4089" y="1461269"/>
          <a:ext cx="2459056" cy="700614"/>
        </a:xfrm>
        <a:prstGeom prst="rect">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PH" sz="1200" kern="1200" err="1">
              <a:latin typeface="Lato" panose="020F0502020204030203" pitchFamily="34" charset="0"/>
              <a:ea typeface="Lato" panose="020F0502020204030203" pitchFamily="34" charset="0"/>
              <a:cs typeface="Lato" panose="020F0502020204030203" pitchFamily="34" charset="0"/>
            </a:rPr>
            <a:t>Mauswagon</a:t>
          </a:r>
          <a:r>
            <a:rPr lang="en-PH" sz="1200" kern="1200">
              <a:latin typeface="Lato" panose="020F0502020204030203" pitchFamily="34" charset="0"/>
              <a:ea typeface="Lato" panose="020F0502020204030203" pitchFamily="34" charset="0"/>
              <a:cs typeface="Lato" panose="020F0502020204030203" pitchFamily="34" charset="0"/>
            </a:rPr>
            <a:t> Loan</a:t>
          </a:r>
          <a:endParaRPr lang="en-PH" sz="1600" kern="1200">
            <a:latin typeface="Lato" panose="020F0502020204030203" pitchFamily="34" charset="0"/>
            <a:ea typeface="Lato" panose="020F0502020204030203" pitchFamily="34" charset="0"/>
            <a:cs typeface="Lato" panose="020F0502020204030203" pitchFamily="34" charset="0"/>
          </a:endParaRPr>
        </a:p>
        <a:p>
          <a:pPr marL="114300" lvl="1" indent="-114300" algn="l" defTabSz="533400">
            <a:lnSpc>
              <a:spcPct val="90000"/>
            </a:lnSpc>
            <a:spcBef>
              <a:spcPct val="0"/>
            </a:spcBef>
            <a:spcAft>
              <a:spcPct val="15000"/>
            </a:spcAft>
            <a:buChar char="•"/>
          </a:pPr>
          <a:r>
            <a:rPr lang="en-PH" sz="1200" kern="1200">
              <a:latin typeface="Lato" panose="020F0502020204030203" pitchFamily="34" charset="0"/>
              <a:ea typeface="Lato" panose="020F0502020204030203" pitchFamily="34" charset="0"/>
              <a:cs typeface="Lato" panose="020F0502020204030203" pitchFamily="34" charset="0"/>
            </a:rPr>
            <a:t>Kabuhayan Hog</a:t>
          </a:r>
        </a:p>
      </dsp:txBody>
      <dsp:txXfrm>
        <a:off x="4089" y="1461269"/>
        <a:ext cx="2459056" cy="700614"/>
      </dsp:txXfrm>
    </dsp:sp>
    <dsp:sp modelId="{8C3B7137-A507-4964-8EAE-A8BDFEF0BAE8}">
      <dsp:nvSpPr>
        <dsp:cNvPr id="0" name=""/>
        <dsp:cNvSpPr/>
      </dsp:nvSpPr>
      <dsp:spPr>
        <a:xfrm>
          <a:off x="2807414" y="552504"/>
          <a:ext cx="2459056" cy="670688"/>
        </a:xfrm>
        <a:prstGeom prst="rect">
          <a:avLst/>
        </a:prstGeom>
        <a:gradFill rotWithShape="0">
          <a:gsLst>
            <a:gs pos="0">
              <a:schemeClr val="accent5">
                <a:hueOff val="-2451115"/>
                <a:satOff val="-3409"/>
                <a:lumOff val="-1307"/>
                <a:alphaOff val="0"/>
                <a:satMod val="103000"/>
                <a:lumMod val="102000"/>
                <a:tint val="94000"/>
              </a:schemeClr>
            </a:gs>
            <a:gs pos="50000">
              <a:schemeClr val="accent5">
                <a:hueOff val="-2451115"/>
                <a:satOff val="-3409"/>
                <a:lumOff val="-1307"/>
                <a:alphaOff val="0"/>
                <a:satMod val="110000"/>
                <a:lumMod val="100000"/>
                <a:shade val="100000"/>
              </a:schemeClr>
            </a:gs>
            <a:gs pos="100000">
              <a:schemeClr val="accent5">
                <a:hueOff val="-2451115"/>
                <a:satOff val="-3409"/>
                <a:lumOff val="-1307"/>
                <a:alphaOff val="0"/>
                <a:lumMod val="99000"/>
                <a:satMod val="120000"/>
                <a:shade val="78000"/>
              </a:schemeClr>
            </a:gs>
          </a:gsLst>
          <a:lin ang="5400000" scaled="0"/>
        </a:gradFill>
        <a:ln w="6350" cap="flat" cmpd="sng" algn="ctr">
          <a:solidFill>
            <a:schemeClr val="accent5">
              <a:hueOff val="-2451115"/>
              <a:satOff val="-3409"/>
              <a:lumOff val="-1307"/>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PH" sz="1800" b="1" kern="1200">
              <a:latin typeface="Lato" panose="020F0502020204030203" pitchFamily="34" charset="0"/>
              <a:ea typeface="Lato" panose="020F0502020204030203" pitchFamily="34" charset="0"/>
              <a:cs typeface="Lato" panose="020F0502020204030203" pitchFamily="34" charset="0"/>
            </a:rPr>
            <a:t>Supplemental Loan</a:t>
          </a:r>
        </a:p>
      </dsp:txBody>
      <dsp:txXfrm>
        <a:off x="2807414" y="552504"/>
        <a:ext cx="2459056" cy="670688"/>
      </dsp:txXfrm>
    </dsp:sp>
    <dsp:sp modelId="{A6C8B00C-A138-418C-880F-20BD333101A1}">
      <dsp:nvSpPr>
        <dsp:cNvPr id="0" name=""/>
        <dsp:cNvSpPr/>
      </dsp:nvSpPr>
      <dsp:spPr>
        <a:xfrm>
          <a:off x="2807414" y="1236696"/>
          <a:ext cx="2459056" cy="1093697"/>
        </a:xfrm>
        <a:prstGeom prst="rect">
          <a:avLst/>
        </a:prstGeom>
        <a:solidFill>
          <a:schemeClr val="accent5">
            <a:tint val="40000"/>
            <a:alpha val="90000"/>
            <a:hueOff val="-2463918"/>
            <a:satOff val="-4272"/>
            <a:lumOff val="-430"/>
            <a:alphaOff val="0"/>
          </a:schemeClr>
        </a:solidFill>
        <a:ln w="6350" cap="flat" cmpd="sng" algn="ctr">
          <a:solidFill>
            <a:schemeClr val="accent5">
              <a:tint val="40000"/>
              <a:alpha val="90000"/>
              <a:hueOff val="-2463918"/>
              <a:satOff val="-4272"/>
              <a:lumOff val="-43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PH" sz="1200" kern="1200">
              <a:latin typeface="Lato" panose="020F0502020204030203" pitchFamily="34" charset="0"/>
              <a:ea typeface="Lato" panose="020F0502020204030203" pitchFamily="34" charset="0"/>
              <a:cs typeface="Lato" panose="020F0502020204030203" pitchFamily="34" charset="0"/>
            </a:rPr>
            <a:t>Housing Improvement Loan</a:t>
          </a:r>
          <a:endParaRPr lang="en-PH" sz="1600" kern="1200">
            <a:latin typeface="Lato" panose="020F0502020204030203" pitchFamily="34" charset="0"/>
            <a:ea typeface="Lato" panose="020F0502020204030203" pitchFamily="34" charset="0"/>
            <a:cs typeface="Lato" panose="020F0502020204030203" pitchFamily="34" charset="0"/>
          </a:endParaRPr>
        </a:p>
        <a:p>
          <a:pPr marL="114300" lvl="1" indent="-114300" algn="l" defTabSz="533400">
            <a:lnSpc>
              <a:spcPct val="90000"/>
            </a:lnSpc>
            <a:spcBef>
              <a:spcPct val="0"/>
            </a:spcBef>
            <a:spcAft>
              <a:spcPct val="15000"/>
            </a:spcAft>
            <a:buChar char="•"/>
          </a:pPr>
          <a:r>
            <a:rPr lang="en-PH" sz="1200" kern="1200">
              <a:latin typeface="Lato" panose="020F0502020204030203" pitchFamily="34" charset="0"/>
              <a:ea typeface="Lato" panose="020F0502020204030203" pitchFamily="34" charset="0"/>
              <a:cs typeface="Lato" panose="020F0502020204030203" pitchFamily="34" charset="0"/>
            </a:rPr>
            <a:t>Education Loan</a:t>
          </a:r>
        </a:p>
        <a:p>
          <a:pPr marL="114300" lvl="1" indent="-114300" algn="l" defTabSz="533400">
            <a:lnSpc>
              <a:spcPct val="90000"/>
            </a:lnSpc>
            <a:spcBef>
              <a:spcPct val="0"/>
            </a:spcBef>
            <a:spcAft>
              <a:spcPct val="15000"/>
            </a:spcAft>
            <a:buChar char="•"/>
          </a:pPr>
          <a:r>
            <a:rPr lang="en-PH" sz="1200" kern="1200">
              <a:latin typeface="Lato" panose="020F0502020204030203" pitchFamily="34" charset="0"/>
              <a:ea typeface="Lato" panose="020F0502020204030203" pitchFamily="34" charset="0"/>
              <a:cs typeface="Lato" panose="020F0502020204030203" pitchFamily="34" charset="0"/>
            </a:rPr>
            <a:t>SAGIP Loan as Emergency</a:t>
          </a:r>
        </a:p>
        <a:p>
          <a:pPr marL="114300" lvl="1" indent="-114300" algn="l" defTabSz="533400">
            <a:lnSpc>
              <a:spcPct val="90000"/>
            </a:lnSpc>
            <a:spcBef>
              <a:spcPct val="0"/>
            </a:spcBef>
            <a:spcAft>
              <a:spcPct val="15000"/>
            </a:spcAft>
            <a:buChar char="•"/>
          </a:pPr>
          <a:r>
            <a:rPr lang="en-PH" sz="1200" kern="1200">
              <a:latin typeface="Lato" panose="020F0502020204030203" pitchFamily="34" charset="0"/>
              <a:ea typeface="Lato" panose="020F0502020204030203" pitchFamily="34" charset="0"/>
              <a:cs typeface="Lato" panose="020F0502020204030203" pitchFamily="34" charset="0"/>
            </a:rPr>
            <a:t>SAGIP Loan as Disaster Recovery</a:t>
          </a:r>
        </a:p>
      </dsp:txBody>
      <dsp:txXfrm>
        <a:off x="2807414" y="1236696"/>
        <a:ext cx="2459056" cy="1093697"/>
      </dsp:txXfrm>
    </dsp:sp>
    <dsp:sp modelId="{4DB9AE7B-489D-4F24-B987-26DA59C16979}">
      <dsp:nvSpPr>
        <dsp:cNvPr id="0" name=""/>
        <dsp:cNvSpPr/>
      </dsp:nvSpPr>
      <dsp:spPr>
        <a:xfrm>
          <a:off x="5610738" y="552504"/>
          <a:ext cx="2459056" cy="670688"/>
        </a:xfrm>
        <a:prstGeom prst="rect">
          <a:avLst/>
        </a:prstGeom>
        <a:gradFill rotWithShape="0">
          <a:gsLst>
            <a:gs pos="0">
              <a:schemeClr val="accent5">
                <a:hueOff val="-4902230"/>
                <a:satOff val="-6819"/>
                <a:lumOff val="-2615"/>
                <a:alphaOff val="0"/>
                <a:satMod val="103000"/>
                <a:lumMod val="102000"/>
                <a:tint val="94000"/>
              </a:schemeClr>
            </a:gs>
            <a:gs pos="50000">
              <a:schemeClr val="accent5">
                <a:hueOff val="-4902230"/>
                <a:satOff val="-6819"/>
                <a:lumOff val="-2615"/>
                <a:alphaOff val="0"/>
                <a:satMod val="110000"/>
                <a:lumMod val="100000"/>
                <a:shade val="100000"/>
              </a:schemeClr>
            </a:gs>
            <a:gs pos="100000">
              <a:schemeClr val="accent5">
                <a:hueOff val="-4902230"/>
                <a:satOff val="-6819"/>
                <a:lumOff val="-2615"/>
                <a:alphaOff val="0"/>
                <a:lumMod val="99000"/>
                <a:satMod val="120000"/>
                <a:shade val="78000"/>
              </a:schemeClr>
            </a:gs>
          </a:gsLst>
          <a:lin ang="5400000" scaled="0"/>
        </a:gradFill>
        <a:ln w="6350" cap="flat" cmpd="sng" algn="ctr">
          <a:solidFill>
            <a:schemeClr val="accent5">
              <a:hueOff val="-4902230"/>
              <a:satOff val="-6819"/>
              <a:lumOff val="-2615"/>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PH" sz="1800" b="1" kern="1200">
              <a:latin typeface="Lato" panose="020F0502020204030203" pitchFamily="34" charset="0"/>
              <a:ea typeface="Lato" panose="020F0502020204030203" pitchFamily="34" charset="0"/>
              <a:cs typeface="Lato" panose="020F0502020204030203" pitchFamily="34" charset="0"/>
            </a:rPr>
            <a:t>Microinsurance</a:t>
          </a:r>
        </a:p>
      </dsp:txBody>
      <dsp:txXfrm>
        <a:off x="5610738" y="552504"/>
        <a:ext cx="2459056" cy="670688"/>
      </dsp:txXfrm>
    </dsp:sp>
    <dsp:sp modelId="{B0323036-6C52-44BC-8ECD-51763DFD2A22}">
      <dsp:nvSpPr>
        <dsp:cNvPr id="0" name=""/>
        <dsp:cNvSpPr/>
      </dsp:nvSpPr>
      <dsp:spPr>
        <a:xfrm>
          <a:off x="5610738" y="1236696"/>
          <a:ext cx="2459056" cy="1093697"/>
        </a:xfrm>
        <a:prstGeom prst="rect">
          <a:avLst/>
        </a:prstGeom>
        <a:solidFill>
          <a:schemeClr val="accent5">
            <a:tint val="40000"/>
            <a:alpha val="90000"/>
            <a:hueOff val="-4927837"/>
            <a:satOff val="-8544"/>
            <a:lumOff val="-859"/>
            <a:alphaOff val="0"/>
          </a:schemeClr>
        </a:solidFill>
        <a:ln w="6350" cap="flat" cmpd="sng" algn="ctr">
          <a:solidFill>
            <a:schemeClr val="accent5">
              <a:tint val="40000"/>
              <a:alpha val="90000"/>
              <a:hueOff val="-4927837"/>
              <a:satOff val="-8544"/>
              <a:lumOff val="-859"/>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PH" sz="1200" kern="1200" err="1">
              <a:latin typeface="Lato" panose="020F0502020204030203" pitchFamily="34" charset="0"/>
              <a:ea typeface="Lato" panose="020F0502020204030203" pitchFamily="34" charset="0"/>
              <a:cs typeface="Lato" panose="020F0502020204030203" pitchFamily="34" charset="0"/>
            </a:rPr>
            <a:t>Kaagabay</a:t>
          </a:r>
          <a:r>
            <a:rPr lang="en-PH" sz="1200" kern="1200">
              <a:latin typeface="Lato" panose="020F0502020204030203" pitchFamily="34" charset="0"/>
              <a:ea typeface="Lato" panose="020F0502020204030203" pitchFamily="34" charset="0"/>
              <a:cs typeface="Lato" panose="020F0502020204030203" pitchFamily="34" charset="0"/>
            </a:rPr>
            <a:t> (GPA)</a:t>
          </a:r>
        </a:p>
        <a:p>
          <a:pPr marL="114300" lvl="1" indent="-114300" algn="l" defTabSz="533400">
            <a:lnSpc>
              <a:spcPct val="90000"/>
            </a:lnSpc>
            <a:spcBef>
              <a:spcPct val="0"/>
            </a:spcBef>
            <a:spcAft>
              <a:spcPct val="15000"/>
            </a:spcAft>
            <a:buChar char="•"/>
          </a:pPr>
          <a:r>
            <a:rPr lang="en-PH" sz="1200" kern="1200">
              <a:latin typeface="Lato" panose="020F0502020204030203" pitchFamily="34" charset="0"/>
              <a:ea typeface="Lato" panose="020F0502020204030203" pitchFamily="34" charset="0"/>
              <a:cs typeface="Lato" panose="020F0502020204030203" pitchFamily="34" charset="0"/>
            </a:rPr>
            <a:t>Family Relief Plan</a:t>
          </a:r>
        </a:p>
        <a:p>
          <a:pPr marL="114300" lvl="1" indent="-114300" algn="l" defTabSz="533400">
            <a:lnSpc>
              <a:spcPct val="90000"/>
            </a:lnSpc>
            <a:spcBef>
              <a:spcPct val="0"/>
            </a:spcBef>
            <a:spcAft>
              <a:spcPct val="15000"/>
            </a:spcAft>
            <a:buChar char="•"/>
          </a:pPr>
          <a:r>
            <a:rPr lang="en-PH" sz="1200" kern="1200">
              <a:latin typeface="Lato" panose="020F0502020204030203" pitchFamily="34" charset="0"/>
              <a:ea typeface="Lato" panose="020F0502020204030203" pitchFamily="34" charset="0"/>
              <a:cs typeface="Lato" panose="020F0502020204030203" pitchFamily="34" charset="0"/>
            </a:rPr>
            <a:t>Loan Redemption Fund</a:t>
          </a:r>
        </a:p>
      </dsp:txBody>
      <dsp:txXfrm>
        <a:off x="5610738" y="1236696"/>
        <a:ext cx="2459056" cy="1093697"/>
      </dsp:txXfrm>
    </dsp:sp>
    <dsp:sp modelId="{96915571-B7BF-4602-B37B-19A29E8A0FF4}">
      <dsp:nvSpPr>
        <dsp:cNvPr id="0" name=""/>
        <dsp:cNvSpPr/>
      </dsp:nvSpPr>
      <dsp:spPr>
        <a:xfrm>
          <a:off x="8414062" y="531704"/>
          <a:ext cx="2459056" cy="725791"/>
        </a:xfrm>
        <a:prstGeom prst="rect">
          <a:avLst/>
        </a:prstGeom>
        <a:gradFill rotWithShape="0">
          <a:gsLst>
            <a:gs pos="0">
              <a:schemeClr val="accent5">
                <a:hueOff val="-7353344"/>
                <a:satOff val="-10228"/>
                <a:lumOff val="-3922"/>
                <a:alphaOff val="0"/>
                <a:satMod val="103000"/>
                <a:lumMod val="102000"/>
                <a:tint val="94000"/>
              </a:schemeClr>
            </a:gs>
            <a:gs pos="50000">
              <a:schemeClr val="accent5">
                <a:hueOff val="-7353344"/>
                <a:satOff val="-10228"/>
                <a:lumOff val="-3922"/>
                <a:alphaOff val="0"/>
                <a:satMod val="110000"/>
                <a:lumMod val="100000"/>
                <a:shade val="100000"/>
              </a:schemeClr>
            </a:gs>
            <a:gs pos="100000">
              <a:schemeClr val="accent5">
                <a:hueOff val="-7353344"/>
                <a:satOff val="-10228"/>
                <a:lumOff val="-3922"/>
                <a:alphaOff val="0"/>
                <a:lumMod val="99000"/>
                <a:satMod val="120000"/>
                <a:shade val="78000"/>
              </a:schemeClr>
            </a:gs>
          </a:gsLst>
          <a:lin ang="5400000" scaled="0"/>
        </a:gradFill>
        <a:ln w="6350" cap="flat" cmpd="sng" algn="ctr">
          <a:solidFill>
            <a:schemeClr val="accent5">
              <a:hueOff val="-7353344"/>
              <a:satOff val="-10228"/>
              <a:lumOff val="-3922"/>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b="1" kern="1200" err="1">
              <a:latin typeface="Lato" panose="020F0502020204030203" pitchFamily="34" charset="0"/>
              <a:ea typeface="Lato" panose="020F0502020204030203" pitchFamily="34" charset="0"/>
              <a:cs typeface="Lato" panose="020F0502020204030203" pitchFamily="34" charset="0"/>
            </a:rPr>
            <a:t>Microsavings</a:t>
          </a:r>
          <a:endParaRPr lang="en-PH" sz="1800" b="1" kern="1200">
            <a:latin typeface="Lato" panose="020F0502020204030203" pitchFamily="34" charset="0"/>
            <a:ea typeface="Lato" panose="020F0502020204030203" pitchFamily="34" charset="0"/>
            <a:cs typeface="Lato" panose="020F0502020204030203" pitchFamily="34" charset="0"/>
          </a:endParaRPr>
        </a:p>
      </dsp:txBody>
      <dsp:txXfrm>
        <a:off x="8414062" y="531704"/>
        <a:ext cx="2459056" cy="725791"/>
      </dsp:txXfrm>
    </dsp:sp>
    <dsp:sp modelId="{DE19332E-A8DC-4931-A37C-1F5D486B6D2B}">
      <dsp:nvSpPr>
        <dsp:cNvPr id="0" name=""/>
        <dsp:cNvSpPr/>
      </dsp:nvSpPr>
      <dsp:spPr>
        <a:xfrm>
          <a:off x="8414062" y="1257496"/>
          <a:ext cx="2459056" cy="1093697"/>
        </a:xfrm>
        <a:prstGeom prst="rect">
          <a:avLst/>
        </a:prstGeom>
        <a:solidFill>
          <a:schemeClr val="accent5">
            <a:tint val="40000"/>
            <a:alpha val="90000"/>
            <a:hueOff val="-7391755"/>
            <a:satOff val="-12816"/>
            <a:lumOff val="-1289"/>
            <a:alphaOff val="0"/>
          </a:schemeClr>
        </a:solidFill>
        <a:ln w="6350" cap="flat" cmpd="sng" algn="ctr">
          <a:solidFill>
            <a:schemeClr val="accent5">
              <a:tint val="40000"/>
              <a:alpha val="90000"/>
              <a:hueOff val="-7391755"/>
              <a:satOff val="-12816"/>
              <a:lumOff val="-1289"/>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US" sz="1200" kern="1200">
              <a:latin typeface="Lato" panose="020F0502020204030203" pitchFamily="34" charset="0"/>
              <a:ea typeface="Lato" panose="020F0502020204030203" pitchFamily="34" charset="0"/>
              <a:cs typeface="Lato" panose="020F0502020204030203" pitchFamily="34" charset="0"/>
            </a:rPr>
            <a:t>CBU</a:t>
          </a:r>
          <a:endParaRPr lang="en-PH" sz="1600" kern="1200">
            <a:latin typeface="Lato" panose="020F0502020204030203" pitchFamily="34" charset="0"/>
            <a:ea typeface="Lato" panose="020F0502020204030203" pitchFamily="34" charset="0"/>
            <a:cs typeface="Lato" panose="020F0502020204030203" pitchFamily="34" charset="0"/>
          </a:endParaRPr>
        </a:p>
        <a:p>
          <a:pPr marL="114300" lvl="1" indent="-114300" algn="l" defTabSz="533400">
            <a:lnSpc>
              <a:spcPct val="90000"/>
            </a:lnSpc>
            <a:spcBef>
              <a:spcPct val="0"/>
            </a:spcBef>
            <a:spcAft>
              <a:spcPct val="15000"/>
            </a:spcAft>
            <a:buChar char="•"/>
          </a:pPr>
          <a:r>
            <a:rPr lang="en-US" sz="1200" kern="1200" err="1">
              <a:latin typeface="Lato" panose="020F0502020204030203" pitchFamily="34" charset="0"/>
              <a:ea typeface="Lato" panose="020F0502020204030203" pitchFamily="34" charset="0"/>
              <a:cs typeface="Lato" panose="020F0502020204030203" pitchFamily="34" charset="0"/>
            </a:rPr>
            <a:t>MyIpon</a:t>
          </a:r>
          <a:endParaRPr lang="en-PH" sz="1200" kern="1200">
            <a:latin typeface="Lato" panose="020F0502020204030203" pitchFamily="34" charset="0"/>
            <a:ea typeface="Lato" panose="020F0502020204030203" pitchFamily="34" charset="0"/>
            <a:cs typeface="Lato" panose="020F0502020204030203" pitchFamily="34" charset="0"/>
          </a:endParaRPr>
        </a:p>
      </dsp:txBody>
      <dsp:txXfrm>
        <a:off x="8414062" y="1257496"/>
        <a:ext cx="2459056" cy="109369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59BF76-63B5-445F-8BFB-A94017391464}">
      <dsp:nvSpPr>
        <dsp:cNvPr id="0" name=""/>
        <dsp:cNvSpPr/>
      </dsp:nvSpPr>
      <dsp:spPr>
        <a:xfrm>
          <a:off x="4115" y="51399"/>
          <a:ext cx="2474703" cy="914728"/>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w="6350" cap="flat" cmpd="sng" algn="ctr">
          <a:solidFill>
            <a:schemeClr val="accent5">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PH" sz="1800" b="1" kern="1200">
              <a:latin typeface="Lato"/>
              <a:ea typeface="Lato"/>
              <a:cs typeface="Lato"/>
            </a:rPr>
            <a:t>Production Loan</a:t>
          </a:r>
        </a:p>
      </dsp:txBody>
      <dsp:txXfrm>
        <a:off x="4115" y="51399"/>
        <a:ext cx="2474703" cy="914728"/>
      </dsp:txXfrm>
    </dsp:sp>
    <dsp:sp modelId="{C87DBAC9-2291-4FAA-905D-3C22E81CE32E}">
      <dsp:nvSpPr>
        <dsp:cNvPr id="0" name=""/>
        <dsp:cNvSpPr/>
      </dsp:nvSpPr>
      <dsp:spPr>
        <a:xfrm>
          <a:off x="4115" y="947709"/>
          <a:ext cx="2474703" cy="1493279"/>
        </a:xfrm>
        <a:prstGeom prst="rect">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PH" sz="1200" kern="1200" err="1">
              <a:latin typeface="Lato"/>
              <a:ea typeface="Lato"/>
              <a:cs typeface="Lato"/>
            </a:rPr>
            <a:t>Mauswagon</a:t>
          </a:r>
          <a:r>
            <a:rPr lang="en-PH" sz="1200" kern="1200">
              <a:latin typeface="Lato"/>
              <a:ea typeface="Lato"/>
              <a:cs typeface="Lato"/>
            </a:rPr>
            <a:t> Loan</a:t>
          </a:r>
          <a:endParaRPr lang="en-PH" sz="1600" kern="1200">
            <a:latin typeface="Lato"/>
            <a:ea typeface="Lato"/>
            <a:cs typeface="Lato"/>
          </a:endParaRPr>
        </a:p>
        <a:p>
          <a:pPr marL="114300" lvl="1" indent="-114300" algn="l" defTabSz="533400">
            <a:lnSpc>
              <a:spcPct val="90000"/>
            </a:lnSpc>
            <a:spcBef>
              <a:spcPct val="0"/>
            </a:spcBef>
            <a:spcAft>
              <a:spcPct val="15000"/>
            </a:spcAft>
            <a:buChar char="•"/>
          </a:pPr>
          <a:r>
            <a:rPr lang="en-PH" sz="1200" kern="1200" err="1">
              <a:latin typeface="Lato"/>
              <a:ea typeface="Lato"/>
              <a:cs typeface="Lato"/>
            </a:rPr>
            <a:t>Kabuhayan</a:t>
          </a:r>
          <a:r>
            <a:rPr lang="en-PH" sz="1200" kern="1200">
              <a:latin typeface="Lato"/>
              <a:ea typeface="Lato"/>
              <a:cs typeface="Lato"/>
            </a:rPr>
            <a:t> Hog</a:t>
          </a:r>
        </a:p>
      </dsp:txBody>
      <dsp:txXfrm>
        <a:off x="4115" y="947709"/>
        <a:ext cx="2474703" cy="1493279"/>
      </dsp:txXfrm>
    </dsp:sp>
    <dsp:sp modelId="{8C3B7137-A507-4964-8EAE-A8BDFEF0BAE8}">
      <dsp:nvSpPr>
        <dsp:cNvPr id="0" name=""/>
        <dsp:cNvSpPr/>
      </dsp:nvSpPr>
      <dsp:spPr>
        <a:xfrm>
          <a:off x="2825277" y="51399"/>
          <a:ext cx="2474703" cy="914728"/>
        </a:xfrm>
        <a:prstGeom prst="rect">
          <a:avLst/>
        </a:prstGeom>
        <a:gradFill rotWithShape="0">
          <a:gsLst>
            <a:gs pos="0">
              <a:schemeClr val="accent5">
                <a:hueOff val="-2451115"/>
                <a:satOff val="-3409"/>
                <a:lumOff val="-1307"/>
                <a:alphaOff val="0"/>
                <a:satMod val="103000"/>
                <a:lumMod val="102000"/>
                <a:tint val="94000"/>
              </a:schemeClr>
            </a:gs>
            <a:gs pos="50000">
              <a:schemeClr val="accent5">
                <a:hueOff val="-2451115"/>
                <a:satOff val="-3409"/>
                <a:lumOff val="-1307"/>
                <a:alphaOff val="0"/>
                <a:satMod val="110000"/>
                <a:lumMod val="100000"/>
                <a:shade val="100000"/>
              </a:schemeClr>
            </a:gs>
            <a:gs pos="100000">
              <a:schemeClr val="accent5">
                <a:hueOff val="-2451115"/>
                <a:satOff val="-3409"/>
                <a:lumOff val="-1307"/>
                <a:alphaOff val="0"/>
                <a:lumMod val="99000"/>
                <a:satMod val="120000"/>
                <a:shade val="78000"/>
              </a:schemeClr>
            </a:gs>
          </a:gsLst>
          <a:lin ang="5400000" scaled="0"/>
        </a:gradFill>
        <a:ln w="6350" cap="flat" cmpd="sng" algn="ctr">
          <a:solidFill>
            <a:schemeClr val="accent5">
              <a:hueOff val="-2451115"/>
              <a:satOff val="-3409"/>
              <a:lumOff val="-1307"/>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PH" sz="1800" b="1" kern="1200">
              <a:latin typeface="Lato"/>
              <a:ea typeface="Lato"/>
              <a:cs typeface="Lato"/>
            </a:rPr>
            <a:t>Supplemental Loan</a:t>
          </a:r>
        </a:p>
      </dsp:txBody>
      <dsp:txXfrm>
        <a:off x="2825277" y="51399"/>
        <a:ext cx="2474703" cy="914728"/>
      </dsp:txXfrm>
    </dsp:sp>
    <dsp:sp modelId="{A6C8B00C-A138-418C-880F-20BD333101A1}">
      <dsp:nvSpPr>
        <dsp:cNvPr id="0" name=""/>
        <dsp:cNvSpPr/>
      </dsp:nvSpPr>
      <dsp:spPr>
        <a:xfrm>
          <a:off x="2825277" y="947709"/>
          <a:ext cx="2474703" cy="1493279"/>
        </a:xfrm>
        <a:prstGeom prst="rect">
          <a:avLst/>
        </a:prstGeom>
        <a:solidFill>
          <a:schemeClr val="accent5">
            <a:tint val="40000"/>
            <a:alpha val="90000"/>
            <a:hueOff val="-2463918"/>
            <a:satOff val="-4272"/>
            <a:lumOff val="-430"/>
            <a:alphaOff val="0"/>
          </a:schemeClr>
        </a:solidFill>
        <a:ln w="6350" cap="flat" cmpd="sng" algn="ctr">
          <a:solidFill>
            <a:schemeClr val="accent5">
              <a:tint val="40000"/>
              <a:alpha val="90000"/>
              <a:hueOff val="-2463918"/>
              <a:satOff val="-4272"/>
              <a:lumOff val="-43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PH" sz="1200" kern="1200">
              <a:latin typeface="Lato" panose="020F0502020204030203" pitchFamily="34" charset="0"/>
              <a:ea typeface="Lato" panose="020F0502020204030203" pitchFamily="34" charset="0"/>
              <a:cs typeface="Lato" panose="020F0502020204030203" pitchFamily="34" charset="0"/>
            </a:rPr>
            <a:t>Housing Improvement Loan</a:t>
          </a:r>
          <a:endParaRPr lang="en-PH" sz="1600" kern="1200">
            <a:latin typeface="Lato" panose="020F0502020204030203" pitchFamily="34" charset="0"/>
            <a:ea typeface="Lato" panose="020F0502020204030203" pitchFamily="34" charset="0"/>
            <a:cs typeface="Lato" panose="020F0502020204030203" pitchFamily="34" charset="0"/>
          </a:endParaRPr>
        </a:p>
        <a:p>
          <a:pPr marL="114300" lvl="1" indent="-114300" algn="l" defTabSz="533400">
            <a:lnSpc>
              <a:spcPct val="90000"/>
            </a:lnSpc>
            <a:spcBef>
              <a:spcPct val="0"/>
            </a:spcBef>
            <a:spcAft>
              <a:spcPct val="15000"/>
            </a:spcAft>
            <a:buChar char="•"/>
          </a:pPr>
          <a:r>
            <a:rPr lang="en-PH" sz="1200" kern="1200">
              <a:latin typeface="Lato"/>
              <a:ea typeface="Lato"/>
              <a:cs typeface="Lato"/>
            </a:rPr>
            <a:t>Education Loan</a:t>
          </a:r>
        </a:p>
        <a:p>
          <a:pPr marL="114300" lvl="1" indent="-114300" algn="l" defTabSz="533400">
            <a:lnSpc>
              <a:spcPct val="90000"/>
            </a:lnSpc>
            <a:spcBef>
              <a:spcPct val="0"/>
            </a:spcBef>
            <a:spcAft>
              <a:spcPct val="15000"/>
            </a:spcAft>
            <a:buChar char="•"/>
          </a:pPr>
          <a:r>
            <a:rPr lang="en-PH" sz="1200" kern="1200">
              <a:latin typeface="Lato"/>
              <a:ea typeface="Lato"/>
              <a:cs typeface="Lato"/>
            </a:rPr>
            <a:t>SAGIP Loan as Emergency</a:t>
          </a:r>
        </a:p>
        <a:p>
          <a:pPr marL="114300" lvl="1" indent="-114300" algn="l" defTabSz="533400">
            <a:lnSpc>
              <a:spcPct val="90000"/>
            </a:lnSpc>
            <a:spcBef>
              <a:spcPct val="0"/>
            </a:spcBef>
            <a:spcAft>
              <a:spcPct val="15000"/>
            </a:spcAft>
            <a:buChar char="•"/>
          </a:pPr>
          <a:r>
            <a:rPr lang="en-PH" sz="1200" kern="1200">
              <a:latin typeface="Lato"/>
              <a:ea typeface="Lato"/>
              <a:cs typeface="Lato"/>
            </a:rPr>
            <a:t>SAGIP Loan as Disaster Recovery</a:t>
          </a:r>
        </a:p>
      </dsp:txBody>
      <dsp:txXfrm>
        <a:off x="2825277" y="947709"/>
        <a:ext cx="2474703" cy="1493279"/>
      </dsp:txXfrm>
    </dsp:sp>
    <dsp:sp modelId="{4DB9AE7B-489D-4F24-B987-26DA59C16979}">
      <dsp:nvSpPr>
        <dsp:cNvPr id="0" name=""/>
        <dsp:cNvSpPr/>
      </dsp:nvSpPr>
      <dsp:spPr>
        <a:xfrm>
          <a:off x="5646440" y="51399"/>
          <a:ext cx="2474703" cy="914728"/>
        </a:xfrm>
        <a:prstGeom prst="rect">
          <a:avLst/>
        </a:prstGeom>
        <a:gradFill rotWithShape="0">
          <a:gsLst>
            <a:gs pos="0">
              <a:schemeClr val="accent5">
                <a:hueOff val="-4902230"/>
                <a:satOff val="-6819"/>
                <a:lumOff val="-2615"/>
                <a:alphaOff val="0"/>
                <a:satMod val="103000"/>
                <a:lumMod val="102000"/>
                <a:tint val="94000"/>
              </a:schemeClr>
            </a:gs>
            <a:gs pos="50000">
              <a:schemeClr val="accent5">
                <a:hueOff val="-4902230"/>
                <a:satOff val="-6819"/>
                <a:lumOff val="-2615"/>
                <a:alphaOff val="0"/>
                <a:satMod val="110000"/>
                <a:lumMod val="100000"/>
                <a:shade val="100000"/>
              </a:schemeClr>
            </a:gs>
            <a:gs pos="100000">
              <a:schemeClr val="accent5">
                <a:hueOff val="-4902230"/>
                <a:satOff val="-6819"/>
                <a:lumOff val="-2615"/>
                <a:alphaOff val="0"/>
                <a:lumMod val="99000"/>
                <a:satMod val="120000"/>
                <a:shade val="78000"/>
              </a:schemeClr>
            </a:gs>
          </a:gsLst>
          <a:lin ang="5400000" scaled="0"/>
        </a:gradFill>
        <a:ln w="6350" cap="flat" cmpd="sng" algn="ctr">
          <a:solidFill>
            <a:schemeClr val="accent5">
              <a:hueOff val="-4902230"/>
              <a:satOff val="-6819"/>
              <a:lumOff val="-2615"/>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PH" sz="1800" b="1" kern="1200">
              <a:latin typeface="Lato"/>
              <a:ea typeface="Lato"/>
              <a:cs typeface="Lato"/>
            </a:rPr>
            <a:t>Microinsurance</a:t>
          </a:r>
        </a:p>
      </dsp:txBody>
      <dsp:txXfrm>
        <a:off x="5646440" y="51399"/>
        <a:ext cx="2474703" cy="914728"/>
      </dsp:txXfrm>
    </dsp:sp>
    <dsp:sp modelId="{B0323036-6C52-44BC-8ECD-51763DFD2A22}">
      <dsp:nvSpPr>
        <dsp:cNvPr id="0" name=""/>
        <dsp:cNvSpPr/>
      </dsp:nvSpPr>
      <dsp:spPr>
        <a:xfrm>
          <a:off x="5646440" y="947709"/>
          <a:ext cx="2474703" cy="1493279"/>
        </a:xfrm>
        <a:prstGeom prst="rect">
          <a:avLst/>
        </a:prstGeom>
        <a:solidFill>
          <a:schemeClr val="accent5">
            <a:tint val="40000"/>
            <a:alpha val="90000"/>
            <a:hueOff val="-4927837"/>
            <a:satOff val="-8544"/>
            <a:lumOff val="-859"/>
            <a:alphaOff val="0"/>
          </a:schemeClr>
        </a:solidFill>
        <a:ln w="6350" cap="flat" cmpd="sng" algn="ctr">
          <a:solidFill>
            <a:schemeClr val="accent5">
              <a:tint val="40000"/>
              <a:alpha val="90000"/>
              <a:hueOff val="-4927837"/>
              <a:satOff val="-8544"/>
              <a:lumOff val="-859"/>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PH" sz="1200" kern="1200" err="1">
              <a:latin typeface="Lato" panose="020F0502020204030203" pitchFamily="34" charset="0"/>
              <a:ea typeface="Lato" panose="020F0502020204030203" pitchFamily="34" charset="0"/>
              <a:cs typeface="Lato" panose="020F0502020204030203" pitchFamily="34" charset="0"/>
            </a:rPr>
            <a:t>Kaagabay</a:t>
          </a:r>
          <a:r>
            <a:rPr lang="en-PH" sz="1200" kern="1200">
              <a:latin typeface="Lato" panose="020F0502020204030203" pitchFamily="34" charset="0"/>
              <a:ea typeface="Lato" panose="020F0502020204030203" pitchFamily="34" charset="0"/>
              <a:cs typeface="Lato" panose="020F0502020204030203" pitchFamily="34" charset="0"/>
            </a:rPr>
            <a:t> (GPA)</a:t>
          </a:r>
        </a:p>
        <a:p>
          <a:pPr marL="114300" lvl="1" indent="-114300" algn="l" defTabSz="533400">
            <a:lnSpc>
              <a:spcPct val="90000"/>
            </a:lnSpc>
            <a:spcBef>
              <a:spcPct val="0"/>
            </a:spcBef>
            <a:spcAft>
              <a:spcPct val="15000"/>
            </a:spcAft>
            <a:buChar char="•"/>
          </a:pPr>
          <a:r>
            <a:rPr lang="en-PH" sz="1200" kern="1200">
              <a:latin typeface="Lato" panose="020F0502020204030203" pitchFamily="34" charset="0"/>
              <a:ea typeface="Lato" panose="020F0502020204030203" pitchFamily="34" charset="0"/>
              <a:cs typeface="Lato" panose="020F0502020204030203" pitchFamily="34" charset="0"/>
            </a:rPr>
            <a:t>Family Relief Plan</a:t>
          </a:r>
        </a:p>
        <a:p>
          <a:pPr marL="114300" lvl="1" indent="-114300" algn="l" defTabSz="533400">
            <a:lnSpc>
              <a:spcPct val="90000"/>
            </a:lnSpc>
            <a:spcBef>
              <a:spcPct val="0"/>
            </a:spcBef>
            <a:spcAft>
              <a:spcPct val="15000"/>
            </a:spcAft>
            <a:buChar char="•"/>
          </a:pPr>
          <a:r>
            <a:rPr lang="en-PH" sz="1200" kern="1200">
              <a:latin typeface="Lato"/>
              <a:ea typeface="Lato"/>
              <a:cs typeface="Lato"/>
            </a:rPr>
            <a:t>Loan Redemption Fund</a:t>
          </a:r>
        </a:p>
      </dsp:txBody>
      <dsp:txXfrm>
        <a:off x="5646440" y="947709"/>
        <a:ext cx="2474703" cy="1493279"/>
      </dsp:txXfrm>
    </dsp:sp>
    <dsp:sp modelId="{96915571-B7BF-4602-B37B-19A29E8A0FF4}">
      <dsp:nvSpPr>
        <dsp:cNvPr id="0" name=""/>
        <dsp:cNvSpPr/>
      </dsp:nvSpPr>
      <dsp:spPr>
        <a:xfrm>
          <a:off x="8467602" y="9954"/>
          <a:ext cx="2474703" cy="979200"/>
        </a:xfrm>
        <a:prstGeom prst="rect">
          <a:avLst/>
        </a:prstGeom>
        <a:gradFill rotWithShape="0">
          <a:gsLst>
            <a:gs pos="0">
              <a:schemeClr val="accent5">
                <a:hueOff val="-7353344"/>
                <a:satOff val="-10228"/>
                <a:lumOff val="-3922"/>
                <a:alphaOff val="0"/>
                <a:satMod val="103000"/>
                <a:lumMod val="102000"/>
                <a:tint val="94000"/>
              </a:schemeClr>
            </a:gs>
            <a:gs pos="50000">
              <a:schemeClr val="accent5">
                <a:hueOff val="-7353344"/>
                <a:satOff val="-10228"/>
                <a:lumOff val="-3922"/>
                <a:alphaOff val="0"/>
                <a:satMod val="110000"/>
                <a:lumMod val="100000"/>
                <a:shade val="100000"/>
              </a:schemeClr>
            </a:gs>
            <a:gs pos="100000">
              <a:schemeClr val="accent5">
                <a:hueOff val="-7353344"/>
                <a:satOff val="-10228"/>
                <a:lumOff val="-3922"/>
                <a:alphaOff val="0"/>
                <a:lumMod val="99000"/>
                <a:satMod val="120000"/>
                <a:shade val="78000"/>
              </a:schemeClr>
            </a:gs>
          </a:gsLst>
          <a:lin ang="5400000" scaled="0"/>
        </a:gradFill>
        <a:ln w="6350" cap="flat" cmpd="sng" algn="ctr">
          <a:solidFill>
            <a:schemeClr val="accent5">
              <a:hueOff val="-7353344"/>
              <a:satOff val="-10228"/>
              <a:lumOff val="-3922"/>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b="1" kern="1200" err="1">
              <a:latin typeface="Lato" panose="020F0502020204030203" pitchFamily="34" charset="0"/>
              <a:ea typeface="Lato" panose="020F0502020204030203" pitchFamily="34" charset="0"/>
              <a:cs typeface="Lato" panose="020F0502020204030203" pitchFamily="34" charset="0"/>
            </a:rPr>
            <a:t>Microsavings</a:t>
          </a:r>
          <a:endParaRPr lang="en-PH" sz="1800" b="1" kern="1200">
            <a:latin typeface="Lato" panose="020F0502020204030203" pitchFamily="34" charset="0"/>
            <a:ea typeface="Lato" panose="020F0502020204030203" pitchFamily="34" charset="0"/>
            <a:cs typeface="Lato" panose="020F0502020204030203" pitchFamily="34" charset="0"/>
          </a:endParaRPr>
        </a:p>
      </dsp:txBody>
      <dsp:txXfrm>
        <a:off x="8467602" y="9954"/>
        <a:ext cx="2474703" cy="979200"/>
      </dsp:txXfrm>
    </dsp:sp>
    <dsp:sp modelId="{DE19332E-A8DC-4931-A37C-1F5D486B6D2B}">
      <dsp:nvSpPr>
        <dsp:cNvPr id="0" name=""/>
        <dsp:cNvSpPr/>
      </dsp:nvSpPr>
      <dsp:spPr>
        <a:xfrm>
          <a:off x="8467602" y="989154"/>
          <a:ext cx="2474703" cy="1493279"/>
        </a:xfrm>
        <a:prstGeom prst="rect">
          <a:avLst/>
        </a:prstGeom>
        <a:solidFill>
          <a:schemeClr val="accent5">
            <a:tint val="40000"/>
            <a:alpha val="90000"/>
            <a:hueOff val="-7391755"/>
            <a:satOff val="-12816"/>
            <a:lumOff val="-1289"/>
            <a:alphaOff val="0"/>
          </a:schemeClr>
        </a:solidFill>
        <a:ln w="6350" cap="flat" cmpd="sng" algn="ctr">
          <a:solidFill>
            <a:schemeClr val="accent5">
              <a:tint val="40000"/>
              <a:alpha val="90000"/>
              <a:hueOff val="-7391755"/>
              <a:satOff val="-12816"/>
              <a:lumOff val="-1289"/>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US" sz="1200" kern="1200">
              <a:latin typeface="Lato" panose="020F0502020204030203" pitchFamily="34" charset="0"/>
              <a:ea typeface="Lato" panose="020F0502020204030203" pitchFamily="34" charset="0"/>
              <a:cs typeface="Lato" panose="020F0502020204030203" pitchFamily="34" charset="0"/>
            </a:rPr>
            <a:t>CBU</a:t>
          </a:r>
          <a:endParaRPr lang="en-PH" sz="1600" kern="1200">
            <a:latin typeface="Lato" panose="020F0502020204030203" pitchFamily="34" charset="0"/>
            <a:ea typeface="Lato" panose="020F0502020204030203" pitchFamily="34" charset="0"/>
            <a:cs typeface="Lato" panose="020F0502020204030203" pitchFamily="34" charset="0"/>
          </a:endParaRPr>
        </a:p>
        <a:p>
          <a:pPr marL="114300" lvl="1" indent="-114300" algn="l" defTabSz="533400">
            <a:lnSpc>
              <a:spcPct val="90000"/>
            </a:lnSpc>
            <a:spcBef>
              <a:spcPct val="0"/>
            </a:spcBef>
            <a:spcAft>
              <a:spcPct val="15000"/>
            </a:spcAft>
            <a:buChar char="•"/>
          </a:pPr>
          <a:r>
            <a:rPr lang="en-US" sz="1200" kern="1200" err="1">
              <a:latin typeface="Lato" panose="020F0502020204030203" pitchFamily="34" charset="0"/>
              <a:ea typeface="Lato" panose="020F0502020204030203" pitchFamily="34" charset="0"/>
              <a:cs typeface="Lato" panose="020F0502020204030203" pitchFamily="34" charset="0"/>
            </a:rPr>
            <a:t>MyIpon</a:t>
          </a:r>
          <a:endParaRPr lang="en-PH" sz="1200" kern="1200">
            <a:latin typeface="Lato" panose="020F0502020204030203" pitchFamily="34" charset="0"/>
            <a:ea typeface="Lato" panose="020F0502020204030203" pitchFamily="34" charset="0"/>
            <a:cs typeface="Lato" panose="020F0502020204030203" pitchFamily="34" charset="0"/>
          </a:endParaRPr>
        </a:p>
      </dsp:txBody>
      <dsp:txXfrm>
        <a:off x="8467602" y="989154"/>
        <a:ext cx="2474703" cy="149327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59BF76-63B5-445F-8BFB-A94017391464}">
      <dsp:nvSpPr>
        <dsp:cNvPr id="0" name=""/>
        <dsp:cNvSpPr/>
      </dsp:nvSpPr>
      <dsp:spPr>
        <a:xfrm>
          <a:off x="4115" y="51399"/>
          <a:ext cx="2474703" cy="914728"/>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w="6350" cap="flat" cmpd="sng" algn="ctr">
          <a:solidFill>
            <a:schemeClr val="accent5">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PH" sz="1800" b="1" kern="1200">
              <a:latin typeface="Lato"/>
              <a:ea typeface="Lato"/>
              <a:cs typeface="Lato"/>
            </a:rPr>
            <a:t>Production Loan</a:t>
          </a:r>
        </a:p>
      </dsp:txBody>
      <dsp:txXfrm>
        <a:off x="4115" y="51399"/>
        <a:ext cx="2474703" cy="914728"/>
      </dsp:txXfrm>
    </dsp:sp>
    <dsp:sp modelId="{C87DBAC9-2291-4FAA-905D-3C22E81CE32E}">
      <dsp:nvSpPr>
        <dsp:cNvPr id="0" name=""/>
        <dsp:cNvSpPr/>
      </dsp:nvSpPr>
      <dsp:spPr>
        <a:xfrm>
          <a:off x="4115" y="947710"/>
          <a:ext cx="2474703" cy="1493279"/>
        </a:xfrm>
        <a:prstGeom prst="rect">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PH" sz="1200" kern="1200" err="1">
              <a:latin typeface="Lato"/>
              <a:ea typeface="Lato"/>
              <a:cs typeface="Lato"/>
            </a:rPr>
            <a:t>Mauswagon</a:t>
          </a:r>
          <a:r>
            <a:rPr lang="en-PH" sz="1200" kern="1200">
              <a:latin typeface="Lato"/>
              <a:ea typeface="Lato"/>
              <a:cs typeface="Lato"/>
            </a:rPr>
            <a:t> Loan</a:t>
          </a:r>
          <a:endParaRPr lang="en-PH" sz="1600" kern="1200">
            <a:latin typeface="Lato"/>
            <a:ea typeface="Lato"/>
            <a:cs typeface="Lato"/>
          </a:endParaRPr>
        </a:p>
        <a:p>
          <a:pPr marL="114300" lvl="1" indent="-114300" algn="l" defTabSz="533400">
            <a:lnSpc>
              <a:spcPct val="90000"/>
            </a:lnSpc>
            <a:spcBef>
              <a:spcPct val="0"/>
            </a:spcBef>
            <a:spcAft>
              <a:spcPct val="15000"/>
            </a:spcAft>
            <a:buChar char="•"/>
          </a:pPr>
          <a:r>
            <a:rPr lang="en-PH" sz="1200" kern="1200" err="1">
              <a:latin typeface="Lato"/>
              <a:ea typeface="Lato"/>
              <a:cs typeface="Lato"/>
            </a:rPr>
            <a:t>Kabuhayan</a:t>
          </a:r>
          <a:r>
            <a:rPr lang="en-PH" sz="1200" kern="1200">
              <a:latin typeface="Lato"/>
              <a:ea typeface="Lato"/>
              <a:cs typeface="Lato"/>
            </a:rPr>
            <a:t> Hog</a:t>
          </a:r>
        </a:p>
      </dsp:txBody>
      <dsp:txXfrm>
        <a:off x="4115" y="947710"/>
        <a:ext cx="2474703" cy="1493279"/>
      </dsp:txXfrm>
    </dsp:sp>
    <dsp:sp modelId="{8C3B7137-A507-4964-8EAE-A8BDFEF0BAE8}">
      <dsp:nvSpPr>
        <dsp:cNvPr id="0" name=""/>
        <dsp:cNvSpPr/>
      </dsp:nvSpPr>
      <dsp:spPr>
        <a:xfrm>
          <a:off x="2825277" y="51399"/>
          <a:ext cx="2474703" cy="914728"/>
        </a:xfrm>
        <a:prstGeom prst="rect">
          <a:avLst/>
        </a:prstGeom>
        <a:gradFill rotWithShape="0">
          <a:gsLst>
            <a:gs pos="0">
              <a:schemeClr val="accent5">
                <a:hueOff val="-2451115"/>
                <a:satOff val="-3409"/>
                <a:lumOff val="-1307"/>
                <a:alphaOff val="0"/>
                <a:satMod val="103000"/>
                <a:lumMod val="102000"/>
                <a:tint val="94000"/>
              </a:schemeClr>
            </a:gs>
            <a:gs pos="50000">
              <a:schemeClr val="accent5">
                <a:hueOff val="-2451115"/>
                <a:satOff val="-3409"/>
                <a:lumOff val="-1307"/>
                <a:alphaOff val="0"/>
                <a:satMod val="110000"/>
                <a:lumMod val="100000"/>
                <a:shade val="100000"/>
              </a:schemeClr>
            </a:gs>
            <a:gs pos="100000">
              <a:schemeClr val="accent5">
                <a:hueOff val="-2451115"/>
                <a:satOff val="-3409"/>
                <a:lumOff val="-1307"/>
                <a:alphaOff val="0"/>
                <a:lumMod val="99000"/>
                <a:satMod val="120000"/>
                <a:shade val="78000"/>
              </a:schemeClr>
            </a:gs>
          </a:gsLst>
          <a:lin ang="5400000" scaled="0"/>
        </a:gradFill>
        <a:ln w="6350" cap="flat" cmpd="sng" algn="ctr">
          <a:solidFill>
            <a:schemeClr val="accent5">
              <a:hueOff val="-2451115"/>
              <a:satOff val="-3409"/>
              <a:lumOff val="-1307"/>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PH" sz="1800" b="1" kern="1200">
              <a:latin typeface="Lato"/>
              <a:ea typeface="Lato"/>
              <a:cs typeface="Lato"/>
            </a:rPr>
            <a:t>Supplemental Loan</a:t>
          </a:r>
        </a:p>
      </dsp:txBody>
      <dsp:txXfrm>
        <a:off x="2825277" y="51399"/>
        <a:ext cx="2474703" cy="914728"/>
      </dsp:txXfrm>
    </dsp:sp>
    <dsp:sp modelId="{A6C8B00C-A138-418C-880F-20BD333101A1}">
      <dsp:nvSpPr>
        <dsp:cNvPr id="0" name=""/>
        <dsp:cNvSpPr/>
      </dsp:nvSpPr>
      <dsp:spPr>
        <a:xfrm>
          <a:off x="2825277" y="947710"/>
          <a:ext cx="2474703" cy="1493279"/>
        </a:xfrm>
        <a:prstGeom prst="rect">
          <a:avLst/>
        </a:prstGeom>
        <a:solidFill>
          <a:schemeClr val="accent5">
            <a:tint val="40000"/>
            <a:alpha val="90000"/>
            <a:hueOff val="-2463918"/>
            <a:satOff val="-4272"/>
            <a:lumOff val="-430"/>
            <a:alphaOff val="0"/>
          </a:schemeClr>
        </a:solidFill>
        <a:ln w="6350" cap="flat" cmpd="sng" algn="ctr">
          <a:solidFill>
            <a:schemeClr val="accent5">
              <a:tint val="40000"/>
              <a:alpha val="90000"/>
              <a:hueOff val="-2463918"/>
              <a:satOff val="-4272"/>
              <a:lumOff val="-43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PH" sz="1200" kern="1200">
              <a:latin typeface="Lato" panose="020F0502020204030203" pitchFamily="34" charset="0"/>
              <a:ea typeface="Lato" panose="020F0502020204030203" pitchFamily="34" charset="0"/>
              <a:cs typeface="Lato" panose="020F0502020204030203" pitchFamily="34" charset="0"/>
            </a:rPr>
            <a:t>Housing Improvement Loan</a:t>
          </a:r>
          <a:endParaRPr lang="en-PH" sz="1600" kern="1200">
            <a:latin typeface="Lato" panose="020F0502020204030203" pitchFamily="34" charset="0"/>
            <a:ea typeface="Lato" panose="020F0502020204030203" pitchFamily="34" charset="0"/>
            <a:cs typeface="Lato" panose="020F0502020204030203" pitchFamily="34" charset="0"/>
          </a:endParaRPr>
        </a:p>
        <a:p>
          <a:pPr marL="114300" lvl="1" indent="-114300" algn="l" defTabSz="533400">
            <a:lnSpc>
              <a:spcPct val="90000"/>
            </a:lnSpc>
            <a:spcBef>
              <a:spcPct val="0"/>
            </a:spcBef>
            <a:spcAft>
              <a:spcPct val="15000"/>
            </a:spcAft>
            <a:buChar char="•"/>
          </a:pPr>
          <a:r>
            <a:rPr lang="en-PH" sz="1200" kern="1200">
              <a:latin typeface="Lato"/>
              <a:ea typeface="Lato"/>
              <a:cs typeface="Lato"/>
            </a:rPr>
            <a:t>Education Loan</a:t>
          </a:r>
        </a:p>
        <a:p>
          <a:pPr marL="114300" lvl="1" indent="-114300" algn="l" defTabSz="533400">
            <a:lnSpc>
              <a:spcPct val="90000"/>
            </a:lnSpc>
            <a:spcBef>
              <a:spcPct val="0"/>
            </a:spcBef>
            <a:spcAft>
              <a:spcPct val="15000"/>
            </a:spcAft>
            <a:buChar char="•"/>
          </a:pPr>
          <a:r>
            <a:rPr lang="en-PH" sz="1200" kern="1200">
              <a:latin typeface="Lato"/>
              <a:ea typeface="Lato"/>
              <a:cs typeface="Lato"/>
            </a:rPr>
            <a:t>SAGIP Loan as Emergency</a:t>
          </a:r>
        </a:p>
        <a:p>
          <a:pPr marL="114300" lvl="1" indent="-114300" algn="l" defTabSz="533400">
            <a:lnSpc>
              <a:spcPct val="90000"/>
            </a:lnSpc>
            <a:spcBef>
              <a:spcPct val="0"/>
            </a:spcBef>
            <a:spcAft>
              <a:spcPct val="15000"/>
            </a:spcAft>
            <a:buChar char="•"/>
          </a:pPr>
          <a:r>
            <a:rPr lang="en-PH" sz="1200" kern="1200">
              <a:latin typeface="Lato"/>
              <a:ea typeface="Lato"/>
              <a:cs typeface="Lato"/>
            </a:rPr>
            <a:t>SAGIP Loan as Disaster Recovery</a:t>
          </a:r>
        </a:p>
      </dsp:txBody>
      <dsp:txXfrm>
        <a:off x="2825277" y="947710"/>
        <a:ext cx="2474703" cy="1493279"/>
      </dsp:txXfrm>
    </dsp:sp>
    <dsp:sp modelId="{4DB9AE7B-489D-4F24-B987-26DA59C16979}">
      <dsp:nvSpPr>
        <dsp:cNvPr id="0" name=""/>
        <dsp:cNvSpPr/>
      </dsp:nvSpPr>
      <dsp:spPr>
        <a:xfrm>
          <a:off x="5646440" y="51399"/>
          <a:ext cx="2474703" cy="914728"/>
        </a:xfrm>
        <a:prstGeom prst="rect">
          <a:avLst/>
        </a:prstGeom>
        <a:gradFill rotWithShape="0">
          <a:gsLst>
            <a:gs pos="0">
              <a:schemeClr val="accent5">
                <a:hueOff val="-4902230"/>
                <a:satOff val="-6819"/>
                <a:lumOff val="-2615"/>
                <a:alphaOff val="0"/>
                <a:satMod val="103000"/>
                <a:lumMod val="102000"/>
                <a:tint val="94000"/>
              </a:schemeClr>
            </a:gs>
            <a:gs pos="50000">
              <a:schemeClr val="accent5">
                <a:hueOff val="-4902230"/>
                <a:satOff val="-6819"/>
                <a:lumOff val="-2615"/>
                <a:alphaOff val="0"/>
                <a:satMod val="110000"/>
                <a:lumMod val="100000"/>
                <a:shade val="100000"/>
              </a:schemeClr>
            </a:gs>
            <a:gs pos="100000">
              <a:schemeClr val="accent5">
                <a:hueOff val="-4902230"/>
                <a:satOff val="-6819"/>
                <a:lumOff val="-2615"/>
                <a:alphaOff val="0"/>
                <a:lumMod val="99000"/>
                <a:satMod val="120000"/>
                <a:shade val="78000"/>
              </a:schemeClr>
            </a:gs>
          </a:gsLst>
          <a:lin ang="5400000" scaled="0"/>
        </a:gradFill>
        <a:ln w="6350" cap="flat" cmpd="sng" algn="ctr">
          <a:solidFill>
            <a:schemeClr val="accent5">
              <a:hueOff val="-4902230"/>
              <a:satOff val="-6819"/>
              <a:lumOff val="-2615"/>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PH" sz="1800" b="1" kern="1200">
              <a:latin typeface="Lato"/>
              <a:ea typeface="Lato"/>
              <a:cs typeface="Lato"/>
            </a:rPr>
            <a:t>Microinsurance</a:t>
          </a:r>
        </a:p>
      </dsp:txBody>
      <dsp:txXfrm>
        <a:off x="5646440" y="51399"/>
        <a:ext cx="2474703" cy="914728"/>
      </dsp:txXfrm>
    </dsp:sp>
    <dsp:sp modelId="{B0323036-6C52-44BC-8ECD-51763DFD2A22}">
      <dsp:nvSpPr>
        <dsp:cNvPr id="0" name=""/>
        <dsp:cNvSpPr/>
      </dsp:nvSpPr>
      <dsp:spPr>
        <a:xfrm>
          <a:off x="5646440" y="947710"/>
          <a:ext cx="2474703" cy="1493279"/>
        </a:xfrm>
        <a:prstGeom prst="rect">
          <a:avLst/>
        </a:prstGeom>
        <a:solidFill>
          <a:schemeClr val="accent5">
            <a:tint val="40000"/>
            <a:alpha val="90000"/>
            <a:hueOff val="-4927837"/>
            <a:satOff val="-8544"/>
            <a:lumOff val="-859"/>
            <a:alphaOff val="0"/>
          </a:schemeClr>
        </a:solidFill>
        <a:ln w="6350" cap="flat" cmpd="sng" algn="ctr">
          <a:solidFill>
            <a:schemeClr val="accent5">
              <a:tint val="40000"/>
              <a:alpha val="90000"/>
              <a:hueOff val="-4927837"/>
              <a:satOff val="-8544"/>
              <a:lumOff val="-859"/>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PH" sz="1200" kern="1200" err="1">
              <a:latin typeface="Lato" panose="020F0502020204030203" pitchFamily="34" charset="0"/>
              <a:ea typeface="Lato" panose="020F0502020204030203" pitchFamily="34" charset="0"/>
              <a:cs typeface="Lato" panose="020F0502020204030203" pitchFamily="34" charset="0"/>
            </a:rPr>
            <a:t>Kaagabay</a:t>
          </a:r>
          <a:r>
            <a:rPr lang="en-PH" sz="1200" kern="1200">
              <a:latin typeface="Lato" panose="020F0502020204030203" pitchFamily="34" charset="0"/>
              <a:ea typeface="Lato" panose="020F0502020204030203" pitchFamily="34" charset="0"/>
              <a:cs typeface="Lato" panose="020F0502020204030203" pitchFamily="34" charset="0"/>
            </a:rPr>
            <a:t> (GPA)</a:t>
          </a:r>
        </a:p>
        <a:p>
          <a:pPr marL="114300" lvl="1" indent="-114300" algn="l" defTabSz="533400">
            <a:lnSpc>
              <a:spcPct val="90000"/>
            </a:lnSpc>
            <a:spcBef>
              <a:spcPct val="0"/>
            </a:spcBef>
            <a:spcAft>
              <a:spcPct val="15000"/>
            </a:spcAft>
            <a:buChar char="•"/>
          </a:pPr>
          <a:r>
            <a:rPr lang="en-PH" sz="1200" kern="1200">
              <a:latin typeface="Lato"/>
              <a:ea typeface="Lato"/>
              <a:cs typeface="Lato"/>
            </a:rPr>
            <a:t>Family Relief Plan</a:t>
          </a:r>
        </a:p>
        <a:p>
          <a:pPr marL="114300" lvl="1" indent="-114300" algn="l" defTabSz="533400">
            <a:lnSpc>
              <a:spcPct val="90000"/>
            </a:lnSpc>
            <a:spcBef>
              <a:spcPct val="0"/>
            </a:spcBef>
            <a:spcAft>
              <a:spcPct val="15000"/>
            </a:spcAft>
            <a:buChar char="•"/>
          </a:pPr>
          <a:r>
            <a:rPr lang="en-PH" sz="1200" kern="1200">
              <a:latin typeface="Lato"/>
              <a:ea typeface="Lato"/>
              <a:cs typeface="Lato"/>
            </a:rPr>
            <a:t>Loan Redemption Fund</a:t>
          </a:r>
        </a:p>
      </dsp:txBody>
      <dsp:txXfrm>
        <a:off x="5646440" y="947710"/>
        <a:ext cx="2474703" cy="1493279"/>
      </dsp:txXfrm>
    </dsp:sp>
    <dsp:sp modelId="{96915571-B7BF-4602-B37B-19A29E8A0FF4}">
      <dsp:nvSpPr>
        <dsp:cNvPr id="0" name=""/>
        <dsp:cNvSpPr/>
      </dsp:nvSpPr>
      <dsp:spPr>
        <a:xfrm>
          <a:off x="8467602" y="9954"/>
          <a:ext cx="2474703" cy="979200"/>
        </a:xfrm>
        <a:prstGeom prst="rect">
          <a:avLst/>
        </a:prstGeom>
        <a:gradFill rotWithShape="0">
          <a:gsLst>
            <a:gs pos="0">
              <a:schemeClr val="accent5">
                <a:hueOff val="-7353344"/>
                <a:satOff val="-10228"/>
                <a:lumOff val="-3922"/>
                <a:alphaOff val="0"/>
                <a:satMod val="103000"/>
                <a:lumMod val="102000"/>
                <a:tint val="94000"/>
              </a:schemeClr>
            </a:gs>
            <a:gs pos="50000">
              <a:schemeClr val="accent5">
                <a:hueOff val="-7353344"/>
                <a:satOff val="-10228"/>
                <a:lumOff val="-3922"/>
                <a:alphaOff val="0"/>
                <a:satMod val="110000"/>
                <a:lumMod val="100000"/>
                <a:shade val="100000"/>
              </a:schemeClr>
            </a:gs>
            <a:gs pos="100000">
              <a:schemeClr val="accent5">
                <a:hueOff val="-7353344"/>
                <a:satOff val="-10228"/>
                <a:lumOff val="-3922"/>
                <a:alphaOff val="0"/>
                <a:lumMod val="99000"/>
                <a:satMod val="120000"/>
                <a:shade val="78000"/>
              </a:schemeClr>
            </a:gs>
          </a:gsLst>
          <a:lin ang="5400000" scaled="0"/>
        </a:gradFill>
        <a:ln w="6350" cap="flat" cmpd="sng" algn="ctr">
          <a:solidFill>
            <a:schemeClr val="accent5">
              <a:hueOff val="-7353344"/>
              <a:satOff val="-10228"/>
              <a:lumOff val="-3922"/>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b="1" kern="1200" err="1">
              <a:latin typeface="Lato" panose="020F0502020204030203" pitchFamily="34" charset="0"/>
              <a:ea typeface="Lato" panose="020F0502020204030203" pitchFamily="34" charset="0"/>
              <a:cs typeface="Lato" panose="020F0502020204030203" pitchFamily="34" charset="0"/>
            </a:rPr>
            <a:t>Microsavings</a:t>
          </a:r>
          <a:endParaRPr lang="en-PH" sz="1800" b="1" kern="1200">
            <a:latin typeface="Lato" panose="020F0502020204030203" pitchFamily="34" charset="0"/>
            <a:ea typeface="Lato" panose="020F0502020204030203" pitchFamily="34" charset="0"/>
            <a:cs typeface="Lato" panose="020F0502020204030203" pitchFamily="34" charset="0"/>
          </a:endParaRPr>
        </a:p>
      </dsp:txBody>
      <dsp:txXfrm>
        <a:off x="8467602" y="9954"/>
        <a:ext cx="2474703" cy="979200"/>
      </dsp:txXfrm>
    </dsp:sp>
    <dsp:sp modelId="{DE19332E-A8DC-4931-A37C-1F5D486B6D2B}">
      <dsp:nvSpPr>
        <dsp:cNvPr id="0" name=""/>
        <dsp:cNvSpPr/>
      </dsp:nvSpPr>
      <dsp:spPr>
        <a:xfrm>
          <a:off x="8467602" y="989155"/>
          <a:ext cx="2474703" cy="1493279"/>
        </a:xfrm>
        <a:prstGeom prst="rect">
          <a:avLst/>
        </a:prstGeom>
        <a:solidFill>
          <a:schemeClr val="accent5">
            <a:tint val="40000"/>
            <a:alpha val="90000"/>
            <a:hueOff val="-7391755"/>
            <a:satOff val="-12816"/>
            <a:lumOff val="-1289"/>
            <a:alphaOff val="0"/>
          </a:schemeClr>
        </a:solidFill>
        <a:ln w="6350" cap="flat" cmpd="sng" algn="ctr">
          <a:solidFill>
            <a:schemeClr val="accent5">
              <a:tint val="40000"/>
              <a:alpha val="90000"/>
              <a:hueOff val="-7391755"/>
              <a:satOff val="-12816"/>
              <a:lumOff val="-1289"/>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US" sz="1200" kern="1200">
              <a:latin typeface="Lato" panose="020F0502020204030203" pitchFamily="34" charset="0"/>
              <a:ea typeface="Lato" panose="020F0502020204030203" pitchFamily="34" charset="0"/>
              <a:cs typeface="Lato" panose="020F0502020204030203" pitchFamily="34" charset="0"/>
            </a:rPr>
            <a:t>CBU</a:t>
          </a:r>
          <a:endParaRPr lang="en-PH" sz="1600" kern="1200">
            <a:latin typeface="Lato" panose="020F0502020204030203" pitchFamily="34" charset="0"/>
            <a:ea typeface="Lato" panose="020F0502020204030203" pitchFamily="34" charset="0"/>
            <a:cs typeface="Lato" panose="020F0502020204030203" pitchFamily="34" charset="0"/>
          </a:endParaRPr>
        </a:p>
        <a:p>
          <a:pPr marL="114300" lvl="1" indent="-114300" algn="l" defTabSz="533400">
            <a:lnSpc>
              <a:spcPct val="90000"/>
            </a:lnSpc>
            <a:spcBef>
              <a:spcPct val="0"/>
            </a:spcBef>
            <a:spcAft>
              <a:spcPct val="15000"/>
            </a:spcAft>
            <a:buChar char="•"/>
          </a:pPr>
          <a:r>
            <a:rPr lang="en-US" sz="1200" kern="1200" err="1">
              <a:latin typeface="Lato" panose="020F0502020204030203" pitchFamily="34" charset="0"/>
              <a:ea typeface="Lato" panose="020F0502020204030203" pitchFamily="34" charset="0"/>
              <a:cs typeface="Lato" panose="020F0502020204030203" pitchFamily="34" charset="0"/>
            </a:rPr>
            <a:t>MyIpon</a:t>
          </a:r>
          <a:endParaRPr lang="en-PH" sz="1200" kern="1200">
            <a:latin typeface="Lato" panose="020F0502020204030203" pitchFamily="34" charset="0"/>
            <a:ea typeface="Lato" panose="020F0502020204030203" pitchFamily="34" charset="0"/>
            <a:cs typeface="Lato" panose="020F0502020204030203" pitchFamily="34" charset="0"/>
          </a:endParaRPr>
        </a:p>
      </dsp:txBody>
      <dsp:txXfrm>
        <a:off x="8467602" y="989155"/>
        <a:ext cx="2474703" cy="1493279"/>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09251-7270-42CC-B6D5-4270F69CD915}" type="datetimeFigureOut">
              <a:rPr lang="en-PH" smtClean="0"/>
              <a:t>18/05/2026</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5671AF-A33F-46D0-852C-D1EF44AD87C1}" type="slidenum">
              <a:rPr lang="en-PH" smtClean="0"/>
              <a:t>‹#›</a:t>
            </a:fld>
            <a:endParaRPr lang="en-PH"/>
          </a:p>
        </p:txBody>
      </p:sp>
    </p:spTree>
    <p:extLst>
      <p:ext uri="{BB962C8B-B14F-4D97-AF65-F5344CB8AC3E}">
        <p14:creationId xmlns:p14="http://schemas.microsoft.com/office/powerpoint/2010/main" val="31849741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10"/>
          </p:nvPr>
        </p:nvSpPr>
        <p:spPr/>
        <p:txBody>
          <a:bodyPr/>
          <a:lstStyle/>
          <a:p>
            <a:fld id="{055671AF-A33F-46D0-852C-D1EF44AD87C1}" type="slidenum">
              <a:rPr lang="en-PH" smtClean="0"/>
              <a:t>1</a:t>
            </a:fld>
            <a:endParaRPr lang="en-PH"/>
          </a:p>
        </p:txBody>
      </p:sp>
    </p:spTree>
    <p:extLst>
      <p:ext uri="{BB962C8B-B14F-4D97-AF65-F5344CB8AC3E}">
        <p14:creationId xmlns:p14="http://schemas.microsoft.com/office/powerpoint/2010/main" val="19188636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a:t>PRODUCTION LOAN</a:t>
            </a:r>
            <a:br>
              <a:rPr lang="en-US"/>
            </a:br>
            <a:r>
              <a:rPr lang="en-US"/>
              <a:t>-</a:t>
            </a:r>
            <a:r>
              <a:rPr lang="en-US" sz="1200" b="0" i="0" kern="1200">
                <a:solidFill>
                  <a:schemeClr val="tx1"/>
                </a:solidFill>
                <a:effectLst/>
                <a:latin typeface="+mn-lt"/>
                <a:ea typeface="+mn-ea"/>
                <a:cs typeface="+mn-cs"/>
              </a:rPr>
              <a:t>a loan used to furnish the business. It can be for working capital, additional capital, or capital expenditure.   </a:t>
            </a:r>
            <a:br>
              <a:rPr lang="en-US" sz="1200" b="0" i="0" kern="1200">
                <a:solidFill>
                  <a:schemeClr val="tx1"/>
                </a:solidFill>
                <a:effectLst/>
                <a:latin typeface="+mn-lt"/>
                <a:ea typeface="+mn-ea"/>
                <a:cs typeface="+mn-cs"/>
              </a:rPr>
            </a:b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SUPPLEMENTAL LOAN</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-is offered by RAFI MFI for the client’s purposes either for household improvements and/or education expenses.   </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-this is also </a:t>
            </a:r>
            <a:r>
              <a:rPr lang="en-US" sz="1200">
                <a:solidFill>
                  <a:schemeClr val="tx1"/>
                </a:solidFill>
                <a:latin typeface="Lato" panose="020F0502020204030203" pitchFamily="34" charset="0"/>
                <a:ea typeface="Lato" panose="020F0502020204030203" pitchFamily="34" charset="0"/>
                <a:cs typeface="Lato" panose="020F0502020204030203" pitchFamily="34" charset="0"/>
              </a:rPr>
              <a:t>considered to be personal or consumption loans</a:t>
            </a:r>
            <a:br>
              <a:rPr lang="en-US" sz="1200">
                <a:solidFill>
                  <a:schemeClr val="tx1"/>
                </a:solidFill>
                <a:latin typeface="Lato" panose="020F0502020204030203" pitchFamily="34" charset="0"/>
                <a:ea typeface="Lato" panose="020F0502020204030203" pitchFamily="34" charset="0"/>
                <a:cs typeface="Lato" panose="020F0502020204030203" pitchFamily="34" charset="0"/>
              </a:rPr>
            </a:br>
            <a:br>
              <a:rPr lang="en-US" sz="1200">
                <a:solidFill>
                  <a:schemeClr val="tx1"/>
                </a:solidFill>
                <a:latin typeface="Lato" panose="020F0502020204030203" pitchFamily="34" charset="0"/>
                <a:ea typeface="Lato" panose="020F0502020204030203" pitchFamily="34" charset="0"/>
                <a:cs typeface="Lato" panose="020F0502020204030203" pitchFamily="34" charset="0"/>
              </a:rPr>
            </a:br>
            <a:r>
              <a:rPr lang="en-US" sz="1200">
                <a:solidFill>
                  <a:schemeClr val="tx1"/>
                </a:solidFill>
                <a:latin typeface="Lato" panose="020F0502020204030203" pitchFamily="34" charset="0"/>
                <a:ea typeface="Lato" panose="020F0502020204030203" pitchFamily="34" charset="0"/>
                <a:cs typeface="Lato" panose="020F0502020204030203" pitchFamily="34" charset="0"/>
              </a:rPr>
              <a:t>MICROINSURANCE</a:t>
            </a:r>
            <a:br>
              <a:rPr lang="en-US" sz="1200">
                <a:solidFill>
                  <a:schemeClr val="tx1"/>
                </a:solidFill>
                <a:latin typeface="Lato" panose="020F0502020204030203" pitchFamily="34" charset="0"/>
                <a:ea typeface="Lato" panose="020F0502020204030203" pitchFamily="34" charset="0"/>
                <a:cs typeface="Lato" panose="020F0502020204030203" pitchFamily="34" charset="0"/>
              </a:rPr>
            </a:br>
            <a:r>
              <a:rPr lang="en-US" sz="1200">
                <a:solidFill>
                  <a:schemeClr val="tx1"/>
                </a:solidFill>
                <a:latin typeface="Lato" panose="020F0502020204030203" pitchFamily="34" charset="0"/>
                <a:ea typeface="Lato" panose="020F0502020204030203" pitchFamily="34" charset="0"/>
                <a:cs typeface="Lato" panose="020F0502020204030203" pitchFamily="34" charset="0"/>
              </a:rPr>
              <a:t>-</a:t>
            </a:r>
            <a:r>
              <a:rPr lang="en-US" sz="1200" b="0" i="0" kern="1200">
                <a:solidFill>
                  <a:schemeClr val="tx1"/>
                </a:solidFill>
                <a:effectLst/>
                <a:latin typeface="+mn-lt"/>
                <a:ea typeface="+mn-ea"/>
                <a:cs typeface="+mn-cs"/>
              </a:rPr>
              <a:t>An ancillary and mandatory micro insurance product that provides comprehensive financial protection for the family in case of accidental injuries and death.    </a:t>
            </a:r>
            <a:br>
              <a:rPr lang="en-US" sz="1200" b="0" i="0" kern="1200">
                <a:solidFill>
                  <a:schemeClr val="tx1"/>
                </a:solidFill>
                <a:effectLst/>
                <a:latin typeface="+mn-lt"/>
                <a:ea typeface="+mn-ea"/>
                <a:cs typeface="+mn-cs"/>
              </a:rPr>
            </a:b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MICROSAVINGS</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-Republic Act (RA) No. 10693 or the Microfinance NGO Act defines micro-savings as the “program to collect small amounts of money from the members to maintain a compensating balance”.   </a:t>
            </a:r>
          </a:p>
          <a:p>
            <a:pPr rtl="0" fontAlgn="base"/>
            <a:r>
              <a:rPr lang="en-US" sz="1200" b="0" i="0" kern="1200">
                <a:solidFill>
                  <a:schemeClr val="tx1"/>
                </a:solidFill>
                <a:effectLst/>
                <a:latin typeface="+mn-lt"/>
                <a:ea typeface="+mn-ea"/>
                <a:cs typeface="+mn-cs"/>
              </a:rPr>
              <a:t>The RAFI MFI Capital Build Up (CBU) aims to foster self-reliance and encourage the habits of saving among the members. This is primarily to build equity for their entrepreneurial endeavors and establish reserves for their bridge financing needs.   </a:t>
            </a:r>
          </a:p>
          <a:p>
            <a:endParaRPr lang="en-PH"/>
          </a:p>
        </p:txBody>
      </p:sp>
      <p:sp>
        <p:nvSpPr>
          <p:cNvPr id="4" name="Slide Number Placeholder 3"/>
          <p:cNvSpPr>
            <a:spLocks noGrp="1"/>
          </p:cNvSpPr>
          <p:nvPr>
            <p:ph type="sldNum" sz="quarter" idx="5"/>
          </p:nvPr>
        </p:nvSpPr>
        <p:spPr/>
        <p:txBody>
          <a:bodyPr/>
          <a:lstStyle/>
          <a:p>
            <a:fld id="{055671AF-A33F-46D0-852C-D1EF44AD87C1}" type="slidenum">
              <a:rPr lang="en-PH" smtClean="0"/>
              <a:t>9</a:t>
            </a:fld>
            <a:endParaRPr lang="en-PH"/>
          </a:p>
        </p:txBody>
      </p:sp>
    </p:spTree>
    <p:extLst>
      <p:ext uri="{BB962C8B-B14F-4D97-AF65-F5344CB8AC3E}">
        <p14:creationId xmlns:p14="http://schemas.microsoft.com/office/powerpoint/2010/main" val="11224710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093D5-0546-478F-BC79-4381EB6FDA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B56379-0804-0809-7604-BC550FE7C6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F1960-65E6-7D00-D5AC-05A802A00C33}"/>
              </a:ext>
            </a:extLst>
          </p:cNvPr>
          <p:cNvSpPr>
            <a:spLocks noGrp="1"/>
          </p:cNvSpPr>
          <p:nvPr>
            <p:ph type="body" idx="1"/>
          </p:nvPr>
        </p:nvSpPr>
        <p:spPr/>
        <p:txBody>
          <a:bodyPr/>
          <a:lstStyle/>
          <a:p>
            <a:pPr rtl="0" fontAlgn="base"/>
            <a:r>
              <a:rPr lang="en-US"/>
              <a:t>PRODUCTION LOAN</a:t>
            </a:r>
            <a:br>
              <a:rPr lang="en-US"/>
            </a:br>
            <a:r>
              <a:rPr lang="en-US"/>
              <a:t>-</a:t>
            </a:r>
            <a:r>
              <a:rPr lang="en-US" sz="1200" b="0" i="0" kern="1200">
                <a:solidFill>
                  <a:schemeClr val="tx1"/>
                </a:solidFill>
                <a:effectLst/>
                <a:latin typeface="+mn-lt"/>
                <a:ea typeface="+mn-ea"/>
                <a:cs typeface="+mn-cs"/>
              </a:rPr>
              <a:t>a loan used to furnish the business. It can be for working capital, additional capital, or capital expenditure.   </a:t>
            </a:r>
            <a:br>
              <a:rPr lang="en-US" sz="1200" b="0" i="0" kern="1200">
                <a:solidFill>
                  <a:schemeClr val="tx1"/>
                </a:solidFill>
                <a:effectLst/>
                <a:latin typeface="+mn-lt"/>
                <a:ea typeface="+mn-ea"/>
                <a:cs typeface="+mn-cs"/>
              </a:rPr>
            </a:b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SUPPLEMENTAL LOAN</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-is offered by RAFI MFI for the client’s purposes either for household improvements and/or education expenses.   </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-this is also </a:t>
            </a:r>
            <a:r>
              <a:rPr lang="en-US" sz="1200">
                <a:solidFill>
                  <a:schemeClr val="tx1"/>
                </a:solidFill>
                <a:latin typeface="Lato" panose="020F0502020204030203" pitchFamily="34" charset="0"/>
                <a:ea typeface="Lato" panose="020F0502020204030203" pitchFamily="34" charset="0"/>
                <a:cs typeface="Lato" panose="020F0502020204030203" pitchFamily="34" charset="0"/>
              </a:rPr>
              <a:t>considered to be personal or consumption loans</a:t>
            </a:r>
            <a:br>
              <a:rPr lang="en-US" sz="1200">
                <a:solidFill>
                  <a:schemeClr val="tx1"/>
                </a:solidFill>
                <a:latin typeface="Lato" panose="020F0502020204030203" pitchFamily="34" charset="0"/>
                <a:ea typeface="Lato" panose="020F0502020204030203" pitchFamily="34" charset="0"/>
                <a:cs typeface="Lato" panose="020F0502020204030203" pitchFamily="34" charset="0"/>
              </a:rPr>
            </a:br>
            <a:br>
              <a:rPr lang="en-US" sz="1200">
                <a:solidFill>
                  <a:schemeClr val="tx1"/>
                </a:solidFill>
                <a:latin typeface="Lato" panose="020F0502020204030203" pitchFamily="34" charset="0"/>
                <a:ea typeface="Lato" panose="020F0502020204030203" pitchFamily="34" charset="0"/>
                <a:cs typeface="Lato" panose="020F0502020204030203" pitchFamily="34" charset="0"/>
              </a:rPr>
            </a:br>
            <a:r>
              <a:rPr lang="en-US" sz="1200">
                <a:solidFill>
                  <a:schemeClr val="tx1"/>
                </a:solidFill>
                <a:latin typeface="Lato" panose="020F0502020204030203" pitchFamily="34" charset="0"/>
                <a:ea typeface="Lato" panose="020F0502020204030203" pitchFamily="34" charset="0"/>
                <a:cs typeface="Lato" panose="020F0502020204030203" pitchFamily="34" charset="0"/>
              </a:rPr>
              <a:t>MICROINSURANCE</a:t>
            </a:r>
            <a:br>
              <a:rPr lang="en-US" sz="1200">
                <a:solidFill>
                  <a:schemeClr val="tx1"/>
                </a:solidFill>
                <a:latin typeface="Lato" panose="020F0502020204030203" pitchFamily="34" charset="0"/>
                <a:ea typeface="Lato" panose="020F0502020204030203" pitchFamily="34" charset="0"/>
                <a:cs typeface="Lato" panose="020F0502020204030203" pitchFamily="34" charset="0"/>
              </a:rPr>
            </a:br>
            <a:r>
              <a:rPr lang="en-US" sz="1200">
                <a:solidFill>
                  <a:schemeClr val="tx1"/>
                </a:solidFill>
                <a:latin typeface="Lato" panose="020F0502020204030203" pitchFamily="34" charset="0"/>
                <a:ea typeface="Lato" panose="020F0502020204030203" pitchFamily="34" charset="0"/>
                <a:cs typeface="Lato" panose="020F0502020204030203" pitchFamily="34" charset="0"/>
              </a:rPr>
              <a:t>-</a:t>
            </a:r>
            <a:r>
              <a:rPr lang="en-US" sz="1200" b="0" i="0" kern="1200">
                <a:solidFill>
                  <a:schemeClr val="tx1"/>
                </a:solidFill>
                <a:effectLst/>
                <a:latin typeface="+mn-lt"/>
                <a:ea typeface="+mn-ea"/>
                <a:cs typeface="+mn-cs"/>
              </a:rPr>
              <a:t>An ancillary and mandatory micro insurance product that provides comprehensive financial protection for the family in case of accidental injuries and death.    </a:t>
            </a:r>
            <a:br>
              <a:rPr lang="en-US" sz="1200" b="0" i="0" kern="1200">
                <a:solidFill>
                  <a:schemeClr val="tx1"/>
                </a:solidFill>
                <a:effectLst/>
                <a:latin typeface="+mn-lt"/>
                <a:ea typeface="+mn-ea"/>
                <a:cs typeface="+mn-cs"/>
              </a:rPr>
            </a:b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MICROSAVINGS</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-Republic Act (RA) No. 10693 or the Microfinance NGO Act defines micro-savings as the “program to collect small amounts of money from the members to maintain a compensating balance”.   </a:t>
            </a:r>
          </a:p>
          <a:p>
            <a:pPr rtl="0" fontAlgn="base"/>
            <a:r>
              <a:rPr lang="en-US" sz="1200" b="0" i="0" kern="1200">
                <a:solidFill>
                  <a:schemeClr val="tx1"/>
                </a:solidFill>
                <a:effectLst/>
                <a:latin typeface="+mn-lt"/>
                <a:ea typeface="+mn-ea"/>
                <a:cs typeface="+mn-cs"/>
              </a:rPr>
              <a:t>The RAFI MFI Capital Build Up (CBU) aims to foster self-reliance and encourage the habits of saving among the members. This is primarily to build equity for their entrepreneurial endeavors and establish reserves for their bridge financing needs.   </a:t>
            </a:r>
          </a:p>
          <a:p>
            <a:endParaRPr lang="en-PH"/>
          </a:p>
        </p:txBody>
      </p:sp>
      <p:sp>
        <p:nvSpPr>
          <p:cNvPr id="4" name="Slide Number Placeholder 3">
            <a:extLst>
              <a:ext uri="{FF2B5EF4-FFF2-40B4-BE49-F238E27FC236}">
                <a16:creationId xmlns:a16="http://schemas.microsoft.com/office/drawing/2014/main" id="{6BFDC727-4389-84B8-2958-6F78E40C3F34}"/>
              </a:ext>
            </a:extLst>
          </p:cNvPr>
          <p:cNvSpPr>
            <a:spLocks noGrp="1"/>
          </p:cNvSpPr>
          <p:nvPr>
            <p:ph type="sldNum" sz="quarter" idx="5"/>
          </p:nvPr>
        </p:nvSpPr>
        <p:spPr/>
        <p:txBody>
          <a:bodyPr/>
          <a:lstStyle/>
          <a:p>
            <a:fld id="{055671AF-A33F-46D0-852C-D1EF44AD87C1}" type="slidenum">
              <a:rPr lang="en-PH" smtClean="0"/>
              <a:t>10</a:t>
            </a:fld>
            <a:endParaRPr lang="en-PH"/>
          </a:p>
        </p:txBody>
      </p:sp>
    </p:spTree>
    <p:extLst>
      <p:ext uri="{BB962C8B-B14F-4D97-AF65-F5344CB8AC3E}">
        <p14:creationId xmlns:p14="http://schemas.microsoft.com/office/powerpoint/2010/main" val="28899814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loan is available to all clients across RAFI MFI who meet the required qualifications </a:t>
            </a:r>
            <a:r>
              <a:rPr lang="en-US" err="1"/>
              <a:t>mauswagon</a:t>
            </a:r>
            <a:r>
              <a:rPr lang="en-US"/>
              <a:t> loan.</a:t>
            </a:r>
            <a:r>
              <a:rPr lang="en-US" baseline="0"/>
              <a:t> </a:t>
            </a:r>
            <a:r>
              <a:rPr lang="en-US"/>
              <a:t>This</a:t>
            </a:r>
            <a:r>
              <a:rPr lang="en-US" baseline="0"/>
              <a:t> is also our main product</a:t>
            </a:r>
            <a:br>
              <a:rPr lang="en-US" baseline="0"/>
            </a:br>
            <a:br>
              <a:rPr lang="en-US" baseline="0"/>
            </a:br>
            <a:r>
              <a:rPr lang="en-US" baseline="0"/>
              <a:t>MAUSWAGON LOAN PURPOSE</a:t>
            </a:r>
            <a:br>
              <a:rPr lang="en-US" baseline="0"/>
            </a:br>
            <a:r>
              <a:rPr lang="en-US" baseline="0"/>
              <a:t>     </a:t>
            </a:r>
            <a:r>
              <a:rPr lang="en-US" b="1">
                <a:solidFill>
                  <a:srgbClr val="1F4766"/>
                </a:solidFill>
                <a:latin typeface="Lato"/>
                <a:ea typeface="Lato"/>
                <a:cs typeface="Lato"/>
              </a:rPr>
              <a:t>M</a:t>
            </a:r>
            <a:r>
              <a:rPr lang="en-US">
                <a:solidFill>
                  <a:srgbClr val="1F4766"/>
                </a:solidFill>
                <a:latin typeface="Lato"/>
                <a:ea typeface="Lato"/>
                <a:cs typeface="Lato"/>
              </a:rPr>
              <a:t> – Additional Capital/Working Capital – Operating Expenses</a:t>
            </a:r>
          </a:p>
          <a:p>
            <a:pPr marL="342900" indent="-342900">
              <a:lnSpc>
                <a:spcPct val="150000"/>
              </a:lnSpc>
              <a:buFont typeface="Arial,Sans-Serif"/>
              <a:buChar char="•"/>
            </a:pPr>
            <a:r>
              <a:rPr lang="en-US" b="1">
                <a:solidFill>
                  <a:srgbClr val="1F4766"/>
                </a:solidFill>
                <a:latin typeface="Lato"/>
                <a:ea typeface="Lato"/>
                <a:cs typeface="Lato"/>
              </a:rPr>
              <a:t>M </a:t>
            </a:r>
            <a:r>
              <a:rPr lang="en-US">
                <a:solidFill>
                  <a:srgbClr val="1F4766"/>
                </a:solidFill>
                <a:latin typeface="Lato"/>
                <a:ea typeface="Lato"/>
                <a:cs typeface="Lato"/>
              </a:rPr>
              <a:t>– Purchase/Rent of business equipment</a:t>
            </a:r>
          </a:p>
          <a:p>
            <a:pPr marL="342900" indent="-342900">
              <a:lnSpc>
                <a:spcPct val="150000"/>
              </a:lnSpc>
              <a:buFont typeface="Arial,Sans-Serif"/>
              <a:buChar char="•"/>
            </a:pPr>
            <a:r>
              <a:rPr lang="en-US" b="1">
                <a:solidFill>
                  <a:srgbClr val="1F4766"/>
                </a:solidFill>
                <a:latin typeface="Lato"/>
                <a:ea typeface="Lato"/>
                <a:cs typeface="Lato"/>
              </a:rPr>
              <a:t>M </a:t>
            </a:r>
            <a:r>
              <a:rPr lang="en-US">
                <a:solidFill>
                  <a:srgbClr val="1F4766"/>
                </a:solidFill>
                <a:latin typeface="Lato"/>
                <a:ea typeface="Lato"/>
                <a:cs typeface="Lato"/>
              </a:rPr>
              <a:t>– Manpower expenses, fuel/gas expenses</a:t>
            </a:r>
          </a:p>
          <a:p>
            <a:pPr marL="342900" indent="-342900">
              <a:lnSpc>
                <a:spcPct val="150000"/>
              </a:lnSpc>
              <a:buFont typeface="Arial,Sans-Serif"/>
              <a:buChar char="•"/>
            </a:pPr>
            <a:r>
              <a:rPr lang="en-US" b="1">
                <a:solidFill>
                  <a:srgbClr val="1F4766"/>
                </a:solidFill>
                <a:latin typeface="Lato"/>
                <a:ea typeface="Lato"/>
                <a:cs typeface="Lato"/>
              </a:rPr>
              <a:t>M</a:t>
            </a:r>
            <a:r>
              <a:rPr lang="en-US">
                <a:solidFill>
                  <a:srgbClr val="1F4766"/>
                </a:solidFill>
                <a:latin typeface="Lato"/>
                <a:ea typeface="Lato"/>
                <a:cs typeface="Lato"/>
              </a:rPr>
              <a:t> – Purchase of raw materials such as fertilizer, seeds or seedling, feeds, livestock, goods for sale</a:t>
            </a:r>
          </a:p>
          <a:p>
            <a:pPr marL="342900" indent="-342900">
              <a:lnSpc>
                <a:spcPct val="150000"/>
              </a:lnSpc>
              <a:buFont typeface="Arial,Sans-Serif"/>
              <a:buChar char="•"/>
            </a:pPr>
            <a:r>
              <a:rPr lang="en-US" b="1">
                <a:solidFill>
                  <a:srgbClr val="1F4766"/>
                </a:solidFill>
                <a:latin typeface="Lato"/>
                <a:ea typeface="Lato"/>
                <a:cs typeface="Lato"/>
              </a:rPr>
              <a:t>M</a:t>
            </a:r>
            <a:r>
              <a:rPr lang="en-US">
                <a:solidFill>
                  <a:srgbClr val="1F4766"/>
                </a:solidFill>
                <a:latin typeface="Lato"/>
                <a:ea typeface="Lato"/>
                <a:cs typeface="Lato"/>
              </a:rPr>
              <a:t>- Repairs and maintenance, construction/improvement of livestock/poultry pen/business shop/outlet</a:t>
            </a:r>
          </a:p>
          <a:p>
            <a:pPr marL="342900" indent="-342900">
              <a:lnSpc>
                <a:spcPct val="150000"/>
              </a:lnSpc>
              <a:buFont typeface="Arial,Sans-Serif"/>
              <a:buChar char="•"/>
            </a:pPr>
            <a:r>
              <a:rPr lang="en-US" b="1">
                <a:solidFill>
                  <a:srgbClr val="1F4766"/>
                </a:solidFill>
                <a:latin typeface="Lato"/>
                <a:ea typeface="Lato"/>
                <a:cs typeface="Lato"/>
              </a:rPr>
              <a:t>M</a:t>
            </a:r>
            <a:r>
              <a:rPr lang="en-US">
                <a:solidFill>
                  <a:srgbClr val="1F4766"/>
                </a:solidFill>
                <a:latin typeface="Lato"/>
                <a:ea typeface="Lato"/>
                <a:cs typeface="Lato"/>
              </a:rPr>
              <a:t> – Purchase of digital/technology tools </a:t>
            </a:r>
          </a:p>
          <a:p>
            <a:endParaRPr lang="en-US"/>
          </a:p>
        </p:txBody>
      </p:sp>
      <p:sp>
        <p:nvSpPr>
          <p:cNvPr id="4" name="Slide Number Placeholder 3"/>
          <p:cNvSpPr>
            <a:spLocks noGrp="1"/>
          </p:cNvSpPr>
          <p:nvPr>
            <p:ph type="sldNum" sz="quarter" idx="5"/>
          </p:nvPr>
        </p:nvSpPr>
        <p:spPr/>
        <p:txBody>
          <a:bodyPr/>
          <a:lstStyle/>
          <a:p>
            <a:fld id="{055671AF-A33F-46D0-852C-D1EF44AD87C1}" type="slidenum">
              <a:rPr lang="en-PH" smtClean="0"/>
              <a:t>11</a:t>
            </a:fld>
            <a:endParaRPr lang="en-PH"/>
          </a:p>
        </p:txBody>
      </p:sp>
    </p:spTree>
    <p:extLst>
      <p:ext uri="{BB962C8B-B14F-4D97-AF65-F5344CB8AC3E}">
        <p14:creationId xmlns:p14="http://schemas.microsoft.com/office/powerpoint/2010/main" val="25338899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fontAlgn="t">
              <a:buFont typeface="Wingdings"/>
              <a:buChar char="Ø"/>
            </a:pPr>
            <a:r>
              <a:rPr lang="en-PH"/>
              <a:t>What are the changes? </a:t>
            </a:r>
            <a:r>
              <a:rPr lang="en-PH" err="1"/>
              <a:t>Mauswagon</a:t>
            </a:r>
            <a:r>
              <a:rPr lang="en-PH"/>
              <a:t> Loyalty Pricing to: MAUSWAGON LOYALTY DISCOUNT</a:t>
            </a:r>
            <a:br>
              <a:rPr lang="en-PH">
                <a:cs typeface="+mn-lt"/>
              </a:rPr>
            </a:br>
            <a:r>
              <a:rPr lang="en-PH"/>
              <a:t>with eligibility criteria of:</a:t>
            </a:r>
            <a:br>
              <a:rPr lang="en-PH">
                <a:cs typeface="+mn-lt"/>
              </a:rPr>
            </a:br>
            <a:r>
              <a:rPr lang="en-PH"/>
              <a:t>1. Must be at loan cycle of 3 and above.</a:t>
            </a:r>
            <a:br>
              <a:rPr lang="en-PH">
                <a:cs typeface="+mn-lt"/>
              </a:rPr>
            </a:br>
            <a:r>
              <a:rPr lang="en-PH"/>
              <a:t> 2. Zero late repayments in the previous loan.</a:t>
            </a:r>
            <a:br>
              <a:rPr lang="en-PH">
                <a:cs typeface="+mn-lt"/>
              </a:rPr>
            </a:br>
            <a:r>
              <a:rPr lang="en-PH"/>
              <a:t> 3. Must reloan at the same amount or higher than the previous loan.</a:t>
            </a:r>
            <a:br>
              <a:rPr lang="en-PH">
                <a:cs typeface="+mn-lt"/>
              </a:rPr>
            </a:br>
            <a:br>
              <a:rPr lang="en-PH">
                <a:cs typeface="+mn-lt"/>
              </a:rPr>
            </a:br>
            <a:r>
              <a:rPr lang="en-US" sz="1200" b="1" i="0" u="none" strike="noStrike" kern="1200">
                <a:solidFill>
                  <a:schemeClr val="tx1"/>
                </a:solidFill>
                <a:effectLst/>
                <a:latin typeface="+mn-lt"/>
                <a:ea typeface="+mn-ea"/>
                <a:cs typeface="+mn-cs"/>
              </a:rPr>
              <a:t>Documentary Requirements</a:t>
            </a:r>
            <a:endParaRPr lang="en-PH" sz="1200" b="0" i="0" u="none" strike="noStrike" kern="1200">
              <a:solidFill>
                <a:schemeClr val="tx1"/>
              </a:solidFill>
              <a:effectLst/>
              <a:latin typeface="+mn-lt"/>
              <a:ea typeface="Calibri"/>
              <a:cs typeface="Calibri"/>
            </a:endParaRPr>
          </a:p>
          <a:p>
            <a:pPr rtl="0" eaLnBrk="1" fontAlgn="t" latinLnBrk="0" hangingPunct="1"/>
            <a:r>
              <a:rPr lang="en-US" sz="1200" b="0" i="0" u="sng" strike="noStrike" kern="1200">
                <a:solidFill>
                  <a:schemeClr val="tx1"/>
                </a:solidFill>
                <a:effectLst/>
                <a:latin typeface="+mn-lt"/>
                <a:ea typeface="+mn-ea"/>
                <a:cs typeface="+mn-cs"/>
              </a:rPr>
              <a:t>New Loans</a:t>
            </a:r>
            <a:endParaRPr lang="en-PH" sz="1200" b="0" i="0" u="none" strike="noStrike" kern="1200">
              <a:solidFill>
                <a:schemeClr val="tx1"/>
              </a:solidFill>
              <a:effectLst/>
              <a:latin typeface="+mn-lt"/>
              <a:ea typeface="+mn-ea"/>
              <a:cs typeface="+mn-cs"/>
            </a:endParaRPr>
          </a:p>
          <a:p>
            <a:pPr rtl="0" eaLnBrk="1" fontAlgn="t" latinLnBrk="0" hangingPunct="1"/>
            <a:r>
              <a:rPr lang="en-US" sz="1200" b="0" i="0" u="none" strike="noStrike" kern="1200">
                <a:solidFill>
                  <a:schemeClr val="tx1"/>
                </a:solidFill>
                <a:effectLst/>
                <a:latin typeface="+mn-lt"/>
                <a:ea typeface="+mn-ea"/>
                <a:cs typeface="+mn-cs"/>
              </a:rPr>
              <a:t>Duly filled out Loan Application Form, with signature of spouse, if married.</a:t>
            </a:r>
            <a:endParaRPr lang="en-PH" sz="1200" b="0" i="0" u="none" strike="noStrike" kern="1200">
              <a:solidFill>
                <a:schemeClr val="tx1"/>
              </a:solidFill>
              <a:effectLst/>
              <a:latin typeface="+mn-lt"/>
              <a:ea typeface="+mn-ea"/>
              <a:cs typeface="+mn-cs"/>
            </a:endParaRPr>
          </a:p>
          <a:p>
            <a:pPr rtl="0" eaLnBrk="1" fontAlgn="t" latinLnBrk="0" hangingPunct="1"/>
            <a:r>
              <a:rPr lang="en-US" sz="1200" b="0" i="0" u="none" strike="noStrike" kern="1200">
                <a:solidFill>
                  <a:schemeClr val="tx1"/>
                </a:solidFill>
                <a:effectLst/>
                <a:latin typeface="+mn-lt"/>
                <a:ea typeface="+mn-ea"/>
                <a:cs typeface="+mn-cs"/>
              </a:rPr>
              <a:t>1 pc 1x1 picture for RAFI MFI ID​</a:t>
            </a:r>
            <a:endParaRPr lang="en-PH" sz="1200" b="0" i="0" u="none" strike="noStrike" kern="1200">
              <a:solidFill>
                <a:schemeClr val="tx1"/>
              </a:solidFill>
              <a:effectLst/>
              <a:latin typeface="+mn-lt"/>
              <a:ea typeface="+mn-ea"/>
              <a:cs typeface="+mn-cs"/>
            </a:endParaRPr>
          </a:p>
          <a:p>
            <a:pPr rtl="0" eaLnBrk="1" fontAlgn="t" latinLnBrk="0" hangingPunct="1"/>
            <a:r>
              <a:rPr lang="en-US" sz="1200" b="0" i="0" u="none" strike="noStrike" kern="1200">
                <a:solidFill>
                  <a:schemeClr val="tx1"/>
                </a:solidFill>
                <a:effectLst/>
                <a:latin typeface="+mn-lt"/>
                <a:ea typeface="+mn-ea"/>
                <a:cs typeface="+mn-cs"/>
              </a:rPr>
              <a:t>Valid ID or Barangay Clearance (in the absence of Valid IDs)​</a:t>
            </a:r>
            <a:endParaRPr lang="en-PH" sz="1200" b="0" i="0" u="none" strike="noStrike" kern="1200">
              <a:solidFill>
                <a:schemeClr val="tx1"/>
              </a:solidFill>
              <a:effectLst/>
              <a:latin typeface="+mn-lt"/>
              <a:ea typeface="+mn-ea"/>
              <a:cs typeface="+mn-cs"/>
            </a:endParaRPr>
          </a:p>
          <a:p>
            <a:pPr rtl="0" eaLnBrk="1" fontAlgn="t" latinLnBrk="0" hangingPunct="1"/>
            <a:r>
              <a:rPr lang="en-US" sz="1200" b="0" i="0" u="none" strike="noStrike" kern="1200">
                <a:solidFill>
                  <a:schemeClr val="tx1"/>
                </a:solidFill>
                <a:effectLst/>
                <a:latin typeface="+mn-lt"/>
                <a:ea typeface="+mn-ea"/>
                <a:cs typeface="+mn-cs"/>
              </a:rPr>
              <a:t>Valid ID of Spouse</a:t>
            </a:r>
            <a:endParaRPr lang="en-PH" sz="1200" b="0" i="0" u="none" strike="noStrike" kern="1200">
              <a:solidFill>
                <a:schemeClr val="tx1"/>
              </a:solidFill>
              <a:effectLst/>
              <a:latin typeface="+mn-lt"/>
              <a:ea typeface="+mn-ea"/>
              <a:cs typeface="+mn-cs"/>
            </a:endParaRPr>
          </a:p>
          <a:p>
            <a:pPr rtl="0" eaLnBrk="1" fontAlgn="t" latinLnBrk="0" hangingPunct="1"/>
            <a:r>
              <a:rPr lang="en-US" sz="1200" b="0" i="0" u="sng" strike="noStrike" kern="1200">
                <a:solidFill>
                  <a:schemeClr val="tx1"/>
                </a:solidFill>
                <a:effectLst/>
                <a:latin typeface="+mn-lt"/>
                <a:ea typeface="+mn-ea"/>
                <a:cs typeface="+mn-cs"/>
              </a:rPr>
              <a:t>Repeat Loans</a:t>
            </a:r>
            <a:endParaRPr lang="en-PH" sz="1200" b="0" i="0" u="none" strike="noStrike" kern="1200">
              <a:solidFill>
                <a:schemeClr val="tx1"/>
              </a:solidFill>
              <a:effectLst/>
              <a:latin typeface="+mn-lt"/>
              <a:ea typeface="+mn-ea"/>
              <a:cs typeface="+mn-cs"/>
            </a:endParaRPr>
          </a:p>
          <a:p>
            <a:pPr rtl="0" eaLnBrk="1" fontAlgn="t" latinLnBrk="0" hangingPunct="1"/>
            <a:r>
              <a:rPr lang="en-US" sz="1200" b="0" i="0" u="none" strike="noStrike" kern="1200">
                <a:solidFill>
                  <a:schemeClr val="tx1"/>
                </a:solidFill>
                <a:effectLst/>
                <a:latin typeface="+mn-lt"/>
                <a:ea typeface="+mn-ea"/>
                <a:cs typeface="+mn-cs"/>
              </a:rPr>
              <a:t>Duly filled out Loan Application Form, with signature of spouse, if married.</a:t>
            </a:r>
            <a:endParaRPr lang="en-PH" sz="1200" b="0" i="0" u="none" strike="noStrike" kern="1200">
              <a:solidFill>
                <a:schemeClr val="tx1"/>
              </a:solidFill>
              <a:effectLst/>
              <a:latin typeface="+mn-lt"/>
              <a:ea typeface="+mn-ea"/>
              <a:cs typeface="+mn-cs"/>
            </a:endParaRPr>
          </a:p>
          <a:p>
            <a:pPr rtl="0" eaLnBrk="1" fontAlgn="t" latinLnBrk="0" hangingPunct="1"/>
            <a:r>
              <a:rPr lang="en-US" sz="1200" b="0" i="1" u="none" strike="noStrike" kern="1200">
                <a:solidFill>
                  <a:schemeClr val="tx1"/>
                </a:solidFill>
                <a:effectLst/>
                <a:latin typeface="+mn-lt"/>
                <a:ea typeface="+mn-ea"/>
                <a:cs typeface="+mn-cs"/>
              </a:rPr>
              <a:t>(If IDs and other documents are still valid with the same comaker)</a:t>
            </a:r>
            <a:endParaRPr lang="en-PH" sz="1200" b="0" i="0" u="none" strike="noStrike" kern="1200">
              <a:solidFill>
                <a:schemeClr val="tx1"/>
              </a:solidFill>
              <a:effectLst/>
              <a:latin typeface="+mn-lt"/>
              <a:ea typeface="+mn-ea"/>
              <a:cs typeface="+mn-cs"/>
            </a:endParaRPr>
          </a:p>
          <a:p>
            <a:endParaRPr lang="en-US"/>
          </a:p>
        </p:txBody>
      </p:sp>
      <p:sp>
        <p:nvSpPr>
          <p:cNvPr id="4" name="Slide Number Placeholder 3"/>
          <p:cNvSpPr>
            <a:spLocks noGrp="1"/>
          </p:cNvSpPr>
          <p:nvPr>
            <p:ph type="sldNum" sz="quarter" idx="5"/>
          </p:nvPr>
        </p:nvSpPr>
        <p:spPr/>
        <p:txBody>
          <a:bodyPr/>
          <a:lstStyle/>
          <a:p>
            <a:fld id="{055671AF-A33F-46D0-852C-D1EF44AD87C1}" type="slidenum">
              <a:rPr lang="en-PH" smtClean="0"/>
              <a:t>12</a:t>
            </a:fld>
            <a:endParaRPr lang="en-PH"/>
          </a:p>
        </p:txBody>
      </p:sp>
    </p:spTree>
    <p:extLst>
      <p:ext uri="{BB962C8B-B14F-4D97-AF65-F5344CB8AC3E}">
        <p14:creationId xmlns:p14="http://schemas.microsoft.com/office/powerpoint/2010/main" val="36176562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b="1"/>
              <a:t>Note </a:t>
            </a:r>
            <a:r>
              <a:rPr lang="en-PH"/>
              <a:t>: The early payment reward will be credited to the client’s savings upon loan release</a:t>
            </a:r>
          </a:p>
          <a:p>
            <a:endParaRPr lang="en-PH"/>
          </a:p>
        </p:txBody>
      </p:sp>
      <p:sp>
        <p:nvSpPr>
          <p:cNvPr id="4" name="Slide Number Placeholder 3"/>
          <p:cNvSpPr>
            <a:spLocks noGrp="1"/>
          </p:cNvSpPr>
          <p:nvPr>
            <p:ph type="sldNum" sz="quarter" idx="5"/>
          </p:nvPr>
        </p:nvSpPr>
        <p:spPr/>
        <p:txBody>
          <a:bodyPr/>
          <a:lstStyle/>
          <a:p>
            <a:fld id="{055671AF-A33F-46D0-852C-D1EF44AD87C1}" type="slidenum">
              <a:rPr lang="en-PH" smtClean="0"/>
              <a:t>13</a:t>
            </a:fld>
            <a:endParaRPr lang="en-PH"/>
          </a:p>
        </p:txBody>
      </p:sp>
    </p:spTree>
    <p:extLst>
      <p:ext uri="{BB962C8B-B14F-4D97-AF65-F5344CB8AC3E}">
        <p14:creationId xmlns:p14="http://schemas.microsoft.com/office/powerpoint/2010/main" val="1092005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rtl="0" fontAlgn="base">
              <a:lnSpc>
                <a:spcPct val="150000"/>
              </a:lnSpc>
              <a:buFont typeface="Arial" panose="020B0604020202020204" pitchFamily="34" charset="0"/>
              <a:buNone/>
            </a:pPr>
            <a:r>
              <a:rPr lang="en-US" sz="1200" b="0" i="0">
                <a:solidFill>
                  <a:srgbClr val="1F4766"/>
                </a:solidFill>
                <a:effectLst/>
                <a:latin typeface="Lato" panose="020F0502020204030203" pitchFamily="34" charset="0"/>
                <a:ea typeface="Lato" panose="020F0502020204030203" pitchFamily="34" charset="0"/>
                <a:cs typeface="Lato" panose="020F0502020204030203" pitchFamily="34" charset="0"/>
              </a:rPr>
              <a:t>NEW CLIENTS </a:t>
            </a:r>
          </a:p>
          <a:p>
            <a:pPr marL="0" indent="0" algn="just" rtl="0" fontAlgn="base">
              <a:lnSpc>
                <a:spcPct val="150000"/>
              </a:lnSpc>
              <a:buFont typeface="Arial" panose="020B0604020202020204" pitchFamily="34" charset="0"/>
              <a:buNone/>
            </a:pPr>
            <a:endParaRPr lang="en-US" sz="1200" b="0" i="0">
              <a:solidFill>
                <a:srgbClr val="1F4766"/>
              </a:solidFill>
              <a:effectLst/>
              <a:latin typeface="Lato" panose="020F0502020204030203" pitchFamily="34" charset="0"/>
              <a:ea typeface="Lato" panose="020F0502020204030203" pitchFamily="34" charset="0"/>
              <a:cs typeface="Lato" panose="020F0502020204030203" pitchFamily="34" charset="0"/>
            </a:endParaRPr>
          </a:p>
          <a:p>
            <a:pPr marL="285750" indent="-285750" algn="just" rtl="0" fontAlgn="base">
              <a:lnSpc>
                <a:spcPct val="150000"/>
              </a:lnSpc>
              <a:buFont typeface="Arial" panose="020B0604020202020204" pitchFamily="34" charset="0"/>
              <a:buChar char="•"/>
            </a:pPr>
            <a:r>
              <a:rPr lang="en-US" sz="1200" b="0" i="0">
                <a:solidFill>
                  <a:srgbClr val="1F4766"/>
                </a:solidFill>
                <a:effectLst/>
                <a:latin typeface="Lato" panose="020F0502020204030203" pitchFamily="34" charset="0"/>
                <a:ea typeface="Lato" panose="020F0502020204030203" pitchFamily="34" charset="0"/>
                <a:cs typeface="Lato" panose="020F0502020204030203" pitchFamily="34" charset="0"/>
              </a:rPr>
              <a:t>Must pass the background and credit investigation</a:t>
            </a:r>
          </a:p>
          <a:p>
            <a:pPr marL="285750" indent="-285750" algn="just" rtl="0" fontAlgn="base">
              <a:lnSpc>
                <a:spcPct val="150000"/>
              </a:lnSpc>
              <a:buFont typeface="Arial" panose="020B0604020202020204" pitchFamily="34" charset="0"/>
              <a:buChar char="•"/>
            </a:pPr>
            <a:r>
              <a:rPr lang="en-US" sz="1200" b="0" i="0">
                <a:solidFill>
                  <a:srgbClr val="1F4766"/>
                </a:solidFill>
                <a:effectLst/>
                <a:latin typeface="Lato" panose="020F0502020204030203" pitchFamily="34" charset="0"/>
                <a:ea typeface="Lato" panose="020F0502020204030203" pitchFamily="34" charset="0"/>
                <a:cs typeface="Lato" panose="020F0502020204030203" pitchFamily="34" charset="0"/>
              </a:rPr>
              <a:t>Must agree to loan size proportionate to payment capacity</a:t>
            </a:r>
          </a:p>
          <a:p>
            <a:pPr marL="285750" indent="-285750" algn="just" rtl="0" fontAlgn="base">
              <a:lnSpc>
                <a:spcPct val="150000"/>
              </a:lnSpc>
              <a:buFont typeface="Arial" panose="020B0604020202020204" pitchFamily="34" charset="0"/>
              <a:buChar char="•"/>
            </a:pPr>
            <a:r>
              <a:rPr lang="en-US" sz="1200" b="0" i="0">
                <a:solidFill>
                  <a:srgbClr val="1F4766"/>
                </a:solidFill>
                <a:effectLst/>
                <a:latin typeface="Lato" panose="020F0502020204030203" pitchFamily="34" charset="0"/>
                <a:ea typeface="Lato" panose="020F0502020204030203" pitchFamily="34" charset="0"/>
                <a:cs typeface="Lato" panose="020F0502020204030203" pitchFamily="34" charset="0"/>
              </a:rPr>
              <a:t>Must have other source of family income either daily/weekly/monthly </a:t>
            </a:r>
          </a:p>
          <a:p>
            <a:pPr marL="285750" indent="-285750" algn="just" rtl="0" fontAlgn="base">
              <a:lnSpc>
                <a:spcPct val="150000"/>
              </a:lnSpc>
              <a:buFont typeface="Arial" panose="020B0604020202020204" pitchFamily="34" charset="0"/>
              <a:buChar char="•"/>
            </a:pPr>
            <a:r>
              <a:rPr lang="en-US" sz="1200" b="0" i="0">
                <a:solidFill>
                  <a:srgbClr val="1F4766"/>
                </a:solidFill>
                <a:effectLst/>
                <a:latin typeface="Lato" panose="020F0502020204030203" pitchFamily="34" charset="0"/>
                <a:ea typeface="Lato" panose="020F0502020204030203" pitchFamily="34" charset="0"/>
                <a:cs typeface="Lato" panose="020F0502020204030203" pitchFamily="34" charset="0"/>
              </a:rPr>
              <a:t>Must have no active legal case(s) </a:t>
            </a:r>
          </a:p>
          <a:p>
            <a:pPr marL="285750" indent="-285750" algn="just" rtl="0" fontAlgn="base">
              <a:lnSpc>
                <a:spcPct val="150000"/>
              </a:lnSpc>
              <a:buFont typeface="Arial" panose="020B0604020202020204" pitchFamily="34" charset="0"/>
              <a:buChar char="•"/>
            </a:pPr>
            <a:r>
              <a:rPr lang="en-US" sz="1200" b="0" i="0">
                <a:solidFill>
                  <a:srgbClr val="1F4766"/>
                </a:solidFill>
                <a:effectLst/>
                <a:latin typeface="Lato" panose="020F0502020204030203" pitchFamily="34" charset="0"/>
                <a:ea typeface="Lato" panose="020F0502020204030203" pitchFamily="34" charset="0"/>
                <a:cs typeface="Lato" panose="020F0502020204030203" pitchFamily="34" charset="0"/>
              </a:rPr>
              <a:t>Must be physically fit and mentally sound </a:t>
            </a:r>
          </a:p>
          <a:p>
            <a:pPr marL="285750" indent="-285750" algn="just" rtl="0" fontAlgn="base">
              <a:lnSpc>
                <a:spcPct val="150000"/>
              </a:lnSpc>
              <a:buFont typeface="Arial" panose="020B0604020202020204" pitchFamily="34" charset="0"/>
              <a:buChar char="•"/>
            </a:pPr>
            <a:r>
              <a:rPr lang="en-US" sz="1200" b="0" i="0">
                <a:solidFill>
                  <a:srgbClr val="1F4766"/>
                </a:solidFill>
                <a:effectLst/>
                <a:latin typeface="Lato" panose="020F0502020204030203" pitchFamily="34" charset="0"/>
                <a:ea typeface="Lato" panose="020F0502020204030203" pitchFamily="34" charset="0"/>
                <a:cs typeface="Lato" panose="020F0502020204030203" pitchFamily="34" charset="0"/>
              </a:rPr>
              <a:t>Must have no other household members that are members of RAFI MFI</a:t>
            </a:r>
          </a:p>
          <a:p>
            <a:pPr marL="285750" indent="-285750" algn="just" rtl="0" fontAlgn="base">
              <a:lnSpc>
                <a:spcPct val="150000"/>
              </a:lnSpc>
              <a:buFont typeface="Arial" panose="020B0604020202020204" pitchFamily="34" charset="0"/>
              <a:buChar char="•"/>
            </a:pPr>
            <a:br>
              <a:rPr lang="en-US" sz="1200" b="0" i="0">
                <a:solidFill>
                  <a:srgbClr val="1F4766"/>
                </a:solidFill>
                <a:effectLst/>
                <a:latin typeface="Lato" panose="020F0502020204030203" pitchFamily="34" charset="0"/>
                <a:ea typeface="Lato" panose="020F0502020204030203" pitchFamily="34" charset="0"/>
                <a:cs typeface="Lato" panose="020F0502020204030203" pitchFamily="34" charset="0"/>
              </a:rPr>
            </a:br>
            <a:r>
              <a:rPr lang="en-US" sz="1200" b="0" i="0">
                <a:solidFill>
                  <a:srgbClr val="1F4766"/>
                </a:solidFill>
                <a:effectLst/>
                <a:latin typeface="Lato" panose="020F0502020204030203" pitchFamily="34" charset="0"/>
                <a:ea typeface="Lato" panose="020F0502020204030203" pitchFamily="34" charset="0"/>
                <a:cs typeface="Lato" panose="020F0502020204030203" pitchFamily="34" charset="0"/>
              </a:rPr>
              <a:t>EXISTING</a:t>
            </a:r>
            <a:r>
              <a:rPr lang="en-US" sz="1200" b="0" i="0" baseline="0">
                <a:solidFill>
                  <a:srgbClr val="1F4766"/>
                </a:solidFill>
                <a:effectLst/>
                <a:latin typeface="Lato" panose="020F0502020204030203" pitchFamily="34" charset="0"/>
                <a:ea typeface="Lato" panose="020F0502020204030203" pitchFamily="34" charset="0"/>
                <a:cs typeface="Lato" panose="020F0502020204030203" pitchFamily="34" charset="0"/>
              </a:rPr>
              <a:t> CLIENT</a:t>
            </a:r>
            <a:r>
              <a:rPr lang="en-US" sz="1200" b="0" i="0">
                <a:solidFill>
                  <a:srgbClr val="1F4766"/>
                </a:solidFill>
                <a:effectLst/>
                <a:latin typeface="Lato" panose="020F0502020204030203" pitchFamily="34" charset="0"/>
                <a:ea typeface="Lato" panose="020F0502020204030203" pitchFamily="34" charset="0"/>
                <a:cs typeface="Lato" panose="020F0502020204030203" pitchFamily="34" charset="0"/>
              </a:rPr>
              <a:t> </a:t>
            </a:r>
          </a:p>
          <a:p>
            <a:pPr marL="285750" indent="-285750" algn="just" rtl="0" fontAlgn="base">
              <a:lnSpc>
                <a:spcPct val="150000"/>
              </a:lnSpc>
              <a:buFont typeface="Arial" panose="020B0604020202020204" pitchFamily="34" charset="0"/>
              <a:buChar char="•"/>
            </a:pPr>
            <a:r>
              <a:rPr lang="en-US" sz="1200" b="0" i="0">
                <a:solidFill>
                  <a:srgbClr val="1F4766"/>
                </a:solidFill>
                <a:effectLst/>
                <a:latin typeface="Lato" panose="020F0502020204030203" pitchFamily="34" charset="0"/>
                <a:ea typeface="Lato" panose="020F0502020204030203" pitchFamily="34" charset="0"/>
                <a:cs typeface="Lato" panose="020F0502020204030203" pitchFamily="34" charset="0"/>
              </a:rPr>
              <a:t>Must be a resident of at least 1 year on present address with no plans of transfer within the next 2 years</a:t>
            </a:r>
          </a:p>
          <a:p>
            <a:pPr marL="285750" indent="-285750" algn="just" rtl="0" fontAlgn="base">
              <a:lnSpc>
                <a:spcPct val="150000"/>
              </a:lnSpc>
              <a:buFont typeface="Arial" panose="020B0604020202020204" pitchFamily="34" charset="0"/>
              <a:buChar char="•"/>
            </a:pPr>
            <a:r>
              <a:rPr lang="en-US" sz="1200" b="0" i="0">
                <a:solidFill>
                  <a:srgbClr val="1F4766"/>
                </a:solidFill>
                <a:effectLst/>
                <a:latin typeface="Lato" panose="020F0502020204030203" pitchFamily="34" charset="0"/>
                <a:ea typeface="Lato" panose="020F0502020204030203" pitchFamily="34" charset="0"/>
                <a:cs typeface="Lato" panose="020F0502020204030203" pitchFamily="34" charset="0"/>
              </a:rPr>
              <a:t>Must agree to loan size proportionate to payment capacity</a:t>
            </a:r>
          </a:p>
          <a:p>
            <a:pPr marL="285750" indent="-285750" algn="just" rtl="0" fontAlgn="base">
              <a:lnSpc>
                <a:spcPct val="150000"/>
              </a:lnSpc>
              <a:buFont typeface="Arial" panose="020B0604020202020204" pitchFamily="34" charset="0"/>
              <a:buChar char="•"/>
            </a:pPr>
            <a:r>
              <a:rPr lang="en-US" sz="1200" b="0" i="0">
                <a:solidFill>
                  <a:srgbClr val="1F4766"/>
                </a:solidFill>
                <a:effectLst/>
                <a:latin typeface="Lato" panose="020F0502020204030203" pitchFamily="34" charset="0"/>
                <a:ea typeface="Lato" panose="020F0502020204030203" pitchFamily="34" charset="0"/>
                <a:cs typeface="Lato" panose="020F0502020204030203" pitchFamily="34" charset="0"/>
              </a:rPr>
              <a:t>Must have other source of family income either daily/weekly/monthly</a:t>
            </a:r>
          </a:p>
          <a:p>
            <a:pPr marL="285750" indent="-285750" algn="just" rtl="0" fontAlgn="base">
              <a:lnSpc>
                <a:spcPct val="150000"/>
              </a:lnSpc>
              <a:buFont typeface="Arial" panose="020B0604020202020204" pitchFamily="34" charset="0"/>
              <a:buChar char="•"/>
            </a:pPr>
            <a:r>
              <a:rPr lang="en-US" sz="1200" b="0" i="0">
                <a:solidFill>
                  <a:srgbClr val="1F4766"/>
                </a:solidFill>
                <a:effectLst/>
                <a:latin typeface="Lato" panose="020F0502020204030203" pitchFamily="34" charset="0"/>
                <a:ea typeface="Lato" panose="020F0502020204030203" pitchFamily="34" charset="0"/>
                <a:cs typeface="Lato" panose="020F0502020204030203" pitchFamily="34" charset="0"/>
              </a:rPr>
              <a:t>Must have no active legal case(s) </a:t>
            </a:r>
          </a:p>
          <a:p>
            <a:pPr marL="285750" indent="-285750" algn="just" rtl="0" fontAlgn="base">
              <a:lnSpc>
                <a:spcPct val="150000"/>
              </a:lnSpc>
              <a:buFont typeface="Arial" panose="020B0604020202020204" pitchFamily="34" charset="0"/>
              <a:buChar char="•"/>
            </a:pPr>
            <a:r>
              <a:rPr lang="en-US" sz="1200" b="0" i="0">
                <a:solidFill>
                  <a:srgbClr val="1F4766"/>
                </a:solidFill>
                <a:effectLst/>
                <a:latin typeface="Lato" panose="020F0502020204030203" pitchFamily="34" charset="0"/>
                <a:ea typeface="Lato" panose="020F0502020204030203" pitchFamily="34" charset="0"/>
                <a:cs typeface="Lato" panose="020F0502020204030203" pitchFamily="34" charset="0"/>
              </a:rPr>
              <a:t>Must be physically fit and mentally sound</a:t>
            </a:r>
          </a:p>
          <a:p>
            <a:pPr marL="285750" indent="-285750" algn="just" fontAlgn="base">
              <a:lnSpc>
                <a:spcPct val="150000"/>
              </a:lnSpc>
              <a:buFont typeface="Arial" panose="020B0604020202020204" pitchFamily="34" charset="0"/>
              <a:buChar char="•"/>
            </a:pPr>
            <a:r>
              <a:rPr lang="en-US" sz="1200" b="0" i="0">
                <a:solidFill>
                  <a:srgbClr val="1F4766"/>
                </a:solidFill>
                <a:effectLst/>
                <a:latin typeface="Lato" panose="020F0502020204030203" pitchFamily="34" charset="0"/>
                <a:ea typeface="Lato" panose="020F0502020204030203" pitchFamily="34" charset="0"/>
                <a:cs typeface="Lato" panose="020F0502020204030203" pitchFamily="34" charset="0"/>
              </a:rPr>
              <a:t>Must have no other household members that are members of RAFI MFI.</a:t>
            </a:r>
          </a:p>
          <a:p>
            <a:endParaRPr lang="en-PH"/>
          </a:p>
        </p:txBody>
      </p:sp>
      <p:sp>
        <p:nvSpPr>
          <p:cNvPr id="4" name="Slide Number Placeholder 3"/>
          <p:cNvSpPr>
            <a:spLocks noGrp="1"/>
          </p:cNvSpPr>
          <p:nvPr>
            <p:ph type="sldNum" sz="quarter" idx="5"/>
          </p:nvPr>
        </p:nvSpPr>
        <p:spPr/>
        <p:txBody>
          <a:bodyPr/>
          <a:lstStyle/>
          <a:p>
            <a:fld id="{055671AF-A33F-46D0-852C-D1EF44AD87C1}" type="slidenum">
              <a:rPr lang="en-PH" smtClean="0"/>
              <a:t>14</a:t>
            </a:fld>
            <a:endParaRPr lang="en-PH"/>
          </a:p>
        </p:txBody>
      </p:sp>
    </p:spTree>
    <p:extLst>
      <p:ext uri="{BB962C8B-B14F-4D97-AF65-F5344CB8AC3E}">
        <p14:creationId xmlns:p14="http://schemas.microsoft.com/office/powerpoint/2010/main" val="40921501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KABUHAYAN HOG LOAN PURPOSE</a:t>
            </a:r>
          </a:p>
          <a:p>
            <a:pPr rtl="0" eaLnBrk="1" fontAlgn="t" latinLnBrk="0" hangingPunct="1"/>
            <a:br>
              <a:rPr lang="en-PH" dirty="0">
                <a:cs typeface="+mn-lt"/>
              </a:rPr>
            </a:br>
            <a:r>
              <a:rPr lang="en-US" sz="1200" b="0" i="0" u="none" strike="noStrike" kern="1200">
                <a:solidFill>
                  <a:schemeClr val="tx1"/>
                </a:solidFill>
                <a:effectLst/>
                <a:latin typeface="+mn-lt"/>
                <a:ea typeface="+mn-ea"/>
                <a:cs typeface="+mn-cs"/>
              </a:rPr>
              <a:t>KL - Construction /improvement of livestock pen</a:t>
            </a:r>
            <a:endParaRPr lang="en-PH" sz="1200" b="0" i="0" u="none" strike="noStrike" kern="1200">
              <a:solidFill>
                <a:schemeClr val="tx1"/>
              </a:solidFill>
              <a:effectLst/>
              <a:latin typeface="+mn-lt"/>
              <a:ea typeface="+mn-ea"/>
              <a:cs typeface="+mn-cs"/>
            </a:endParaRPr>
          </a:p>
          <a:p>
            <a:pPr rtl="0" eaLnBrk="1" fontAlgn="auto" latinLnBrk="0" hangingPunct="1"/>
            <a:r>
              <a:rPr lang="en-US" sz="1200" b="0" i="0" u="none" strike="noStrike" kern="1200">
                <a:solidFill>
                  <a:schemeClr val="tx1"/>
                </a:solidFill>
                <a:effectLst/>
                <a:latin typeface="+mn-lt"/>
                <a:ea typeface="+mn-ea"/>
                <a:cs typeface="+mn-cs"/>
              </a:rPr>
              <a:t>KL - Purchase of feeds</a:t>
            </a:r>
            <a:endParaRPr lang="en-PH" sz="1200" b="0" i="0" u="none" strike="noStrike" kern="1200">
              <a:solidFill>
                <a:schemeClr val="tx1"/>
              </a:solidFill>
              <a:effectLst/>
              <a:latin typeface="+mn-lt"/>
              <a:ea typeface="+mn-ea"/>
              <a:cs typeface="+mn-cs"/>
            </a:endParaRPr>
          </a:p>
          <a:p>
            <a:pPr rtl="0" eaLnBrk="1" fontAlgn="auto" latinLnBrk="0" hangingPunct="1"/>
            <a:r>
              <a:rPr lang="en-US" sz="1200" b="0" i="0" u="none" strike="noStrike" kern="1200">
                <a:solidFill>
                  <a:schemeClr val="tx1"/>
                </a:solidFill>
                <a:effectLst/>
                <a:latin typeface="+mn-lt"/>
                <a:ea typeface="+mn-ea"/>
                <a:cs typeface="+mn-cs"/>
              </a:rPr>
              <a:t>KL - Purchase of livestock heads</a:t>
            </a:r>
            <a:endParaRPr lang="en-PH" sz="1200" b="0" i="0" u="none" strike="noStrike" kern="1200">
              <a:solidFill>
                <a:schemeClr val="tx1"/>
              </a:solidFill>
              <a:effectLst/>
              <a:latin typeface="+mn-lt"/>
              <a:ea typeface="+mn-ea"/>
              <a:cs typeface="+mn-cs"/>
            </a:endParaRPr>
          </a:p>
          <a:p>
            <a:br>
              <a:rPr lang="en-PH" dirty="0">
                <a:ea typeface="Calibri"/>
                <a:cs typeface="+mn-lt"/>
              </a:rPr>
            </a:br>
            <a:endParaRPr lang="en-PH" i="1">
              <a:ea typeface="Calibri"/>
              <a:cs typeface="+mn-lt"/>
            </a:endParaRPr>
          </a:p>
        </p:txBody>
      </p:sp>
      <p:sp>
        <p:nvSpPr>
          <p:cNvPr id="4" name="Slide Number Placeholder 3"/>
          <p:cNvSpPr>
            <a:spLocks noGrp="1"/>
          </p:cNvSpPr>
          <p:nvPr>
            <p:ph type="sldNum" sz="quarter" idx="5"/>
          </p:nvPr>
        </p:nvSpPr>
        <p:spPr/>
        <p:txBody>
          <a:bodyPr/>
          <a:lstStyle/>
          <a:p>
            <a:fld id="{055671AF-A33F-46D0-852C-D1EF44AD87C1}" type="slidenum">
              <a:rPr lang="en-PH" smtClean="0"/>
              <a:t>15</a:t>
            </a:fld>
            <a:endParaRPr lang="en-PH"/>
          </a:p>
        </p:txBody>
      </p:sp>
    </p:spTree>
    <p:extLst>
      <p:ext uri="{BB962C8B-B14F-4D97-AF65-F5344CB8AC3E}">
        <p14:creationId xmlns:p14="http://schemas.microsoft.com/office/powerpoint/2010/main" val="24392848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a:t>Clients that avail </a:t>
            </a:r>
            <a:r>
              <a:rPr lang="en-PH" err="1"/>
              <a:t>Kabuhayan</a:t>
            </a:r>
            <a:r>
              <a:rPr lang="en-PH"/>
              <a:t> Hog loan can also avail the early payment reward</a:t>
            </a:r>
            <a:br>
              <a:rPr lang="en-PH"/>
            </a:br>
            <a:br>
              <a:rPr lang="en-PH"/>
            </a:br>
            <a:r>
              <a:rPr lang="en-US" sz="1200" b="1">
                <a:solidFill>
                  <a:srgbClr val="1F4766"/>
                </a:solidFill>
                <a:latin typeface="Lato"/>
                <a:ea typeface="Lato"/>
                <a:cs typeface="Lato"/>
              </a:rPr>
              <a:t>Documentary Requirements</a:t>
            </a:r>
          </a:p>
          <a:p>
            <a:r>
              <a:rPr lang="en-US" sz="1200" b="0" u="sng">
                <a:solidFill>
                  <a:schemeClr val="tx1"/>
                </a:solidFill>
                <a:latin typeface="Lato"/>
                <a:ea typeface="Lato"/>
                <a:cs typeface="Lato"/>
              </a:rPr>
              <a:t>New Loans</a:t>
            </a:r>
          </a:p>
          <a:p>
            <a:pPr marL="285750" indent="-285750">
              <a:buFont typeface="Wingdings" panose="05000000000000000000" pitchFamily="2" charset="2"/>
              <a:buChar char="ü"/>
            </a:pPr>
            <a:r>
              <a:rPr lang="en-US" sz="1200" b="0" u="none">
                <a:solidFill>
                  <a:schemeClr val="tx1"/>
                </a:solidFill>
                <a:latin typeface="Lato"/>
                <a:ea typeface="Lato"/>
                <a:cs typeface="Lato"/>
              </a:rPr>
              <a:t>1 pc 1x1 picture for RAFI MFI ID​</a:t>
            </a:r>
          </a:p>
          <a:p>
            <a:pPr marL="285750" indent="-285750">
              <a:buFont typeface="Wingdings" panose="05000000000000000000" pitchFamily="2" charset="2"/>
              <a:buChar char="ü"/>
            </a:pPr>
            <a:r>
              <a:rPr lang="en-US" sz="1200" b="0" u="none">
                <a:solidFill>
                  <a:schemeClr val="tx1"/>
                </a:solidFill>
                <a:latin typeface="Lato"/>
                <a:ea typeface="Lato"/>
                <a:cs typeface="Lato"/>
              </a:rPr>
              <a:t>Valid ID or Barangay Clearance (in the absence of Valid IDs)​</a:t>
            </a:r>
          </a:p>
          <a:p>
            <a:pPr marL="285750" indent="-285750">
              <a:buFont typeface="Arial" panose="05000000000000000000" pitchFamily="2" charset="2"/>
              <a:buChar char="•"/>
            </a:pPr>
            <a:r>
              <a:rPr lang="en-US" sz="1200" b="0" u="none">
                <a:solidFill>
                  <a:schemeClr val="tx1"/>
                </a:solidFill>
                <a:latin typeface="Lato"/>
                <a:ea typeface="Lato"/>
                <a:cs typeface="Lato"/>
              </a:rPr>
              <a:t>Valid ID of Spouse</a:t>
            </a:r>
            <a:br>
              <a:rPr lang="en-US">
                <a:latin typeface="Lato"/>
                <a:ea typeface="Lato"/>
                <a:cs typeface="Lato"/>
              </a:rPr>
            </a:br>
            <a:br>
              <a:rPr lang="en-US">
                <a:latin typeface="Lato"/>
                <a:ea typeface="Lato"/>
                <a:cs typeface="Lato"/>
              </a:rPr>
            </a:br>
            <a:r>
              <a:rPr lang="en-US" b="1">
                <a:solidFill>
                  <a:srgbClr val="FFC000"/>
                </a:solidFill>
              </a:rPr>
              <a:t>Eligibility Criteria</a:t>
            </a:r>
            <a:br>
              <a:rPr lang="en-US" b="1">
                <a:cs typeface="+mn-lt"/>
              </a:rPr>
            </a:br>
            <a:r>
              <a:rPr lang="en-US" b="1">
                <a:solidFill>
                  <a:srgbClr val="FFC000"/>
                </a:solidFill>
                <a:latin typeface="Calibri"/>
                <a:ea typeface="Calibri"/>
                <a:cs typeface="Calibri"/>
              </a:rPr>
              <a:t>NEW LOANS</a:t>
            </a:r>
            <a:endParaRPr lang="en-US">
              <a:latin typeface="Lato"/>
              <a:ea typeface="Lato"/>
              <a:cs typeface="Lato"/>
            </a:endParaRPr>
          </a:p>
          <a:p>
            <a:pPr algn="just">
              <a:buFont typeface="Arial" panose="05000000000000000000" pitchFamily="2" charset="2"/>
              <a:buChar char="•"/>
            </a:pPr>
            <a:r>
              <a:rPr lang="en-US"/>
              <a:t>•</a:t>
            </a:r>
            <a:r>
              <a:rPr lang="en-US">
                <a:solidFill>
                  <a:srgbClr val="1F4766"/>
                </a:solidFill>
              </a:rPr>
              <a:t>Must be 18-60 years’ old </a:t>
            </a:r>
            <a:endParaRPr lang="en-US">
              <a:latin typeface="Lato"/>
              <a:ea typeface="Lato"/>
              <a:cs typeface="Lato"/>
            </a:endParaRPr>
          </a:p>
          <a:p>
            <a:pPr algn="just">
              <a:buFont typeface="Arial" panose="05000000000000000000" pitchFamily="2" charset="2"/>
              <a:buChar char="•"/>
            </a:pPr>
            <a:r>
              <a:rPr lang="en-US"/>
              <a:t>•</a:t>
            </a:r>
            <a:r>
              <a:rPr lang="en-US">
                <a:solidFill>
                  <a:srgbClr val="1F4766"/>
                </a:solidFill>
              </a:rPr>
              <a:t>Must have existing hog raising or fattening business with at least 5 hogs</a:t>
            </a:r>
            <a:endParaRPr lang="en-US"/>
          </a:p>
          <a:p>
            <a:pPr algn="just">
              <a:buFont typeface="Arial" panose="05000000000000000000" pitchFamily="2" charset="2"/>
              <a:buChar char="•"/>
            </a:pPr>
            <a:r>
              <a:rPr lang="en-US"/>
              <a:t>•</a:t>
            </a:r>
            <a:r>
              <a:rPr lang="en-US">
                <a:solidFill>
                  <a:srgbClr val="1F4766"/>
                </a:solidFill>
              </a:rPr>
              <a:t>Must be a resident of at least 1 year on present address with no plans of transfer within the next 2 years</a:t>
            </a:r>
            <a:endParaRPr lang="en-US"/>
          </a:p>
          <a:p>
            <a:pPr algn="just">
              <a:buFont typeface="Arial" panose="05000000000000000000" pitchFamily="2" charset="2"/>
              <a:buChar char="•"/>
            </a:pPr>
            <a:r>
              <a:rPr lang="en-US"/>
              <a:t>•</a:t>
            </a:r>
            <a:r>
              <a:rPr lang="en-US">
                <a:solidFill>
                  <a:srgbClr val="1F4766"/>
                </a:solidFill>
              </a:rPr>
              <a:t>Must agree to loan size proportionate to payment capacity</a:t>
            </a:r>
            <a:endParaRPr lang="en-US"/>
          </a:p>
          <a:p>
            <a:pPr algn="just">
              <a:buFont typeface="Arial" panose="05000000000000000000" pitchFamily="2" charset="2"/>
              <a:buChar char="•"/>
            </a:pPr>
            <a:r>
              <a:rPr lang="en-US"/>
              <a:t>•</a:t>
            </a:r>
            <a:r>
              <a:rPr lang="en-US">
                <a:solidFill>
                  <a:srgbClr val="1F4766"/>
                </a:solidFill>
              </a:rPr>
              <a:t>Must have other source of family income either daily/weekly/monthly </a:t>
            </a:r>
            <a:endParaRPr lang="en-US"/>
          </a:p>
          <a:p>
            <a:pPr algn="just">
              <a:buFont typeface="Arial" panose="05000000000000000000" pitchFamily="2" charset="2"/>
              <a:buChar char="•"/>
            </a:pPr>
            <a:r>
              <a:rPr lang="en-US"/>
              <a:t>•</a:t>
            </a:r>
            <a:r>
              <a:rPr lang="en-US">
                <a:solidFill>
                  <a:srgbClr val="1F4766"/>
                </a:solidFill>
              </a:rPr>
              <a:t>Must have no active legal case(s) </a:t>
            </a:r>
            <a:endParaRPr lang="en-US">
              <a:latin typeface="Lato"/>
              <a:ea typeface="Lato"/>
              <a:cs typeface="Lato"/>
            </a:endParaRPr>
          </a:p>
          <a:p>
            <a:pPr algn="just">
              <a:buFont typeface="Arial" panose="05000000000000000000" pitchFamily="2" charset="2"/>
              <a:buChar char="•"/>
            </a:pPr>
            <a:r>
              <a:rPr lang="en-US"/>
              <a:t>•</a:t>
            </a:r>
            <a:r>
              <a:rPr lang="en-US">
                <a:solidFill>
                  <a:srgbClr val="1F4766"/>
                </a:solidFill>
              </a:rPr>
              <a:t>Must pass the background and credit investigation   </a:t>
            </a:r>
            <a:endParaRPr lang="en-US"/>
          </a:p>
          <a:p>
            <a:pPr algn="just">
              <a:buFont typeface="Arial" panose="05000000000000000000" pitchFamily="2" charset="2"/>
              <a:buChar char="•"/>
            </a:pPr>
            <a:r>
              <a:rPr lang="en-US"/>
              <a:t>•</a:t>
            </a:r>
            <a:r>
              <a:rPr lang="en-US">
                <a:solidFill>
                  <a:srgbClr val="1F4766"/>
                </a:solidFill>
              </a:rPr>
              <a:t>Must be physically fit and mentally sound </a:t>
            </a:r>
            <a:endParaRPr lang="en-US"/>
          </a:p>
          <a:p>
            <a:pPr algn="just">
              <a:buFont typeface="Arial" panose="05000000000000000000" pitchFamily="2" charset="2"/>
              <a:buChar char="•"/>
            </a:pPr>
            <a:r>
              <a:rPr lang="en-US"/>
              <a:t>•</a:t>
            </a:r>
            <a:r>
              <a:rPr lang="en-US">
                <a:solidFill>
                  <a:srgbClr val="1F4766"/>
                </a:solidFill>
              </a:rPr>
              <a:t>Must have no other household members that are members of RAFI MFI</a:t>
            </a:r>
            <a:endParaRPr lang="en-US"/>
          </a:p>
          <a:p>
            <a:pPr algn="just">
              <a:buFont typeface="Arial" panose="05000000000000000000" pitchFamily="2" charset="2"/>
              <a:buChar char="•"/>
            </a:pPr>
            <a:r>
              <a:rPr lang="en-US"/>
              <a:t>•</a:t>
            </a:r>
            <a:r>
              <a:rPr lang="en-US">
                <a:solidFill>
                  <a:srgbClr val="1F4766"/>
                </a:solidFill>
              </a:rPr>
              <a:t>Must have the capacity to manage a business or is business minded </a:t>
            </a:r>
            <a:endParaRPr lang="en-US"/>
          </a:p>
          <a:p>
            <a:pPr algn="just">
              <a:buFont typeface="Arial" panose="05000000000000000000" pitchFamily="2" charset="2"/>
              <a:buChar char="•"/>
            </a:pPr>
            <a:r>
              <a:rPr lang="en-US"/>
              <a:t>•</a:t>
            </a:r>
            <a:r>
              <a:rPr lang="en-US">
                <a:solidFill>
                  <a:srgbClr val="1F4766"/>
                </a:solidFill>
              </a:rPr>
              <a:t>With good credit standing </a:t>
            </a:r>
            <a:endParaRPr lang="en-US"/>
          </a:p>
          <a:p>
            <a:pPr algn="just">
              <a:buFont typeface="Arial" panose="05000000000000000000" pitchFamily="2" charset="2"/>
              <a:buChar char="•"/>
            </a:pPr>
            <a:r>
              <a:rPr lang="en-US"/>
              <a:t>•</a:t>
            </a:r>
            <a:r>
              <a:rPr lang="en-US">
                <a:solidFill>
                  <a:srgbClr val="1F4766"/>
                </a:solidFill>
              </a:rPr>
              <a:t>Must be able to attend regular center meetings</a:t>
            </a:r>
            <a:endParaRPr lang="en-US"/>
          </a:p>
          <a:p>
            <a:pPr algn="just">
              <a:buFont typeface="Arial" panose="05000000000000000000" pitchFamily="2" charset="2"/>
              <a:buChar char="•"/>
            </a:pPr>
            <a:r>
              <a:rPr lang="en-US"/>
              <a:t>•</a:t>
            </a:r>
            <a:r>
              <a:rPr lang="en-US">
                <a:solidFill>
                  <a:srgbClr val="1F4766"/>
                </a:solidFill>
              </a:rPr>
              <a:t>Must be disciplined and responsible</a:t>
            </a:r>
            <a:endParaRPr lang="en-US"/>
          </a:p>
          <a:p>
            <a:endParaRPr lang="en-US" sz="1200" b="0" u="none">
              <a:latin typeface="Lato"/>
              <a:ea typeface="Lato"/>
              <a:cs typeface="Lato"/>
            </a:endParaRPr>
          </a:p>
          <a:p>
            <a:pPr algn="just"/>
            <a:r>
              <a:rPr lang="en-US">
                <a:latin typeface="Lato"/>
                <a:ea typeface="Lato"/>
                <a:cs typeface="Lato"/>
              </a:rPr>
              <a:t>RELOAN</a:t>
            </a:r>
            <a:br>
              <a:rPr lang="en-US">
                <a:latin typeface="Lato"/>
                <a:ea typeface="Lato"/>
                <a:cs typeface="Lato"/>
              </a:rPr>
            </a:br>
            <a:r>
              <a:rPr lang="en-US"/>
              <a:t>•</a:t>
            </a:r>
            <a:r>
              <a:rPr lang="en-US">
                <a:solidFill>
                  <a:srgbClr val="1F4766"/>
                </a:solidFill>
              </a:rPr>
              <a:t>Must be 18-75 years’ old </a:t>
            </a:r>
            <a:endParaRPr lang="en-US">
              <a:latin typeface="Lato"/>
              <a:ea typeface="Lato"/>
              <a:cs typeface="Lato"/>
            </a:endParaRPr>
          </a:p>
          <a:p>
            <a:pPr algn="just"/>
            <a:r>
              <a:rPr lang="en-US"/>
              <a:t>•</a:t>
            </a:r>
            <a:r>
              <a:rPr lang="en-US">
                <a:solidFill>
                  <a:srgbClr val="1F4766"/>
                </a:solidFill>
              </a:rPr>
              <a:t>Must have existing hog raising or fattening business with at least 5 hogs</a:t>
            </a:r>
            <a:endParaRPr lang="en-US"/>
          </a:p>
          <a:p>
            <a:pPr algn="just"/>
            <a:r>
              <a:rPr lang="en-US"/>
              <a:t>•</a:t>
            </a:r>
            <a:r>
              <a:rPr lang="en-US">
                <a:solidFill>
                  <a:srgbClr val="1F4766"/>
                </a:solidFill>
              </a:rPr>
              <a:t>Must have 100% repayment from the previous loan</a:t>
            </a:r>
            <a:endParaRPr lang="en-US"/>
          </a:p>
          <a:p>
            <a:pPr algn="just"/>
            <a:r>
              <a:rPr lang="en-US"/>
              <a:t>•</a:t>
            </a:r>
            <a:r>
              <a:rPr lang="en-US">
                <a:solidFill>
                  <a:srgbClr val="1F4766"/>
                </a:solidFill>
              </a:rPr>
              <a:t>Must be a member of Group Center with at least 80% attendance  </a:t>
            </a:r>
            <a:endParaRPr lang="en-US"/>
          </a:p>
          <a:p>
            <a:pPr algn="just"/>
            <a:r>
              <a:rPr lang="en-US"/>
              <a:t>•</a:t>
            </a:r>
            <a:r>
              <a:rPr lang="en-US">
                <a:solidFill>
                  <a:srgbClr val="1F4766"/>
                </a:solidFill>
              </a:rPr>
              <a:t>Must have other source of family income either daily/weekly/monthly </a:t>
            </a:r>
            <a:endParaRPr lang="en-US"/>
          </a:p>
          <a:p>
            <a:pPr algn="just"/>
            <a:r>
              <a:rPr lang="en-US"/>
              <a:t>•</a:t>
            </a:r>
            <a:r>
              <a:rPr lang="en-US">
                <a:solidFill>
                  <a:srgbClr val="1F4766"/>
                </a:solidFill>
              </a:rPr>
              <a:t>Must have no active legal case(s) </a:t>
            </a:r>
            <a:endParaRPr lang="en-US"/>
          </a:p>
          <a:p>
            <a:pPr algn="just"/>
            <a:r>
              <a:rPr lang="en-US"/>
              <a:t>•</a:t>
            </a:r>
            <a:r>
              <a:rPr lang="en-US">
                <a:solidFill>
                  <a:srgbClr val="1F4766"/>
                </a:solidFill>
              </a:rPr>
              <a:t>Must agree to loan size proportionate to payment capacity</a:t>
            </a:r>
            <a:endParaRPr lang="en-US"/>
          </a:p>
          <a:p>
            <a:pPr algn="just"/>
            <a:r>
              <a:rPr lang="en-US"/>
              <a:t>•</a:t>
            </a:r>
            <a:r>
              <a:rPr lang="en-US">
                <a:solidFill>
                  <a:srgbClr val="1F4766"/>
                </a:solidFill>
              </a:rPr>
              <a:t>Must pass the LSV </a:t>
            </a:r>
            <a:endParaRPr lang="en-US"/>
          </a:p>
          <a:p>
            <a:pPr algn="just"/>
            <a:r>
              <a:rPr lang="en-US"/>
              <a:t>•</a:t>
            </a:r>
            <a:r>
              <a:rPr lang="en-US">
                <a:solidFill>
                  <a:srgbClr val="1F4766"/>
                </a:solidFill>
              </a:rPr>
              <a:t>Must be physically fit and mentally sound</a:t>
            </a:r>
            <a:endParaRPr lang="en-US"/>
          </a:p>
          <a:p>
            <a:endParaRPr lang="en-US" sz="1200" b="0">
              <a:latin typeface="Lato"/>
              <a:ea typeface="Lato"/>
              <a:cs typeface="Lato"/>
            </a:endParaRPr>
          </a:p>
          <a:p>
            <a:r>
              <a:rPr lang="en-US" b="1" i="1">
                <a:solidFill>
                  <a:srgbClr val="1F4766"/>
                </a:solidFill>
              </a:rPr>
              <a:t>Note</a:t>
            </a:r>
            <a:r>
              <a:rPr lang="en-US" i="1">
                <a:solidFill>
                  <a:srgbClr val="1F4766"/>
                </a:solidFill>
              </a:rPr>
              <a:t>: The client must have 100% repayment from the previous loan. All outstanding balances from KL must be completely settled prior to processing the reloan application. Additionally, pre-deduction of OLB from the reloan is strictly prohibited.</a:t>
            </a:r>
            <a:endParaRPr lang="en-US"/>
          </a:p>
          <a:p>
            <a:endParaRPr lang="en-US">
              <a:latin typeface="Calibri" panose="020F0502020204030204"/>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055671AF-A33F-46D0-852C-D1EF44AD87C1}" type="slidenum">
              <a:rPr lang="en-PH" smtClean="0"/>
              <a:t>16</a:t>
            </a:fld>
            <a:endParaRPr lang="en-PH"/>
          </a:p>
        </p:txBody>
      </p:sp>
    </p:spTree>
    <p:extLst>
      <p:ext uri="{BB962C8B-B14F-4D97-AF65-F5344CB8AC3E}">
        <p14:creationId xmlns:p14="http://schemas.microsoft.com/office/powerpoint/2010/main" val="36564704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SUPPLEMENTAL LOAN</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-is offered by RAFI MFI for the client’s purposes either for household improvements and/or education expenses.   </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-this is also </a:t>
            </a:r>
            <a:r>
              <a:rPr lang="en-US" sz="1200">
                <a:solidFill>
                  <a:schemeClr val="tx1"/>
                </a:solidFill>
                <a:latin typeface="Lato" panose="020F0502020204030203" pitchFamily="34" charset="0"/>
                <a:ea typeface="Lato" panose="020F0502020204030203" pitchFamily="34" charset="0"/>
                <a:cs typeface="Lato" panose="020F0502020204030203" pitchFamily="34" charset="0"/>
              </a:rPr>
              <a:t>considered to be personal or consumption loans</a:t>
            </a:r>
            <a:br>
              <a:rPr lang="en-US" sz="1200">
                <a:solidFill>
                  <a:schemeClr val="tx1"/>
                </a:solidFill>
                <a:latin typeface="Lato" panose="020F0502020204030203" pitchFamily="34" charset="0"/>
                <a:ea typeface="Lato" panose="020F0502020204030203" pitchFamily="34" charset="0"/>
                <a:cs typeface="Lato" panose="020F0502020204030203" pitchFamily="34" charset="0"/>
              </a:rPr>
            </a:br>
            <a:endParaRPr lang="en-PH"/>
          </a:p>
        </p:txBody>
      </p:sp>
      <p:sp>
        <p:nvSpPr>
          <p:cNvPr id="4" name="Slide Number Placeholder 3"/>
          <p:cNvSpPr>
            <a:spLocks noGrp="1"/>
          </p:cNvSpPr>
          <p:nvPr>
            <p:ph type="sldNum" sz="quarter" idx="5"/>
          </p:nvPr>
        </p:nvSpPr>
        <p:spPr/>
        <p:txBody>
          <a:bodyPr/>
          <a:lstStyle/>
          <a:p>
            <a:fld id="{055671AF-A33F-46D0-852C-D1EF44AD87C1}" type="slidenum">
              <a:rPr lang="en-PH" smtClean="0"/>
              <a:t>17</a:t>
            </a:fld>
            <a:endParaRPr lang="en-PH"/>
          </a:p>
        </p:txBody>
      </p:sp>
    </p:spTree>
    <p:extLst>
      <p:ext uri="{BB962C8B-B14F-4D97-AF65-F5344CB8AC3E}">
        <p14:creationId xmlns:p14="http://schemas.microsoft.com/office/powerpoint/2010/main" val="8927334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A8901-0A0B-A7E2-D9EA-8732732229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D782CE-54C6-4990-60F3-A07A9AFE20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9BAD4F-4738-E5BA-28E2-A74BB9676A05}"/>
              </a:ext>
            </a:extLst>
          </p:cNvPr>
          <p:cNvSpPr>
            <a:spLocks noGrp="1"/>
          </p:cNvSpPr>
          <p:nvPr>
            <p:ph type="body" idx="1"/>
          </p:nvPr>
        </p:nvSpPr>
        <p:spPr/>
        <p:txBody>
          <a:bodyPr/>
          <a:lstStyle/>
          <a:p>
            <a:endParaRPr lang="en-US" b="0" i="0" dirty="0">
              <a:solidFill>
                <a:srgbClr val="000000"/>
              </a:solidFill>
              <a:effectLst/>
              <a:latin typeface="Calibri"/>
              <a:ea typeface="Calibri"/>
              <a:cs typeface="Calibri"/>
            </a:endParaRPr>
          </a:p>
          <a:p>
            <a:endParaRPr lang="en-PH"/>
          </a:p>
        </p:txBody>
      </p:sp>
      <p:sp>
        <p:nvSpPr>
          <p:cNvPr id="4" name="Slide Number Placeholder 3">
            <a:extLst>
              <a:ext uri="{FF2B5EF4-FFF2-40B4-BE49-F238E27FC236}">
                <a16:creationId xmlns:a16="http://schemas.microsoft.com/office/drawing/2014/main" id="{E9F7DB6F-53F6-51A9-E810-867DE41F44EF}"/>
              </a:ext>
            </a:extLst>
          </p:cNvPr>
          <p:cNvSpPr>
            <a:spLocks noGrp="1"/>
          </p:cNvSpPr>
          <p:nvPr>
            <p:ph type="sldNum" sz="quarter" idx="5"/>
          </p:nvPr>
        </p:nvSpPr>
        <p:spPr/>
        <p:txBody>
          <a:bodyPr/>
          <a:lstStyle/>
          <a:p>
            <a:fld id="{055671AF-A33F-46D0-852C-D1EF44AD87C1}" type="slidenum">
              <a:rPr lang="en-PH" smtClean="0"/>
              <a:t>18</a:t>
            </a:fld>
            <a:endParaRPr lang="en-PH"/>
          </a:p>
        </p:txBody>
      </p:sp>
    </p:spTree>
    <p:extLst>
      <p:ext uri="{BB962C8B-B14F-4D97-AF65-F5344CB8AC3E}">
        <p14:creationId xmlns:p14="http://schemas.microsoft.com/office/powerpoint/2010/main" val="5247259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81F09-3E27-0643-8652-C19129159C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B94394-CC82-DDCF-8A10-F264BEEF74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84F2F7-92A2-7B8D-6B14-E36ABC18D57B}"/>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E45C248D-59DA-FDD7-8951-C618545C28F0}"/>
              </a:ext>
            </a:extLst>
          </p:cNvPr>
          <p:cNvSpPr>
            <a:spLocks noGrp="1"/>
          </p:cNvSpPr>
          <p:nvPr>
            <p:ph type="sldNum" sz="quarter" idx="5"/>
          </p:nvPr>
        </p:nvSpPr>
        <p:spPr/>
        <p:txBody>
          <a:bodyPr/>
          <a:lstStyle/>
          <a:p>
            <a:fld id="{055671AF-A33F-46D0-852C-D1EF44AD87C1}" type="slidenum">
              <a:rPr lang="en-PH" smtClean="0"/>
              <a:t>19</a:t>
            </a:fld>
            <a:endParaRPr lang="en-PH"/>
          </a:p>
        </p:txBody>
      </p:sp>
    </p:spTree>
    <p:extLst>
      <p:ext uri="{BB962C8B-B14F-4D97-AF65-F5344CB8AC3E}">
        <p14:creationId xmlns:p14="http://schemas.microsoft.com/office/powerpoint/2010/main" val="9236217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E12CA-DB20-4B60-FE69-878DB0468E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0042BA-784B-CB3A-0AA8-C0C89FBC22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09027C-A328-DE2E-74B4-EAC74FE5A778}"/>
              </a:ext>
            </a:extLst>
          </p:cNvPr>
          <p:cNvSpPr>
            <a:spLocks noGrp="1"/>
          </p:cNvSpPr>
          <p:nvPr>
            <p:ph type="body" idx="1"/>
          </p:nvPr>
        </p:nvSpPr>
        <p:spPr/>
        <p:txBody>
          <a:bodyPr/>
          <a:lstStyle/>
          <a:p>
            <a:pPr marL="0" indent="0" algn="just" fontAlgn="base">
              <a:lnSpc>
                <a:spcPct val="150000"/>
              </a:lnSpc>
              <a:buFont typeface="Arial" panose="020B0604020202020204" pitchFamily="34" charset="0"/>
              <a:buNone/>
            </a:pPr>
            <a:r>
              <a:rPr lang="en-US">
                <a:ea typeface="Calibri"/>
                <a:cs typeface="Calibri"/>
              </a:rPr>
              <a:t>ELIGIBILITY CRITERIA</a:t>
            </a:r>
          </a:p>
          <a:p>
            <a:pPr marL="171450" indent="-171450" algn="just" fontAlgn="base">
              <a:lnSpc>
                <a:spcPct val="150000"/>
              </a:lnSpc>
              <a:buFont typeface="Arial" panose="020B0604020202020204" pitchFamily="34" charset="0"/>
              <a:buChar char="•"/>
            </a:pPr>
            <a:r>
              <a:rPr lang="en-US" sz="1200" b="0" i="0">
                <a:solidFill>
                  <a:srgbClr val="1F4766"/>
                </a:solidFill>
                <a:effectLst/>
                <a:latin typeface="Lato" panose="020F0502020204030203" pitchFamily="34" charset="0"/>
                <a:ea typeface="Lato" panose="020F0502020204030203" pitchFamily="34" charset="0"/>
                <a:cs typeface="Lato" panose="020F0502020204030203" pitchFamily="34" charset="0"/>
              </a:rPr>
              <a:t>At least two (2) production loan cycles</a:t>
            </a:r>
          </a:p>
          <a:p>
            <a:pPr marL="171450" indent="-171450" algn="just" fontAlgn="base">
              <a:lnSpc>
                <a:spcPct val="150000"/>
              </a:lnSpc>
              <a:buFont typeface="Arial" panose="020B0604020202020204" pitchFamily="34" charset="0"/>
              <a:buChar char="•"/>
            </a:pPr>
            <a:r>
              <a:rPr lang="en-US" sz="1200" b="0" i="0">
                <a:solidFill>
                  <a:srgbClr val="1F4766"/>
                </a:solidFill>
                <a:effectLst/>
                <a:latin typeface="Lato" panose="020F0502020204030203" pitchFamily="34" charset="0"/>
                <a:ea typeface="Lato" panose="020F0502020204030203" pitchFamily="34" charset="0"/>
                <a:cs typeface="Lato" panose="020F0502020204030203" pitchFamily="34" charset="0"/>
              </a:rPr>
              <a:t>An active production loan. In other words, the borrower may avail of the HIL in his/her 3rd production loan cycle</a:t>
            </a:r>
          </a:p>
          <a:p>
            <a:pPr marL="171450" indent="-171450" algn="just" fontAlgn="base">
              <a:lnSpc>
                <a:spcPct val="150000"/>
              </a:lnSpc>
              <a:buFont typeface="Arial" panose="020B0604020202020204" pitchFamily="34" charset="0"/>
              <a:buChar char="•"/>
            </a:pPr>
            <a:r>
              <a:rPr lang="en-US" sz="1200" b="0" i="0">
                <a:solidFill>
                  <a:srgbClr val="1F4766"/>
                </a:solidFill>
                <a:effectLst/>
                <a:latin typeface="Lato" panose="020F0502020204030203" pitchFamily="34" charset="0"/>
                <a:ea typeface="Lato" panose="020F0502020204030203" pitchFamily="34" charset="0"/>
                <a:cs typeface="Lato" panose="020F0502020204030203" pitchFamily="34" charset="0"/>
              </a:rPr>
              <a:t>Sufficient cash flow to cover the amount applied</a:t>
            </a:r>
          </a:p>
          <a:p>
            <a:pPr marL="171450" indent="-171450" algn="just" fontAlgn="base">
              <a:lnSpc>
                <a:spcPct val="150000"/>
              </a:lnSpc>
              <a:buFont typeface="Arial" panose="020B0604020202020204" pitchFamily="34" charset="0"/>
              <a:buChar char="•"/>
            </a:pPr>
            <a:r>
              <a:rPr lang="en-US" sz="1200" b="0" i="0">
                <a:solidFill>
                  <a:srgbClr val="1F4766"/>
                </a:solidFill>
                <a:effectLst/>
                <a:latin typeface="Lato" panose="020F0502020204030203" pitchFamily="34" charset="0"/>
                <a:ea typeface="Lato" panose="020F0502020204030203" pitchFamily="34" charset="0"/>
                <a:cs typeface="Lato" panose="020F0502020204030203" pitchFamily="34" charset="0"/>
              </a:rPr>
              <a:t>Maintained 80% of the payments on time and in accordance with the required amortization due for both the previous and current production loan. In other words, 80% "no missed payment".</a:t>
            </a:r>
          </a:p>
          <a:p>
            <a:pPr marL="171450" indent="-171450" algn="just" fontAlgn="base">
              <a:lnSpc>
                <a:spcPct val="150000"/>
              </a:lnSpc>
              <a:buFont typeface="Arial" panose="020B0604020202020204" pitchFamily="34" charset="0"/>
              <a:buChar char="•"/>
            </a:pPr>
            <a:r>
              <a:rPr lang="en-US" sz="1200" b="0" i="0">
                <a:solidFill>
                  <a:srgbClr val="1F4766"/>
                </a:solidFill>
                <a:effectLst/>
                <a:latin typeface="Lato" panose="020F0502020204030203" pitchFamily="34" charset="0"/>
                <a:ea typeface="Lato" panose="020F0502020204030203" pitchFamily="34" charset="0"/>
                <a:cs typeface="Lato" panose="020F0502020204030203" pitchFamily="34" charset="0"/>
              </a:rPr>
              <a:t>Fully paid off (100%) the previous production loan</a:t>
            </a:r>
          </a:p>
          <a:p>
            <a:pPr marL="171450" indent="-171450" algn="just" fontAlgn="base">
              <a:lnSpc>
                <a:spcPct val="150000"/>
              </a:lnSpc>
              <a:buFont typeface="Arial" panose="020B0604020202020204" pitchFamily="34" charset="0"/>
              <a:buChar char="•"/>
            </a:pPr>
            <a:r>
              <a:rPr lang="en-US" sz="1200" b="0" i="0">
                <a:solidFill>
                  <a:srgbClr val="1F4766"/>
                </a:solidFill>
                <a:effectLst/>
                <a:latin typeface="Lato" panose="020F0502020204030203" pitchFamily="34" charset="0"/>
                <a:ea typeface="Lato" panose="020F0502020204030203" pitchFamily="34" charset="0"/>
                <a:cs typeface="Lato" panose="020F0502020204030203" pitchFamily="34" charset="0"/>
              </a:rPr>
              <a:t>An existing house/water/toilet facility structure  </a:t>
            </a:r>
          </a:p>
          <a:p>
            <a:pPr algn="just">
              <a:buFont typeface="Arial" panose="020B0604020202020204" pitchFamily="34" charset="0"/>
              <a:buChar char="•"/>
            </a:pPr>
            <a:r>
              <a:rPr lang="en-US" u="sng">
                <a:solidFill>
                  <a:srgbClr val="1F4766"/>
                </a:solidFill>
              </a:rPr>
              <a:t>   Attached photo of the house or part of the house </a:t>
            </a:r>
            <a:r>
              <a:rPr lang="en-US">
                <a:solidFill>
                  <a:srgbClr val="1F4766"/>
                </a:solidFill>
              </a:rPr>
              <a:t>to be repaired or improved that should fit the sub purpose of the loan applied for**</a:t>
            </a:r>
            <a:endParaRPr lang="en-US">
              <a:solidFill>
                <a:srgbClr val="1F4766"/>
              </a:solidFill>
              <a:latin typeface="Lato" panose="020F0502020204030203" pitchFamily="34" charset="0"/>
              <a:ea typeface="Lato" panose="020F0502020204030203" pitchFamily="34" charset="0"/>
              <a:cs typeface="Lato" panose="020F0502020204030203" pitchFamily="34" charset="0"/>
            </a:endParaRPr>
          </a:p>
          <a:p>
            <a:pPr algn="just">
              <a:buFont typeface="Arial" panose="020B0604020202020204" pitchFamily="34" charset="0"/>
              <a:buChar char="•"/>
            </a:pPr>
            <a:r>
              <a:rPr lang="en-US" u="sng">
                <a:solidFill>
                  <a:srgbClr val="1F4766"/>
                </a:solidFill>
              </a:rPr>
              <a:t>   Bill of materials </a:t>
            </a:r>
            <a:r>
              <a:rPr lang="en-US">
                <a:solidFill>
                  <a:srgbClr val="1F4766"/>
                </a:solidFill>
              </a:rPr>
              <a:t>needed for house improvement (loan proposal)</a:t>
            </a:r>
            <a:endParaRPr lang="en-US"/>
          </a:p>
          <a:p>
            <a:pPr marL="171450" indent="-171450" algn="just">
              <a:lnSpc>
                <a:spcPct val="150000"/>
              </a:lnSpc>
              <a:buFont typeface="Arial" panose="020B0604020202020204" pitchFamily="34" charset="0"/>
              <a:buChar char="•"/>
            </a:pPr>
            <a:endParaRPr lang="en-US" sz="1200" b="0" i="0">
              <a:solidFill>
                <a:srgbClr val="1F4766"/>
              </a:solidFill>
              <a:effectLst/>
              <a:latin typeface="Lato" panose="020F0502020204030203" pitchFamily="34" charset="0"/>
              <a:ea typeface="Lato" panose="020F0502020204030203" pitchFamily="34" charset="0"/>
              <a:cs typeface="Lato" panose="020F0502020204030203" pitchFamily="34" charset="0"/>
            </a:endParaRPr>
          </a:p>
          <a:p>
            <a:pPr marL="171450" indent="-171450" algn="just" fontAlgn="base">
              <a:lnSpc>
                <a:spcPct val="150000"/>
              </a:lnSpc>
              <a:buChar char="•"/>
              <a:defRPr/>
            </a:pPr>
            <a:endParaRPr lang="en-US">
              <a:solidFill>
                <a:srgbClr val="1F4766"/>
              </a:solidFill>
              <a:latin typeface="Lato" panose="020F0502020204030203" pitchFamily="34" charset="0"/>
              <a:ea typeface="Lato" panose="020F0502020204030203" pitchFamily="34" charset="0"/>
              <a:cs typeface="Lato" panose="020F0502020204030203" pitchFamily="34" charset="0"/>
            </a:endParaRPr>
          </a:p>
          <a:p>
            <a:pPr marL="0" marR="0" lvl="0" indent="0" algn="just" defTabSz="914400" rtl="0" eaLnBrk="1" fontAlgn="base" latinLnBrk="0" hangingPunct="1">
              <a:lnSpc>
                <a:spcPct val="150000"/>
              </a:lnSpc>
              <a:spcBef>
                <a:spcPts val="0"/>
              </a:spcBef>
              <a:spcAft>
                <a:spcPts val="0"/>
              </a:spcAft>
              <a:buClrTx/>
              <a:buSzTx/>
              <a:buFont typeface="Arial" panose="020B0604020202020204" pitchFamily="34" charset="0"/>
              <a:buNone/>
              <a:tabLst/>
              <a:defRPr/>
            </a:pPr>
            <a:r>
              <a:rPr lang="en-US" sz="1200" b="1">
                <a:solidFill>
                  <a:srgbClr val="FFC000"/>
                </a:solidFill>
                <a:latin typeface="Lato" panose="020F0502020204030203" pitchFamily="34" charset="0"/>
                <a:ea typeface="Lato" panose="020F0502020204030203" pitchFamily="34" charset="0"/>
                <a:cs typeface="Lato" panose="020F0502020204030203" pitchFamily="34" charset="0"/>
              </a:rPr>
              <a:t>D</a:t>
            </a:r>
            <a:r>
              <a:rPr lang="en-PH" sz="1200" b="1" err="1">
                <a:solidFill>
                  <a:srgbClr val="FFC000"/>
                </a:solidFill>
                <a:latin typeface="Lato" panose="020F0502020204030203" pitchFamily="34" charset="0"/>
                <a:ea typeface="Lato" panose="020F0502020204030203" pitchFamily="34" charset="0"/>
                <a:cs typeface="Lato" panose="020F0502020204030203" pitchFamily="34" charset="0"/>
              </a:rPr>
              <a:t>ocumentary</a:t>
            </a:r>
            <a:r>
              <a:rPr lang="en-PH" sz="1200" b="1">
                <a:solidFill>
                  <a:srgbClr val="FFC000"/>
                </a:solidFill>
                <a:latin typeface="Lato" panose="020F0502020204030203" pitchFamily="34" charset="0"/>
                <a:ea typeface="Lato" panose="020F0502020204030203" pitchFamily="34" charset="0"/>
                <a:cs typeface="Lato" panose="020F0502020204030203" pitchFamily="34" charset="0"/>
              </a:rPr>
              <a:t> Requirements</a:t>
            </a:r>
          </a:p>
          <a:p>
            <a:pPr algn="just" fontAlgn="base">
              <a:lnSpc>
                <a:spcPct val="150000"/>
              </a:lnSpc>
            </a:pPr>
            <a:br>
              <a:rPr lang="en-US" sz="1200">
                <a:solidFill>
                  <a:srgbClr val="1F4766"/>
                </a:solidFill>
                <a:latin typeface="Lato" panose="020F0502020204030203" pitchFamily="34" charset="0"/>
                <a:ea typeface="Lato" panose="020F0502020204030203" pitchFamily="34" charset="0"/>
                <a:cs typeface="Lato" panose="020F0502020204030203" pitchFamily="34" charset="0"/>
              </a:rPr>
            </a:br>
            <a:r>
              <a:rPr lang="en-US" sz="1200">
                <a:solidFill>
                  <a:srgbClr val="1F4766"/>
                </a:solidFill>
                <a:latin typeface="Lato" panose="020F0502020204030203" pitchFamily="34" charset="0"/>
                <a:ea typeface="Lato" panose="020F0502020204030203" pitchFamily="34" charset="0"/>
                <a:cs typeface="Lato" panose="020F0502020204030203" pitchFamily="34" charset="0"/>
              </a:rPr>
              <a:t>. Upload in the system the photo of the house or part of the house to be repaired or improved that should fit the sub purpose of the loan applied for**</a:t>
            </a:r>
          </a:p>
          <a:p>
            <a:pPr marL="171450" indent="-171450" algn="just" fontAlgn="base">
              <a:lnSpc>
                <a:spcPct val="150000"/>
              </a:lnSpc>
              <a:buFont typeface="Arial" panose="020B0604020202020204" pitchFamily="34" charset="0"/>
              <a:buChar char="•"/>
            </a:pPr>
            <a:r>
              <a:rPr lang="en-US" sz="1200">
                <a:solidFill>
                  <a:srgbClr val="1F4766"/>
                </a:solidFill>
                <a:latin typeface="Lato" panose="020F0502020204030203" pitchFamily="34" charset="0"/>
                <a:ea typeface="Lato" panose="020F0502020204030203" pitchFamily="34" charset="0"/>
                <a:cs typeface="Lato" panose="020F0502020204030203" pitchFamily="34" charset="0"/>
              </a:rPr>
              <a:t>Upload Bill of materials needed for house improvement ( loan proposal )</a:t>
            </a:r>
          </a:p>
        </p:txBody>
      </p:sp>
      <p:sp>
        <p:nvSpPr>
          <p:cNvPr id="4" name="Slide Number Placeholder 3">
            <a:extLst>
              <a:ext uri="{FF2B5EF4-FFF2-40B4-BE49-F238E27FC236}">
                <a16:creationId xmlns:a16="http://schemas.microsoft.com/office/drawing/2014/main" id="{1F4BCC16-4B23-6E3C-7C55-3BE3AE6AD74D}"/>
              </a:ext>
            </a:extLst>
          </p:cNvPr>
          <p:cNvSpPr>
            <a:spLocks noGrp="1"/>
          </p:cNvSpPr>
          <p:nvPr>
            <p:ph type="sldNum" sz="quarter" idx="5"/>
          </p:nvPr>
        </p:nvSpPr>
        <p:spPr/>
        <p:txBody>
          <a:bodyPr/>
          <a:lstStyle/>
          <a:p>
            <a:fld id="{055671AF-A33F-46D0-852C-D1EF44AD87C1}" type="slidenum">
              <a:rPr lang="en-PH" smtClean="0"/>
              <a:t>20</a:t>
            </a:fld>
            <a:endParaRPr lang="en-PH"/>
          </a:p>
        </p:txBody>
      </p:sp>
    </p:spTree>
    <p:extLst>
      <p:ext uri="{BB962C8B-B14F-4D97-AF65-F5344CB8AC3E}">
        <p14:creationId xmlns:p14="http://schemas.microsoft.com/office/powerpoint/2010/main" val="7887100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71317-804A-90FA-D323-85AA85D42E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31600D-925F-5DA5-6B10-CF88A9BB08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85E1A1-FE61-D1F5-1C8B-03BA76DD5C5B}"/>
              </a:ext>
            </a:extLst>
          </p:cNvPr>
          <p:cNvSpPr>
            <a:spLocks noGrp="1"/>
          </p:cNvSpPr>
          <p:nvPr>
            <p:ph type="body" idx="1"/>
          </p:nvPr>
        </p:nvSpPr>
        <p:spPr/>
        <p:txBody>
          <a:bodyPr/>
          <a:lstStyle/>
          <a:p>
            <a:pPr marL="0" indent="0" algn="just" fontAlgn="base">
              <a:lnSpc>
                <a:spcPct val="150000"/>
              </a:lnSpc>
              <a:buFont typeface="Arial" panose="020B0604020202020204" pitchFamily="34" charset="0"/>
              <a:buNone/>
            </a:pPr>
            <a:r>
              <a:rPr lang="en-US">
                <a:ea typeface="Calibri"/>
                <a:cs typeface="Calibri"/>
              </a:rPr>
              <a:t>ELIGIBILITY CRITERIA</a:t>
            </a:r>
          </a:p>
          <a:p>
            <a:pPr marL="171450" indent="-171450" algn="just" fontAlgn="base">
              <a:lnSpc>
                <a:spcPct val="150000"/>
              </a:lnSpc>
              <a:buFont typeface="Arial" panose="020B0604020202020204" pitchFamily="34" charset="0"/>
              <a:buChar char="•"/>
            </a:pPr>
            <a:r>
              <a:rPr lang="en-US" sz="1200" b="0" i="0">
                <a:solidFill>
                  <a:srgbClr val="1F4766"/>
                </a:solidFill>
                <a:effectLst/>
                <a:latin typeface="Lato" panose="020F0502020204030203" pitchFamily="34" charset="0"/>
                <a:ea typeface="Lato" panose="020F0502020204030203" pitchFamily="34" charset="0"/>
                <a:cs typeface="Lato" panose="020F0502020204030203" pitchFamily="34" charset="0"/>
              </a:rPr>
              <a:t>At least two (2) production loan cycles</a:t>
            </a:r>
          </a:p>
          <a:p>
            <a:pPr marL="171450" indent="-171450" algn="just" fontAlgn="base">
              <a:lnSpc>
                <a:spcPct val="150000"/>
              </a:lnSpc>
              <a:buFont typeface="Arial" panose="020B0604020202020204" pitchFamily="34" charset="0"/>
              <a:buChar char="•"/>
            </a:pPr>
            <a:r>
              <a:rPr lang="en-US" sz="1200" b="0" i="0">
                <a:solidFill>
                  <a:srgbClr val="1F4766"/>
                </a:solidFill>
                <a:effectLst/>
                <a:latin typeface="Lato" panose="020F0502020204030203" pitchFamily="34" charset="0"/>
                <a:ea typeface="Lato" panose="020F0502020204030203" pitchFamily="34" charset="0"/>
                <a:cs typeface="Lato" panose="020F0502020204030203" pitchFamily="34" charset="0"/>
              </a:rPr>
              <a:t>An active production loan. In other words, the borrower may avail of the HIL in his/her 3rd production loan cycle</a:t>
            </a:r>
          </a:p>
          <a:p>
            <a:pPr marL="171450" indent="-171450" algn="just" fontAlgn="base">
              <a:lnSpc>
                <a:spcPct val="150000"/>
              </a:lnSpc>
              <a:buFont typeface="Arial" panose="020B0604020202020204" pitchFamily="34" charset="0"/>
              <a:buChar char="•"/>
            </a:pPr>
            <a:r>
              <a:rPr lang="en-US" sz="1200" b="0" i="0">
                <a:solidFill>
                  <a:srgbClr val="1F4766"/>
                </a:solidFill>
                <a:effectLst/>
                <a:latin typeface="Lato" panose="020F0502020204030203" pitchFamily="34" charset="0"/>
                <a:ea typeface="Lato" panose="020F0502020204030203" pitchFamily="34" charset="0"/>
                <a:cs typeface="Lato" panose="020F0502020204030203" pitchFamily="34" charset="0"/>
              </a:rPr>
              <a:t>Sufficient cash flow to cover the amount applied</a:t>
            </a:r>
          </a:p>
          <a:p>
            <a:pPr marL="171450" indent="-171450" algn="just" fontAlgn="base">
              <a:lnSpc>
                <a:spcPct val="150000"/>
              </a:lnSpc>
              <a:buFont typeface="Arial" panose="020B0604020202020204" pitchFamily="34" charset="0"/>
              <a:buChar char="•"/>
            </a:pPr>
            <a:r>
              <a:rPr lang="en-US" sz="1200" b="0" i="0">
                <a:solidFill>
                  <a:srgbClr val="1F4766"/>
                </a:solidFill>
                <a:effectLst/>
                <a:latin typeface="Lato" panose="020F0502020204030203" pitchFamily="34" charset="0"/>
                <a:ea typeface="Lato" panose="020F0502020204030203" pitchFamily="34" charset="0"/>
                <a:cs typeface="Lato" panose="020F0502020204030203" pitchFamily="34" charset="0"/>
              </a:rPr>
              <a:t>Maintained 80% of the payments on time and in accordance with the required amortization due for both the previous and current production loan. In other words, 80% "no missed payment".</a:t>
            </a:r>
          </a:p>
          <a:p>
            <a:pPr marL="171450" indent="-171450" algn="just" fontAlgn="base">
              <a:lnSpc>
                <a:spcPct val="150000"/>
              </a:lnSpc>
              <a:buFont typeface="Arial" panose="020B0604020202020204" pitchFamily="34" charset="0"/>
              <a:buChar char="•"/>
            </a:pPr>
            <a:r>
              <a:rPr lang="en-US" sz="1200" b="0" i="0">
                <a:solidFill>
                  <a:srgbClr val="1F4766"/>
                </a:solidFill>
                <a:effectLst/>
                <a:latin typeface="Lato" panose="020F0502020204030203" pitchFamily="34" charset="0"/>
                <a:ea typeface="Lato" panose="020F0502020204030203" pitchFamily="34" charset="0"/>
                <a:cs typeface="Lato" panose="020F0502020204030203" pitchFamily="34" charset="0"/>
              </a:rPr>
              <a:t>Fully paid off (100%) the previous production loan</a:t>
            </a:r>
          </a:p>
          <a:p>
            <a:pPr marL="171450" indent="-171450" algn="just" fontAlgn="base">
              <a:lnSpc>
                <a:spcPct val="150000"/>
              </a:lnSpc>
              <a:buFont typeface="Arial" panose="020B0604020202020204" pitchFamily="34" charset="0"/>
              <a:buChar char="•"/>
            </a:pPr>
            <a:r>
              <a:rPr lang="en-US" sz="1200" b="0" i="0">
                <a:solidFill>
                  <a:srgbClr val="1F4766"/>
                </a:solidFill>
                <a:effectLst/>
                <a:latin typeface="Lato" panose="020F0502020204030203" pitchFamily="34" charset="0"/>
                <a:ea typeface="Lato" panose="020F0502020204030203" pitchFamily="34" charset="0"/>
                <a:cs typeface="Lato" panose="020F0502020204030203" pitchFamily="34" charset="0"/>
              </a:rPr>
              <a:t>An existing house/water/toilet facility structure  </a:t>
            </a:r>
          </a:p>
          <a:p>
            <a:pPr algn="just">
              <a:buFont typeface="Arial" panose="020B0604020202020204" pitchFamily="34" charset="0"/>
              <a:buChar char="•"/>
            </a:pPr>
            <a:r>
              <a:rPr lang="en-US" u="sng">
                <a:solidFill>
                  <a:srgbClr val="1F4766"/>
                </a:solidFill>
              </a:rPr>
              <a:t>   Attached photo of the house or part of the house </a:t>
            </a:r>
            <a:r>
              <a:rPr lang="en-US">
                <a:solidFill>
                  <a:srgbClr val="1F4766"/>
                </a:solidFill>
              </a:rPr>
              <a:t>to be repaired or improved that should fit the sub purpose of the loan applied for**</a:t>
            </a:r>
            <a:endParaRPr lang="en-US">
              <a:solidFill>
                <a:srgbClr val="1F4766"/>
              </a:solidFill>
              <a:latin typeface="Lato" panose="020F0502020204030203" pitchFamily="34" charset="0"/>
              <a:ea typeface="Lato" panose="020F0502020204030203" pitchFamily="34" charset="0"/>
              <a:cs typeface="Lato" panose="020F0502020204030203" pitchFamily="34" charset="0"/>
            </a:endParaRPr>
          </a:p>
          <a:p>
            <a:pPr algn="just">
              <a:buFont typeface="Arial" panose="020B0604020202020204" pitchFamily="34" charset="0"/>
              <a:buChar char="•"/>
            </a:pPr>
            <a:r>
              <a:rPr lang="en-US" u="sng">
                <a:solidFill>
                  <a:srgbClr val="1F4766"/>
                </a:solidFill>
              </a:rPr>
              <a:t>   Bill of materials </a:t>
            </a:r>
            <a:r>
              <a:rPr lang="en-US">
                <a:solidFill>
                  <a:srgbClr val="1F4766"/>
                </a:solidFill>
              </a:rPr>
              <a:t>needed for house improvement (loan proposal)</a:t>
            </a:r>
            <a:endParaRPr lang="en-US"/>
          </a:p>
          <a:p>
            <a:pPr marL="171450" indent="-171450" algn="just">
              <a:lnSpc>
                <a:spcPct val="150000"/>
              </a:lnSpc>
              <a:buFont typeface="Arial" panose="020B0604020202020204" pitchFamily="34" charset="0"/>
              <a:buChar char="•"/>
            </a:pPr>
            <a:endParaRPr lang="en-US" sz="1200" b="0" i="0">
              <a:solidFill>
                <a:srgbClr val="1F4766"/>
              </a:solidFill>
              <a:effectLst/>
              <a:latin typeface="Lato" panose="020F0502020204030203" pitchFamily="34" charset="0"/>
              <a:ea typeface="Lato" panose="020F0502020204030203" pitchFamily="34" charset="0"/>
              <a:cs typeface="Lato" panose="020F0502020204030203" pitchFamily="34" charset="0"/>
            </a:endParaRPr>
          </a:p>
          <a:p>
            <a:pPr marL="171450" indent="-171450" algn="just" fontAlgn="base">
              <a:lnSpc>
                <a:spcPct val="150000"/>
              </a:lnSpc>
              <a:buChar char="•"/>
              <a:defRPr/>
            </a:pPr>
            <a:endParaRPr lang="en-US">
              <a:solidFill>
                <a:srgbClr val="1F4766"/>
              </a:solidFill>
              <a:latin typeface="Lato" panose="020F0502020204030203" pitchFamily="34" charset="0"/>
              <a:ea typeface="Lato" panose="020F0502020204030203" pitchFamily="34" charset="0"/>
              <a:cs typeface="Lato" panose="020F0502020204030203" pitchFamily="34" charset="0"/>
            </a:endParaRPr>
          </a:p>
          <a:p>
            <a:pPr marL="0" marR="0" lvl="0" indent="0" algn="just" defTabSz="914400" rtl="0" eaLnBrk="1" fontAlgn="base" latinLnBrk="0" hangingPunct="1">
              <a:lnSpc>
                <a:spcPct val="150000"/>
              </a:lnSpc>
              <a:spcBef>
                <a:spcPts val="0"/>
              </a:spcBef>
              <a:spcAft>
                <a:spcPts val="0"/>
              </a:spcAft>
              <a:buClrTx/>
              <a:buSzTx/>
              <a:buFont typeface="Arial" panose="020B0604020202020204" pitchFamily="34" charset="0"/>
              <a:buNone/>
              <a:tabLst/>
              <a:defRPr/>
            </a:pPr>
            <a:r>
              <a:rPr lang="en-US" sz="1200" b="1">
                <a:solidFill>
                  <a:srgbClr val="FFC000"/>
                </a:solidFill>
                <a:latin typeface="Lato" panose="020F0502020204030203" pitchFamily="34" charset="0"/>
                <a:ea typeface="Lato" panose="020F0502020204030203" pitchFamily="34" charset="0"/>
                <a:cs typeface="Lato" panose="020F0502020204030203" pitchFamily="34" charset="0"/>
              </a:rPr>
              <a:t>D</a:t>
            </a:r>
            <a:r>
              <a:rPr lang="en-PH" sz="1200" b="1" err="1">
                <a:solidFill>
                  <a:srgbClr val="FFC000"/>
                </a:solidFill>
                <a:latin typeface="Lato" panose="020F0502020204030203" pitchFamily="34" charset="0"/>
                <a:ea typeface="Lato" panose="020F0502020204030203" pitchFamily="34" charset="0"/>
                <a:cs typeface="Lato" panose="020F0502020204030203" pitchFamily="34" charset="0"/>
              </a:rPr>
              <a:t>ocumentary</a:t>
            </a:r>
            <a:r>
              <a:rPr lang="en-PH" sz="1200" b="1">
                <a:solidFill>
                  <a:srgbClr val="FFC000"/>
                </a:solidFill>
                <a:latin typeface="Lato" panose="020F0502020204030203" pitchFamily="34" charset="0"/>
                <a:ea typeface="Lato" panose="020F0502020204030203" pitchFamily="34" charset="0"/>
                <a:cs typeface="Lato" panose="020F0502020204030203" pitchFamily="34" charset="0"/>
              </a:rPr>
              <a:t> Requirements</a:t>
            </a:r>
          </a:p>
          <a:p>
            <a:pPr algn="just" fontAlgn="base">
              <a:lnSpc>
                <a:spcPct val="150000"/>
              </a:lnSpc>
            </a:pPr>
            <a:br>
              <a:rPr lang="en-US" sz="1200">
                <a:solidFill>
                  <a:srgbClr val="1F4766"/>
                </a:solidFill>
                <a:latin typeface="Lato" panose="020F0502020204030203" pitchFamily="34" charset="0"/>
                <a:ea typeface="Lato" panose="020F0502020204030203" pitchFamily="34" charset="0"/>
                <a:cs typeface="Lato" panose="020F0502020204030203" pitchFamily="34" charset="0"/>
              </a:rPr>
            </a:br>
            <a:r>
              <a:rPr lang="en-US" sz="1200">
                <a:solidFill>
                  <a:srgbClr val="1F4766"/>
                </a:solidFill>
                <a:latin typeface="Lato" panose="020F0502020204030203" pitchFamily="34" charset="0"/>
                <a:ea typeface="Lato" panose="020F0502020204030203" pitchFamily="34" charset="0"/>
                <a:cs typeface="Lato" panose="020F0502020204030203" pitchFamily="34" charset="0"/>
              </a:rPr>
              <a:t>. Upload in the system the photo of the house or part of the house to be repaired or improved that should fit the sub purpose of the loan applied for**</a:t>
            </a:r>
          </a:p>
          <a:p>
            <a:pPr marL="171450" indent="-171450" algn="just" fontAlgn="base">
              <a:lnSpc>
                <a:spcPct val="150000"/>
              </a:lnSpc>
              <a:buFont typeface="Arial" panose="020B0604020202020204" pitchFamily="34" charset="0"/>
              <a:buChar char="•"/>
            </a:pPr>
            <a:r>
              <a:rPr lang="en-US" sz="1200">
                <a:solidFill>
                  <a:srgbClr val="1F4766"/>
                </a:solidFill>
                <a:latin typeface="Lato" panose="020F0502020204030203" pitchFamily="34" charset="0"/>
                <a:ea typeface="Lato" panose="020F0502020204030203" pitchFamily="34" charset="0"/>
                <a:cs typeface="Lato" panose="020F0502020204030203" pitchFamily="34" charset="0"/>
              </a:rPr>
              <a:t>Upload Bill of materials needed for house improvement ( loan proposal )</a:t>
            </a:r>
          </a:p>
        </p:txBody>
      </p:sp>
      <p:sp>
        <p:nvSpPr>
          <p:cNvPr id="4" name="Slide Number Placeholder 3">
            <a:extLst>
              <a:ext uri="{FF2B5EF4-FFF2-40B4-BE49-F238E27FC236}">
                <a16:creationId xmlns:a16="http://schemas.microsoft.com/office/drawing/2014/main" id="{75B8B005-C018-90DF-A15E-9EA698DBD2E3}"/>
              </a:ext>
            </a:extLst>
          </p:cNvPr>
          <p:cNvSpPr>
            <a:spLocks noGrp="1"/>
          </p:cNvSpPr>
          <p:nvPr>
            <p:ph type="sldNum" sz="quarter" idx="5"/>
          </p:nvPr>
        </p:nvSpPr>
        <p:spPr/>
        <p:txBody>
          <a:bodyPr/>
          <a:lstStyle/>
          <a:p>
            <a:fld id="{055671AF-A33F-46D0-852C-D1EF44AD87C1}" type="slidenum">
              <a:rPr lang="en-PH" smtClean="0"/>
              <a:t>21</a:t>
            </a:fld>
            <a:endParaRPr lang="en-PH"/>
          </a:p>
        </p:txBody>
      </p:sp>
    </p:spTree>
    <p:extLst>
      <p:ext uri="{BB962C8B-B14F-4D97-AF65-F5344CB8AC3E}">
        <p14:creationId xmlns:p14="http://schemas.microsoft.com/office/powerpoint/2010/main" val="4588052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a:t>Eligibility Criteria for Housing Improvement Loan:</a:t>
            </a:r>
            <a:br>
              <a:rPr lang="en-US" dirty="0">
                <a:cs typeface="+mn-lt"/>
              </a:rPr>
            </a:br>
            <a:r>
              <a:rPr lang="en-US"/>
              <a:t>1. •</a:t>
            </a:r>
            <a:r>
              <a:rPr lang="en-US">
                <a:solidFill>
                  <a:srgbClr val="1F4766"/>
                </a:solidFill>
              </a:rPr>
              <a:t>Must have at least two (2) production loan cycles </a:t>
            </a:r>
            <a:endParaRPr lang="en-US">
              <a:solidFill>
                <a:srgbClr val="444444"/>
              </a:solidFill>
            </a:endParaRPr>
          </a:p>
          <a:p>
            <a:pPr algn="just"/>
            <a:r>
              <a:rPr lang="en-US"/>
              <a:t>•</a:t>
            </a:r>
            <a:r>
              <a:rPr lang="en-US">
                <a:solidFill>
                  <a:srgbClr val="1F4766"/>
                </a:solidFill>
              </a:rPr>
              <a:t>Must have an outstanding Production Loan </a:t>
            </a:r>
            <a:endParaRPr lang="en-US"/>
          </a:p>
          <a:p>
            <a:pPr algn="just"/>
            <a:r>
              <a:rPr lang="en-US"/>
              <a:t>•</a:t>
            </a:r>
            <a:r>
              <a:rPr lang="en-US">
                <a:solidFill>
                  <a:srgbClr val="1F4766"/>
                </a:solidFill>
              </a:rPr>
              <a:t>Must have a sufficient cash flow to cover the applied loan amount </a:t>
            </a:r>
            <a:endParaRPr lang="en-US"/>
          </a:p>
          <a:p>
            <a:pPr algn="just"/>
            <a:r>
              <a:rPr lang="en-US" dirty="0"/>
              <a:t>•</a:t>
            </a:r>
            <a:r>
              <a:rPr lang="en-US" dirty="0">
                <a:solidFill>
                  <a:srgbClr val="1F4766"/>
                </a:solidFill>
              </a:rPr>
              <a:t>Must have maintained 100% repayment of the previous and current production loan </a:t>
            </a:r>
            <a:endParaRPr lang="en-US">
              <a:solidFill>
                <a:srgbClr val="1F4766"/>
              </a:solidFill>
              <a:ea typeface="Calibri"/>
              <a:cs typeface="Calibri"/>
            </a:endParaRPr>
          </a:p>
          <a:p>
            <a:pPr algn="just"/>
            <a:r>
              <a:rPr lang="en-US"/>
              <a:t>•</a:t>
            </a:r>
            <a:r>
              <a:rPr lang="en-US">
                <a:solidFill>
                  <a:srgbClr val="1F4766"/>
                </a:solidFill>
              </a:rPr>
              <a:t>Have at least one (1) child (below 21 years old) who is attending school </a:t>
            </a:r>
            <a:endParaRPr lang="en-US"/>
          </a:p>
          <a:p>
            <a:pPr algn="just"/>
            <a:r>
              <a:rPr lang="en-US"/>
              <a:t>•</a:t>
            </a:r>
            <a:r>
              <a:rPr lang="en-US">
                <a:solidFill>
                  <a:srgbClr val="1F4766"/>
                </a:solidFill>
              </a:rPr>
              <a:t>He/she has no kids below 21 years old but is wanting to take the licensure exam </a:t>
            </a:r>
            <a:endParaRPr lang="en-US"/>
          </a:p>
          <a:p>
            <a:pPr algn="just"/>
            <a:r>
              <a:rPr lang="en-US"/>
              <a:t>•</a:t>
            </a:r>
            <a:r>
              <a:rPr lang="en-US">
                <a:solidFill>
                  <a:srgbClr val="1F4766"/>
                </a:solidFill>
              </a:rPr>
              <a:t>Client or their children who are planning to take the licensure exam </a:t>
            </a:r>
            <a:endParaRPr lang="en-US"/>
          </a:p>
          <a:p>
            <a:pPr algn="just"/>
            <a:r>
              <a:rPr lang="en-US" dirty="0">
                <a:solidFill>
                  <a:srgbClr val="1F4766"/>
                </a:solidFill>
              </a:rPr>
              <a:t>Client or their children is studying or teacher </a:t>
            </a:r>
            <a:br>
              <a:rPr lang="en-US" dirty="0">
                <a:cs typeface="+mn-lt"/>
              </a:rPr>
            </a:br>
            <a:br>
              <a:rPr lang="en-US" dirty="0">
                <a:cs typeface="+mn-lt"/>
              </a:rPr>
            </a:br>
            <a:br>
              <a:rPr lang="en-US" dirty="0">
                <a:cs typeface="+mn-lt"/>
              </a:rPr>
            </a:br>
            <a:r>
              <a:rPr lang="en-US" dirty="0">
                <a:solidFill>
                  <a:srgbClr val="1F4766"/>
                </a:solidFill>
                <a:ea typeface="Calibri"/>
                <a:cs typeface="Calibri"/>
              </a:rPr>
              <a:t>Documentary </a:t>
            </a:r>
            <a:r>
              <a:rPr lang="en-US" dirty="0" err="1">
                <a:solidFill>
                  <a:srgbClr val="1F4766"/>
                </a:solidFill>
                <a:ea typeface="Calibri"/>
                <a:cs typeface="Calibri"/>
              </a:rPr>
              <a:t>Requiements</a:t>
            </a:r>
            <a:endParaRPr lang="en-US">
              <a:solidFill>
                <a:srgbClr val="1F4766"/>
              </a:solidFill>
              <a:ea typeface="Calibri"/>
              <a:cs typeface="Calibri"/>
            </a:endParaRPr>
          </a:p>
          <a:p>
            <a:pPr algn="just"/>
            <a:br>
              <a:rPr lang="en-US" dirty="0">
                <a:ea typeface="Calibri"/>
                <a:cs typeface="+mn-lt"/>
              </a:rPr>
            </a:br>
            <a:r>
              <a:rPr lang="en-US"/>
              <a:t>•</a:t>
            </a:r>
            <a:r>
              <a:rPr lang="en-US">
                <a:solidFill>
                  <a:srgbClr val="1F4766"/>
                </a:solidFill>
              </a:rPr>
              <a:t>Attached enrollment slip or any proof (such as study load or school ID that shows the current school year) that the applicant’s child is going to school and at a specific level (i.e., elementary, high school, or college)** </a:t>
            </a:r>
            <a:endParaRPr lang="en-US">
              <a:ea typeface="Calibri"/>
              <a:cs typeface="Calibri"/>
            </a:endParaRPr>
          </a:p>
          <a:p>
            <a:pPr algn="just"/>
            <a:r>
              <a:rPr lang="en-US"/>
              <a:t>•</a:t>
            </a:r>
            <a:r>
              <a:rPr lang="en-US">
                <a:solidFill>
                  <a:srgbClr val="1F4766"/>
                </a:solidFill>
              </a:rPr>
              <a:t>For Tech2Educate - Brochure or picture of the gadget that client intends to buy (must have visible price and/or price quotation included)** </a:t>
            </a:r>
            <a:endParaRPr lang="en-US"/>
          </a:p>
          <a:p>
            <a:pPr algn="just"/>
            <a:r>
              <a:rPr lang="en-US"/>
              <a:t>•</a:t>
            </a:r>
            <a:r>
              <a:rPr lang="en-US">
                <a:solidFill>
                  <a:srgbClr val="1F4766"/>
                </a:solidFill>
              </a:rPr>
              <a:t>For licensure exam takers – Copy of diploma, quotation from review centers and quotation of licensure exam fee** </a:t>
            </a:r>
            <a:endParaRPr lang="en-US"/>
          </a:p>
          <a:p>
            <a:br>
              <a:rPr lang="en-US" dirty="0">
                <a:ea typeface="Calibri"/>
                <a:cs typeface="+mn-lt"/>
              </a:rPr>
            </a:br>
            <a:endParaRPr lang="en-US">
              <a:ea typeface="Calibri"/>
              <a:cs typeface="+mn-lt"/>
            </a:endParaRPr>
          </a:p>
          <a:p>
            <a:endParaRPr lang="en-US">
              <a:ea typeface="Calibri"/>
              <a:cs typeface="+mn-lt"/>
            </a:endParaRPr>
          </a:p>
        </p:txBody>
      </p:sp>
      <p:sp>
        <p:nvSpPr>
          <p:cNvPr id="4" name="Slide Number Placeholder 3"/>
          <p:cNvSpPr>
            <a:spLocks noGrp="1"/>
          </p:cNvSpPr>
          <p:nvPr>
            <p:ph type="sldNum" sz="quarter" idx="5"/>
          </p:nvPr>
        </p:nvSpPr>
        <p:spPr/>
        <p:txBody>
          <a:bodyPr/>
          <a:lstStyle/>
          <a:p>
            <a:fld id="{055671AF-A33F-46D0-852C-D1EF44AD87C1}" type="slidenum">
              <a:rPr lang="en-PH" smtClean="0"/>
              <a:t>23</a:t>
            </a:fld>
            <a:endParaRPr lang="en-PH"/>
          </a:p>
        </p:txBody>
      </p:sp>
    </p:spTree>
    <p:extLst>
      <p:ext uri="{BB962C8B-B14F-4D97-AF65-F5344CB8AC3E}">
        <p14:creationId xmlns:p14="http://schemas.microsoft.com/office/powerpoint/2010/main" val="37252186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200" b="1">
                <a:solidFill>
                  <a:srgbClr val="FFC000"/>
                </a:solidFill>
                <a:latin typeface="Lato" panose="020F0502020204030203" pitchFamily="34" charset="0"/>
                <a:ea typeface="Lato" panose="020F0502020204030203" pitchFamily="34" charset="0"/>
                <a:cs typeface="Lato" panose="020F0502020204030203" pitchFamily="34" charset="0"/>
              </a:rPr>
              <a:t>Eligibility Criteria</a:t>
            </a:r>
          </a:p>
          <a:p>
            <a:pPr marL="171450" indent="-171450" algn="just" fontAlgn="base">
              <a:lnSpc>
                <a:spcPct val="150000"/>
              </a:lnSpc>
              <a:buFont typeface="Arial" panose="020B0604020202020204" pitchFamily="34" charset="0"/>
              <a:buChar char="•"/>
            </a:pPr>
            <a:r>
              <a:rPr lang="en-US" sz="1200" b="0" i="0">
                <a:solidFill>
                  <a:srgbClr val="1F4766"/>
                </a:solidFill>
                <a:effectLst/>
                <a:latin typeface="Lato" panose="020F0502020204030203" pitchFamily="34" charset="0"/>
                <a:ea typeface="Lato" panose="020F0502020204030203" pitchFamily="34" charset="0"/>
                <a:cs typeface="Lato" panose="020F0502020204030203" pitchFamily="34" charset="0"/>
              </a:rPr>
              <a:t>Must have an immediate need for emergency funds resulting from calamity/disaster or health concerns within one (1) month from incident/diagnosis </a:t>
            </a:r>
          </a:p>
          <a:p>
            <a:pPr marL="171450" indent="-171450" algn="just" fontAlgn="base">
              <a:lnSpc>
                <a:spcPct val="150000"/>
              </a:lnSpc>
              <a:buFont typeface="Arial" panose="020B0604020202020204" pitchFamily="34" charset="0"/>
              <a:buChar char="•"/>
            </a:pPr>
            <a:r>
              <a:rPr lang="en-US" sz="1200" b="0" i="0">
                <a:solidFill>
                  <a:srgbClr val="1F4766"/>
                </a:solidFill>
                <a:effectLst/>
                <a:latin typeface="Lato" panose="020F0502020204030203" pitchFamily="34" charset="0"/>
                <a:ea typeface="Lato" panose="020F0502020204030203" pitchFamily="34" charset="0"/>
                <a:cs typeface="Lato" panose="020F0502020204030203" pitchFamily="34" charset="0"/>
              </a:rPr>
              <a:t>Must have at least two (2) production loan cycles </a:t>
            </a:r>
          </a:p>
          <a:p>
            <a:pPr marL="171450" indent="-171450" algn="just" fontAlgn="base">
              <a:lnSpc>
                <a:spcPct val="150000"/>
              </a:lnSpc>
              <a:buFont typeface="Arial" panose="020B0604020202020204" pitchFamily="34" charset="0"/>
              <a:buChar char="•"/>
            </a:pPr>
            <a:r>
              <a:rPr lang="en-US" sz="1200" b="0" i="0">
                <a:solidFill>
                  <a:srgbClr val="1F4766"/>
                </a:solidFill>
                <a:effectLst/>
                <a:latin typeface="Lato" panose="020F0502020204030203" pitchFamily="34" charset="0"/>
                <a:ea typeface="Lato" panose="020F0502020204030203" pitchFamily="34" charset="0"/>
                <a:cs typeface="Lato" panose="020F0502020204030203" pitchFamily="34" charset="0"/>
              </a:rPr>
              <a:t>Must have an active production loan. In other words, the borrower may avail of the SAGIP loan in his/her 3rd production loan cycle. </a:t>
            </a:r>
          </a:p>
          <a:p>
            <a:pPr marL="171450" indent="-171450" algn="just" fontAlgn="base">
              <a:lnSpc>
                <a:spcPct val="150000"/>
              </a:lnSpc>
              <a:buFont typeface="Arial" panose="020B0604020202020204" pitchFamily="34" charset="0"/>
              <a:buChar char="•"/>
            </a:pPr>
            <a:r>
              <a:rPr lang="en-US" sz="1200" b="0" i="0">
                <a:solidFill>
                  <a:srgbClr val="1F4766"/>
                </a:solidFill>
                <a:effectLst/>
                <a:latin typeface="Lato" panose="020F0502020204030203" pitchFamily="34" charset="0"/>
                <a:ea typeface="Lato" panose="020F0502020204030203" pitchFamily="34" charset="0"/>
                <a:cs typeface="Lato" panose="020F0502020204030203" pitchFamily="34" charset="0"/>
              </a:rPr>
              <a:t>Must have a sufficient cash flow to cover the applied loan amount </a:t>
            </a:r>
          </a:p>
          <a:p>
            <a:pPr marL="171450" indent="-171450" algn="just" fontAlgn="base">
              <a:lnSpc>
                <a:spcPct val="150000"/>
              </a:lnSpc>
              <a:buFont typeface="Arial" panose="020B0604020202020204" pitchFamily="34" charset="0"/>
              <a:buChar char="•"/>
            </a:pPr>
            <a:r>
              <a:rPr lang="en-US" sz="1200" b="0" i="0">
                <a:solidFill>
                  <a:srgbClr val="1F4766"/>
                </a:solidFill>
                <a:effectLst/>
                <a:latin typeface="Lato" panose="020F0502020204030203" pitchFamily="34" charset="0"/>
                <a:ea typeface="Lato" panose="020F0502020204030203" pitchFamily="34" charset="0"/>
                <a:cs typeface="Lato" panose="020F0502020204030203" pitchFamily="34" charset="0"/>
              </a:rPr>
              <a:t>Must have at least P1,000.00 withdrawable CBU balance </a:t>
            </a:r>
          </a:p>
          <a:p>
            <a:pPr marL="171450" indent="-171450" algn="just" fontAlgn="base">
              <a:lnSpc>
                <a:spcPct val="150000"/>
              </a:lnSpc>
              <a:buFont typeface="Arial" panose="020B0604020202020204" pitchFamily="34" charset="0"/>
              <a:buChar char="•"/>
            </a:pPr>
            <a:r>
              <a:rPr lang="en-US" sz="1200" b="0" i="0">
                <a:solidFill>
                  <a:srgbClr val="1F4766"/>
                </a:solidFill>
                <a:effectLst/>
                <a:latin typeface="Lato" panose="020F0502020204030203" pitchFamily="34" charset="0"/>
                <a:ea typeface="Lato" panose="020F0502020204030203" pitchFamily="34" charset="0"/>
                <a:cs typeface="Lato" panose="020F0502020204030203" pitchFamily="34" charset="0"/>
              </a:rPr>
              <a:t>Must have maintained 80% of the payments on time and in accordance with the required amortization due for both the previous and current production loan. In other words, 80% “no missed payments”. For example, if the current 6-month loan is being processed for reloan at the 18th amortization, 80% of the 18 amortizations should be paid on time and in accordance with the amortization due. </a:t>
            </a:r>
          </a:p>
          <a:p>
            <a:pPr marL="171450" indent="-171450" algn="just" fontAlgn="base">
              <a:lnSpc>
                <a:spcPct val="150000"/>
              </a:lnSpc>
              <a:buFont typeface="Arial" panose="020B0604020202020204" pitchFamily="34" charset="0"/>
              <a:buChar char="•"/>
            </a:pPr>
            <a:r>
              <a:rPr lang="en-US" sz="1200" b="0" i="0">
                <a:solidFill>
                  <a:srgbClr val="1F4766"/>
                </a:solidFill>
                <a:effectLst/>
                <a:latin typeface="Lato" panose="020F0502020204030203" pitchFamily="34" charset="0"/>
                <a:ea typeface="Lato" panose="020F0502020204030203" pitchFamily="34" charset="0"/>
                <a:cs typeface="Lato" panose="020F0502020204030203" pitchFamily="34" charset="0"/>
              </a:rPr>
              <a:t>Must have fully paid off (100%) the previous production loan </a:t>
            </a:r>
          </a:p>
          <a:p>
            <a:pPr marL="0" marR="0" lvl="0" indent="0" algn="l" defTabSz="914400" rtl="0" eaLnBrk="1" fontAlgn="auto" latinLnBrk="0" hangingPunct="1">
              <a:lnSpc>
                <a:spcPct val="100000"/>
              </a:lnSpc>
              <a:spcBef>
                <a:spcPts val="0"/>
              </a:spcBef>
              <a:spcAft>
                <a:spcPts val="0"/>
              </a:spcAft>
              <a:buClrTx/>
              <a:buSzTx/>
              <a:buFontTx/>
              <a:buNone/>
              <a:tabLst/>
              <a:defRPr/>
            </a:pPr>
            <a:br>
              <a:rPr lang="en-PH"/>
            </a:br>
            <a:r>
              <a:rPr lang="en-US" sz="1200" b="1">
                <a:solidFill>
                  <a:srgbClr val="FFC000"/>
                </a:solidFill>
                <a:latin typeface="Lato" panose="020F0502020204030203" pitchFamily="34" charset="0"/>
                <a:ea typeface="Lato" panose="020F0502020204030203" pitchFamily="34" charset="0"/>
                <a:cs typeface="Lato" panose="020F0502020204030203" pitchFamily="34" charset="0"/>
              </a:rPr>
              <a:t>Documentary</a:t>
            </a:r>
            <a:r>
              <a:rPr lang="en-PH" sz="1200" b="1">
                <a:solidFill>
                  <a:srgbClr val="FFC000"/>
                </a:solidFill>
                <a:latin typeface="Lato" panose="020F0502020204030203" pitchFamily="34" charset="0"/>
                <a:ea typeface="Lato" panose="020F0502020204030203" pitchFamily="34" charset="0"/>
                <a:cs typeface="Lato" panose="020F0502020204030203" pitchFamily="34" charset="0"/>
              </a:rPr>
              <a:t> Requirements</a:t>
            </a:r>
          </a:p>
          <a:p>
            <a:pPr marL="171450" indent="-171450" algn="just" fontAlgn="base">
              <a:lnSpc>
                <a:spcPct val="150000"/>
              </a:lnSpc>
              <a:buFont typeface="Arial" panose="020B0604020202020204" pitchFamily="34" charset="0"/>
              <a:buChar char="•"/>
            </a:pPr>
            <a:r>
              <a:rPr lang="en-US" sz="1200">
                <a:solidFill>
                  <a:srgbClr val="1F4766"/>
                </a:solidFill>
                <a:latin typeface="Lato" panose="020F0502020204030203" pitchFamily="34" charset="0"/>
                <a:ea typeface="Lato" panose="020F0502020204030203" pitchFamily="34" charset="0"/>
                <a:cs typeface="Lato" panose="020F0502020204030203" pitchFamily="34" charset="0"/>
              </a:rPr>
              <a:t>Online loan application in the system **</a:t>
            </a:r>
          </a:p>
          <a:p>
            <a:pPr marL="171450" indent="-171450" algn="just" fontAlgn="base">
              <a:lnSpc>
                <a:spcPct val="150000"/>
              </a:lnSpc>
              <a:buFont typeface="Arial" panose="020B0604020202020204" pitchFamily="34" charset="0"/>
              <a:buChar char="•"/>
            </a:pPr>
            <a:r>
              <a:rPr lang="en-US" sz="1200">
                <a:solidFill>
                  <a:srgbClr val="1F4766"/>
                </a:solidFill>
                <a:latin typeface="Lato" panose="020F0502020204030203" pitchFamily="34" charset="0"/>
                <a:ea typeface="Lato" panose="020F0502020204030203" pitchFamily="34" charset="0"/>
                <a:cs typeface="Lato" panose="020F0502020204030203" pitchFamily="34" charset="0"/>
              </a:rPr>
              <a:t>Loan Proposal**</a:t>
            </a:r>
          </a:p>
          <a:p>
            <a:pPr marL="171450" indent="-171450" algn="just" fontAlgn="base">
              <a:lnSpc>
                <a:spcPct val="150000"/>
              </a:lnSpc>
              <a:buFont typeface="Arial" panose="020B0604020202020204" pitchFamily="34" charset="0"/>
              <a:buChar char="•"/>
            </a:pPr>
            <a:r>
              <a:rPr lang="en-US" sz="1200">
                <a:solidFill>
                  <a:srgbClr val="1F4766"/>
                </a:solidFill>
                <a:latin typeface="Lato" panose="020F0502020204030203" pitchFamily="34" charset="0"/>
                <a:ea typeface="Lato" panose="020F0502020204030203" pitchFamily="34" charset="0"/>
                <a:cs typeface="Lato" panose="020F0502020204030203" pitchFamily="34" charset="0"/>
              </a:rPr>
              <a:t>Hospital billing or medical prescriptions (if medical/health-related emergency) **</a:t>
            </a:r>
          </a:p>
          <a:p>
            <a:pPr marL="171450" indent="-171450" algn="just" fontAlgn="base">
              <a:lnSpc>
                <a:spcPct val="150000"/>
              </a:lnSpc>
              <a:buFont typeface="Arial" panose="020B0604020202020204" pitchFamily="34" charset="0"/>
              <a:buChar char="•"/>
            </a:pPr>
            <a:r>
              <a:rPr lang="en-US" sz="1200">
                <a:solidFill>
                  <a:srgbClr val="1F4766"/>
                </a:solidFill>
                <a:latin typeface="Lato" panose="020F0502020204030203" pitchFamily="34" charset="0"/>
                <a:ea typeface="Lato" panose="020F0502020204030203" pitchFamily="34" charset="0"/>
                <a:cs typeface="Lato" panose="020F0502020204030203" pitchFamily="34" charset="0"/>
              </a:rPr>
              <a:t>Barangay report (if man-made calamity/disaster-related emergency) **</a:t>
            </a:r>
          </a:p>
          <a:p>
            <a:pPr marL="171450" indent="-171450" algn="just" fontAlgn="base">
              <a:lnSpc>
                <a:spcPct val="150000"/>
              </a:lnSpc>
              <a:buFont typeface="Arial" panose="020B0604020202020204" pitchFamily="34" charset="0"/>
              <a:buChar char="•"/>
            </a:pPr>
            <a:r>
              <a:rPr lang="en-US" sz="1200">
                <a:solidFill>
                  <a:srgbClr val="1F4766"/>
                </a:solidFill>
                <a:latin typeface="Lato" panose="020F0502020204030203" pitchFamily="34" charset="0"/>
                <a:ea typeface="Lato" panose="020F0502020204030203" pitchFamily="34" charset="0"/>
                <a:cs typeface="Lato" panose="020F0502020204030203" pitchFamily="34" charset="0"/>
              </a:rPr>
              <a:t>If the residence or place of business has been declared by the Government (local or otherwise) as under a state of calamity, there is no need to present additional document to support the application form.*</a:t>
            </a:r>
          </a:p>
          <a:p>
            <a:pPr algn="just" fontAlgn="base">
              <a:lnSpc>
                <a:spcPct val="150000"/>
              </a:lnSpc>
            </a:pPr>
            <a:r>
              <a:rPr lang="en-US" sz="1200" i="1">
                <a:solidFill>
                  <a:srgbClr val="1F4766"/>
                </a:solidFill>
                <a:latin typeface="Lato" panose="020F0502020204030203" pitchFamily="34" charset="0"/>
                <a:ea typeface="Lato" panose="020F0502020204030203" pitchFamily="34" charset="0"/>
                <a:cs typeface="Lato" panose="020F0502020204030203" pitchFamily="34" charset="0"/>
              </a:rPr>
              <a:t>Note: ​The SAGIP loan is for emergency purposes, thus it is paramount to process the loan product within one (1) to two (2) days for client’s immediate utilization.</a:t>
            </a:r>
          </a:p>
          <a:p>
            <a:endParaRPr lang="en-PH"/>
          </a:p>
        </p:txBody>
      </p:sp>
      <p:sp>
        <p:nvSpPr>
          <p:cNvPr id="4" name="Slide Number Placeholder 3"/>
          <p:cNvSpPr>
            <a:spLocks noGrp="1"/>
          </p:cNvSpPr>
          <p:nvPr>
            <p:ph type="sldNum" sz="quarter" idx="5"/>
          </p:nvPr>
        </p:nvSpPr>
        <p:spPr/>
        <p:txBody>
          <a:bodyPr/>
          <a:lstStyle/>
          <a:p>
            <a:fld id="{055671AF-A33F-46D0-852C-D1EF44AD87C1}" type="slidenum">
              <a:rPr lang="en-PH" smtClean="0"/>
              <a:t>25</a:t>
            </a:fld>
            <a:endParaRPr lang="en-PH"/>
          </a:p>
        </p:txBody>
      </p:sp>
    </p:spTree>
    <p:extLst>
      <p:ext uri="{BB962C8B-B14F-4D97-AF65-F5344CB8AC3E}">
        <p14:creationId xmlns:p14="http://schemas.microsoft.com/office/powerpoint/2010/main" val="28008869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PH" b="1" dirty="0">
              <a:solidFill>
                <a:srgbClr val="FFC000"/>
              </a:solidFill>
              <a:latin typeface="Lato"/>
              <a:ea typeface="Lato"/>
              <a:cs typeface="Lato"/>
            </a:endParaRPr>
          </a:p>
        </p:txBody>
      </p:sp>
      <p:sp>
        <p:nvSpPr>
          <p:cNvPr id="4" name="Slide Number Placeholder 3"/>
          <p:cNvSpPr>
            <a:spLocks noGrp="1"/>
          </p:cNvSpPr>
          <p:nvPr>
            <p:ph type="sldNum" sz="quarter" idx="5"/>
          </p:nvPr>
        </p:nvSpPr>
        <p:spPr/>
        <p:txBody>
          <a:bodyPr/>
          <a:lstStyle/>
          <a:p>
            <a:fld id="{055671AF-A33F-46D0-852C-D1EF44AD87C1}" type="slidenum">
              <a:rPr lang="en-PH" smtClean="0"/>
              <a:t>26</a:t>
            </a:fld>
            <a:endParaRPr lang="en-PH"/>
          </a:p>
        </p:txBody>
      </p:sp>
    </p:spTree>
    <p:extLst>
      <p:ext uri="{BB962C8B-B14F-4D97-AF65-F5344CB8AC3E}">
        <p14:creationId xmlns:p14="http://schemas.microsoft.com/office/powerpoint/2010/main" val="36255579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EB2C3-A71B-E1EC-9833-FCBAF5068A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A24084-B7D5-FF8F-5417-BC68DE252C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2806E4-2EB1-7EC4-92FD-EDA6D5AA670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200" b="1">
                <a:solidFill>
                  <a:srgbClr val="FFC000"/>
                </a:solidFill>
                <a:latin typeface="Lato" panose="020F0502020204030203" pitchFamily="34" charset="0"/>
                <a:ea typeface="Lato" panose="020F0502020204030203" pitchFamily="34" charset="0"/>
                <a:cs typeface="Lato" panose="020F0502020204030203" pitchFamily="34" charset="0"/>
              </a:rPr>
              <a:t>Eligibility Criteria</a:t>
            </a:r>
          </a:p>
          <a:p>
            <a:pPr>
              <a:buFont typeface="Arial" panose="020B0604020202020204" pitchFamily="34" charset="0"/>
              <a:buChar char="•"/>
            </a:pPr>
            <a:r>
              <a:rPr lang="en-US" b="0" i="0" dirty="0">
                <a:solidFill>
                  <a:srgbClr val="1F4766"/>
                </a:solidFill>
                <a:effectLst/>
              </a:rPr>
              <a:t>Intended for all RAFI Microfinance, Inc members of the specifically identified hardest hit branches but may also be activated on-demand for other branches </a:t>
            </a:r>
            <a:r>
              <a:rPr lang="en-US" dirty="0">
                <a:solidFill>
                  <a:srgbClr val="1F4766"/>
                </a:solidFill>
              </a:rPr>
              <a:t>if endorsed by the VP for Operations and approved by the COO, in cases where </a:t>
            </a:r>
            <a:r>
              <a:rPr lang="en-US" b="0" i="0" dirty="0">
                <a:solidFill>
                  <a:srgbClr val="1F4766"/>
                </a:solidFill>
                <a:effectLst/>
              </a:rPr>
              <a:t>a </a:t>
            </a:r>
            <a:r>
              <a:rPr lang="en-US" dirty="0">
                <a:solidFill>
                  <a:srgbClr val="1F4766"/>
                </a:solidFill>
              </a:rPr>
              <a:t>man-made </a:t>
            </a:r>
            <a:r>
              <a:rPr lang="en-US" b="0" i="0" dirty="0">
                <a:solidFill>
                  <a:srgbClr val="1F4766"/>
                </a:solidFill>
                <a:effectLst/>
              </a:rPr>
              <a:t>or natural disaster </a:t>
            </a:r>
            <a:r>
              <a:rPr lang="en-US" dirty="0">
                <a:solidFill>
                  <a:srgbClr val="1F4766"/>
                </a:solidFill>
              </a:rPr>
              <a:t>affects </a:t>
            </a:r>
            <a:r>
              <a:rPr lang="en-US" b="0" i="0" dirty="0">
                <a:solidFill>
                  <a:srgbClr val="1F4766"/>
                </a:solidFill>
                <a:effectLst/>
              </a:rPr>
              <a:t>the area.</a:t>
            </a:r>
            <a:endParaRPr lang="en-US" dirty="0"/>
          </a:p>
          <a:p>
            <a:pPr>
              <a:buFont typeface="Arial" panose="020B0604020202020204" pitchFamily="34" charset="0"/>
              <a:buChar char="•"/>
            </a:pPr>
            <a:r>
              <a:rPr lang="en-US" b="0" i="0" dirty="0">
                <a:solidFill>
                  <a:srgbClr val="1F4766"/>
                </a:solidFill>
                <a:effectLst/>
              </a:rPr>
              <a:t>Affected  by the natural or manmade disaster who have an immediate need for emergency funds.</a:t>
            </a:r>
            <a:endParaRPr lang="en-US" dirty="0"/>
          </a:p>
          <a:p>
            <a:pPr>
              <a:buFont typeface="Arial" panose="020B0604020202020204" pitchFamily="34" charset="0"/>
              <a:buChar char="•"/>
            </a:pPr>
            <a:r>
              <a:rPr lang="en-US">
                <a:solidFill>
                  <a:srgbClr val="1F4766"/>
                </a:solidFill>
              </a:rPr>
              <a:t>Must not have </a:t>
            </a:r>
            <a:r>
              <a:rPr lang="en-US" b="0" i="0">
                <a:solidFill>
                  <a:srgbClr val="1F4766"/>
                </a:solidFill>
                <a:effectLst/>
              </a:rPr>
              <a:t>a combined amortization for the</a:t>
            </a:r>
            <a:r>
              <a:rPr lang="en-US">
                <a:solidFill>
                  <a:srgbClr val="1F4766"/>
                </a:solidFill>
              </a:rPr>
              <a:t> </a:t>
            </a:r>
            <a:endParaRPr lang="en-US"/>
          </a:p>
          <a:p>
            <a:pPr>
              <a:buFont typeface="Arial" panose="020B0604020202020204" pitchFamily="34" charset="0"/>
              <a:buChar char="•"/>
            </a:pPr>
            <a:r>
              <a:rPr lang="en-US" b="0" i="0" dirty="0">
                <a:solidFill>
                  <a:srgbClr val="1F4766"/>
                </a:solidFill>
                <a:effectLst/>
              </a:rPr>
              <a:t>consolidated</a:t>
            </a:r>
            <a:r>
              <a:rPr lang="en-US" dirty="0">
                <a:solidFill>
                  <a:srgbClr val="1F4766"/>
                </a:solidFill>
              </a:rPr>
              <a:t> </a:t>
            </a:r>
            <a:r>
              <a:rPr lang="en-US" b="0" i="0" dirty="0">
                <a:solidFill>
                  <a:srgbClr val="1F4766"/>
                </a:solidFill>
                <a:effectLst/>
              </a:rPr>
              <a:t>loans</a:t>
            </a:r>
            <a:r>
              <a:rPr lang="en-US" dirty="0">
                <a:solidFill>
                  <a:srgbClr val="1F4766"/>
                </a:solidFill>
              </a:rPr>
              <a:t> </a:t>
            </a:r>
            <a:r>
              <a:rPr lang="en-US" b="0" i="0" dirty="0">
                <a:solidFill>
                  <a:srgbClr val="1F4766"/>
                </a:solidFill>
                <a:effectLst/>
              </a:rPr>
              <a:t>greater than P1,500 per week</a:t>
            </a:r>
            <a:r>
              <a:rPr lang="en-US" dirty="0">
                <a:solidFill>
                  <a:srgbClr val="1F4766"/>
                </a:solidFill>
              </a:rPr>
              <a:t> (or its equivalent in their cash flow). </a:t>
            </a:r>
            <a:endParaRPr lang="en-US" dirty="0"/>
          </a:p>
          <a:p>
            <a:pPr>
              <a:buFont typeface="Arial" panose="020B0604020202020204" pitchFamily="34" charset="0"/>
              <a:buChar char="•"/>
            </a:pPr>
            <a:r>
              <a:rPr lang="en-US" b="0" i="0">
                <a:solidFill>
                  <a:srgbClr val="1F4766"/>
                </a:solidFill>
                <a:effectLst/>
              </a:rPr>
              <a:t>Must have a sufficient cash flow to cover the applied loan amount</a:t>
            </a:r>
            <a:endParaRPr lang="en-US">
              <a:cs typeface="+mn-lt"/>
            </a:endParaRPr>
          </a:p>
          <a:p>
            <a:pPr algn="just">
              <a:lnSpc>
                <a:spcPct val="150000"/>
              </a:lnSpc>
            </a:pPr>
            <a:br>
              <a:rPr lang="en-US" dirty="0">
                <a:solidFill>
                  <a:srgbClr val="1F4766"/>
                </a:solidFill>
                <a:latin typeface="Lato"/>
                <a:ea typeface="Lato"/>
                <a:cs typeface="Lato"/>
              </a:rPr>
            </a:br>
            <a:r>
              <a:rPr lang="en-US" b="1">
                <a:solidFill>
                  <a:srgbClr val="FFC000"/>
                </a:solidFill>
              </a:rPr>
              <a:t>Documentary Requirements</a:t>
            </a:r>
            <a:endParaRPr lang="en-US">
              <a:solidFill>
                <a:srgbClr val="000000"/>
              </a:solidFill>
              <a:latin typeface="Calibri" panose="020F0502020204030204"/>
              <a:ea typeface="Calibri" panose="020F0502020204030204"/>
              <a:cs typeface="Calibri" panose="020F0502020204030204"/>
            </a:endParaRPr>
          </a:p>
          <a:p>
            <a:pPr algn="just">
              <a:lnSpc>
                <a:spcPct val="150000"/>
              </a:lnSpc>
            </a:pPr>
            <a:r>
              <a:rPr lang="en-US" dirty="0">
                <a:solidFill>
                  <a:srgbClr val="1F4766"/>
                </a:solidFill>
                <a:latin typeface="Lato"/>
                <a:ea typeface="Lato"/>
                <a:cs typeface="Lato"/>
              </a:rPr>
              <a:t> </a:t>
            </a:r>
            <a:r>
              <a:rPr lang="en-US" dirty="0"/>
              <a:t>•</a:t>
            </a:r>
            <a:r>
              <a:rPr lang="en-US" dirty="0">
                <a:solidFill>
                  <a:srgbClr val="1F4766"/>
                </a:solidFill>
              </a:rPr>
              <a:t>Picture of the business that are partially/</a:t>
            </a:r>
            <a:r>
              <a:rPr lang="en-US">
                <a:solidFill>
                  <a:srgbClr val="1F4766"/>
                </a:solidFill>
              </a:rPr>
              <a:t>totally damaged</a:t>
            </a:r>
            <a:endParaRPr lang="en-US" dirty="0">
              <a:solidFill>
                <a:srgbClr val="1F4766"/>
              </a:solidFill>
              <a:ea typeface="Calibri"/>
              <a:cs typeface="+mn-lt"/>
            </a:endParaRPr>
          </a:p>
          <a:p>
            <a:pPr algn="just">
              <a:lnSpc>
                <a:spcPct val="150000"/>
              </a:lnSpc>
            </a:pPr>
            <a:r>
              <a:rPr lang="en-US" dirty="0">
                <a:solidFill>
                  <a:srgbClr val="1F4766"/>
                </a:solidFill>
                <a:latin typeface="Lato"/>
                <a:ea typeface="Lato"/>
                <a:cs typeface="Lato"/>
              </a:rPr>
              <a:t> </a:t>
            </a:r>
          </a:p>
          <a:p>
            <a:r>
              <a:rPr lang="en-US" b="1" i="1" dirty="0">
                <a:solidFill>
                  <a:srgbClr val="FF0000"/>
                </a:solidFill>
              </a:rPr>
              <a:t>Note</a:t>
            </a:r>
            <a:r>
              <a:rPr lang="en-US" i="1" dirty="0">
                <a:solidFill>
                  <a:srgbClr val="FF0000"/>
                </a:solidFill>
              </a:rPr>
              <a:t>: All SLDR loans shall undergo CI2 conducted by the Branch Supervisor, endorsed by the Area Manager and approved by the District Head (via email). </a:t>
            </a:r>
            <a:endParaRPr lang="en-US" dirty="0"/>
          </a:p>
          <a:p>
            <a:pPr algn="just">
              <a:lnSpc>
                <a:spcPct val="150000"/>
              </a:lnSpc>
            </a:pPr>
            <a:r>
              <a:rPr lang="en-US" dirty="0">
                <a:solidFill>
                  <a:srgbClr val="1F4766"/>
                </a:solidFill>
                <a:latin typeface="Lato"/>
                <a:ea typeface="Lato"/>
                <a:cs typeface="Lato"/>
              </a:rPr>
              <a:t>                                                                                                                                                                                           </a:t>
            </a:r>
            <a:endParaRPr lang="en-US">
              <a:ea typeface="Calibri"/>
              <a:cs typeface="Calibri"/>
            </a:endParaRPr>
          </a:p>
        </p:txBody>
      </p:sp>
      <p:sp>
        <p:nvSpPr>
          <p:cNvPr id="4" name="Slide Number Placeholder 3">
            <a:extLst>
              <a:ext uri="{FF2B5EF4-FFF2-40B4-BE49-F238E27FC236}">
                <a16:creationId xmlns:a16="http://schemas.microsoft.com/office/drawing/2014/main" id="{A19D6D7C-698E-9371-3515-309C1D270940}"/>
              </a:ext>
            </a:extLst>
          </p:cNvPr>
          <p:cNvSpPr>
            <a:spLocks noGrp="1"/>
          </p:cNvSpPr>
          <p:nvPr>
            <p:ph type="sldNum" sz="quarter" idx="5"/>
          </p:nvPr>
        </p:nvSpPr>
        <p:spPr/>
        <p:txBody>
          <a:bodyPr/>
          <a:lstStyle/>
          <a:p>
            <a:fld id="{055671AF-A33F-46D0-852C-D1EF44AD87C1}" type="slidenum">
              <a:rPr lang="en-PH" smtClean="0"/>
              <a:t>27</a:t>
            </a:fld>
            <a:endParaRPr lang="en-PH"/>
          </a:p>
        </p:txBody>
      </p:sp>
    </p:spTree>
    <p:extLst>
      <p:ext uri="{BB962C8B-B14F-4D97-AF65-F5344CB8AC3E}">
        <p14:creationId xmlns:p14="http://schemas.microsoft.com/office/powerpoint/2010/main" val="25837284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5"/>
          </p:nvPr>
        </p:nvSpPr>
        <p:spPr/>
        <p:txBody>
          <a:bodyPr/>
          <a:lstStyle/>
          <a:p>
            <a:fld id="{055671AF-A33F-46D0-852C-D1EF44AD87C1}" type="slidenum">
              <a:rPr lang="en-PH" smtClean="0"/>
              <a:t>28</a:t>
            </a:fld>
            <a:endParaRPr lang="en-PH"/>
          </a:p>
        </p:txBody>
      </p:sp>
    </p:spTree>
    <p:extLst>
      <p:ext uri="{BB962C8B-B14F-4D97-AF65-F5344CB8AC3E}">
        <p14:creationId xmlns:p14="http://schemas.microsoft.com/office/powerpoint/2010/main" val="29242787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Main Title Slide">
    <p:spTree>
      <p:nvGrpSpPr>
        <p:cNvPr id="1" name=""/>
        <p:cNvGrpSpPr/>
        <p:nvPr/>
      </p:nvGrpSpPr>
      <p:grpSpPr>
        <a:xfrm>
          <a:off x="0" y="0"/>
          <a:ext cx="0" cy="0"/>
          <a:chOff x="0" y="0"/>
          <a:chExt cx="0" cy="0"/>
        </a:xfrm>
      </p:grpSpPr>
      <p:pic>
        <p:nvPicPr>
          <p:cNvPr id="9" name="Picture 8" descr="A yellow and blue rectangle&#10;&#10;Description automatically generated">
            <a:extLst>
              <a:ext uri="{FF2B5EF4-FFF2-40B4-BE49-F238E27FC236}">
                <a16:creationId xmlns:a16="http://schemas.microsoft.com/office/drawing/2014/main" id="{DFB2EC4B-CC90-5261-9FAE-AF8D9DD36BA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hasCustomPrompt="1"/>
          </p:nvPr>
        </p:nvSpPr>
        <p:spPr>
          <a:xfrm>
            <a:off x="628474" y="1861456"/>
            <a:ext cx="6552502" cy="1305606"/>
          </a:xfrm>
        </p:spPr>
        <p:txBody>
          <a:bodyPr anchor="b"/>
          <a:lstStyle>
            <a:lvl1pPr algn="l">
              <a:defRPr sz="6000" b="1" baseline="0">
                <a:solidFill>
                  <a:srgbClr val="204765"/>
                </a:solidFill>
                <a:latin typeface="Lato" panose="020F0502020204030203" pitchFamily="34" charset="0"/>
                <a:ea typeface="Lato" panose="020F0502020204030203" pitchFamily="34" charset="0"/>
                <a:cs typeface="Lato" panose="020F0502020204030203" pitchFamily="34" charset="0"/>
              </a:defRPr>
            </a:lvl1pPr>
          </a:lstStyle>
          <a:p>
            <a:r>
              <a:rPr lang="en-US"/>
              <a:t>Put your title here</a:t>
            </a:r>
            <a:endParaRPr lang="en-PH"/>
          </a:p>
        </p:txBody>
      </p:sp>
      <p:sp>
        <p:nvSpPr>
          <p:cNvPr id="3" name="Subtitle 2"/>
          <p:cNvSpPr>
            <a:spLocks noGrp="1"/>
          </p:cNvSpPr>
          <p:nvPr>
            <p:ph type="subTitle" idx="1" hasCustomPrompt="1"/>
          </p:nvPr>
        </p:nvSpPr>
        <p:spPr>
          <a:xfrm>
            <a:off x="628474" y="3389765"/>
            <a:ext cx="6552502" cy="765854"/>
          </a:xfrm>
        </p:spPr>
        <p:txBody>
          <a:bodyPr/>
          <a:lstStyle>
            <a:lvl1pPr marL="0" indent="0" algn="l">
              <a:buNone/>
              <a:defRPr sz="2400">
                <a:latin typeface="Lato" panose="020F0502020204030203" pitchFamily="34" charset="0"/>
                <a:ea typeface="Lato" panose="020F0502020204030203" pitchFamily="34" charset="0"/>
                <a:cs typeface="Lato" panose="020F050202020403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Here</a:t>
            </a:r>
            <a:endParaRPr lang="en-PH"/>
          </a:p>
        </p:txBody>
      </p:sp>
      <p:sp>
        <p:nvSpPr>
          <p:cNvPr id="4" name="Date Placeholder 3"/>
          <p:cNvSpPr>
            <a:spLocks noGrp="1"/>
          </p:cNvSpPr>
          <p:nvPr>
            <p:ph type="dt" sz="half" idx="10"/>
          </p:nvPr>
        </p:nvSpPr>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fld id="{115C4C35-F14F-4F4A-9F39-675FDBD71F01}" type="datetime1">
              <a:rPr lang="en-PH" smtClean="0"/>
              <a:t>18/05/2026</a:t>
            </a:fld>
            <a:endParaRPr lang="en-PH"/>
          </a:p>
        </p:txBody>
      </p:sp>
      <p:sp>
        <p:nvSpPr>
          <p:cNvPr id="5" name="Footer Placeholder 4"/>
          <p:cNvSpPr>
            <a:spLocks noGrp="1"/>
          </p:cNvSpPr>
          <p:nvPr>
            <p:ph type="ftr" sz="quarter" idx="11"/>
          </p:nvPr>
        </p:nvSpPr>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a:t>Prepared By: </a:t>
            </a:r>
            <a:endParaRPr lang="en-PH"/>
          </a:p>
        </p:txBody>
      </p:sp>
      <p:sp>
        <p:nvSpPr>
          <p:cNvPr id="6" name="Slide Number Placeholder 5"/>
          <p:cNvSpPr>
            <a:spLocks noGrp="1"/>
          </p:cNvSpPr>
          <p:nvPr>
            <p:ph type="sldNum" sz="quarter" idx="12"/>
          </p:nvPr>
        </p:nvSpPr>
        <p:spPr>
          <a:xfrm>
            <a:off x="9081407" y="6356350"/>
            <a:ext cx="2743200" cy="365125"/>
          </a:xfr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fld id="{36D53BC0-5915-4EE6-A8B4-385258777E7F}" type="slidenum">
              <a:rPr lang="en-PH" smtClean="0"/>
              <a:pPr/>
              <a:t>‹#›</a:t>
            </a:fld>
            <a:endParaRPr lang="en-PH"/>
          </a:p>
        </p:txBody>
      </p:sp>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337627" y="447984"/>
            <a:ext cx="3486980" cy="948710"/>
          </a:xfrm>
          <a:prstGeom prst="rect">
            <a:avLst/>
          </a:prstGeom>
        </p:spPr>
      </p:pic>
    </p:spTree>
    <p:extLst>
      <p:ext uri="{BB962C8B-B14F-4D97-AF65-F5344CB8AC3E}">
        <p14:creationId xmlns:p14="http://schemas.microsoft.com/office/powerpoint/2010/main" val="37100552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Main Title Slide">
    <p:spTree>
      <p:nvGrpSpPr>
        <p:cNvPr id="1" name=""/>
        <p:cNvGrpSpPr/>
        <p:nvPr/>
      </p:nvGrpSpPr>
      <p:grpSpPr>
        <a:xfrm>
          <a:off x="0" y="0"/>
          <a:ext cx="0" cy="0"/>
          <a:chOff x="0" y="0"/>
          <a:chExt cx="0" cy="0"/>
        </a:xfrm>
      </p:grpSpPr>
      <p:pic>
        <p:nvPicPr>
          <p:cNvPr id="10" name="Picture 9" descr="A white background with black and white clouds&#10;&#10;Description automatically generated">
            <a:extLst>
              <a:ext uri="{FF2B5EF4-FFF2-40B4-BE49-F238E27FC236}">
                <a16:creationId xmlns:a16="http://schemas.microsoft.com/office/drawing/2014/main" id="{58CEBF6D-4ECF-9611-882E-CB780675517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hasCustomPrompt="1"/>
          </p:nvPr>
        </p:nvSpPr>
        <p:spPr>
          <a:xfrm>
            <a:off x="1817939" y="2327462"/>
            <a:ext cx="8354786" cy="1305606"/>
          </a:xfrm>
        </p:spPr>
        <p:txBody>
          <a:bodyPr anchor="b"/>
          <a:lstStyle>
            <a:lvl1pPr algn="l">
              <a:defRPr sz="6000" b="1" baseline="0">
                <a:solidFill>
                  <a:srgbClr val="204765"/>
                </a:solidFill>
                <a:latin typeface="Lato" panose="020F0502020204030203" pitchFamily="34" charset="0"/>
                <a:ea typeface="Lato" panose="020F0502020204030203" pitchFamily="34" charset="0"/>
                <a:cs typeface="Lato" panose="020F0502020204030203" pitchFamily="34" charset="0"/>
              </a:defRPr>
            </a:lvl1pPr>
          </a:lstStyle>
          <a:p>
            <a:r>
              <a:rPr lang="en-US"/>
              <a:t>Put your title here</a:t>
            </a:r>
            <a:endParaRPr lang="en-PH"/>
          </a:p>
        </p:txBody>
      </p:sp>
      <p:sp>
        <p:nvSpPr>
          <p:cNvPr id="3" name="Subtitle 2"/>
          <p:cNvSpPr>
            <a:spLocks noGrp="1"/>
          </p:cNvSpPr>
          <p:nvPr>
            <p:ph type="subTitle" idx="1" hasCustomPrompt="1"/>
          </p:nvPr>
        </p:nvSpPr>
        <p:spPr>
          <a:xfrm>
            <a:off x="1817939" y="3855771"/>
            <a:ext cx="8354786" cy="765854"/>
          </a:xfrm>
        </p:spPr>
        <p:txBody>
          <a:bodyPr/>
          <a:lstStyle>
            <a:lvl1pPr marL="0" indent="0" algn="l">
              <a:buNone/>
              <a:defRPr sz="2400">
                <a:latin typeface="Lato" panose="020F0502020204030203" pitchFamily="34" charset="0"/>
                <a:ea typeface="Lato" panose="020F0502020204030203" pitchFamily="34" charset="0"/>
                <a:cs typeface="Lato" panose="020F050202020403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Here</a:t>
            </a:r>
            <a:endParaRPr lang="en-PH"/>
          </a:p>
        </p:txBody>
      </p:sp>
      <p:sp>
        <p:nvSpPr>
          <p:cNvPr id="4" name="Date Placeholder 3"/>
          <p:cNvSpPr>
            <a:spLocks noGrp="1"/>
          </p:cNvSpPr>
          <p:nvPr>
            <p:ph type="dt" sz="half" idx="10"/>
          </p:nvPr>
        </p:nvSpPr>
        <p:spPr>
          <a:xfrm>
            <a:off x="1817939" y="6356350"/>
            <a:ext cx="2743200" cy="365125"/>
          </a:xfr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fld id="{115C4C35-F14F-4F4A-9F39-675FDBD71F01}" type="datetime1">
              <a:rPr lang="en-PH" smtClean="0"/>
              <a:t>18/05/2026</a:t>
            </a:fld>
            <a:endParaRPr lang="en-PH"/>
          </a:p>
        </p:txBody>
      </p:sp>
      <p:sp>
        <p:nvSpPr>
          <p:cNvPr id="6" name="Slide Number Placeholder 5"/>
          <p:cNvSpPr>
            <a:spLocks noGrp="1"/>
          </p:cNvSpPr>
          <p:nvPr>
            <p:ph type="sldNum" sz="quarter" idx="12"/>
          </p:nvPr>
        </p:nvSpPr>
        <p:spPr>
          <a:xfrm>
            <a:off x="9081407" y="6356350"/>
            <a:ext cx="2743200" cy="365125"/>
          </a:xfr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fld id="{36D53BC0-5915-4EE6-A8B4-385258777E7F}" type="slidenum">
              <a:rPr lang="en-PH" smtClean="0"/>
              <a:pPr/>
              <a:t>‹#›</a:t>
            </a:fld>
            <a:endParaRPr lang="en-PH"/>
          </a:p>
        </p:txBody>
      </p:sp>
      <p:cxnSp>
        <p:nvCxnSpPr>
          <p:cNvPr id="11" name="Straight Connector 10"/>
          <p:cNvCxnSpPr/>
          <p:nvPr userDrawn="1"/>
        </p:nvCxnSpPr>
        <p:spPr>
          <a:xfrm>
            <a:off x="1817939" y="3739883"/>
            <a:ext cx="3095747" cy="0"/>
          </a:xfrm>
          <a:prstGeom prst="line">
            <a:avLst/>
          </a:prstGeom>
          <a:ln w="38100">
            <a:solidFill>
              <a:srgbClr val="FFD72A"/>
            </a:solidFill>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817939" y="447984"/>
            <a:ext cx="3486980" cy="948710"/>
          </a:xfrm>
          <a:prstGeom prst="rect">
            <a:avLst/>
          </a:prstGeom>
        </p:spPr>
      </p:pic>
    </p:spTree>
    <p:extLst>
      <p:ext uri="{BB962C8B-B14F-4D97-AF65-F5344CB8AC3E}">
        <p14:creationId xmlns:p14="http://schemas.microsoft.com/office/powerpoint/2010/main" val="41010905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Date Placeholder 3"/>
          <p:cNvSpPr>
            <a:spLocks noGrp="1"/>
          </p:cNvSpPr>
          <p:nvPr>
            <p:ph type="dt" sz="half" idx="10"/>
          </p:nvPr>
        </p:nvSpPr>
        <p:spPr>
          <a:xfrm>
            <a:off x="720423" y="6356350"/>
            <a:ext cx="2743200" cy="365125"/>
          </a:xfr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fld id="{AC6A7F05-2443-469A-821F-F5446DEC9689}" type="datetime1">
              <a:rPr lang="en-PH" smtClean="0"/>
              <a:t>18/05/2026</a:t>
            </a:fld>
            <a:endParaRPr lang="en-PH"/>
          </a:p>
        </p:txBody>
      </p:sp>
      <p:sp>
        <p:nvSpPr>
          <p:cNvPr id="10" name="Slide Number Placeholder 5"/>
          <p:cNvSpPr>
            <a:spLocks noGrp="1"/>
          </p:cNvSpPr>
          <p:nvPr>
            <p:ph type="sldNum" sz="quarter" idx="12"/>
          </p:nvPr>
        </p:nvSpPr>
        <p:spPr>
          <a:xfrm>
            <a:off x="9081407" y="6356350"/>
            <a:ext cx="2743200" cy="365125"/>
          </a:xfr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fld id="{36D53BC0-5915-4EE6-A8B4-385258777E7F}" type="slidenum">
              <a:rPr lang="en-PH" smtClean="0"/>
              <a:pPr/>
              <a:t>‹#›</a:t>
            </a:fld>
            <a:endParaRPr lang="en-PH"/>
          </a:p>
        </p:txBody>
      </p:sp>
      <p:pic>
        <p:nvPicPr>
          <p:cNvPr id="2" name="Picture 1">
            <a:extLst>
              <a:ext uri="{FF2B5EF4-FFF2-40B4-BE49-F238E27FC236}">
                <a16:creationId xmlns:a16="http://schemas.microsoft.com/office/drawing/2014/main" id="{63AD6E4C-FD7B-9EFD-F381-3CC1BD195D1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20423" y="1084091"/>
            <a:ext cx="4955150" cy="1348158"/>
          </a:xfrm>
          <a:prstGeom prst="rect">
            <a:avLst/>
          </a:prstGeom>
        </p:spPr>
      </p:pic>
      <p:sp>
        <p:nvSpPr>
          <p:cNvPr id="6" name="Title 1">
            <a:extLst>
              <a:ext uri="{FF2B5EF4-FFF2-40B4-BE49-F238E27FC236}">
                <a16:creationId xmlns:a16="http://schemas.microsoft.com/office/drawing/2014/main" id="{7F02449D-886A-5A5A-D813-8CC11BC3B1F0}"/>
              </a:ext>
            </a:extLst>
          </p:cNvPr>
          <p:cNvSpPr>
            <a:spLocks noGrp="1"/>
          </p:cNvSpPr>
          <p:nvPr>
            <p:ph type="ctrTitle" hasCustomPrompt="1"/>
          </p:nvPr>
        </p:nvSpPr>
        <p:spPr>
          <a:xfrm>
            <a:off x="720423" y="3765757"/>
            <a:ext cx="6552502" cy="1305606"/>
          </a:xfrm>
        </p:spPr>
        <p:txBody>
          <a:bodyPr anchor="b"/>
          <a:lstStyle>
            <a:lvl1pPr algn="l">
              <a:defRPr sz="6000" b="1" baseline="0">
                <a:solidFill>
                  <a:srgbClr val="204765"/>
                </a:solidFill>
                <a:latin typeface="Lato" panose="020F0502020204030203" pitchFamily="34" charset="0"/>
                <a:ea typeface="Lato" panose="020F0502020204030203" pitchFamily="34" charset="0"/>
                <a:cs typeface="Lato" panose="020F0502020204030203" pitchFamily="34" charset="0"/>
              </a:defRPr>
            </a:lvl1pPr>
          </a:lstStyle>
          <a:p>
            <a:r>
              <a:rPr lang="en-US"/>
              <a:t>Put your title here</a:t>
            </a:r>
            <a:endParaRPr lang="en-PH"/>
          </a:p>
        </p:txBody>
      </p:sp>
      <p:sp>
        <p:nvSpPr>
          <p:cNvPr id="7" name="Subtitle 2">
            <a:extLst>
              <a:ext uri="{FF2B5EF4-FFF2-40B4-BE49-F238E27FC236}">
                <a16:creationId xmlns:a16="http://schemas.microsoft.com/office/drawing/2014/main" id="{64B2F1AE-310A-9DE8-7A00-1AE641338A68}"/>
              </a:ext>
            </a:extLst>
          </p:cNvPr>
          <p:cNvSpPr>
            <a:spLocks noGrp="1"/>
          </p:cNvSpPr>
          <p:nvPr>
            <p:ph type="subTitle" idx="1" hasCustomPrompt="1"/>
          </p:nvPr>
        </p:nvSpPr>
        <p:spPr>
          <a:xfrm>
            <a:off x="720423" y="5159842"/>
            <a:ext cx="6552502" cy="765854"/>
          </a:xfrm>
        </p:spPr>
        <p:txBody>
          <a:bodyPr/>
          <a:lstStyle>
            <a:lvl1pPr marL="0" indent="0" algn="l">
              <a:buNone/>
              <a:defRPr sz="2400">
                <a:latin typeface="Lato" panose="020F0502020204030203" pitchFamily="34" charset="0"/>
                <a:ea typeface="Lato" panose="020F0502020204030203" pitchFamily="34" charset="0"/>
                <a:cs typeface="Lato" panose="020F050202020403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Here</a:t>
            </a:r>
            <a:endParaRPr lang="en-PH"/>
          </a:p>
        </p:txBody>
      </p:sp>
    </p:spTree>
    <p:extLst>
      <p:ext uri="{BB962C8B-B14F-4D97-AF65-F5344CB8AC3E}">
        <p14:creationId xmlns:p14="http://schemas.microsoft.com/office/powerpoint/2010/main" val="36408684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19" name="Rectangle 18"/>
          <p:cNvSpPr/>
          <p:nvPr userDrawn="1"/>
        </p:nvSpPr>
        <p:spPr>
          <a:xfrm>
            <a:off x="0" y="6213020"/>
            <a:ext cx="12192000" cy="644979"/>
          </a:xfrm>
          <a:prstGeom prst="rect">
            <a:avLst/>
          </a:prstGeom>
          <a:solidFill>
            <a:srgbClr val="FFD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1" name="TextBox 60"/>
          <p:cNvSpPr txBox="1"/>
          <p:nvPr userDrawn="1"/>
        </p:nvSpPr>
        <p:spPr>
          <a:xfrm>
            <a:off x="9981861" y="6385023"/>
            <a:ext cx="1399493" cy="307777"/>
          </a:xfrm>
          <a:prstGeom prst="rect">
            <a:avLst/>
          </a:prstGeom>
          <a:noFill/>
        </p:spPr>
        <p:txBody>
          <a:bodyPr wrap="square" rtlCol="0">
            <a:spAutoFit/>
          </a:bodyPr>
          <a:lstStyle/>
          <a:p>
            <a:r>
              <a:rPr lang="en-US" sz="1400" i="1" err="1">
                <a:solidFill>
                  <a:schemeClr val="bg2">
                    <a:lumMod val="50000"/>
                  </a:schemeClr>
                </a:solidFill>
                <a:latin typeface="Lato" panose="020F0502020204030203" pitchFamily="34" charset="0"/>
                <a:ea typeface="Lato" panose="020F0502020204030203" pitchFamily="34" charset="0"/>
                <a:cs typeface="Lato" panose="020F0502020204030203" pitchFamily="34" charset="0"/>
              </a:rPr>
              <a:t>Kaagapay</a:t>
            </a:r>
            <a:r>
              <a:rPr lang="en-US" sz="1400" i="1" baseline="0">
                <a:solidFill>
                  <a:schemeClr val="bg2">
                    <a:lumMod val="50000"/>
                  </a:schemeClr>
                </a:solidFill>
                <a:latin typeface="Lato" panose="020F0502020204030203" pitchFamily="34" charset="0"/>
                <a:ea typeface="Lato" panose="020F0502020204030203" pitchFamily="34" charset="0"/>
                <a:cs typeface="Lato" panose="020F0502020204030203" pitchFamily="34" charset="0"/>
              </a:rPr>
              <a:t> Mo!</a:t>
            </a:r>
            <a:endParaRPr lang="en-PH" sz="1400" i="1">
              <a:solidFill>
                <a:schemeClr val="bg2">
                  <a:lumMod val="50000"/>
                </a:schemeClr>
              </a:solidFill>
              <a:latin typeface="Lato" panose="020F0502020204030203" pitchFamily="34" charset="0"/>
              <a:ea typeface="Lato" panose="020F0502020204030203" pitchFamily="34" charset="0"/>
              <a:cs typeface="Lato" panose="020F0502020204030203" pitchFamily="34" charset="0"/>
            </a:endParaRP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97199" y="6319665"/>
            <a:ext cx="2595680" cy="448016"/>
          </a:xfrm>
          <a:prstGeom prst="rect">
            <a:avLst/>
          </a:prstGeom>
        </p:spPr>
      </p:pic>
      <p:sp>
        <p:nvSpPr>
          <p:cNvPr id="17" name="Slide Number Placeholder 5"/>
          <p:cNvSpPr>
            <a:spLocks noGrp="1"/>
          </p:cNvSpPr>
          <p:nvPr>
            <p:ph type="sldNum" sz="quarter" idx="12"/>
          </p:nvPr>
        </p:nvSpPr>
        <p:spPr>
          <a:xfrm>
            <a:off x="9081407" y="6356350"/>
            <a:ext cx="2743200" cy="365125"/>
          </a:xfr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fld id="{36D53BC0-5915-4EE6-A8B4-385258777E7F}" type="slidenum">
              <a:rPr lang="en-PH" smtClean="0"/>
              <a:pPr/>
              <a:t>‹#›</a:t>
            </a:fld>
            <a:endParaRPr lang="en-PH"/>
          </a:p>
        </p:txBody>
      </p:sp>
      <p:sp>
        <p:nvSpPr>
          <p:cNvPr id="18"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20" name="Text Placeholder 2"/>
          <p:cNvSpPr>
            <a:spLocks noGrp="1"/>
          </p:cNvSpPr>
          <p:nvPr>
            <p:ph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Tree>
    <p:extLst>
      <p:ext uri="{BB962C8B-B14F-4D97-AF65-F5344CB8AC3E}">
        <p14:creationId xmlns:p14="http://schemas.microsoft.com/office/powerpoint/2010/main" val="1418033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nding Slide">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Date Placeholder 3"/>
          <p:cNvSpPr>
            <a:spLocks noGrp="1"/>
          </p:cNvSpPr>
          <p:nvPr>
            <p:ph type="dt" sz="half" idx="10"/>
          </p:nvPr>
        </p:nvSpPr>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fld id="{AC6A7F05-2443-469A-821F-F5446DEC9689}" type="datetime1">
              <a:rPr lang="en-PH" smtClean="0"/>
              <a:t>18/05/2026</a:t>
            </a:fld>
            <a:endParaRPr lang="en-PH"/>
          </a:p>
        </p:txBody>
      </p:sp>
      <p:sp>
        <p:nvSpPr>
          <p:cNvPr id="5" name="Footer Placeholder 4"/>
          <p:cNvSpPr>
            <a:spLocks noGrp="1"/>
          </p:cNvSpPr>
          <p:nvPr>
            <p:ph type="ftr" sz="quarter" idx="11"/>
          </p:nvPr>
        </p:nvSpPr>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PH"/>
              <a:t>Prepared By: </a:t>
            </a:r>
          </a:p>
        </p:txBody>
      </p:sp>
      <p:sp>
        <p:nvSpPr>
          <p:cNvPr id="8" name="Title 1"/>
          <p:cNvSpPr>
            <a:spLocks noGrp="1"/>
          </p:cNvSpPr>
          <p:nvPr>
            <p:ph type="title" hasCustomPrompt="1"/>
          </p:nvPr>
        </p:nvSpPr>
        <p:spPr>
          <a:xfrm>
            <a:off x="839788" y="3845378"/>
            <a:ext cx="6973433" cy="1216479"/>
          </a:xfrm>
        </p:spPr>
        <p:txBody>
          <a:bodyPr anchor="b">
            <a:noAutofit/>
          </a:bodyPr>
          <a:lstStyle>
            <a:lvl1pPr>
              <a:defRPr sz="4400" b="1">
                <a:solidFill>
                  <a:srgbClr val="204765"/>
                </a:solidFill>
                <a:latin typeface="Lato" panose="020F0502020204030203" pitchFamily="34" charset="0"/>
                <a:ea typeface="Lato" panose="020F0502020204030203" pitchFamily="34" charset="0"/>
                <a:cs typeface="Lato" panose="020F0502020204030203" pitchFamily="34" charset="0"/>
              </a:defRPr>
            </a:lvl1pPr>
          </a:lstStyle>
          <a:p>
            <a:r>
              <a:rPr lang="en-US" err="1"/>
              <a:t>Mauswagon</a:t>
            </a:r>
            <a:r>
              <a:rPr lang="en-US"/>
              <a:t> </a:t>
            </a:r>
            <a:r>
              <a:rPr lang="en-US" err="1"/>
              <a:t>Ka</a:t>
            </a:r>
            <a:r>
              <a:rPr lang="en-US"/>
              <a:t>!</a:t>
            </a:r>
            <a:endParaRPr lang="en-PH"/>
          </a:p>
        </p:txBody>
      </p:sp>
      <p:sp>
        <p:nvSpPr>
          <p:cNvPr id="9" name="Text Placeholder 3"/>
          <p:cNvSpPr>
            <a:spLocks noGrp="1"/>
          </p:cNvSpPr>
          <p:nvPr>
            <p:ph type="body" sz="half" idx="2"/>
          </p:nvPr>
        </p:nvSpPr>
        <p:spPr>
          <a:xfrm>
            <a:off x="839788" y="5061858"/>
            <a:ext cx="7479619" cy="881743"/>
          </a:xfrm>
        </p:spPr>
        <p:txBody>
          <a:bodyPr/>
          <a:lstStyle>
            <a:lvl1pPr marL="0" indent="0">
              <a:buNone/>
              <a:defRPr sz="1600">
                <a:latin typeface="Lato" panose="020F0502020204030203" pitchFamily="34" charset="0"/>
                <a:ea typeface="Lato" panose="020F0502020204030203" pitchFamily="34" charset="0"/>
                <a:cs typeface="Lato" panose="020F050202020403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 name="Slide Number Placeholder 5"/>
          <p:cNvSpPr>
            <a:spLocks noGrp="1"/>
          </p:cNvSpPr>
          <p:nvPr>
            <p:ph type="sldNum" sz="quarter" idx="12"/>
          </p:nvPr>
        </p:nvSpPr>
        <p:spPr>
          <a:xfrm>
            <a:off x="9081407" y="6356350"/>
            <a:ext cx="2743200" cy="365125"/>
          </a:xfr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fld id="{36D53BC0-5915-4EE6-A8B4-385258777E7F}" type="slidenum">
              <a:rPr lang="en-PH" smtClean="0"/>
              <a:pPr/>
              <a:t>‹#›</a:t>
            </a:fld>
            <a:endParaRPr lang="en-PH"/>
          </a:p>
        </p:txBody>
      </p:sp>
      <p:pic>
        <p:nvPicPr>
          <p:cNvPr id="2" name="Picture 1">
            <a:extLst>
              <a:ext uri="{FF2B5EF4-FFF2-40B4-BE49-F238E27FC236}">
                <a16:creationId xmlns:a16="http://schemas.microsoft.com/office/drawing/2014/main" id="{09D9A1A0-0F0D-E26D-28F8-2B7AD526053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20423" y="1084091"/>
            <a:ext cx="4955150" cy="1348158"/>
          </a:xfrm>
          <a:prstGeom prst="rect">
            <a:avLst/>
          </a:prstGeom>
        </p:spPr>
      </p:pic>
    </p:spTree>
    <p:extLst>
      <p:ext uri="{BB962C8B-B14F-4D97-AF65-F5344CB8AC3E}">
        <p14:creationId xmlns:p14="http://schemas.microsoft.com/office/powerpoint/2010/main" val="249898135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B9C961-B7F8-4F5E-A400-DB080CE4CC0B}" type="datetime1">
              <a:rPr lang="en-PH" smtClean="0"/>
              <a:t>18/05/2026</a:t>
            </a:fld>
            <a:endParaRPr lang="en-PH"/>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PH"/>
              <a:t>Prepared By: </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D53BC0-5915-4EE6-A8B4-385258777E7F}" type="slidenum">
              <a:rPr lang="en-PH" smtClean="0"/>
              <a:t>‹#›</a:t>
            </a:fld>
            <a:endParaRPr lang="en-PH"/>
          </a:p>
        </p:txBody>
      </p:sp>
      <p:pic>
        <p:nvPicPr>
          <p:cNvPr id="7" name="Picture 6"/>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TextBox 9">
            <a:extLst>
              <a:ext uri="{FF2B5EF4-FFF2-40B4-BE49-F238E27FC236}">
                <a16:creationId xmlns:a16="http://schemas.microsoft.com/office/drawing/2014/main" id="{489EF27D-5353-1318-6C3E-30A9150DF98C}"/>
              </a:ext>
            </a:extLst>
          </p:cNvPr>
          <p:cNvSpPr txBox="1"/>
          <p:nvPr>
            <p:extLst>
              <p:ext uri="{1162E1C5-73C7-4A58-AE30-91384D911F3F}">
                <p184:classification xmlns:p184="http://schemas.microsoft.com/office/powerpoint/2018/4/main" val="hdr"/>
              </p:ext>
            </p:extLst>
          </p:nvPr>
        </p:nvSpPr>
        <p:spPr>
          <a:xfrm>
            <a:off x="5248275" y="63500"/>
            <a:ext cx="1717675" cy="121920"/>
          </a:xfrm>
          <a:prstGeom prst="rect">
            <a:avLst/>
          </a:prstGeom>
        </p:spPr>
        <p:txBody>
          <a:bodyPr horzOverflow="overflow" lIns="0" tIns="0" rIns="0" bIns="0">
            <a:spAutoFit/>
          </a:bodyPr>
          <a:lstStyle/>
          <a:p>
            <a:pPr algn="l"/>
            <a:r>
              <a:rPr lang="en-US" sz="8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RAFI MFI - Internal (General Information)</a:t>
            </a:r>
          </a:p>
        </p:txBody>
      </p:sp>
      <p:sp>
        <p:nvSpPr>
          <p:cNvPr id="11" name="TextBox 10">
            <a:extLst>
              <a:ext uri="{FF2B5EF4-FFF2-40B4-BE49-F238E27FC236}">
                <a16:creationId xmlns:a16="http://schemas.microsoft.com/office/drawing/2014/main" id="{7BF33106-98D0-5990-AE4E-292D411552C7}"/>
              </a:ext>
            </a:extLst>
          </p:cNvPr>
          <p:cNvSpPr txBox="1"/>
          <p:nvPr>
            <p:extLst>
              <p:ext uri="{1162E1C5-73C7-4A58-AE30-91384D911F3F}">
                <p184:classification xmlns:p184="http://schemas.microsoft.com/office/powerpoint/2018/4/main" val="ftr"/>
              </p:ext>
            </p:extLst>
          </p:nvPr>
        </p:nvSpPr>
        <p:spPr>
          <a:xfrm>
            <a:off x="4375912" y="6672580"/>
            <a:ext cx="3462338" cy="121920"/>
          </a:xfrm>
          <a:prstGeom prst="rect">
            <a:avLst/>
          </a:prstGeom>
        </p:spPr>
        <p:txBody>
          <a:bodyPr horzOverflow="overflow" lIns="0" tIns="0" rIns="0" bIns="0">
            <a:spAutoFit/>
          </a:bodyPr>
          <a:lstStyle/>
          <a:p>
            <a:pPr algn="l"/>
            <a:r>
              <a:rPr lang="en-US" sz="8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Information in this document or emails are intended for RAFI MFI internal use only.</a:t>
            </a:r>
          </a:p>
        </p:txBody>
      </p:sp>
    </p:spTree>
    <p:extLst>
      <p:ext uri="{BB962C8B-B14F-4D97-AF65-F5344CB8AC3E}">
        <p14:creationId xmlns:p14="http://schemas.microsoft.com/office/powerpoint/2010/main" val="2890437674"/>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63" r:id="rId3"/>
    <p:sldLayoutId id="2147483662" r:id="rId4"/>
    <p:sldLayoutId id="2147483659"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diagramColors" Target="../diagrams/colors1.xml"/><Relationship Id="rId11" Type="http://schemas.openxmlformats.org/officeDocument/2006/relationships/image" Target="../media/image19.svg"/><Relationship Id="rId5" Type="http://schemas.openxmlformats.org/officeDocument/2006/relationships/diagramQuickStyle" Target="../diagrams/quickStyle1.xml"/><Relationship Id="rId10" Type="http://schemas.openxmlformats.org/officeDocument/2006/relationships/image" Target="../media/image18.svg"/><Relationship Id="rId4" Type="http://schemas.openxmlformats.org/officeDocument/2006/relationships/diagramLayout" Target="../diagrams/layout1.xml"/><Relationship Id="rId9" Type="http://schemas.openxmlformats.org/officeDocument/2006/relationships/image" Target="../media/image17.sv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23.png"/><Relationship Id="rId4" Type="http://schemas.openxmlformats.org/officeDocument/2006/relationships/image" Target="../media/image22.sv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33.png"/><Relationship Id="rId11" Type="http://schemas.openxmlformats.org/officeDocument/2006/relationships/image" Target="../media/image37.png"/><Relationship Id="rId5" Type="http://schemas.openxmlformats.org/officeDocument/2006/relationships/image" Target="../media/image32.png"/><Relationship Id="rId10" Type="http://schemas.openxmlformats.org/officeDocument/2006/relationships/image" Target="../media/image22.svg"/><Relationship Id="rId4" Type="http://schemas.openxmlformats.org/officeDocument/2006/relationships/image" Target="../media/image31.png"/><Relationship Id="rId9" Type="http://schemas.openxmlformats.org/officeDocument/2006/relationships/image" Target="../media/image36.png"/></Relationships>
</file>

<file path=ppt/slides/_rels/slide17.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diagramColors" Target="../diagrams/colors2.xml"/><Relationship Id="rId11" Type="http://schemas.openxmlformats.org/officeDocument/2006/relationships/image" Target="../media/image19.svg"/><Relationship Id="rId5" Type="http://schemas.openxmlformats.org/officeDocument/2006/relationships/diagramQuickStyle" Target="../diagrams/quickStyle2.xml"/><Relationship Id="rId10" Type="http://schemas.openxmlformats.org/officeDocument/2006/relationships/image" Target="../media/image18.svg"/><Relationship Id="rId4" Type="http://schemas.openxmlformats.org/officeDocument/2006/relationships/diagramLayout" Target="../diagrams/layout2.xml"/><Relationship Id="rId9" Type="http://schemas.openxmlformats.org/officeDocument/2006/relationships/image" Target="../media/image17.svg"/></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39.png"/></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40.png"/><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42.png"/></Relationships>
</file>

<file path=ppt/slides/_rels/slide2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43.png"/></Relationships>
</file>

<file path=ppt/slides/_rels/slide2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jpe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51.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52.png"/><Relationship Id="rId7" Type="http://schemas.openxmlformats.org/officeDocument/2006/relationships/image" Target="../media/image35.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2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58.png"/></Relationships>
</file>

<file path=ppt/slides/_rels/slide28.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diagramLayout" Target="../diagrams/layout3.xml"/><Relationship Id="rId7" Type="http://schemas.openxmlformats.org/officeDocument/2006/relationships/image" Target="../media/image16.svg"/><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10" Type="http://schemas.openxmlformats.org/officeDocument/2006/relationships/image" Target="../media/image19.svg"/><Relationship Id="rId4" Type="http://schemas.openxmlformats.org/officeDocument/2006/relationships/diagramQuickStyle" Target="../diagrams/quickStyle3.xml"/><Relationship Id="rId9" Type="http://schemas.openxmlformats.org/officeDocument/2006/relationships/image" Target="../media/image18.svg"/></Relationships>
</file>

<file path=ppt/slides/_rels/slide29.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31.png"/><Relationship Id="rId7" Type="http://schemas.openxmlformats.org/officeDocument/2006/relationships/image" Target="../media/image59.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35.png"/><Relationship Id="rId5" Type="http://schemas.openxmlformats.org/officeDocument/2006/relationships/image" Target="../media/image33.png"/><Relationship Id="rId4" Type="http://schemas.openxmlformats.org/officeDocument/2006/relationships/image" Target="../media/image32.png"/><Relationship Id="rId9" Type="http://schemas.openxmlformats.org/officeDocument/2006/relationships/image" Target="../media/image61.png"/></Relationships>
</file>

<file path=ppt/slides/_rels/slide30.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image" Target="../media/image64.jpe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32.png"/><Relationship Id="rId7" Type="http://schemas.openxmlformats.org/officeDocument/2006/relationships/image" Target="../media/image60.png"/><Relationship Id="rId2" Type="http://schemas.openxmlformats.org/officeDocument/2006/relationships/image" Target="../media/image31.png"/><Relationship Id="rId1" Type="http://schemas.openxmlformats.org/officeDocument/2006/relationships/slideLayout" Target="../slideLayouts/slideLayout4.xml"/><Relationship Id="rId6" Type="http://schemas.openxmlformats.org/officeDocument/2006/relationships/image" Target="../media/image59.png"/><Relationship Id="rId5" Type="http://schemas.openxmlformats.org/officeDocument/2006/relationships/image" Target="../media/image35.png"/><Relationship Id="rId4" Type="http://schemas.openxmlformats.org/officeDocument/2006/relationships/image" Target="../media/image33.png"/></Relationships>
</file>

<file path=ppt/slides/_rels/slide3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31.png"/><Relationship Id="rId7" Type="http://schemas.openxmlformats.org/officeDocument/2006/relationships/image" Target="../media/image59.png"/><Relationship Id="rId2" Type="http://schemas.openxmlformats.org/officeDocument/2006/relationships/image" Target="../media/image69.png"/><Relationship Id="rId1" Type="http://schemas.openxmlformats.org/officeDocument/2006/relationships/slideLayout" Target="../slideLayouts/slideLayout4.xml"/><Relationship Id="rId6" Type="http://schemas.openxmlformats.org/officeDocument/2006/relationships/image" Target="../media/image35.png"/><Relationship Id="rId5" Type="http://schemas.openxmlformats.org/officeDocument/2006/relationships/image" Target="../media/image33.png"/><Relationship Id="rId4" Type="http://schemas.openxmlformats.org/officeDocument/2006/relationships/image" Target="../media/image32.png"/></Relationships>
</file>

<file path=ppt/slides/_rels/slide36.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diagramLayout" Target="../diagrams/layout4.xml"/><Relationship Id="rId7" Type="http://schemas.openxmlformats.org/officeDocument/2006/relationships/image" Target="../media/image16.svg"/><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5" Type="http://schemas.openxmlformats.org/officeDocument/2006/relationships/diagramColors" Target="../diagrams/colors4.xml"/><Relationship Id="rId10" Type="http://schemas.openxmlformats.org/officeDocument/2006/relationships/image" Target="../media/image19.svg"/><Relationship Id="rId4" Type="http://schemas.openxmlformats.org/officeDocument/2006/relationships/diagramQuickStyle" Target="../diagrams/quickStyle4.xml"/><Relationship Id="rId9" Type="http://schemas.openxmlformats.org/officeDocument/2006/relationships/image" Target="../media/image18.svg"/></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70.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70.png"/><Relationship Id="rId7" Type="http://schemas.openxmlformats.org/officeDocument/2006/relationships/image" Target="../media/image73.png"/><Relationship Id="rId2" Type="http://schemas.openxmlformats.org/officeDocument/2006/relationships/image" Target="../media/image31.png"/><Relationship Id="rId1" Type="http://schemas.openxmlformats.org/officeDocument/2006/relationships/slideLayout" Target="../slideLayouts/slideLayout4.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59.png"/><Relationship Id="rId9" Type="http://schemas.openxmlformats.org/officeDocument/2006/relationships/image" Target="../media/image74.png"/></Relationships>
</file>

<file path=ppt/slides/_rels/slide39.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32.png"/><Relationship Id="rId7" Type="http://schemas.openxmlformats.org/officeDocument/2006/relationships/image" Target="../media/image60.png"/><Relationship Id="rId12" Type="http://schemas.openxmlformats.org/officeDocument/2006/relationships/image" Target="../media/image74.png"/><Relationship Id="rId2" Type="http://schemas.openxmlformats.org/officeDocument/2006/relationships/image" Target="../media/image31.png"/><Relationship Id="rId1" Type="http://schemas.openxmlformats.org/officeDocument/2006/relationships/slideLayout" Target="../slideLayouts/slideLayout4.xml"/><Relationship Id="rId6" Type="http://schemas.openxmlformats.org/officeDocument/2006/relationships/image" Target="../media/image59.png"/><Relationship Id="rId11" Type="http://schemas.openxmlformats.org/officeDocument/2006/relationships/image" Target="../media/image81.png"/><Relationship Id="rId5" Type="http://schemas.openxmlformats.org/officeDocument/2006/relationships/image" Target="../media/image35.png"/><Relationship Id="rId10" Type="http://schemas.openxmlformats.org/officeDocument/2006/relationships/image" Target="../media/image80.png"/><Relationship Id="rId4" Type="http://schemas.openxmlformats.org/officeDocument/2006/relationships/image" Target="../media/image33.png"/><Relationship Id="rId9" Type="http://schemas.openxmlformats.org/officeDocument/2006/relationships/image" Target="../media/image71.png"/></Relationships>
</file>

<file path=ppt/slides/_rels/slide44.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51.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9EE962F-5B1D-AD8C-21D3-13EB7591906D}"/>
              </a:ext>
            </a:extLst>
          </p:cNvPr>
          <p:cNvSpPr txBox="1">
            <a:spLocks/>
          </p:cNvSpPr>
          <p:nvPr/>
        </p:nvSpPr>
        <p:spPr>
          <a:xfrm>
            <a:off x="989564" y="2354817"/>
            <a:ext cx="7087636" cy="107866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b="1" kern="1200" baseline="0">
                <a:solidFill>
                  <a:srgbClr val="204765"/>
                </a:solidFill>
                <a:latin typeface="Lato" panose="020F0502020204030203" pitchFamily="34" charset="0"/>
                <a:ea typeface="Lato" panose="020F0502020204030203" pitchFamily="34" charset="0"/>
                <a:cs typeface="Lato" panose="020F0502020204030203" pitchFamily="34" charset="0"/>
              </a:defRPr>
            </a:lvl1pPr>
          </a:lstStyle>
          <a:p>
            <a:r>
              <a:rPr lang="en-US" sz="4800"/>
              <a:t>RAFI MFI Financial Products and Services</a:t>
            </a:r>
          </a:p>
        </p:txBody>
      </p:sp>
    </p:spTree>
    <p:extLst>
      <p:ext uri="{BB962C8B-B14F-4D97-AF65-F5344CB8AC3E}">
        <p14:creationId xmlns:p14="http://schemas.microsoft.com/office/powerpoint/2010/main" val="2454958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3A684B3-9B61-410B-2343-41153B00F173}"/>
              </a:ext>
            </a:extLst>
          </p:cNvPr>
          <p:cNvSpPr>
            <a:spLocks noGrp="1"/>
          </p:cNvSpPr>
          <p:nvPr>
            <p:ph type="sldNum" sz="quarter" idx="12"/>
          </p:nvPr>
        </p:nvSpPr>
        <p:spPr/>
        <p:txBody>
          <a:bodyPr/>
          <a:lstStyle/>
          <a:p>
            <a:fld id="{36D53BC0-5915-4EE6-A8B4-385258777E7F}" type="slidenum">
              <a:rPr lang="en-PH" smtClean="0"/>
              <a:pPr/>
              <a:t>2</a:t>
            </a:fld>
            <a:endParaRPr lang="en-PH"/>
          </a:p>
        </p:txBody>
      </p:sp>
      <p:pic>
        <p:nvPicPr>
          <p:cNvPr id="14340" name="Picture 4">
            <a:extLst>
              <a:ext uri="{FF2B5EF4-FFF2-40B4-BE49-F238E27FC236}">
                <a16:creationId xmlns:a16="http://schemas.microsoft.com/office/drawing/2014/main" id="{02607620-29AA-B8C0-D979-5D62645085C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315"/>
          <a:stretch>
            <a:fillRect/>
          </a:stretch>
        </p:blipFill>
        <p:spPr bwMode="auto">
          <a:xfrm>
            <a:off x="0" y="0"/>
            <a:ext cx="12192000" cy="6356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9457760"/>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B20377E-E1F8-01C3-C23E-333AE5ED0145}"/>
              </a:ext>
            </a:extLst>
          </p:cNvPr>
          <p:cNvSpPr>
            <a:spLocks noGrp="1"/>
          </p:cNvSpPr>
          <p:nvPr>
            <p:ph type="sldNum" sz="quarter" idx="12"/>
          </p:nvPr>
        </p:nvSpPr>
        <p:spPr/>
        <p:txBody>
          <a:bodyPr/>
          <a:lstStyle/>
          <a:p>
            <a:fld id="{36D53BC0-5915-4EE6-A8B4-385258777E7F}" type="slidenum">
              <a:rPr lang="en-PH" smtClean="0"/>
              <a:pPr/>
              <a:t>3</a:t>
            </a:fld>
            <a:endParaRPr lang="en-PH"/>
          </a:p>
        </p:txBody>
      </p:sp>
      <p:pic>
        <p:nvPicPr>
          <p:cNvPr id="6" name="Picture 5" descr="A blue and yellow text on a blue background&#10;&#10;AI-generated content may be incorrect.">
            <a:extLst>
              <a:ext uri="{FF2B5EF4-FFF2-40B4-BE49-F238E27FC236}">
                <a16:creationId xmlns:a16="http://schemas.microsoft.com/office/drawing/2014/main" id="{98D85AB8-18DC-3F32-3884-8B34B52E26B0}"/>
              </a:ext>
            </a:extLst>
          </p:cNvPr>
          <p:cNvPicPr>
            <a:picLocks noChangeAspect="1"/>
          </p:cNvPicPr>
          <p:nvPr/>
        </p:nvPicPr>
        <p:blipFill>
          <a:blip r:embed="rId2">
            <a:extLst>
              <a:ext uri="{28A0092B-C50C-407E-A947-70E740481C1C}">
                <a14:useLocalDpi xmlns:a14="http://schemas.microsoft.com/office/drawing/2010/main" val="0"/>
              </a:ext>
            </a:extLst>
          </a:blip>
          <a:srcRect b="7315"/>
          <a:stretch>
            <a:fillRect/>
          </a:stretch>
        </p:blipFill>
        <p:spPr>
          <a:xfrm>
            <a:off x="0" y="0"/>
            <a:ext cx="12192000" cy="6356350"/>
          </a:xfrm>
          <a:prstGeom prst="rect">
            <a:avLst/>
          </a:prstGeom>
        </p:spPr>
      </p:pic>
    </p:spTree>
    <p:extLst>
      <p:ext uri="{BB962C8B-B14F-4D97-AF65-F5344CB8AC3E}">
        <p14:creationId xmlns:p14="http://schemas.microsoft.com/office/powerpoint/2010/main" val="1219447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CD58AB4-2F9E-67B9-BDEA-324EE36F4D2A}"/>
              </a:ext>
            </a:extLst>
          </p:cNvPr>
          <p:cNvSpPr>
            <a:spLocks noGrp="1"/>
          </p:cNvSpPr>
          <p:nvPr>
            <p:ph type="sldNum" sz="quarter" idx="12"/>
          </p:nvPr>
        </p:nvSpPr>
        <p:spPr/>
        <p:txBody>
          <a:bodyPr/>
          <a:lstStyle/>
          <a:p>
            <a:fld id="{36D53BC0-5915-4EE6-A8B4-385258777E7F}" type="slidenum">
              <a:rPr lang="en-PH" smtClean="0"/>
              <a:pPr/>
              <a:t>4</a:t>
            </a:fld>
            <a:endParaRPr lang="en-PH"/>
          </a:p>
        </p:txBody>
      </p:sp>
      <p:pic>
        <p:nvPicPr>
          <p:cNvPr id="7" name="Picture 6" descr="A blue and yellow text on a blue background&#10;&#10;AI-generated content may be incorrect.">
            <a:extLst>
              <a:ext uri="{FF2B5EF4-FFF2-40B4-BE49-F238E27FC236}">
                <a16:creationId xmlns:a16="http://schemas.microsoft.com/office/drawing/2014/main" id="{22C69067-71BD-7ADC-2134-385EECC65B2C}"/>
              </a:ext>
            </a:extLst>
          </p:cNvPr>
          <p:cNvPicPr>
            <a:picLocks noChangeAspect="1"/>
          </p:cNvPicPr>
          <p:nvPr/>
        </p:nvPicPr>
        <p:blipFill>
          <a:blip r:embed="rId2">
            <a:extLst>
              <a:ext uri="{28A0092B-C50C-407E-A947-70E740481C1C}">
                <a14:useLocalDpi xmlns:a14="http://schemas.microsoft.com/office/drawing/2010/main" val="0"/>
              </a:ext>
            </a:extLst>
          </a:blip>
          <a:srcRect b="9682"/>
          <a:stretch>
            <a:fillRect/>
          </a:stretch>
        </p:blipFill>
        <p:spPr>
          <a:xfrm>
            <a:off x="0" y="10886"/>
            <a:ext cx="12192000" cy="6193971"/>
          </a:xfrm>
          <a:prstGeom prst="rect">
            <a:avLst/>
          </a:prstGeom>
        </p:spPr>
      </p:pic>
    </p:spTree>
    <p:extLst>
      <p:ext uri="{BB962C8B-B14F-4D97-AF65-F5344CB8AC3E}">
        <p14:creationId xmlns:p14="http://schemas.microsoft.com/office/powerpoint/2010/main" val="12822874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826BDF-127F-B600-6F53-06315E0187B9}"/>
              </a:ext>
            </a:extLst>
          </p:cNvPr>
          <p:cNvSpPr>
            <a:spLocks noGrp="1"/>
          </p:cNvSpPr>
          <p:nvPr>
            <p:ph type="sldNum" sz="quarter" idx="12"/>
          </p:nvPr>
        </p:nvSpPr>
        <p:spPr/>
        <p:txBody>
          <a:bodyPr/>
          <a:lstStyle/>
          <a:p>
            <a:fld id="{36D53BC0-5915-4EE6-A8B4-385258777E7F}" type="slidenum">
              <a:rPr lang="en-PH" smtClean="0"/>
              <a:pPr/>
              <a:t>5</a:t>
            </a:fld>
            <a:endParaRPr lang="en-PH"/>
          </a:p>
        </p:txBody>
      </p:sp>
      <p:pic>
        <p:nvPicPr>
          <p:cNvPr id="7172" name="Picture 4">
            <a:extLst>
              <a:ext uri="{FF2B5EF4-FFF2-40B4-BE49-F238E27FC236}">
                <a16:creationId xmlns:a16="http://schemas.microsoft.com/office/drawing/2014/main" id="{4E51FD12-131D-F563-0A59-8603CADB87F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9206"/>
          <a:stretch>
            <a:fillRect/>
          </a:stretch>
        </p:blipFill>
        <p:spPr bwMode="auto">
          <a:xfrm>
            <a:off x="0" y="0"/>
            <a:ext cx="12192000" cy="62266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6115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5430B8-32AF-FC54-822E-AD3ADA34C525}"/>
              </a:ext>
            </a:extLst>
          </p:cNvPr>
          <p:cNvSpPr>
            <a:spLocks noGrp="1"/>
          </p:cNvSpPr>
          <p:nvPr>
            <p:ph type="sldNum" sz="quarter" idx="12"/>
          </p:nvPr>
        </p:nvSpPr>
        <p:spPr/>
        <p:txBody>
          <a:bodyPr/>
          <a:lstStyle/>
          <a:p>
            <a:fld id="{36D53BC0-5915-4EE6-A8B4-385258777E7F}" type="slidenum">
              <a:rPr lang="en-PH" smtClean="0"/>
              <a:pPr/>
              <a:t>6</a:t>
            </a:fld>
            <a:endParaRPr lang="en-PH"/>
          </a:p>
        </p:txBody>
      </p:sp>
      <p:sp>
        <p:nvSpPr>
          <p:cNvPr id="3" name="Title 2">
            <a:extLst>
              <a:ext uri="{FF2B5EF4-FFF2-40B4-BE49-F238E27FC236}">
                <a16:creationId xmlns:a16="http://schemas.microsoft.com/office/drawing/2014/main" id="{66CB65BB-6F04-DA54-BA4E-E2245DD4E6FF}"/>
              </a:ext>
            </a:extLst>
          </p:cNvPr>
          <p:cNvSpPr>
            <a:spLocks noGrp="1"/>
          </p:cNvSpPr>
          <p:nvPr>
            <p:ph type="title"/>
          </p:nvPr>
        </p:nvSpPr>
        <p:spPr/>
        <p:txBody>
          <a:bodyPr/>
          <a:lstStyle/>
          <a:p>
            <a:endParaRPr lang="en-US"/>
          </a:p>
        </p:txBody>
      </p:sp>
      <p:pic>
        <p:nvPicPr>
          <p:cNvPr id="7170" name="Picture 2">
            <a:extLst>
              <a:ext uri="{FF2B5EF4-FFF2-40B4-BE49-F238E27FC236}">
                <a16:creationId xmlns:a16="http://schemas.microsoft.com/office/drawing/2014/main" id="{707B4719-1FA2-DCC9-3BAE-83977CEAD83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9931"/>
          <a:stretch>
            <a:fillRect/>
          </a:stretch>
        </p:blipFill>
        <p:spPr bwMode="auto">
          <a:xfrm>
            <a:off x="0" y="10886"/>
            <a:ext cx="12192000" cy="6248400"/>
          </a:xfrm>
          <a:prstGeom prst="rect">
            <a:avLst/>
          </a:prstGeom>
          <a:noFill/>
          <a:extLst>
            <a:ext uri="{909E8E84-426E-40DD-AFC4-6F175D3DCCD1}">
              <a14:hiddenFill xmlns:a14="http://schemas.microsoft.com/office/drawing/2010/main">
                <a:solidFill>
                  <a:srgbClr val="FFFFFF"/>
                </a:solidFill>
              </a14:hiddenFill>
            </a:ext>
          </a:extLst>
        </p:spPr>
      </p:pic>
      <p:sp>
        <p:nvSpPr>
          <p:cNvPr id="10" name="Content Placeholder 9">
            <a:extLst>
              <a:ext uri="{FF2B5EF4-FFF2-40B4-BE49-F238E27FC236}">
                <a16:creationId xmlns:a16="http://schemas.microsoft.com/office/drawing/2014/main" id="{340EFE02-EC2C-966C-99B6-47446C64592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559345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36D53BC0-5915-4EE6-A8B4-385258777E7F}" type="slidenum">
              <a:rPr lang="en-PH" smtClean="0"/>
              <a:pPr/>
              <a:t>7</a:t>
            </a:fld>
            <a:endParaRPr lang="en-PH"/>
          </a:p>
        </p:txBody>
      </p:sp>
      <p:pic>
        <p:nvPicPr>
          <p:cNvPr id="24" name="Picture 23" descr="A close-up of a document&#10;&#10;AI-generated content may be incorrect.">
            <a:extLst>
              <a:ext uri="{FF2B5EF4-FFF2-40B4-BE49-F238E27FC236}">
                <a16:creationId xmlns:a16="http://schemas.microsoft.com/office/drawing/2014/main" id="{11713698-3AA0-F644-BB22-83F9D49B83DC}"/>
              </a:ext>
            </a:extLst>
          </p:cNvPr>
          <p:cNvPicPr>
            <a:picLocks noChangeAspect="1"/>
          </p:cNvPicPr>
          <p:nvPr/>
        </p:nvPicPr>
        <p:blipFill>
          <a:blip r:embed="rId2"/>
          <a:stretch>
            <a:fillRect/>
          </a:stretch>
        </p:blipFill>
        <p:spPr>
          <a:xfrm>
            <a:off x="62753" y="211213"/>
            <a:ext cx="12129247" cy="6059055"/>
          </a:xfrm>
          <a:prstGeom prst="rect">
            <a:avLst/>
          </a:prstGeom>
        </p:spPr>
      </p:pic>
      <p:pic>
        <p:nvPicPr>
          <p:cNvPr id="3" name="Picture 2">
            <a:extLst>
              <a:ext uri="{FF2B5EF4-FFF2-40B4-BE49-F238E27FC236}">
                <a16:creationId xmlns:a16="http://schemas.microsoft.com/office/drawing/2014/main" id="{8AB69DF3-9250-9E1A-76A9-6A1CFC1BE984}"/>
              </a:ext>
            </a:extLst>
          </p:cNvPr>
          <p:cNvPicPr>
            <a:picLocks noChangeAspect="1"/>
          </p:cNvPicPr>
          <p:nvPr/>
        </p:nvPicPr>
        <p:blipFill>
          <a:blip r:embed="rId3"/>
          <a:stretch>
            <a:fillRect/>
          </a:stretch>
        </p:blipFill>
        <p:spPr>
          <a:xfrm>
            <a:off x="1121" y="0"/>
            <a:ext cx="12189759" cy="6858000"/>
          </a:xfrm>
          <a:prstGeom prst="rect">
            <a:avLst/>
          </a:prstGeom>
        </p:spPr>
      </p:pic>
    </p:spTree>
    <p:extLst>
      <p:ext uri="{BB962C8B-B14F-4D97-AF65-F5344CB8AC3E}">
        <p14:creationId xmlns:p14="http://schemas.microsoft.com/office/powerpoint/2010/main" val="35056938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9ACA9-EF7A-AB24-FB9F-DB932BAECE4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59EBD5B-16E0-0757-93DB-4029FA3F3DEE}"/>
              </a:ext>
            </a:extLst>
          </p:cNvPr>
          <p:cNvSpPr>
            <a:spLocks noGrp="1"/>
          </p:cNvSpPr>
          <p:nvPr>
            <p:ph type="sldNum" sz="quarter" idx="12"/>
          </p:nvPr>
        </p:nvSpPr>
        <p:spPr/>
        <p:txBody>
          <a:bodyPr/>
          <a:lstStyle/>
          <a:p>
            <a:fld id="{36D53BC0-5915-4EE6-A8B4-385258777E7F}" type="slidenum">
              <a:rPr lang="en-PH" smtClean="0"/>
              <a:pPr/>
              <a:t>8</a:t>
            </a:fld>
            <a:endParaRPr lang="en-PH"/>
          </a:p>
        </p:txBody>
      </p:sp>
      <p:pic>
        <p:nvPicPr>
          <p:cNvPr id="24" name="Picture 23" descr="A close-up of a document&#10;&#10;AI-generated content may be incorrect.">
            <a:extLst>
              <a:ext uri="{FF2B5EF4-FFF2-40B4-BE49-F238E27FC236}">
                <a16:creationId xmlns:a16="http://schemas.microsoft.com/office/drawing/2014/main" id="{7E5C84FD-4173-1FF5-E690-98C0B0CD749B}"/>
              </a:ext>
            </a:extLst>
          </p:cNvPr>
          <p:cNvPicPr>
            <a:picLocks noChangeAspect="1"/>
          </p:cNvPicPr>
          <p:nvPr/>
        </p:nvPicPr>
        <p:blipFill>
          <a:blip r:embed="rId2"/>
          <a:stretch>
            <a:fillRect/>
          </a:stretch>
        </p:blipFill>
        <p:spPr>
          <a:xfrm>
            <a:off x="62753" y="211213"/>
            <a:ext cx="12129247" cy="6059055"/>
          </a:xfrm>
          <a:prstGeom prst="rect">
            <a:avLst/>
          </a:prstGeom>
        </p:spPr>
      </p:pic>
    </p:spTree>
    <p:extLst>
      <p:ext uri="{BB962C8B-B14F-4D97-AF65-F5344CB8AC3E}">
        <p14:creationId xmlns:p14="http://schemas.microsoft.com/office/powerpoint/2010/main" val="17105539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F2E72-C809-6EBE-E30B-1776AC49DCB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C909758-CB3F-C0B7-79DD-A1D1D9A5B797}"/>
              </a:ext>
            </a:extLst>
          </p:cNvPr>
          <p:cNvSpPr>
            <a:spLocks noGrp="1"/>
          </p:cNvSpPr>
          <p:nvPr>
            <p:ph type="sldNum" sz="quarter" idx="12"/>
          </p:nvPr>
        </p:nvSpPr>
        <p:spPr/>
        <p:txBody>
          <a:bodyPr/>
          <a:lstStyle/>
          <a:p>
            <a:fld id="{36D53BC0-5915-4EE6-A8B4-385258777E7F}" type="slidenum">
              <a:rPr lang="en-PH" smtClean="0"/>
              <a:pPr/>
              <a:t>9</a:t>
            </a:fld>
            <a:endParaRPr lang="en-PH"/>
          </a:p>
        </p:txBody>
      </p:sp>
      <p:pic>
        <p:nvPicPr>
          <p:cNvPr id="46" name="Picture 45" descr="A black background with blue text&#10;&#10;AI-generated content may be incorrect.">
            <a:extLst>
              <a:ext uri="{FF2B5EF4-FFF2-40B4-BE49-F238E27FC236}">
                <a16:creationId xmlns:a16="http://schemas.microsoft.com/office/drawing/2014/main" id="{1F600CE1-D62A-2BEE-CD9E-D7A9EECC9371}"/>
              </a:ext>
            </a:extLst>
          </p:cNvPr>
          <p:cNvPicPr>
            <a:picLocks noChangeAspect="1"/>
          </p:cNvPicPr>
          <p:nvPr/>
        </p:nvPicPr>
        <p:blipFill>
          <a:blip r:embed="rId3"/>
          <a:stretch>
            <a:fillRect/>
          </a:stretch>
        </p:blipFill>
        <p:spPr>
          <a:xfrm>
            <a:off x="-173620" y="-99837"/>
            <a:ext cx="12192000" cy="1270333"/>
          </a:xfrm>
          <a:prstGeom prst="rect">
            <a:avLst/>
          </a:prstGeom>
        </p:spPr>
      </p:pic>
      <p:pic>
        <p:nvPicPr>
          <p:cNvPr id="47" name="Picture 46" descr="A collage of images of people and animals&#10;&#10;AI-generated content may be incorrect.">
            <a:extLst>
              <a:ext uri="{FF2B5EF4-FFF2-40B4-BE49-F238E27FC236}">
                <a16:creationId xmlns:a16="http://schemas.microsoft.com/office/drawing/2014/main" id="{B88D48C1-F319-D3C2-4958-E2113A1D7411}"/>
              </a:ext>
            </a:extLst>
          </p:cNvPr>
          <p:cNvPicPr>
            <a:picLocks noChangeAspect="1"/>
          </p:cNvPicPr>
          <p:nvPr/>
        </p:nvPicPr>
        <p:blipFill>
          <a:blip r:embed="rId4"/>
          <a:stretch>
            <a:fillRect/>
          </a:stretch>
        </p:blipFill>
        <p:spPr>
          <a:xfrm>
            <a:off x="-481" y="669402"/>
            <a:ext cx="12192962" cy="5673525"/>
          </a:xfrm>
          <a:prstGeom prst="rect">
            <a:avLst/>
          </a:prstGeom>
        </p:spPr>
      </p:pic>
    </p:spTree>
    <p:extLst>
      <p:ext uri="{BB962C8B-B14F-4D97-AF65-F5344CB8AC3E}">
        <p14:creationId xmlns:p14="http://schemas.microsoft.com/office/powerpoint/2010/main" val="4138230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2DBE9-20C5-41AF-689F-66DF17FE395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CBAE5B4-C655-8430-3F6E-2A76471FB50E}"/>
              </a:ext>
            </a:extLst>
          </p:cNvPr>
          <p:cNvSpPr>
            <a:spLocks noGrp="1"/>
          </p:cNvSpPr>
          <p:nvPr>
            <p:ph type="sldNum" sz="quarter" idx="12"/>
          </p:nvPr>
        </p:nvSpPr>
        <p:spPr/>
        <p:txBody>
          <a:bodyPr/>
          <a:lstStyle/>
          <a:p>
            <a:fld id="{36D53BC0-5915-4EE6-A8B4-385258777E7F}" type="slidenum">
              <a:rPr lang="en-PH" smtClean="0"/>
              <a:pPr/>
              <a:t>10</a:t>
            </a:fld>
            <a:endParaRPr lang="en-PH"/>
          </a:p>
        </p:txBody>
      </p:sp>
      <p:sp>
        <p:nvSpPr>
          <p:cNvPr id="5" name="Title 12">
            <a:extLst>
              <a:ext uri="{FF2B5EF4-FFF2-40B4-BE49-F238E27FC236}">
                <a16:creationId xmlns:a16="http://schemas.microsoft.com/office/drawing/2014/main" id="{E3ECF89D-C7FB-0F04-3FC7-94212F436B71}"/>
              </a:ext>
            </a:extLst>
          </p:cNvPr>
          <p:cNvSpPr>
            <a:spLocks noGrp="1"/>
          </p:cNvSpPr>
          <p:nvPr>
            <p:ph type="title"/>
          </p:nvPr>
        </p:nvSpPr>
        <p:spPr>
          <a:xfrm>
            <a:off x="246530" y="207526"/>
            <a:ext cx="10515600" cy="859448"/>
          </a:xfrm>
        </p:spPr>
        <p:txBody>
          <a:bodyPr/>
          <a:lstStyle/>
          <a:p>
            <a:pPr algn="ctr"/>
            <a:r>
              <a:rPr lang="en-PH" sz="3600" b="1">
                <a:ea typeface="Lato" panose="020F0502020204030203" pitchFamily="34" charset="0"/>
                <a:cs typeface="Lato" panose="020F0502020204030203" pitchFamily="34" charset="0"/>
              </a:rPr>
              <a:t>RAFI MFI Financial Products and Services</a:t>
            </a:r>
          </a:p>
        </p:txBody>
      </p:sp>
      <p:graphicFrame>
        <p:nvGraphicFramePr>
          <p:cNvPr id="6" name="Diagram 5">
            <a:extLst>
              <a:ext uri="{FF2B5EF4-FFF2-40B4-BE49-F238E27FC236}">
                <a16:creationId xmlns:a16="http://schemas.microsoft.com/office/drawing/2014/main" id="{1330A0C8-4917-C251-486B-EE5C32ECBF18}"/>
              </a:ext>
            </a:extLst>
          </p:cNvPr>
          <p:cNvGraphicFramePr/>
          <p:nvPr/>
        </p:nvGraphicFramePr>
        <p:xfrm>
          <a:off x="622789" y="2834921"/>
          <a:ext cx="10946422" cy="227555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7" name="Group 6">
            <a:extLst>
              <a:ext uri="{FF2B5EF4-FFF2-40B4-BE49-F238E27FC236}">
                <a16:creationId xmlns:a16="http://schemas.microsoft.com/office/drawing/2014/main" id="{B740050C-ED44-6285-2CB2-4CC5916356AA}"/>
              </a:ext>
            </a:extLst>
          </p:cNvPr>
          <p:cNvGrpSpPr/>
          <p:nvPr/>
        </p:nvGrpSpPr>
        <p:grpSpPr>
          <a:xfrm>
            <a:off x="1075391" y="1207959"/>
            <a:ext cx="1440000" cy="1440000"/>
            <a:chOff x="1077686" y="1404627"/>
            <a:chExt cx="1440000" cy="1440000"/>
          </a:xfrm>
        </p:grpSpPr>
        <p:pic>
          <p:nvPicPr>
            <p:cNvPr id="8" name="Graphic 7" descr="Business Growth with solid fill">
              <a:extLst>
                <a:ext uri="{FF2B5EF4-FFF2-40B4-BE49-F238E27FC236}">
                  <a16:creationId xmlns:a16="http://schemas.microsoft.com/office/drawing/2014/main" id="{DC0E09E6-1A32-9CE5-5877-E6B9F99AB57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407511" y="1711836"/>
              <a:ext cx="914400" cy="914400"/>
            </a:xfrm>
            <a:prstGeom prst="rect">
              <a:avLst/>
            </a:prstGeom>
          </p:spPr>
        </p:pic>
        <p:sp>
          <p:nvSpPr>
            <p:cNvPr id="9" name="Oval 8">
              <a:extLst>
                <a:ext uri="{FF2B5EF4-FFF2-40B4-BE49-F238E27FC236}">
                  <a16:creationId xmlns:a16="http://schemas.microsoft.com/office/drawing/2014/main" id="{89154CF0-9B35-DE3F-3DE9-584FC50C52DC}"/>
                </a:ext>
              </a:extLst>
            </p:cNvPr>
            <p:cNvSpPr/>
            <p:nvPr/>
          </p:nvSpPr>
          <p:spPr>
            <a:xfrm>
              <a:off x="1077686" y="1404627"/>
              <a:ext cx="1440000" cy="1440000"/>
            </a:xfrm>
            <a:prstGeom prst="ellipse">
              <a:avLst/>
            </a:prstGeom>
            <a:noFill/>
            <a:ln w="57150">
              <a:solidFill>
                <a:srgbClr val="4C93D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Lato" panose="020F0502020204030203" pitchFamily="34" charset="0"/>
                <a:ea typeface="Lato" panose="020F0502020204030203" pitchFamily="34" charset="0"/>
                <a:cs typeface="Lato" panose="020F0502020204030203" pitchFamily="34" charset="0"/>
              </a:endParaRPr>
            </a:p>
          </p:txBody>
        </p:sp>
      </p:grpSp>
      <p:grpSp>
        <p:nvGrpSpPr>
          <p:cNvPr id="10" name="Group 9">
            <a:extLst>
              <a:ext uri="{FF2B5EF4-FFF2-40B4-BE49-F238E27FC236}">
                <a16:creationId xmlns:a16="http://schemas.microsoft.com/office/drawing/2014/main" id="{EF4048A6-4952-2CA8-7F34-695C499836F5}"/>
              </a:ext>
            </a:extLst>
          </p:cNvPr>
          <p:cNvGrpSpPr/>
          <p:nvPr/>
        </p:nvGrpSpPr>
        <p:grpSpPr>
          <a:xfrm>
            <a:off x="3946695" y="1207959"/>
            <a:ext cx="1440000" cy="1440000"/>
            <a:chOff x="3189850" y="1404627"/>
            <a:chExt cx="1440000" cy="1440000"/>
          </a:xfrm>
        </p:grpSpPr>
        <p:pic>
          <p:nvPicPr>
            <p:cNvPr id="11" name="Graphic 10" descr="Suburban scene with solid fill">
              <a:extLst>
                <a:ext uri="{FF2B5EF4-FFF2-40B4-BE49-F238E27FC236}">
                  <a16:creationId xmlns:a16="http://schemas.microsoft.com/office/drawing/2014/main" id="{B466072F-ECB6-6253-CA46-9F11AEC8D19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452650" y="1667427"/>
              <a:ext cx="914400" cy="914400"/>
            </a:xfrm>
            <a:prstGeom prst="rect">
              <a:avLst/>
            </a:prstGeom>
          </p:spPr>
        </p:pic>
        <p:sp>
          <p:nvSpPr>
            <p:cNvPr id="12" name="Oval 11">
              <a:extLst>
                <a:ext uri="{FF2B5EF4-FFF2-40B4-BE49-F238E27FC236}">
                  <a16:creationId xmlns:a16="http://schemas.microsoft.com/office/drawing/2014/main" id="{D1823413-B1BB-7B55-7076-B03FD3F07C1B}"/>
                </a:ext>
              </a:extLst>
            </p:cNvPr>
            <p:cNvSpPr/>
            <p:nvPr/>
          </p:nvSpPr>
          <p:spPr>
            <a:xfrm>
              <a:off x="3189850" y="1404627"/>
              <a:ext cx="1440000" cy="1440000"/>
            </a:xfrm>
            <a:prstGeom prst="ellipse">
              <a:avLst/>
            </a:prstGeom>
            <a:noFill/>
            <a:ln w="57150">
              <a:solidFill>
                <a:srgbClr val="5ED3D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Lato" panose="020F0502020204030203" pitchFamily="34" charset="0"/>
                <a:ea typeface="Lato" panose="020F0502020204030203" pitchFamily="34" charset="0"/>
                <a:cs typeface="Lato" panose="020F0502020204030203" pitchFamily="34" charset="0"/>
              </a:endParaRPr>
            </a:p>
          </p:txBody>
        </p:sp>
      </p:grpSp>
      <p:grpSp>
        <p:nvGrpSpPr>
          <p:cNvPr id="13" name="Group 12">
            <a:extLst>
              <a:ext uri="{FF2B5EF4-FFF2-40B4-BE49-F238E27FC236}">
                <a16:creationId xmlns:a16="http://schemas.microsoft.com/office/drawing/2014/main" id="{59971061-D1D7-2623-9152-D10A2F21329E}"/>
              </a:ext>
            </a:extLst>
          </p:cNvPr>
          <p:cNvGrpSpPr/>
          <p:nvPr/>
        </p:nvGrpSpPr>
        <p:grpSpPr>
          <a:xfrm>
            <a:off x="6756109" y="1183630"/>
            <a:ext cx="1440000" cy="1440000"/>
            <a:chOff x="5375999" y="1452098"/>
            <a:chExt cx="1440000" cy="1440000"/>
          </a:xfrm>
        </p:grpSpPr>
        <p:pic>
          <p:nvPicPr>
            <p:cNvPr id="14" name="Graphic 13" descr="Medical with solid fill">
              <a:extLst>
                <a:ext uri="{FF2B5EF4-FFF2-40B4-BE49-F238E27FC236}">
                  <a16:creationId xmlns:a16="http://schemas.microsoft.com/office/drawing/2014/main" id="{4C718A3F-993B-1B30-150B-3E41C899DDD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650082" y="1714898"/>
              <a:ext cx="914400" cy="914400"/>
            </a:xfrm>
            <a:prstGeom prst="rect">
              <a:avLst/>
            </a:prstGeom>
          </p:spPr>
        </p:pic>
        <p:sp>
          <p:nvSpPr>
            <p:cNvPr id="15" name="Oval 14">
              <a:extLst>
                <a:ext uri="{FF2B5EF4-FFF2-40B4-BE49-F238E27FC236}">
                  <a16:creationId xmlns:a16="http://schemas.microsoft.com/office/drawing/2014/main" id="{49988AFA-9084-200B-9A18-3F0203440A02}"/>
                </a:ext>
              </a:extLst>
            </p:cNvPr>
            <p:cNvSpPr/>
            <p:nvPr/>
          </p:nvSpPr>
          <p:spPr>
            <a:xfrm>
              <a:off x="5375999" y="1452098"/>
              <a:ext cx="1440000" cy="1440000"/>
            </a:xfrm>
            <a:prstGeom prst="ellipse">
              <a:avLst/>
            </a:prstGeom>
            <a:noFill/>
            <a:ln w="57150">
              <a:solidFill>
                <a:srgbClr val="3FC28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Lato" panose="020F0502020204030203" pitchFamily="34" charset="0"/>
                <a:ea typeface="Lato" panose="020F0502020204030203" pitchFamily="34" charset="0"/>
                <a:cs typeface="Lato" panose="020F0502020204030203" pitchFamily="34" charset="0"/>
              </a:endParaRPr>
            </a:p>
          </p:txBody>
        </p:sp>
      </p:grpSp>
      <p:grpSp>
        <p:nvGrpSpPr>
          <p:cNvPr id="16" name="Group 15">
            <a:extLst>
              <a:ext uri="{FF2B5EF4-FFF2-40B4-BE49-F238E27FC236}">
                <a16:creationId xmlns:a16="http://schemas.microsoft.com/office/drawing/2014/main" id="{926764CB-936C-4C92-3A48-02E9C340093A}"/>
              </a:ext>
            </a:extLst>
          </p:cNvPr>
          <p:cNvGrpSpPr/>
          <p:nvPr/>
        </p:nvGrpSpPr>
        <p:grpSpPr>
          <a:xfrm>
            <a:off x="9565523" y="1207959"/>
            <a:ext cx="1440000" cy="1440000"/>
            <a:chOff x="9521872" y="1281794"/>
            <a:chExt cx="1440000" cy="1440000"/>
          </a:xfrm>
        </p:grpSpPr>
        <p:pic>
          <p:nvPicPr>
            <p:cNvPr id="17" name="Graphic 16" descr="Piggy Bank with solid fill">
              <a:extLst>
                <a:ext uri="{FF2B5EF4-FFF2-40B4-BE49-F238E27FC236}">
                  <a16:creationId xmlns:a16="http://schemas.microsoft.com/office/drawing/2014/main" id="{E99A8240-1769-CEED-36B2-9256E635AFC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867021" y="1545458"/>
              <a:ext cx="914400" cy="914400"/>
            </a:xfrm>
            <a:prstGeom prst="rect">
              <a:avLst/>
            </a:prstGeom>
          </p:spPr>
        </p:pic>
        <p:sp>
          <p:nvSpPr>
            <p:cNvPr id="18" name="Oval 17">
              <a:extLst>
                <a:ext uri="{FF2B5EF4-FFF2-40B4-BE49-F238E27FC236}">
                  <a16:creationId xmlns:a16="http://schemas.microsoft.com/office/drawing/2014/main" id="{84113BFD-EA7D-BBDA-4284-2B8F8D08E957}"/>
                </a:ext>
              </a:extLst>
            </p:cNvPr>
            <p:cNvSpPr/>
            <p:nvPr/>
          </p:nvSpPr>
          <p:spPr>
            <a:xfrm>
              <a:off x="9521872" y="1281794"/>
              <a:ext cx="1440000" cy="1440000"/>
            </a:xfrm>
            <a:prstGeom prst="ellipse">
              <a:avLst/>
            </a:prstGeom>
            <a:noFill/>
            <a:ln w="57150">
              <a:solidFill>
                <a:srgbClr val="7AB654"/>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Lato" panose="020F0502020204030203" pitchFamily="34" charset="0"/>
                <a:ea typeface="Lato" panose="020F0502020204030203" pitchFamily="34" charset="0"/>
                <a:cs typeface="Lato" panose="020F0502020204030203" pitchFamily="34" charset="0"/>
              </a:endParaRPr>
            </a:p>
          </p:txBody>
        </p:sp>
      </p:grpSp>
    </p:spTree>
    <p:extLst>
      <p:ext uri="{BB962C8B-B14F-4D97-AF65-F5344CB8AC3E}">
        <p14:creationId xmlns:p14="http://schemas.microsoft.com/office/powerpoint/2010/main" val="32665969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1351CDE-5952-B046-92A6-6BF279F60E90}"/>
              </a:ext>
            </a:extLst>
          </p:cNvPr>
          <p:cNvSpPr>
            <a:spLocks noGrp="1"/>
          </p:cNvSpPr>
          <p:nvPr>
            <p:ph type="sldNum" sz="quarter" idx="12"/>
          </p:nvPr>
        </p:nvSpPr>
        <p:spPr/>
        <p:txBody>
          <a:bodyPr/>
          <a:lstStyle/>
          <a:p>
            <a:fld id="{36D53BC0-5915-4EE6-A8B4-385258777E7F}" type="slidenum">
              <a:rPr lang="en-PH" smtClean="0"/>
              <a:pPr/>
              <a:t>11</a:t>
            </a:fld>
            <a:endParaRPr lang="en-PH"/>
          </a:p>
        </p:txBody>
      </p:sp>
      <p:sp>
        <p:nvSpPr>
          <p:cNvPr id="5" name="Text Placeholder 2">
            <a:extLst>
              <a:ext uri="{FF2B5EF4-FFF2-40B4-BE49-F238E27FC236}">
                <a16:creationId xmlns:a16="http://schemas.microsoft.com/office/drawing/2014/main" id="{165565D6-2ED6-CE8E-807E-5F36E0F2E6D9}"/>
              </a:ext>
            </a:extLst>
          </p:cNvPr>
          <p:cNvSpPr txBox="1">
            <a:spLocks/>
          </p:cNvSpPr>
          <p:nvPr/>
        </p:nvSpPr>
        <p:spPr>
          <a:xfrm>
            <a:off x="203848" y="3568413"/>
            <a:ext cx="7819490" cy="738139"/>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tint val="75000"/>
                  </a:schemeClr>
                </a:solidFill>
                <a:latin typeface="Lato" panose="020F0502020204030203"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nSpc>
                <a:spcPct val="100000"/>
              </a:lnSpc>
            </a:pPr>
            <a:r>
              <a:rPr lang="en-US" sz="1600">
                <a:solidFill>
                  <a:schemeClr val="tx1">
                    <a:lumMod val="85000"/>
                    <a:lumOff val="15000"/>
                  </a:schemeClr>
                </a:solidFill>
                <a:ea typeface="Lato" panose="020F0502020204030203" pitchFamily="34" charset="0"/>
                <a:cs typeface="Lato" panose="020F0502020204030203" pitchFamily="34" charset="0"/>
              </a:rPr>
              <a:t>Intended to provide better, flexible and family- oriented cash flow based financial services, from start- up business to micro enterprises, with PPI score 25 to 75  for the following purposes:</a:t>
            </a:r>
            <a:endParaRPr lang="en-PH" sz="1600">
              <a:solidFill>
                <a:schemeClr val="tx1">
                  <a:lumMod val="85000"/>
                  <a:lumOff val="15000"/>
                </a:schemeClr>
              </a:solidFill>
              <a:ea typeface="Lato" panose="020F0502020204030203" pitchFamily="34" charset="0"/>
              <a:cs typeface="Lato" panose="020F0502020204030203" pitchFamily="34" charset="0"/>
            </a:endParaRPr>
          </a:p>
        </p:txBody>
      </p:sp>
      <p:sp>
        <p:nvSpPr>
          <p:cNvPr id="6" name="Arrow: Right 5">
            <a:extLst>
              <a:ext uri="{FF2B5EF4-FFF2-40B4-BE49-F238E27FC236}">
                <a16:creationId xmlns:a16="http://schemas.microsoft.com/office/drawing/2014/main" id="{4558E8F3-6AAA-E520-4488-C2C0244A8546}"/>
              </a:ext>
            </a:extLst>
          </p:cNvPr>
          <p:cNvSpPr/>
          <p:nvPr/>
        </p:nvSpPr>
        <p:spPr>
          <a:xfrm>
            <a:off x="342943" y="1441289"/>
            <a:ext cx="7304314" cy="1626041"/>
          </a:xfrm>
          <a:prstGeom prst="rightArrow">
            <a:avLst/>
          </a:prstGeom>
          <a:solidFill>
            <a:srgbClr val="4C93D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2800" b="1">
                <a:solidFill>
                  <a:srgbClr val="1F4766"/>
                </a:solidFill>
                <a:latin typeface="Lato" panose="020F0502020204030203" pitchFamily="34" charset="0"/>
                <a:ea typeface="Lato" panose="020F0502020204030203" pitchFamily="34" charset="0"/>
                <a:cs typeface="Lato" panose="020F0502020204030203" pitchFamily="34" charset="0"/>
              </a:rPr>
              <a:t>         </a:t>
            </a:r>
            <a:r>
              <a:rPr lang="en-PH" sz="2800" b="1" i="1" err="1">
                <a:solidFill>
                  <a:srgbClr val="1F4766"/>
                </a:solidFill>
                <a:latin typeface="Lato" panose="020F0502020204030203" pitchFamily="34" charset="0"/>
                <a:ea typeface="Lato" panose="020F0502020204030203" pitchFamily="34" charset="0"/>
                <a:cs typeface="Lato" panose="020F0502020204030203" pitchFamily="34" charset="0"/>
              </a:rPr>
              <a:t>Mauswagon</a:t>
            </a:r>
            <a:r>
              <a:rPr lang="en-PH" sz="2800" b="1" i="1">
                <a:solidFill>
                  <a:srgbClr val="1F4766"/>
                </a:solidFill>
                <a:latin typeface="Lato" panose="020F0502020204030203" pitchFamily="34" charset="0"/>
                <a:ea typeface="Lato" panose="020F0502020204030203" pitchFamily="34" charset="0"/>
                <a:cs typeface="Lato" panose="020F0502020204030203" pitchFamily="34" charset="0"/>
              </a:rPr>
              <a:t> Loan</a:t>
            </a:r>
          </a:p>
        </p:txBody>
      </p:sp>
      <p:pic>
        <p:nvPicPr>
          <p:cNvPr id="7" name="Picture 6">
            <a:extLst>
              <a:ext uri="{FF2B5EF4-FFF2-40B4-BE49-F238E27FC236}">
                <a16:creationId xmlns:a16="http://schemas.microsoft.com/office/drawing/2014/main" id="{94A8B981-CA05-A161-8F71-69B6A4BF1A6E}"/>
              </a:ext>
            </a:extLst>
          </p:cNvPr>
          <p:cNvPicPr>
            <a:picLocks noChangeAspect="1"/>
          </p:cNvPicPr>
          <p:nvPr/>
        </p:nvPicPr>
        <p:blipFill>
          <a:blip r:embed="rId3"/>
          <a:stretch>
            <a:fillRect/>
          </a:stretch>
        </p:blipFill>
        <p:spPr>
          <a:xfrm>
            <a:off x="342943" y="1747953"/>
            <a:ext cx="2011566" cy="590724"/>
          </a:xfrm>
          <a:prstGeom prst="rect">
            <a:avLst/>
          </a:prstGeom>
          <a:ln>
            <a:noFill/>
          </a:ln>
          <a:effectLst/>
        </p:spPr>
      </p:pic>
      <p:sp>
        <p:nvSpPr>
          <p:cNvPr id="8" name="TextBox 7">
            <a:extLst>
              <a:ext uri="{FF2B5EF4-FFF2-40B4-BE49-F238E27FC236}">
                <a16:creationId xmlns:a16="http://schemas.microsoft.com/office/drawing/2014/main" id="{EBEB9AD5-9D51-51D8-76FC-267717F8B5A7}"/>
              </a:ext>
            </a:extLst>
          </p:cNvPr>
          <p:cNvSpPr txBox="1"/>
          <p:nvPr/>
        </p:nvSpPr>
        <p:spPr>
          <a:xfrm>
            <a:off x="4971875" y="2338677"/>
            <a:ext cx="6102926" cy="276999"/>
          </a:xfrm>
          <a:prstGeom prst="rect">
            <a:avLst/>
          </a:prstGeom>
          <a:noFill/>
        </p:spPr>
        <p:txBody>
          <a:bodyPr wrap="square">
            <a:spAutoFit/>
          </a:bodyPr>
          <a:lstStyle/>
          <a:p>
            <a:pPr marL="0" lvl="0" indent="0"/>
            <a:r>
              <a:rPr lang="en-US" sz="1200" i="1">
                <a:solidFill>
                  <a:srgbClr val="C00000"/>
                </a:solidFill>
                <a:latin typeface="Lato" panose="020F0502020204030203" pitchFamily="34" charset="0"/>
                <a:ea typeface="Lato" panose="020F0502020204030203" pitchFamily="34" charset="0"/>
                <a:cs typeface="Lato" panose="020F0502020204030203" pitchFamily="34" charset="0"/>
              </a:rPr>
              <a:t>**new and consolidated</a:t>
            </a:r>
          </a:p>
        </p:txBody>
      </p:sp>
      <p:pic>
        <p:nvPicPr>
          <p:cNvPr id="4" name="Picture 3" descr="A person sewing on a sewing machine&#10;&#10;AI-generated content may be incorrect.">
            <a:extLst>
              <a:ext uri="{FF2B5EF4-FFF2-40B4-BE49-F238E27FC236}">
                <a16:creationId xmlns:a16="http://schemas.microsoft.com/office/drawing/2014/main" id="{20FC9693-CD37-B2B0-25B6-1CF7CA2621CD}"/>
              </a:ext>
            </a:extLst>
          </p:cNvPr>
          <p:cNvPicPr>
            <a:picLocks noChangeAspect="1"/>
          </p:cNvPicPr>
          <p:nvPr/>
        </p:nvPicPr>
        <p:blipFill>
          <a:blip r:embed="rId4"/>
          <a:stretch>
            <a:fillRect/>
          </a:stretch>
        </p:blipFill>
        <p:spPr>
          <a:xfrm>
            <a:off x="8364488" y="144804"/>
            <a:ext cx="3829000" cy="6066568"/>
          </a:xfrm>
          <a:prstGeom prst="rect">
            <a:avLst/>
          </a:prstGeom>
        </p:spPr>
      </p:pic>
    </p:spTree>
    <p:extLst>
      <p:ext uri="{BB962C8B-B14F-4D97-AF65-F5344CB8AC3E}">
        <p14:creationId xmlns:p14="http://schemas.microsoft.com/office/powerpoint/2010/main" val="32833419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160A13A-9240-A197-BEC0-B7D54DF66B8C}"/>
              </a:ext>
            </a:extLst>
          </p:cNvPr>
          <p:cNvSpPr>
            <a:spLocks noGrp="1"/>
          </p:cNvSpPr>
          <p:nvPr>
            <p:ph type="sldNum" sz="quarter" idx="12"/>
          </p:nvPr>
        </p:nvSpPr>
        <p:spPr/>
        <p:txBody>
          <a:bodyPr/>
          <a:lstStyle/>
          <a:p>
            <a:fld id="{36D53BC0-5915-4EE6-A8B4-385258777E7F}" type="slidenum">
              <a:rPr lang="en-PH" smtClean="0"/>
              <a:pPr/>
              <a:t>12</a:t>
            </a:fld>
            <a:endParaRPr lang="en-PH"/>
          </a:p>
        </p:txBody>
      </p:sp>
      <p:sp>
        <p:nvSpPr>
          <p:cNvPr id="5" name="Title 1">
            <a:extLst>
              <a:ext uri="{FF2B5EF4-FFF2-40B4-BE49-F238E27FC236}">
                <a16:creationId xmlns:a16="http://schemas.microsoft.com/office/drawing/2014/main" id="{811D6870-C285-D328-4EE9-1A1391B71AAB}"/>
              </a:ext>
            </a:extLst>
          </p:cNvPr>
          <p:cNvSpPr>
            <a:spLocks noGrp="1"/>
          </p:cNvSpPr>
          <p:nvPr>
            <p:ph type="title"/>
          </p:nvPr>
        </p:nvSpPr>
        <p:spPr>
          <a:xfrm>
            <a:off x="937639" y="886500"/>
            <a:ext cx="3433418" cy="984835"/>
          </a:xfrm>
        </p:spPr>
        <p:txBody>
          <a:bodyPr/>
          <a:lstStyle/>
          <a:p>
            <a:r>
              <a:rPr lang="en-US" sz="3200" b="1">
                <a:highlight>
                  <a:srgbClr val="FFFF00"/>
                </a:highlight>
                <a:ea typeface="Lato" panose="020F0502020204030203" pitchFamily="34" charset="0"/>
                <a:cs typeface="Lato" panose="020F0502020204030203" pitchFamily="34" charset="0"/>
              </a:rPr>
              <a:t>Product Features</a:t>
            </a:r>
          </a:p>
        </p:txBody>
      </p:sp>
      <p:sp>
        <p:nvSpPr>
          <p:cNvPr id="6" name="Arrow: Striped Right 5">
            <a:extLst>
              <a:ext uri="{FF2B5EF4-FFF2-40B4-BE49-F238E27FC236}">
                <a16:creationId xmlns:a16="http://schemas.microsoft.com/office/drawing/2014/main" id="{930C6864-7542-6EBC-63E2-E0566092F00B}"/>
              </a:ext>
            </a:extLst>
          </p:cNvPr>
          <p:cNvSpPr/>
          <p:nvPr/>
        </p:nvSpPr>
        <p:spPr>
          <a:xfrm>
            <a:off x="205312" y="1919527"/>
            <a:ext cx="4109191" cy="2475535"/>
          </a:xfrm>
          <a:prstGeom prst="stripedRightArrow">
            <a:avLst/>
          </a:prstGeom>
          <a:noFill/>
          <a:ln w="38100">
            <a:solidFill>
              <a:srgbClr val="FFC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Lato" panose="020F0502020204030203" pitchFamily="34" charset="0"/>
              <a:ea typeface="Lato" panose="020F0502020204030203" pitchFamily="34" charset="0"/>
              <a:cs typeface="Lato" panose="020F0502020204030203" pitchFamily="34" charset="0"/>
            </a:endParaRPr>
          </a:p>
        </p:txBody>
      </p:sp>
      <p:pic>
        <p:nvPicPr>
          <p:cNvPr id="7" name="Picture 6">
            <a:extLst>
              <a:ext uri="{FF2B5EF4-FFF2-40B4-BE49-F238E27FC236}">
                <a16:creationId xmlns:a16="http://schemas.microsoft.com/office/drawing/2014/main" id="{19F6B6ED-E715-6DD6-2F3E-94424C721DD6}"/>
              </a:ext>
            </a:extLst>
          </p:cNvPr>
          <p:cNvPicPr>
            <a:picLocks noChangeAspect="1"/>
          </p:cNvPicPr>
          <p:nvPr/>
        </p:nvPicPr>
        <p:blipFill>
          <a:blip r:embed="rId3"/>
          <a:stretch>
            <a:fillRect/>
          </a:stretch>
        </p:blipFill>
        <p:spPr>
          <a:xfrm>
            <a:off x="704313" y="2677760"/>
            <a:ext cx="3038475" cy="949613"/>
          </a:xfrm>
          <a:prstGeom prst="rect">
            <a:avLst/>
          </a:prstGeom>
          <a:effectLst/>
        </p:spPr>
      </p:pic>
      <p:grpSp>
        <p:nvGrpSpPr>
          <p:cNvPr id="9" name="Group 8">
            <a:extLst>
              <a:ext uri="{FF2B5EF4-FFF2-40B4-BE49-F238E27FC236}">
                <a16:creationId xmlns:a16="http://schemas.microsoft.com/office/drawing/2014/main" id="{D3D1CBE4-81B9-FFD8-7C50-1A82A578D1C1}"/>
              </a:ext>
            </a:extLst>
          </p:cNvPr>
          <p:cNvGrpSpPr/>
          <p:nvPr/>
        </p:nvGrpSpPr>
        <p:grpSpPr>
          <a:xfrm>
            <a:off x="4619344" y="92881"/>
            <a:ext cx="572700" cy="572700"/>
            <a:chOff x="771614" y="1895768"/>
            <a:chExt cx="572700" cy="572700"/>
          </a:xfrm>
        </p:grpSpPr>
        <p:sp>
          <p:nvSpPr>
            <p:cNvPr id="10" name="Google Shape;839;p61">
              <a:extLst>
                <a:ext uri="{FF2B5EF4-FFF2-40B4-BE49-F238E27FC236}">
                  <a16:creationId xmlns:a16="http://schemas.microsoft.com/office/drawing/2014/main" id="{A6E9C89C-DE2E-654C-C2F1-FB9D28DC0D77}"/>
                </a:ext>
              </a:extLst>
            </p:cNvPr>
            <p:cNvSpPr/>
            <p:nvPr/>
          </p:nvSpPr>
          <p:spPr>
            <a:xfrm>
              <a:off x="771614" y="1895768"/>
              <a:ext cx="572700" cy="572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nvGrpSpPr>
            <p:cNvPr id="11" name="Google Shape;17106;p127">
              <a:extLst>
                <a:ext uri="{FF2B5EF4-FFF2-40B4-BE49-F238E27FC236}">
                  <a16:creationId xmlns:a16="http://schemas.microsoft.com/office/drawing/2014/main" id="{0E452963-5E60-6A04-9071-05E53C7E0A7B}"/>
                </a:ext>
              </a:extLst>
            </p:cNvPr>
            <p:cNvGrpSpPr/>
            <p:nvPr/>
          </p:nvGrpSpPr>
          <p:grpSpPr>
            <a:xfrm>
              <a:off x="843708" y="1973049"/>
              <a:ext cx="428511" cy="383186"/>
              <a:chOff x="5744051" y="3766250"/>
              <a:chExt cx="428511" cy="383186"/>
            </a:xfrm>
          </p:grpSpPr>
          <p:sp>
            <p:nvSpPr>
              <p:cNvPr id="12" name="Google Shape;17107;p127">
                <a:extLst>
                  <a:ext uri="{FF2B5EF4-FFF2-40B4-BE49-F238E27FC236}">
                    <a16:creationId xmlns:a16="http://schemas.microsoft.com/office/drawing/2014/main" id="{88319EA0-DF51-A175-E145-856B5C14FDAA}"/>
                  </a:ext>
                </a:extLst>
              </p:cNvPr>
              <p:cNvSpPr/>
              <p:nvPr/>
            </p:nvSpPr>
            <p:spPr>
              <a:xfrm>
                <a:off x="5872489" y="3804510"/>
                <a:ext cx="130696" cy="130460"/>
              </a:xfrm>
              <a:custGeom>
                <a:avLst/>
                <a:gdLst/>
                <a:ahLst/>
                <a:cxnLst/>
                <a:rect l="l" t="t" r="r" b="b"/>
                <a:pathLst>
                  <a:path w="4977" h="4968" extrusionOk="0">
                    <a:moveTo>
                      <a:pt x="2480" y="0"/>
                    </a:moveTo>
                    <a:cubicBezTo>
                      <a:pt x="1110" y="0"/>
                      <a:pt x="0" y="1107"/>
                      <a:pt x="0" y="2479"/>
                    </a:cubicBezTo>
                    <a:cubicBezTo>
                      <a:pt x="0" y="3847"/>
                      <a:pt x="1110" y="4967"/>
                      <a:pt x="2479" y="4967"/>
                    </a:cubicBezTo>
                    <a:cubicBezTo>
                      <a:pt x="2485" y="4967"/>
                      <a:pt x="2491" y="4967"/>
                      <a:pt x="2496" y="4967"/>
                    </a:cubicBezTo>
                    <a:cubicBezTo>
                      <a:pt x="3866" y="4967"/>
                      <a:pt x="4967" y="3861"/>
                      <a:pt x="4977" y="2488"/>
                    </a:cubicBezTo>
                    <a:cubicBezTo>
                      <a:pt x="4977" y="1120"/>
                      <a:pt x="3866" y="0"/>
                      <a:pt x="2498" y="0"/>
                    </a:cubicBezTo>
                    <a:cubicBezTo>
                      <a:pt x="2492" y="0"/>
                      <a:pt x="2486" y="0"/>
                      <a:pt x="2480" y="0"/>
                    </a:cubicBezTo>
                    <a:close/>
                  </a:path>
                </a:pathLst>
              </a:custGeom>
              <a:solidFill>
                <a:srgbClr val="ACBDC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3" name="Google Shape;17108;p127">
                <a:extLst>
                  <a:ext uri="{FF2B5EF4-FFF2-40B4-BE49-F238E27FC236}">
                    <a16:creationId xmlns:a16="http://schemas.microsoft.com/office/drawing/2014/main" id="{D0D4E024-C2EB-BAA3-2270-980615E3F5E8}"/>
                  </a:ext>
                </a:extLst>
              </p:cNvPr>
              <p:cNvSpPr/>
              <p:nvPr/>
            </p:nvSpPr>
            <p:spPr>
              <a:xfrm>
                <a:off x="5871963" y="3804169"/>
                <a:ext cx="74185" cy="130775"/>
              </a:xfrm>
              <a:custGeom>
                <a:avLst/>
                <a:gdLst/>
                <a:ahLst/>
                <a:cxnLst/>
                <a:rect l="l" t="t" r="r" b="b"/>
                <a:pathLst>
                  <a:path w="2825" h="4980" extrusionOk="0">
                    <a:moveTo>
                      <a:pt x="2487" y="0"/>
                    </a:moveTo>
                    <a:cubicBezTo>
                      <a:pt x="1138" y="0"/>
                      <a:pt x="10" y="1094"/>
                      <a:pt x="1" y="2482"/>
                    </a:cubicBezTo>
                    <a:cubicBezTo>
                      <a:pt x="1" y="3880"/>
                      <a:pt x="1144" y="4980"/>
                      <a:pt x="2498" y="4980"/>
                    </a:cubicBezTo>
                    <a:cubicBezTo>
                      <a:pt x="2599" y="4980"/>
                      <a:pt x="2702" y="4974"/>
                      <a:pt x="2805" y="4961"/>
                    </a:cubicBezTo>
                    <a:cubicBezTo>
                      <a:pt x="1570" y="4789"/>
                      <a:pt x="642" y="3736"/>
                      <a:pt x="642" y="2482"/>
                    </a:cubicBezTo>
                    <a:cubicBezTo>
                      <a:pt x="652" y="1238"/>
                      <a:pt x="1580" y="185"/>
                      <a:pt x="2824" y="23"/>
                    </a:cubicBezTo>
                    <a:cubicBezTo>
                      <a:pt x="2710" y="8"/>
                      <a:pt x="2598" y="0"/>
                      <a:pt x="2487" y="0"/>
                    </a:cubicBezTo>
                    <a:close/>
                  </a:path>
                </a:pathLst>
              </a:custGeom>
              <a:solidFill>
                <a:srgbClr val="96AB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4" name="Google Shape;17109;p127">
                <a:extLst>
                  <a:ext uri="{FF2B5EF4-FFF2-40B4-BE49-F238E27FC236}">
                    <a16:creationId xmlns:a16="http://schemas.microsoft.com/office/drawing/2014/main" id="{E1120DED-8072-F214-54DC-B74A07C546C2}"/>
                  </a:ext>
                </a:extLst>
              </p:cNvPr>
              <p:cNvSpPr/>
              <p:nvPr/>
            </p:nvSpPr>
            <p:spPr>
              <a:xfrm>
                <a:off x="5893339" y="3825361"/>
                <a:ext cx="88995" cy="88733"/>
              </a:xfrm>
              <a:custGeom>
                <a:avLst/>
                <a:gdLst/>
                <a:ahLst/>
                <a:cxnLst/>
                <a:rect l="l" t="t" r="r" b="b"/>
                <a:pathLst>
                  <a:path w="3389" h="3379" extrusionOk="0">
                    <a:moveTo>
                      <a:pt x="1677" y="0"/>
                    </a:moveTo>
                    <a:cubicBezTo>
                      <a:pt x="756" y="0"/>
                      <a:pt x="0" y="753"/>
                      <a:pt x="0" y="1685"/>
                    </a:cubicBezTo>
                    <a:cubicBezTo>
                      <a:pt x="0" y="2623"/>
                      <a:pt x="756" y="3379"/>
                      <a:pt x="1685" y="3379"/>
                    </a:cubicBezTo>
                    <a:cubicBezTo>
                      <a:pt x="1691" y="3379"/>
                      <a:pt x="1696" y="3379"/>
                      <a:pt x="1702" y="3379"/>
                    </a:cubicBezTo>
                    <a:cubicBezTo>
                      <a:pt x="2632" y="3379"/>
                      <a:pt x="3379" y="2627"/>
                      <a:pt x="3388" y="1694"/>
                    </a:cubicBezTo>
                    <a:cubicBezTo>
                      <a:pt x="3388" y="757"/>
                      <a:pt x="2632" y="1"/>
                      <a:pt x="1694" y="1"/>
                    </a:cubicBezTo>
                    <a:cubicBezTo>
                      <a:pt x="1688" y="1"/>
                      <a:pt x="1683" y="0"/>
                      <a:pt x="1677" y="0"/>
                    </a:cubicBezTo>
                    <a:close/>
                  </a:path>
                </a:pathLst>
              </a:custGeom>
              <a:solidFill>
                <a:srgbClr val="D2DB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5" name="Google Shape;17110;p127">
                <a:extLst>
                  <a:ext uri="{FF2B5EF4-FFF2-40B4-BE49-F238E27FC236}">
                    <a16:creationId xmlns:a16="http://schemas.microsoft.com/office/drawing/2014/main" id="{5E41DB05-1AD3-8286-06E4-7BE4FD74FDBF}"/>
                  </a:ext>
                </a:extLst>
              </p:cNvPr>
              <p:cNvSpPr/>
              <p:nvPr/>
            </p:nvSpPr>
            <p:spPr>
              <a:xfrm>
                <a:off x="5892840" y="3824993"/>
                <a:ext cx="53308" cy="88995"/>
              </a:xfrm>
              <a:custGeom>
                <a:avLst/>
                <a:gdLst/>
                <a:ahLst/>
                <a:cxnLst/>
                <a:rect l="l" t="t" r="r" b="b"/>
                <a:pathLst>
                  <a:path w="2030" h="3389" extrusionOk="0">
                    <a:moveTo>
                      <a:pt x="1694" y="0"/>
                    </a:moveTo>
                    <a:cubicBezTo>
                      <a:pt x="786" y="0"/>
                      <a:pt x="9" y="742"/>
                      <a:pt x="0" y="1689"/>
                    </a:cubicBezTo>
                    <a:cubicBezTo>
                      <a:pt x="0" y="2645"/>
                      <a:pt x="777" y="3388"/>
                      <a:pt x="1685" y="3388"/>
                    </a:cubicBezTo>
                    <a:cubicBezTo>
                      <a:pt x="1795" y="3388"/>
                      <a:pt x="1907" y="3377"/>
                      <a:pt x="2020" y="3355"/>
                    </a:cubicBezTo>
                    <a:cubicBezTo>
                      <a:pt x="1225" y="3201"/>
                      <a:pt x="661" y="2503"/>
                      <a:pt x="661" y="1689"/>
                    </a:cubicBezTo>
                    <a:cubicBezTo>
                      <a:pt x="661" y="885"/>
                      <a:pt x="1235" y="187"/>
                      <a:pt x="2029" y="34"/>
                    </a:cubicBezTo>
                    <a:cubicBezTo>
                      <a:pt x="1916" y="11"/>
                      <a:pt x="1804" y="0"/>
                      <a:pt x="1694" y="0"/>
                    </a:cubicBezTo>
                    <a:close/>
                  </a:path>
                </a:pathLst>
              </a:custGeom>
              <a:solidFill>
                <a:srgbClr val="C1CE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6" name="Google Shape;17111;p127">
                <a:extLst>
                  <a:ext uri="{FF2B5EF4-FFF2-40B4-BE49-F238E27FC236}">
                    <a16:creationId xmlns:a16="http://schemas.microsoft.com/office/drawing/2014/main" id="{A035C926-24EC-C23B-C3ED-0E0B7CF30C60}"/>
                  </a:ext>
                </a:extLst>
              </p:cNvPr>
              <p:cNvSpPr/>
              <p:nvPr/>
            </p:nvSpPr>
            <p:spPr>
              <a:xfrm>
                <a:off x="5919231" y="3839436"/>
                <a:ext cx="35714" cy="61107"/>
              </a:xfrm>
              <a:custGeom>
                <a:avLst/>
                <a:gdLst/>
                <a:ahLst/>
                <a:cxnLst/>
                <a:rect l="l" t="t" r="r" b="b"/>
                <a:pathLst>
                  <a:path w="1360" h="2327" extrusionOk="0">
                    <a:moveTo>
                      <a:pt x="651" y="469"/>
                    </a:moveTo>
                    <a:lnTo>
                      <a:pt x="651" y="900"/>
                    </a:lnTo>
                    <a:cubicBezTo>
                      <a:pt x="469" y="833"/>
                      <a:pt x="421" y="776"/>
                      <a:pt x="421" y="670"/>
                    </a:cubicBezTo>
                    <a:cubicBezTo>
                      <a:pt x="421" y="546"/>
                      <a:pt x="526" y="489"/>
                      <a:pt x="651" y="469"/>
                    </a:cubicBezTo>
                    <a:close/>
                    <a:moveTo>
                      <a:pt x="794" y="1350"/>
                    </a:moveTo>
                    <a:cubicBezTo>
                      <a:pt x="967" y="1426"/>
                      <a:pt x="1005" y="1503"/>
                      <a:pt x="1005" y="1608"/>
                    </a:cubicBezTo>
                    <a:cubicBezTo>
                      <a:pt x="1005" y="1723"/>
                      <a:pt x="909" y="1828"/>
                      <a:pt x="794" y="1838"/>
                    </a:cubicBezTo>
                    <a:lnTo>
                      <a:pt x="794" y="1350"/>
                    </a:lnTo>
                    <a:close/>
                    <a:moveTo>
                      <a:pt x="718" y="0"/>
                    </a:moveTo>
                    <a:cubicBezTo>
                      <a:pt x="670" y="0"/>
                      <a:pt x="622" y="29"/>
                      <a:pt x="622" y="77"/>
                    </a:cubicBezTo>
                    <a:lnTo>
                      <a:pt x="622" y="154"/>
                    </a:lnTo>
                    <a:cubicBezTo>
                      <a:pt x="287" y="192"/>
                      <a:pt x="67" y="374"/>
                      <a:pt x="67" y="709"/>
                    </a:cubicBezTo>
                    <a:cubicBezTo>
                      <a:pt x="67" y="1063"/>
                      <a:pt x="345" y="1168"/>
                      <a:pt x="613" y="1273"/>
                    </a:cubicBezTo>
                    <a:lnTo>
                      <a:pt x="613" y="1838"/>
                    </a:lnTo>
                    <a:cubicBezTo>
                      <a:pt x="479" y="1819"/>
                      <a:pt x="354" y="1752"/>
                      <a:pt x="258" y="1656"/>
                    </a:cubicBezTo>
                    <a:cubicBezTo>
                      <a:pt x="236" y="1633"/>
                      <a:pt x="206" y="1623"/>
                      <a:pt x="176" y="1623"/>
                    </a:cubicBezTo>
                    <a:cubicBezTo>
                      <a:pt x="130" y="1623"/>
                      <a:pt x="84" y="1648"/>
                      <a:pt x="67" y="1694"/>
                    </a:cubicBezTo>
                    <a:cubicBezTo>
                      <a:pt x="0" y="1771"/>
                      <a:pt x="0" y="1876"/>
                      <a:pt x="67" y="1943"/>
                    </a:cubicBezTo>
                    <a:cubicBezTo>
                      <a:pt x="203" y="2089"/>
                      <a:pt x="392" y="2174"/>
                      <a:pt x="590" y="2174"/>
                    </a:cubicBezTo>
                    <a:cubicBezTo>
                      <a:pt x="601" y="2174"/>
                      <a:pt x="612" y="2173"/>
                      <a:pt x="622" y="2173"/>
                    </a:cubicBezTo>
                    <a:lnTo>
                      <a:pt x="622" y="2173"/>
                    </a:lnTo>
                    <a:lnTo>
                      <a:pt x="613" y="2183"/>
                    </a:lnTo>
                    <a:lnTo>
                      <a:pt x="613" y="2259"/>
                    </a:lnTo>
                    <a:cubicBezTo>
                      <a:pt x="613" y="2297"/>
                      <a:pt x="670" y="2326"/>
                      <a:pt x="708" y="2326"/>
                    </a:cubicBezTo>
                    <a:cubicBezTo>
                      <a:pt x="756" y="2326"/>
                      <a:pt x="804" y="2297"/>
                      <a:pt x="804" y="2259"/>
                    </a:cubicBezTo>
                    <a:lnTo>
                      <a:pt x="804" y="2173"/>
                    </a:lnTo>
                    <a:cubicBezTo>
                      <a:pt x="1120" y="2154"/>
                      <a:pt x="1359" y="1886"/>
                      <a:pt x="1340" y="1570"/>
                    </a:cubicBezTo>
                    <a:cubicBezTo>
                      <a:pt x="1340" y="1235"/>
                      <a:pt x="1129" y="1082"/>
                      <a:pt x="814" y="967"/>
                    </a:cubicBezTo>
                    <a:lnTo>
                      <a:pt x="814" y="469"/>
                    </a:lnTo>
                    <a:cubicBezTo>
                      <a:pt x="909" y="479"/>
                      <a:pt x="1005" y="508"/>
                      <a:pt x="1082" y="556"/>
                    </a:cubicBezTo>
                    <a:cubicBezTo>
                      <a:pt x="1102" y="567"/>
                      <a:pt x="1123" y="573"/>
                      <a:pt x="1144" y="573"/>
                    </a:cubicBezTo>
                    <a:cubicBezTo>
                      <a:pt x="1191" y="573"/>
                      <a:pt x="1234" y="545"/>
                      <a:pt x="1254" y="498"/>
                    </a:cubicBezTo>
                    <a:cubicBezTo>
                      <a:pt x="1311" y="431"/>
                      <a:pt x="1302" y="335"/>
                      <a:pt x="1244" y="278"/>
                    </a:cubicBezTo>
                    <a:cubicBezTo>
                      <a:pt x="1130" y="199"/>
                      <a:pt x="992" y="152"/>
                      <a:pt x="852" y="152"/>
                    </a:cubicBezTo>
                    <a:cubicBezTo>
                      <a:pt x="839" y="152"/>
                      <a:pt x="827" y="153"/>
                      <a:pt x="814" y="154"/>
                    </a:cubicBezTo>
                    <a:lnTo>
                      <a:pt x="814" y="77"/>
                    </a:lnTo>
                    <a:cubicBezTo>
                      <a:pt x="814" y="39"/>
                      <a:pt x="766" y="0"/>
                      <a:pt x="718" y="0"/>
                    </a:cubicBezTo>
                    <a:close/>
                  </a:path>
                </a:pathLst>
              </a:custGeom>
              <a:solidFill>
                <a:srgbClr val="E6EB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7" name="Google Shape;17112;p127">
                <a:extLst>
                  <a:ext uri="{FF2B5EF4-FFF2-40B4-BE49-F238E27FC236}">
                    <a16:creationId xmlns:a16="http://schemas.microsoft.com/office/drawing/2014/main" id="{05DFBF8F-1BF8-AF15-48FA-4898C1AE32AD}"/>
                  </a:ext>
                </a:extLst>
              </p:cNvPr>
              <p:cNvSpPr/>
              <p:nvPr/>
            </p:nvSpPr>
            <p:spPr>
              <a:xfrm>
                <a:off x="5973747" y="3766565"/>
                <a:ext cx="130959" cy="130460"/>
              </a:xfrm>
              <a:custGeom>
                <a:avLst/>
                <a:gdLst/>
                <a:ahLst/>
                <a:cxnLst/>
                <a:rect l="l" t="t" r="r" b="b"/>
                <a:pathLst>
                  <a:path w="4987" h="4968" extrusionOk="0">
                    <a:moveTo>
                      <a:pt x="2481" y="0"/>
                    </a:moveTo>
                    <a:cubicBezTo>
                      <a:pt x="1121" y="0"/>
                      <a:pt x="10" y="1107"/>
                      <a:pt x="1" y="2479"/>
                    </a:cubicBezTo>
                    <a:cubicBezTo>
                      <a:pt x="1" y="3847"/>
                      <a:pt x="1111" y="4967"/>
                      <a:pt x="2489" y="4967"/>
                    </a:cubicBezTo>
                    <a:cubicBezTo>
                      <a:pt x="2495" y="4967"/>
                      <a:pt x="2501" y="4967"/>
                      <a:pt x="2507" y="4967"/>
                    </a:cubicBezTo>
                    <a:cubicBezTo>
                      <a:pt x="3867" y="4967"/>
                      <a:pt x="4977" y="3861"/>
                      <a:pt x="4977" y="2488"/>
                    </a:cubicBezTo>
                    <a:cubicBezTo>
                      <a:pt x="4987" y="1120"/>
                      <a:pt x="3877" y="0"/>
                      <a:pt x="2499" y="0"/>
                    </a:cubicBezTo>
                    <a:cubicBezTo>
                      <a:pt x="2493" y="0"/>
                      <a:pt x="2487" y="0"/>
                      <a:pt x="2481" y="0"/>
                    </a:cubicBezTo>
                    <a:close/>
                  </a:path>
                </a:pathLst>
              </a:custGeom>
              <a:solidFill>
                <a:srgbClr val="ACBDC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8" name="Google Shape;17113;p127">
                <a:extLst>
                  <a:ext uri="{FF2B5EF4-FFF2-40B4-BE49-F238E27FC236}">
                    <a16:creationId xmlns:a16="http://schemas.microsoft.com/office/drawing/2014/main" id="{45A09E54-C7B8-DB59-4F9E-A8A5E9FA218A}"/>
                  </a:ext>
                </a:extLst>
              </p:cNvPr>
              <p:cNvSpPr/>
              <p:nvPr/>
            </p:nvSpPr>
            <p:spPr>
              <a:xfrm>
                <a:off x="5973274" y="3766250"/>
                <a:ext cx="74132" cy="130801"/>
              </a:xfrm>
              <a:custGeom>
                <a:avLst/>
                <a:gdLst/>
                <a:ahLst/>
                <a:cxnLst/>
                <a:rect l="l" t="t" r="r" b="b"/>
                <a:pathLst>
                  <a:path w="2823" h="4981" extrusionOk="0">
                    <a:moveTo>
                      <a:pt x="2497" y="1"/>
                    </a:moveTo>
                    <a:cubicBezTo>
                      <a:pt x="1143" y="1"/>
                      <a:pt x="9" y="1089"/>
                      <a:pt x="9" y="2481"/>
                    </a:cubicBezTo>
                    <a:cubicBezTo>
                      <a:pt x="0" y="3875"/>
                      <a:pt x="1136" y="4981"/>
                      <a:pt x="2492" y="4981"/>
                    </a:cubicBezTo>
                    <a:cubicBezTo>
                      <a:pt x="2598" y="4981"/>
                      <a:pt x="2705" y="4974"/>
                      <a:pt x="2813" y="4960"/>
                    </a:cubicBezTo>
                    <a:cubicBezTo>
                      <a:pt x="1569" y="4797"/>
                      <a:pt x="641" y="3735"/>
                      <a:pt x="650" y="2481"/>
                    </a:cubicBezTo>
                    <a:cubicBezTo>
                      <a:pt x="650" y="1237"/>
                      <a:pt x="1579" y="184"/>
                      <a:pt x="2823" y="22"/>
                    </a:cubicBezTo>
                    <a:cubicBezTo>
                      <a:pt x="2713" y="8"/>
                      <a:pt x="2605" y="1"/>
                      <a:pt x="2497" y="1"/>
                    </a:cubicBezTo>
                    <a:close/>
                  </a:path>
                </a:pathLst>
              </a:custGeom>
              <a:solidFill>
                <a:srgbClr val="96AB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9" name="Google Shape;17114;p127">
                <a:extLst>
                  <a:ext uri="{FF2B5EF4-FFF2-40B4-BE49-F238E27FC236}">
                    <a16:creationId xmlns:a16="http://schemas.microsoft.com/office/drawing/2014/main" id="{21FDE7A5-8181-FD8C-BF8E-85FA43BD4FA3}"/>
                  </a:ext>
                </a:extLst>
              </p:cNvPr>
              <p:cNvSpPr/>
              <p:nvPr/>
            </p:nvSpPr>
            <p:spPr>
              <a:xfrm>
                <a:off x="5994624" y="3787415"/>
                <a:ext cx="89231" cy="88733"/>
              </a:xfrm>
              <a:custGeom>
                <a:avLst/>
                <a:gdLst/>
                <a:ahLst/>
                <a:cxnLst/>
                <a:rect l="l" t="t" r="r" b="b"/>
                <a:pathLst>
                  <a:path w="3398" h="3379" extrusionOk="0">
                    <a:moveTo>
                      <a:pt x="1686" y="0"/>
                    </a:moveTo>
                    <a:cubicBezTo>
                      <a:pt x="756" y="0"/>
                      <a:pt x="10" y="753"/>
                      <a:pt x="0" y="1685"/>
                    </a:cubicBezTo>
                    <a:cubicBezTo>
                      <a:pt x="0" y="2623"/>
                      <a:pt x="756" y="3379"/>
                      <a:pt x="1694" y="3379"/>
                    </a:cubicBezTo>
                    <a:cubicBezTo>
                      <a:pt x="1700" y="3379"/>
                      <a:pt x="1706" y="3379"/>
                      <a:pt x="1712" y="3379"/>
                    </a:cubicBezTo>
                    <a:cubicBezTo>
                      <a:pt x="2641" y="3379"/>
                      <a:pt x="3388" y="2626"/>
                      <a:pt x="3388" y="1694"/>
                    </a:cubicBezTo>
                    <a:cubicBezTo>
                      <a:pt x="3398" y="757"/>
                      <a:pt x="2642" y="0"/>
                      <a:pt x="1704" y="0"/>
                    </a:cubicBezTo>
                    <a:cubicBezTo>
                      <a:pt x="1698" y="0"/>
                      <a:pt x="1692" y="0"/>
                      <a:pt x="1686" y="0"/>
                    </a:cubicBezTo>
                    <a:close/>
                  </a:path>
                </a:pathLst>
              </a:custGeom>
              <a:solidFill>
                <a:srgbClr val="D2DB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20" name="Google Shape;17115;p127">
                <a:extLst>
                  <a:ext uri="{FF2B5EF4-FFF2-40B4-BE49-F238E27FC236}">
                    <a16:creationId xmlns:a16="http://schemas.microsoft.com/office/drawing/2014/main" id="{C0DA3624-BFE9-7637-418F-20DDF2DEC394}"/>
                  </a:ext>
                </a:extLst>
              </p:cNvPr>
              <p:cNvSpPr/>
              <p:nvPr/>
            </p:nvSpPr>
            <p:spPr>
              <a:xfrm>
                <a:off x="5994361" y="3787284"/>
                <a:ext cx="53308" cy="88916"/>
              </a:xfrm>
              <a:custGeom>
                <a:avLst/>
                <a:gdLst/>
                <a:ahLst/>
                <a:cxnLst/>
                <a:rect l="l" t="t" r="r" b="b"/>
                <a:pathLst>
                  <a:path w="2030" h="3386" extrusionOk="0">
                    <a:moveTo>
                      <a:pt x="1689" y="0"/>
                    </a:moveTo>
                    <a:cubicBezTo>
                      <a:pt x="775" y="0"/>
                      <a:pt x="1" y="734"/>
                      <a:pt x="1" y="1680"/>
                    </a:cubicBezTo>
                    <a:cubicBezTo>
                      <a:pt x="1" y="2641"/>
                      <a:pt x="777" y="3386"/>
                      <a:pt x="1695" y="3386"/>
                    </a:cubicBezTo>
                    <a:cubicBezTo>
                      <a:pt x="1802" y="3386"/>
                      <a:pt x="1910" y="3376"/>
                      <a:pt x="2020" y="3355"/>
                    </a:cubicBezTo>
                    <a:cubicBezTo>
                      <a:pt x="1226" y="3192"/>
                      <a:pt x="651" y="2494"/>
                      <a:pt x="661" y="1690"/>
                    </a:cubicBezTo>
                    <a:cubicBezTo>
                      <a:pt x="661" y="876"/>
                      <a:pt x="1235" y="187"/>
                      <a:pt x="2030" y="34"/>
                    </a:cubicBezTo>
                    <a:cubicBezTo>
                      <a:pt x="1915" y="11"/>
                      <a:pt x="1801" y="0"/>
                      <a:pt x="1689" y="0"/>
                    </a:cubicBezTo>
                    <a:close/>
                  </a:path>
                </a:pathLst>
              </a:custGeom>
              <a:solidFill>
                <a:srgbClr val="C1CE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21" name="Google Shape;17116;p127">
                <a:extLst>
                  <a:ext uri="{FF2B5EF4-FFF2-40B4-BE49-F238E27FC236}">
                    <a16:creationId xmlns:a16="http://schemas.microsoft.com/office/drawing/2014/main" id="{65A95C95-31DE-37CF-5372-74A384C10749}"/>
                  </a:ext>
                </a:extLst>
              </p:cNvPr>
              <p:cNvSpPr/>
              <p:nvPr/>
            </p:nvSpPr>
            <p:spPr>
              <a:xfrm>
                <a:off x="6020753" y="3801727"/>
                <a:ext cx="35451" cy="60844"/>
              </a:xfrm>
              <a:custGeom>
                <a:avLst/>
                <a:gdLst/>
                <a:ahLst/>
                <a:cxnLst/>
                <a:rect l="l" t="t" r="r" b="b"/>
                <a:pathLst>
                  <a:path w="1350" h="2317" extrusionOk="0">
                    <a:moveTo>
                      <a:pt x="642" y="470"/>
                    </a:moveTo>
                    <a:lnTo>
                      <a:pt x="642" y="891"/>
                    </a:lnTo>
                    <a:cubicBezTo>
                      <a:pt x="460" y="824"/>
                      <a:pt x="412" y="767"/>
                      <a:pt x="412" y="661"/>
                    </a:cubicBezTo>
                    <a:cubicBezTo>
                      <a:pt x="412" y="537"/>
                      <a:pt x="517" y="489"/>
                      <a:pt x="642" y="470"/>
                    </a:cubicBezTo>
                    <a:close/>
                    <a:moveTo>
                      <a:pt x="785" y="1341"/>
                    </a:moveTo>
                    <a:cubicBezTo>
                      <a:pt x="967" y="1417"/>
                      <a:pt x="996" y="1503"/>
                      <a:pt x="996" y="1599"/>
                    </a:cubicBezTo>
                    <a:cubicBezTo>
                      <a:pt x="996" y="1724"/>
                      <a:pt x="910" y="1819"/>
                      <a:pt x="785" y="1829"/>
                    </a:cubicBezTo>
                    <a:lnTo>
                      <a:pt x="785" y="1341"/>
                    </a:lnTo>
                    <a:close/>
                    <a:moveTo>
                      <a:pt x="709" y="1"/>
                    </a:moveTo>
                    <a:cubicBezTo>
                      <a:pt x="661" y="1"/>
                      <a:pt x="613" y="30"/>
                      <a:pt x="613" y="68"/>
                    </a:cubicBezTo>
                    <a:lnTo>
                      <a:pt x="613" y="145"/>
                    </a:lnTo>
                    <a:cubicBezTo>
                      <a:pt x="278" y="192"/>
                      <a:pt x="67" y="365"/>
                      <a:pt x="67" y="700"/>
                    </a:cubicBezTo>
                    <a:cubicBezTo>
                      <a:pt x="58" y="1054"/>
                      <a:pt x="335" y="1169"/>
                      <a:pt x="613" y="1274"/>
                    </a:cubicBezTo>
                    <a:lnTo>
                      <a:pt x="613" y="1829"/>
                    </a:lnTo>
                    <a:cubicBezTo>
                      <a:pt x="479" y="1810"/>
                      <a:pt x="355" y="1743"/>
                      <a:pt x="249" y="1647"/>
                    </a:cubicBezTo>
                    <a:cubicBezTo>
                      <a:pt x="227" y="1624"/>
                      <a:pt x="198" y="1614"/>
                      <a:pt x="169" y="1614"/>
                    </a:cubicBezTo>
                    <a:cubicBezTo>
                      <a:pt x="125" y="1614"/>
                      <a:pt x="81" y="1639"/>
                      <a:pt x="58" y="1685"/>
                    </a:cubicBezTo>
                    <a:cubicBezTo>
                      <a:pt x="0" y="1762"/>
                      <a:pt x="0" y="1867"/>
                      <a:pt x="58" y="1944"/>
                    </a:cubicBezTo>
                    <a:cubicBezTo>
                      <a:pt x="201" y="2097"/>
                      <a:pt x="402" y="2173"/>
                      <a:pt x="613" y="2173"/>
                    </a:cubicBezTo>
                    <a:lnTo>
                      <a:pt x="603" y="2250"/>
                    </a:lnTo>
                    <a:cubicBezTo>
                      <a:pt x="603" y="2288"/>
                      <a:pt x="661" y="2317"/>
                      <a:pt x="699" y="2317"/>
                    </a:cubicBezTo>
                    <a:cubicBezTo>
                      <a:pt x="747" y="2317"/>
                      <a:pt x="804" y="2288"/>
                      <a:pt x="804" y="2250"/>
                    </a:cubicBezTo>
                    <a:lnTo>
                      <a:pt x="804" y="2164"/>
                    </a:lnTo>
                    <a:cubicBezTo>
                      <a:pt x="1111" y="2145"/>
                      <a:pt x="1350" y="1877"/>
                      <a:pt x="1340" y="1561"/>
                    </a:cubicBezTo>
                    <a:cubicBezTo>
                      <a:pt x="1340" y="1207"/>
                      <a:pt x="1101" y="1063"/>
                      <a:pt x="804" y="958"/>
                    </a:cubicBezTo>
                    <a:lnTo>
                      <a:pt x="804" y="460"/>
                    </a:lnTo>
                    <a:cubicBezTo>
                      <a:pt x="996" y="470"/>
                      <a:pt x="1063" y="566"/>
                      <a:pt x="1139" y="566"/>
                    </a:cubicBezTo>
                    <a:cubicBezTo>
                      <a:pt x="1216" y="566"/>
                      <a:pt x="1264" y="489"/>
                      <a:pt x="1283" y="422"/>
                    </a:cubicBezTo>
                    <a:cubicBezTo>
                      <a:pt x="1312" y="298"/>
                      <a:pt x="1235" y="240"/>
                      <a:pt x="1120" y="192"/>
                    </a:cubicBezTo>
                    <a:cubicBezTo>
                      <a:pt x="1015" y="164"/>
                      <a:pt x="910" y="145"/>
                      <a:pt x="804" y="145"/>
                    </a:cubicBezTo>
                    <a:lnTo>
                      <a:pt x="804" y="68"/>
                    </a:lnTo>
                    <a:cubicBezTo>
                      <a:pt x="804" y="30"/>
                      <a:pt x="757" y="1"/>
                      <a:pt x="709" y="1"/>
                    </a:cubicBezTo>
                    <a:close/>
                  </a:path>
                </a:pathLst>
              </a:custGeom>
              <a:solidFill>
                <a:srgbClr val="E6EB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22" name="Google Shape;17117;p127">
                <a:extLst>
                  <a:ext uri="{FF2B5EF4-FFF2-40B4-BE49-F238E27FC236}">
                    <a16:creationId xmlns:a16="http://schemas.microsoft.com/office/drawing/2014/main" id="{D2880CD0-3951-FEA7-5768-F350E438E65D}"/>
                  </a:ext>
                </a:extLst>
              </p:cNvPr>
              <p:cNvSpPr/>
              <p:nvPr/>
            </p:nvSpPr>
            <p:spPr>
              <a:xfrm>
                <a:off x="5744051" y="3983945"/>
                <a:ext cx="147056" cy="165491"/>
              </a:xfrm>
              <a:custGeom>
                <a:avLst/>
                <a:gdLst/>
                <a:ahLst/>
                <a:cxnLst/>
                <a:rect l="l" t="t" r="r" b="b"/>
                <a:pathLst>
                  <a:path w="5600" h="6302" extrusionOk="0">
                    <a:moveTo>
                      <a:pt x="3733" y="0"/>
                    </a:moveTo>
                    <a:lnTo>
                      <a:pt x="269" y="1292"/>
                    </a:lnTo>
                    <a:cubicBezTo>
                      <a:pt x="96" y="1359"/>
                      <a:pt x="1" y="1560"/>
                      <a:pt x="68" y="1733"/>
                    </a:cubicBezTo>
                    <a:lnTo>
                      <a:pt x="1695" y="6078"/>
                    </a:lnTo>
                    <a:cubicBezTo>
                      <a:pt x="1746" y="6218"/>
                      <a:pt x="1872" y="6301"/>
                      <a:pt x="2010" y="6301"/>
                    </a:cubicBezTo>
                    <a:cubicBezTo>
                      <a:pt x="2051" y="6301"/>
                      <a:pt x="2093" y="6294"/>
                      <a:pt x="2135" y="6278"/>
                    </a:cubicBezTo>
                    <a:lnTo>
                      <a:pt x="5599" y="4986"/>
                    </a:lnTo>
                    <a:lnTo>
                      <a:pt x="37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23" name="Google Shape;17118;p127">
                <a:extLst>
                  <a:ext uri="{FF2B5EF4-FFF2-40B4-BE49-F238E27FC236}">
                    <a16:creationId xmlns:a16="http://schemas.microsoft.com/office/drawing/2014/main" id="{0919C079-356F-4C84-A79E-03682FA0BE1D}"/>
                  </a:ext>
                </a:extLst>
              </p:cNvPr>
              <p:cNvSpPr/>
              <p:nvPr/>
            </p:nvSpPr>
            <p:spPr>
              <a:xfrm>
                <a:off x="5784754" y="4095786"/>
                <a:ext cx="106353" cy="53597"/>
              </a:xfrm>
              <a:custGeom>
                <a:avLst/>
                <a:gdLst/>
                <a:ahLst/>
                <a:cxnLst/>
                <a:rect l="l" t="t" r="r" b="b"/>
                <a:pathLst>
                  <a:path w="4050" h="2041" extrusionOk="0">
                    <a:moveTo>
                      <a:pt x="3781" y="0"/>
                    </a:moveTo>
                    <a:lnTo>
                      <a:pt x="3714" y="29"/>
                    </a:lnTo>
                    <a:lnTo>
                      <a:pt x="1" y="1417"/>
                    </a:lnTo>
                    <a:lnTo>
                      <a:pt x="145" y="1819"/>
                    </a:lnTo>
                    <a:cubicBezTo>
                      <a:pt x="197" y="1953"/>
                      <a:pt x="331" y="2041"/>
                      <a:pt x="469" y="2041"/>
                    </a:cubicBezTo>
                    <a:cubicBezTo>
                      <a:pt x="508" y="2041"/>
                      <a:pt x="547" y="2034"/>
                      <a:pt x="585" y="2019"/>
                    </a:cubicBezTo>
                    <a:lnTo>
                      <a:pt x="4049" y="727"/>
                    </a:lnTo>
                    <a:lnTo>
                      <a:pt x="3781" y="0"/>
                    </a:lnTo>
                    <a:close/>
                  </a:path>
                </a:pathLst>
              </a:custGeom>
              <a:solidFill>
                <a:srgbClr val="6E82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24" name="Google Shape;17119;p127">
                <a:extLst>
                  <a:ext uri="{FF2B5EF4-FFF2-40B4-BE49-F238E27FC236}">
                    <a16:creationId xmlns:a16="http://schemas.microsoft.com/office/drawing/2014/main" id="{A246B5E3-B05D-7355-E6BE-172BA850F8F5}"/>
                  </a:ext>
                </a:extLst>
              </p:cNvPr>
              <p:cNvSpPr/>
              <p:nvPr/>
            </p:nvSpPr>
            <p:spPr>
              <a:xfrm>
                <a:off x="5886538" y="3909550"/>
                <a:ext cx="286024" cy="176441"/>
              </a:xfrm>
              <a:custGeom>
                <a:avLst/>
                <a:gdLst/>
                <a:ahLst/>
                <a:cxnLst/>
                <a:rect l="l" t="t" r="r" b="b"/>
                <a:pathLst>
                  <a:path w="10892" h="6719" extrusionOk="0">
                    <a:moveTo>
                      <a:pt x="9693" y="1"/>
                    </a:moveTo>
                    <a:cubicBezTo>
                      <a:pt x="9260" y="1"/>
                      <a:pt x="8912" y="344"/>
                      <a:pt x="8873" y="383"/>
                    </a:cubicBezTo>
                    <a:lnTo>
                      <a:pt x="6002" y="2747"/>
                    </a:lnTo>
                    <a:cubicBezTo>
                      <a:pt x="6002" y="2747"/>
                      <a:pt x="5963" y="1934"/>
                      <a:pt x="5111" y="1934"/>
                    </a:cubicBezTo>
                    <a:cubicBezTo>
                      <a:pt x="4317" y="1931"/>
                      <a:pt x="3755" y="1924"/>
                      <a:pt x="3338" y="1924"/>
                    </a:cubicBezTo>
                    <a:cubicBezTo>
                      <a:pt x="2505" y="1924"/>
                      <a:pt x="2256" y="1950"/>
                      <a:pt x="1905" y="2077"/>
                    </a:cubicBezTo>
                    <a:lnTo>
                      <a:pt x="1" y="2862"/>
                    </a:lnTo>
                    <a:lnTo>
                      <a:pt x="1436" y="6719"/>
                    </a:lnTo>
                    <a:cubicBezTo>
                      <a:pt x="2585" y="6243"/>
                      <a:pt x="2514" y="6187"/>
                      <a:pt x="3650" y="6187"/>
                    </a:cubicBezTo>
                    <a:cubicBezTo>
                      <a:pt x="3999" y="6187"/>
                      <a:pt x="4463" y="6193"/>
                      <a:pt x="5111" y="6193"/>
                    </a:cubicBezTo>
                    <a:cubicBezTo>
                      <a:pt x="5724" y="6173"/>
                      <a:pt x="6308" y="5905"/>
                      <a:pt x="6719" y="5446"/>
                    </a:cubicBezTo>
                    <a:lnTo>
                      <a:pt x="10251" y="1675"/>
                    </a:lnTo>
                    <a:cubicBezTo>
                      <a:pt x="10356" y="1551"/>
                      <a:pt x="10892" y="843"/>
                      <a:pt x="10299" y="259"/>
                    </a:cubicBezTo>
                    <a:cubicBezTo>
                      <a:pt x="10093" y="68"/>
                      <a:pt x="9884" y="1"/>
                      <a:pt x="96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25" name="Google Shape;17120;p127">
                <a:extLst>
                  <a:ext uri="{FF2B5EF4-FFF2-40B4-BE49-F238E27FC236}">
                    <a16:creationId xmlns:a16="http://schemas.microsoft.com/office/drawing/2014/main" id="{81FF00B6-8D38-5B83-8F6C-9D77CAD04A5D}"/>
                  </a:ext>
                </a:extLst>
              </p:cNvPr>
              <p:cNvSpPr/>
              <p:nvPr/>
            </p:nvSpPr>
            <p:spPr>
              <a:xfrm>
                <a:off x="5886538" y="3976408"/>
                <a:ext cx="57851" cy="109347"/>
              </a:xfrm>
              <a:custGeom>
                <a:avLst/>
                <a:gdLst/>
                <a:ahLst/>
                <a:cxnLst/>
                <a:rect l="l" t="t" r="r" b="b"/>
                <a:pathLst>
                  <a:path w="2203" h="4164" extrusionOk="0">
                    <a:moveTo>
                      <a:pt x="767" y="0"/>
                    </a:moveTo>
                    <a:lnTo>
                      <a:pt x="1" y="307"/>
                    </a:lnTo>
                    <a:lnTo>
                      <a:pt x="1446" y="4163"/>
                    </a:lnTo>
                    <a:lnTo>
                      <a:pt x="2202" y="3848"/>
                    </a:lnTo>
                    <a:lnTo>
                      <a:pt x="767" y="0"/>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26" name="Google Shape;17121;p127">
                <a:extLst>
                  <a:ext uri="{FF2B5EF4-FFF2-40B4-BE49-F238E27FC236}">
                    <a16:creationId xmlns:a16="http://schemas.microsoft.com/office/drawing/2014/main" id="{497C3BC8-361A-F91A-8D08-FB8624F64A7F}"/>
                  </a:ext>
                </a:extLst>
              </p:cNvPr>
              <p:cNvSpPr/>
              <p:nvPr/>
            </p:nvSpPr>
            <p:spPr>
              <a:xfrm>
                <a:off x="5961956" y="3961335"/>
                <a:ext cx="82456" cy="52467"/>
              </a:xfrm>
              <a:custGeom>
                <a:avLst/>
                <a:gdLst/>
                <a:ahLst/>
                <a:cxnLst/>
                <a:rect l="l" t="t" r="r" b="b"/>
                <a:pathLst>
                  <a:path w="3140" h="1998" extrusionOk="0">
                    <a:moveTo>
                      <a:pt x="2565" y="0"/>
                    </a:moveTo>
                    <a:lnTo>
                      <a:pt x="2565" y="0"/>
                    </a:lnTo>
                    <a:cubicBezTo>
                      <a:pt x="2641" y="345"/>
                      <a:pt x="2708" y="948"/>
                      <a:pt x="2488" y="1263"/>
                    </a:cubicBezTo>
                    <a:cubicBezTo>
                      <a:pt x="2355" y="1454"/>
                      <a:pt x="2176" y="1495"/>
                      <a:pt x="1704" y="1495"/>
                    </a:cubicBezTo>
                    <a:cubicBezTo>
                      <a:pt x="1396" y="1495"/>
                      <a:pt x="962" y="1478"/>
                      <a:pt x="335" y="1474"/>
                    </a:cubicBezTo>
                    <a:cubicBezTo>
                      <a:pt x="0" y="1474"/>
                      <a:pt x="0" y="1981"/>
                      <a:pt x="335" y="1981"/>
                    </a:cubicBezTo>
                    <a:cubicBezTo>
                      <a:pt x="868" y="1981"/>
                      <a:pt x="1286" y="1997"/>
                      <a:pt x="1621" y="1997"/>
                    </a:cubicBezTo>
                    <a:cubicBezTo>
                      <a:pt x="2292" y="1997"/>
                      <a:pt x="2632" y="1933"/>
                      <a:pt x="2900" y="1550"/>
                    </a:cubicBezTo>
                    <a:cubicBezTo>
                      <a:pt x="3053" y="1311"/>
                      <a:pt x="3130" y="1034"/>
                      <a:pt x="3139" y="756"/>
                    </a:cubicBezTo>
                    <a:cubicBezTo>
                      <a:pt x="3130" y="651"/>
                      <a:pt x="3053" y="153"/>
                      <a:pt x="256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27" name="Google Shape;17122;p127">
                <a:extLst>
                  <a:ext uri="{FF2B5EF4-FFF2-40B4-BE49-F238E27FC236}">
                    <a16:creationId xmlns:a16="http://schemas.microsoft.com/office/drawing/2014/main" id="{BD947842-C3EC-8295-3769-EC3B3B180C2D}"/>
                  </a:ext>
                </a:extLst>
              </p:cNvPr>
              <p:cNvSpPr/>
              <p:nvPr/>
            </p:nvSpPr>
            <p:spPr>
              <a:xfrm>
                <a:off x="5840556" y="3971235"/>
                <a:ext cx="89258" cy="144167"/>
              </a:xfrm>
              <a:custGeom>
                <a:avLst/>
                <a:gdLst/>
                <a:ahLst/>
                <a:cxnLst/>
                <a:rect l="l" t="t" r="r" b="b"/>
                <a:pathLst>
                  <a:path w="3399" h="5490" extrusionOk="0">
                    <a:moveTo>
                      <a:pt x="1413" y="1"/>
                    </a:moveTo>
                    <a:cubicBezTo>
                      <a:pt x="1374" y="1"/>
                      <a:pt x="1333" y="8"/>
                      <a:pt x="1293" y="25"/>
                    </a:cubicBezTo>
                    <a:lnTo>
                      <a:pt x="1" y="504"/>
                    </a:lnTo>
                    <a:lnTo>
                      <a:pt x="1867" y="5490"/>
                    </a:lnTo>
                    <a:lnTo>
                      <a:pt x="3159" y="5002"/>
                    </a:lnTo>
                    <a:cubicBezTo>
                      <a:pt x="3312" y="4944"/>
                      <a:pt x="3398" y="4772"/>
                      <a:pt x="3341" y="4619"/>
                    </a:cubicBezTo>
                    <a:lnTo>
                      <a:pt x="1685" y="188"/>
                    </a:lnTo>
                    <a:cubicBezTo>
                      <a:pt x="1642" y="73"/>
                      <a:pt x="1534" y="1"/>
                      <a:pt x="1413" y="1"/>
                    </a:cubicBezTo>
                    <a:close/>
                  </a:path>
                </a:pathLst>
              </a:custGeom>
              <a:solidFill>
                <a:srgbClr val="E6EB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28" name="Google Shape;17123;p127">
                <a:extLst>
                  <a:ext uri="{FF2B5EF4-FFF2-40B4-BE49-F238E27FC236}">
                    <a16:creationId xmlns:a16="http://schemas.microsoft.com/office/drawing/2014/main" id="{F469A264-3CFF-3094-F9C3-E57C44B6F3AB}"/>
                  </a:ext>
                </a:extLst>
              </p:cNvPr>
              <p:cNvSpPr/>
              <p:nvPr/>
            </p:nvSpPr>
            <p:spPr>
              <a:xfrm>
                <a:off x="5882284" y="4079689"/>
                <a:ext cx="47531" cy="35714"/>
              </a:xfrm>
              <a:custGeom>
                <a:avLst/>
                <a:gdLst/>
                <a:ahLst/>
                <a:cxnLst/>
                <a:rect l="l" t="t" r="r" b="b"/>
                <a:pathLst>
                  <a:path w="1810" h="1360" extrusionOk="0">
                    <a:moveTo>
                      <a:pt x="1570" y="1"/>
                    </a:moveTo>
                    <a:cubicBezTo>
                      <a:pt x="1532" y="49"/>
                      <a:pt x="1484" y="87"/>
                      <a:pt x="1426" y="106"/>
                    </a:cubicBezTo>
                    <a:lnTo>
                      <a:pt x="0" y="632"/>
                    </a:lnTo>
                    <a:lnTo>
                      <a:pt x="268" y="1360"/>
                    </a:lnTo>
                    <a:lnTo>
                      <a:pt x="1570" y="881"/>
                    </a:lnTo>
                    <a:cubicBezTo>
                      <a:pt x="1723" y="814"/>
                      <a:pt x="1809" y="642"/>
                      <a:pt x="1752" y="489"/>
                    </a:cubicBezTo>
                    <a:lnTo>
                      <a:pt x="1570"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grpSp>
      <p:grpSp>
        <p:nvGrpSpPr>
          <p:cNvPr id="29" name="Group 28">
            <a:extLst>
              <a:ext uri="{FF2B5EF4-FFF2-40B4-BE49-F238E27FC236}">
                <a16:creationId xmlns:a16="http://schemas.microsoft.com/office/drawing/2014/main" id="{76D6DB51-9972-C384-78DD-FCB7D23AA121}"/>
              </a:ext>
            </a:extLst>
          </p:cNvPr>
          <p:cNvGrpSpPr/>
          <p:nvPr/>
        </p:nvGrpSpPr>
        <p:grpSpPr>
          <a:xfrm>
            <a:off x="4521322" y="806218"/>
            <a:ext cx="572700" cy="572700"/>
            <a:chOff x="648098" y="2998277"/>
            <a:chExt cx="572700" cy="572700"/>
          </a:xfrm>
        </p:grpSpPr>
        <p:sp>
          <p:nvSpPr>
            <p:cNvPr id="30" name="Google Shape;839;p61">
              <a:extLst>
                <a:ext uri="{FF2B5EF4-FFF2-40B4-BE49-F238E27FC236}">
                  <a16:creationId xmlns:a16="http://schemas.microsoft.com/office/drawing/2014/main" id="{CEE651D2-444B-EB0F-4478-DCEBF5705695}"/>
                </a:ext>
              </a:extLst>
            </p:cNvPr>
            <p:cNvSpPr/>
            <p:nvPr/>
          </p:nvSpPr>
          <p:spPr>
            <a:xfrm>
              <a:off x="648098" y="2998277"/>
              <a:ext cx="572700" cy="572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nvGrpSpPr>
            <p:cNvPr id="31" name="Google Shape;15501;p127">
              <a:extLst>
                <a:ext uri="{FF2B5EF4-FFF2-40B4-BE49-F238E27FC236}">
                  <a16:creationId xmlns:a16="http://schemas.microsoft.com/office/drawing/2014/main" id="{6B93F3BA-1F69-0C34-3EBB-AC067C1D6271}"/>
                </a:ext>
              </a:extLst>
            </p:cNvPr>
            <p:cNvGrpSpPr/>
            <p:nvPr/>
          </p:nvGrpSpPr>
          <p:grpSpPr>
            <a:xfrm>
              <a:off x="772614" y="3097170"/>
              <a:ext cx="362677" cy="362677"/>
              <a:chOff x="1751901" y="1502716"/>
              <a:chExt cx="362677" cy="362677"/>
            </a:xfrm>
          </p:grpSpPr>
          <p:sp>
            <p:nvSpPr>
              <p:cNvPr id="32" name="Google Shape;15502;p127">
                <a:extLst>
                  <a:ext uri="{FF2B5EF4-FFF2-40B4-BE49-F238E27FC236}">
                    <a16:creationId xmlns:a16="http://schemas.microsoft.com/office/drawing/2014/main" id="{D2893AE3-0FEA-160F-D960-1E3615B66B0F}"/>
                  </a:ext>
                </a:extLst>
              </p:cNvPr>
              <p:cNvSpPr/>
              <p:nvPr/>
            </p:nvSpPr>
            <p:spPr>
              <a:xfrm>
                <a:off x="1751901" y="1502716"/>
                <a:ext cx="362677" cy="362677"/>
              </a:xfrm>
              <a:custGeom>
                <a:avLst/>
                <a:gdLst/>
                <a:ahLst/>
                <a:cxnLst/>
                <a:rect l="l" t="t" r="r" b="b"/>
                <a:pathLst>
                  <a:path w="13811" h="13811" extrusionOk="0">
                    <a:moveTo>
                      <a:pt x="6901" y="0"/>
                    </a:moveTo>
                    <a:cubicBezTo>
                      <a:pt x="3092" y="0"/>
                      <a:pt x="0" y="3091"/>
                      <a:pt x="0" y="6900"/>
                    </a:cubicBezTo>
                    <a:cubicBezTo>
                      <a:pt x="0" y="10719"/>
                      <a:pt x="3092" y="13810"/>
                      <a:pt x="6901" y="13810"/>
                    </a:cubicBezTo>
                    <a:cubicBezTo>
                      <a:pt x="10719" y="13810"/>
                      <a:pt x="13810" y="10719"/>
                      <a:pt x="13810" y="6900"/>
                    </a:cubicBezTo>
                    <a:cubicBezTo>
                      <a:pt x="13810" y="3091"/>
                      <a:pt x="10719" y="0"/>
                      <a:pt x="6901" y="0"/>
                    </a:cubicBezTo>
                    <a:close/>
                  </a:path>
                </a:pathLst>
              </a:custGeom>
              <a:solidFill>
                <a:srgbClr val="C3CD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33" name="Google Shape;15503;p127">
                <a:extLst>
                  <a:ext uri="{FF2B5EF4-FFF2-40B4-BE49-F238E27FC236}">
                    <a16:creationId xmlns:a16="http://schemas.microsoft.com/office/drawing/2014/main" id="{F39410A8-C41D-5DDB-E0BC-2621C09066C4}"/>
                  </a:ext>
                </a:extLst>
              </p:cNvPr>
              <p:cNvSpPr/>
              <p:nvPr/>
            </p:nvSpPr>
            <p:spPr>
              <a:xfrm>
                <a:off x="1780937" y="1524056"/>
                <a:ext cx="308397" cy="308397"/>
              </a:xfrm>
              <a:custGeom>
                <a:avLst/>
                <a:gdLst/>
                <a:ahLst/>
                <a:cxnLst/>
                <a:rect l="l" t="t" r="r" b="b"/>
                <a:pathLst>
                  <a:path w="11744" h="11744" extrusionOk="0">
                    <a:moveTo>
                      <a:pt x="5868" y="1"/>
                    </a:moveTo>
                    <a:cubicBezTo>
                      <a:pt x="2633" y="1"/>
                      <a:pt x="1" y="2633"/>
                      <a:pt x="1" y="5867"/>
                    </a:cubicBezTo>
                    <a:cubicBezTo>
                      <a:pt x="1" y="9112"/>
                      <a:pt x="2633" y="11744"/>
                      <a:pt x="5868" y="11744"/>
                    </a:cubicBezTo>
                    <a:cubicBezTo>
                      <a:pt x="9112" y="11744"/>
                      <a:pt x="11744" y="9112"/>
                      <a:pt x="11744" y="5867"/>
                    </a:cubicBezTo>
                    <a:cubicBezTo>
                      <a:pt x="11744" y="2633"/>
                      <a:pt x="9112" y="1"/>
                      <a:pt x="5868" y="1"/>
                    </a:cubicBez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34" name="Google Shape;15504;p127">
                <a:extLst>
                  <a:ext uri="{FF2B5EF4-FFF2-40B4-BE49-F238E27FC236}">
                    <a16:creationId xmlns:a16="http://schemas.microsoft.com/office/drawing/2014/main" id="{01AFA63E-DC58-C228-735F-B3D03DD091C6}"/>
                  </a:ext>
                </a:extLst>
              </p:cNvPr>
              <p:cNvSpPr/>
              <p:nvPr/>
            </p:nvSpPr>
            <p:spPr>
              <a:xfrm>
                <a:off x="1927816" y="1551035"/>
                <a:ext cx="10845" cy="138416"/>
              </a:xfrm>
              <a:custGeom>
                <a:avLst/>
                <a:gdLst/>
                <a:ahLst/>
                <a:cxnLst/>
                <a:rect l="l" t="t" r="r" b="b"/>
                <a:pathLst>
                  <a:path w="413" h="5271" extrusionOk="0">
                    <a:moveTo>
                      <a:pt x="206" y="0"/>
                    </a:moveTo>
                    <a:cubicBezTo>
                      <a:pt x="103" y="0"/>
                      <a:pt x="1" y="70"/>
                      <a:pt x="1" y="208"/>
                    </a:cubicBezTo>
                    <a:lnTo>
                      <a:pt x="1" y="5060"/>
                    </a:lnTo>
                    <a:cubicBezTo>
                      <a:pt x="1" y="5175"/>
                      <a:pt x="87" y="5271"/>
                      <a:pt x="202" y="5271"/>
                    </a:cubicBezTo>
                    <a:cubicBezTo>
                      <a:pt x="316" y="5271"/>
                      <a:pt x="412" y="5175"/>
                      <a:pt x="412" y="5060"/>
                    </a:cubicBezTo>
                    <a:lnTo>
                      <a:pt x="412" y="208"/>
                    </a:lnTo>
                    <a:cubicBezTo>
                      <a:pt x="412" y="70"/>
                      <a:pt x="309" y="0"/>
                      <a:pt x="206" y="0"/>
                    </a:cubicBezTo>
                    <a:close/>
                  </a:path>
                </a:pathLst>
              </a:custGeom>
              <a:solidFill>
                <a:srgbClr val="65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35" name="Google Shape;15505;p127">
                <a:extLst>
                  <a:ext uri="{FF2B5EF4-FFF2-40B4-BE49-F238E27FC236}">
                    <a16:creationId xmlns:a16="http://schemas.microsoft.com/office/drawing/2014/main" id="{515C3320-4558-064E-4BD8-A077222FF7E5}"/>
                  </a:ext>
                </a:extLst>
              </p:cNvPr>
              <p:cNvSpPr/>
              <p:nvPr/>
            </p:nvSpPr>
            <p:spPr>
              <a:xfrm>
                <a:off x="1925821" y="1678632"/>
                <a:ext cx="142014" cy="10819"/>
              </a:xfrm>
              <a:custGeom>
                <a:avLst/>
                <a:gdLst/>
                <a:ahLst/>
                <a:cxnLst/>
                <a:rect l="l" t="t" r="r" b="b"/>
                <a:pathLst>
                  <a:path w="5408" h="412" extrusionOk="0">
                    <a:moveTo>
                      <a:pt x="278" y="0"/>
                    </a:moveTo>
                    <a:cubicBezTo>
                      <a:pt x="0" y="0"/>
                      <a:pt x="0" y="412"/>
                      <a:pt x="278" y="412"/>
                    </a:cubicBezTo>
                    <a:lnTo>
                      <a:pt x="5130" y="412"/>
                    </a:lnTo>
                    <a:cubicBezTo>
                      <a:pt x="5407" y="412"/>
                      <a:pt x="5407" y="0"/>
                      <a:pt x="5130" y="0"/>
                    </a:cubicBezTo>
                    <a:close/>
                  </a:path>
                </a:pathLst>
              </a:custGeom>
              <a:solidFill>
                <a:srgbClr val="65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36" name="Google Shape;15506;p127">
                <a:extLst>
                  <a:ext uri="{FF2B5EF4-FFF2-40B4-BE49-F238E27FC236}">
                    <a16:creationId xmlns:a16="http://schemas.microsoft.com/office/drawing/2014/main" id="{210B2F4E-D648-E91C-1E6F-66BF2D6E67FC}"/>
                  </a:ext>
                </a:extLst>
              </p:cNvPr>
              <p:cNvSpPr/>
              <p:nvPr/>
            </p:nvSpPr>
            <p:spPr>
              <a:xfrm>
                <a:off x="1816999" y="1567789"/>
                <a:ext cx="288020" cy="270215"/>
              </a:xfrm>
              <a:custGeom>
                <a:avLst/>
                <a:gdLst/>
                <a:ahLst/>
                <a:cxnLst/>
                <a:rect l="l" t="t" r="r" b="b"/>
                <a:pathLst>
                  <a:path w="10968" h="10290" extrusionOk="0">
                    <a:moveTo>
                      <a:pt x="8278" y="1"/>
                    </a:moveTo>
                    <a:lnTo>
                      <a:pt x="8278" y="1"/>
                    </a:lnTo>
                    <a:cubicBezTo>
                      <a:pt x="10317" y="2327"/>
                      <a:pt x="10192" y="5829"/>
                      <a:pt x="8010" y="8011"/>
                    </a:cubicBezTo>
                    <a:cubicBezTo>
                      <a:pt x="6869" y="9153"/>
                      <a:pt x="5365" y="9731"/>
                      <a:pt x="3858" y="9731"/>
                    </a:cubicBezTo>
                    <a:cubicBezTo>
                      <a:pt x="2485" y="9731"/>
                      <a:pt x="1109" y="9251"/>
                      <a:pt x="0" y="8279"/>
                    </a:cubicBezTo>
                    <a:lnTo>
                      <a:pt x="0" y="8279"/>
                    </a:lnTo>
                    <a:cubicBezTo>
                      <a:pt x="1167" y="9616"/>
                      <a:pt x="2795" y="10290"/>
                      <a:pt x="4426" y="10290"/>
                    </a:cubicBezTo>
                    <a:cubicBezTo>
                      <a:pt x="5924" y="10290"/>
                      <a:pt x="7425" y="9721"/>
                      <a:pt x="8575" y="8576"/>
                    </a:cubicBezTo>
                    <a:cubicBezTo>
                      <a:pt x="10968" y="6174"/>
                      <a:pt x="10843" y="2240"/>
                      <a:pt x="8278" y="1"/>
                    </a:cubicBezTo>
                    <a:close/>
                  </a:path>
                </a:pathLst>
              </a:custGeom>
              <a:solidFill>
                <a:srgbClr val="EBEF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37" name="Google Shape;15507;p127">
                <a:extLst>
                  <a:ext uri="{FF2B5EF4-FFF2-40B4-BE49-F238E27FC236}">
                    <a16:creationId xmlns:a16="http://schemas.microsoft.com/office/drawing/2014/main" id="{F4DC08CD-C982-92C1-3247-CF3E4928ECB3}"/>
                  </a:ext>
                </a:extLst>
              </p:cNvPr>
              <p:cNvSpPr/>
              <p:nvPr/>
            </p:nvSpPr>
            <p:spPr>
              <a:xfrm>
                <a:off x="1798644" y="1678632"/>
                <a:ext cx="22400" cy="10819"/>
              </a:xfrm>
              <a:custGeom>
                <a:avLst/>
                <a:gdLst/>
                <a:ahLst/>
                <a:cxnLst/>
                <a:rect l="l" t="t" r="r" b="b"/>
                <a:pathLst>
                  <a:path w="853" h="412" extrusionOk="0">
                    <a:moveTo>
                      <a:pt x="278" y="0"/>
                    </a:moveTo>
                    <a:cubicBezTo>
                      <a:pt x="0" y="0"/>
                      <a:pt x="0" y="412"/>
                      <a:pt x="278" y="412"/>
                    </a:cubicBezTo>
                    <a:lnTo>
                      <a:pt x="575" y="412"/>
                    </a:lnTo>
                    <a:cubicBezTo>
                      <a:pt x="852" y="412"/>
                      <a:pt x="852" y="0"/>
                      <a:pt x="575" y="0"/>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38" name="Google Shape;15508;p127">
                <a:extLst>
                  <a:ext uri="{FF2B5EF4-FFF2-40B4-BE49-F238E27FC236}">
                    <a16:creationId xmlns:a16="http://schemas.microsoft.com/office/drawing/2014/main" id="{674C0EDA-46D6-DFBF-9820-EE4C5FD04C47}"/>
                  </a:ext>
                </a:extLst>
              </p:cNvPr>
              <p:cNvSpPr/>
              <p:nvPr/>
            </p:nvSpPr>
            <p:spPr>
              <a:xfrm>
                <a:off x="1927816" y="1798063"/>
                <a:ext cx="10845" cy="18828"/>
              </a:xfrm>
              <a:custGeom>
                <a:avLst/>
                <a:gdLst/>
                <a:ahLst/>
                <a:cxnLst/>
                <a:rect l="l" t="t" r="r" b="b"/>
                <a:pathLst>
                  <a:path w="413" h="717" extrusionOk="0">
                    <a:moveTo>
                      <a:pt x="206" y="1"/>
                    </a:moveTo>
                    <a:cubicBezTo>
                      <a:pt x="103" y="1"/>
                      <a:pt x="1" y="70"/>
                      <a:pt x="1" y="209"/>
                    </a:cubicBezTo>
                    <a:lnTo>
                      <a:pt x="1" y="506"/>
                    </a:lnTo>
                    <a:cubicBezTo>
                      <a:pt x="1" y="620"/>
                      <a:pt x="87" y="716"/>
                      <a:pt x="202" y="716"/>
                    </a:cubicBezTo>
                    <a:cubicBezTo>
                      <a:pt x="316" y="716"/>
                      <a:pt x="412" y="620"/>
                      <a:pt x="412" y="506"/>
                    </a:cubicBezTo>
                    <a:lnTo>
                      <a:pt x="412" y="209"/>
                    </a:lnTo>
                    <a:cubicBezTo>
                      <a:pt x="412" y="70"/>
                      <a:pt x="309" y="1"/>
                      <a:pt x="206" y="1"/>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39" name="Google Shape;15509;p127">
                <a:extLst>
                  <a:ext uri="{FF2B5EF4-FFF2-40B4-BE49-F238E27FC236}">
                    <a16:creationId xmlns:a16="http://schemas.microsoft.com/office/drawing/2014/main" id="{F314F4C1-AD4A-C01A-2759-A9B46F72379A}"/>
                  </a:ext>
                </a:extLst>
              </p:cNvPr>
              <p:cNvSpPr/>
              <p:nvPr/>
            </p:nvSpPr>
            <p:spPr>
              <a:xfrm>
                <a:off x="1835486" y="1588508"/>
                <a:ext cx="20667" cy="16518"/>
              </a:xfrm>
              <a:custGeom>
                <a:avLst/>
                <a:gdLst/>
                <a:ahLst/>
                <a:cxnLst/>
                <a:rect l="l" t="t" r="r" b="b"/>
                <a:pathLst>
                  <a:path w="787" h="629" extrusionOk="0">
                    <a:moveTo>
                      <a:pt x="293" y="1"/>
                    </a:moveTo>
                    <a:cubicBezTo>
                      <a:pt x="136" y="1"/>
                      <a:pt x="1" y="204"/>
                      <a:pt x="148" y="351"/>
                    </a:cubicBezTo>
                    <a:lnTo>
                      <a:pt x="358" y="571"/>
                    </a:lnTo>
                    <a:cubicBezTo>
                      <a:pt x="397" y="609"/>
                      <a:pt x="445" y="628"/>
                      <a:pt x="502" y="628"/>
                    </a:cubicBezTo>
                    <a:cubicBezTo>
                      <a:pt x="506" y="629"/>
                      <a:pt x="509" y="629"/>
                      <a:pt x="513" y="629"/>
                    </a:cubicBezTo>
                    <a:cubicBezTo>
                      <a:pt x="697" y="629"/>
                      <a:pt x="786" y="396"/>
                      <a:pt x="645" y="274"/>
                    </a:cubicBezTo>
                    <a:lnTo>
                      <a:pt x="435" y="64"/>
                    </a:lnTo>
                    <a:cubicBezTo>
                      <a:pt x="390" y="19"/>
                      <a:pt x="341" y="1"/>
                      <a:pt x="293" y="1"/>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0" name="Google Shape;15510;p127">
                <a:extLst>
                  <a:ext uri="{FF2B5EF4-FFF2-40B4-BE49-F238E27FC236}">
                    <a16:creationId xmlns:a16="http://schemas.microsoft.com/office/drawing/2014/main" id="{E0A7DF70-FF83-733A-8A16-A858F3B80BFA}"/>
                  </a:ext>
                </a:extLst>
              </p:cNvPr>
              <p:cNvSpPr/>
              <p:nvPr/>
            </p:nvSpPr>
            <p:spPr>
              <a:xfrm>
                <a:off x="2009958" y="1763189"/>
                <a:ext cx="20667" cy="16491"/>
              </a:xfrm>
              <a:custGeom>
                <a:avLst/>
                <a:gdLst/>
                <a:ahLst/>
                <a:cxnLst/>
                <a:rect l="l" t="t" r="r" b="b"/>
                <a:pathLst>
                  <a:path w="787" h="628" extrusionOk="0">
                    <a:moveTo>
                      <a:pt x="332" y="1"/>
                    </a:moveTo>
                    <a:cubicBezTo>
                      <a:pt x="177" y="1"/>
                      <a:pt x="1" y="236"/>
                      <a:pt x="146" y="350"/>
                    </a:cubicBezTo>
                    <a:lnTo>
                      <a:pt x="356" y="561"/>
                    </a:lnTo>
                    <a:cubicBezTo>
                      <a:pt x="394" y="599"/>
                      <a:pt x="452" y="618"/>
                      <a:pt x="509" y="628"/>
                    </a:cubicBezTo>
                    <a:cubicBezTo>
                      <a:pt x="701" y="628"/>
                      <a:pt x="787" y="398"/>
                      <a:pt x="653" y="264"/>
                    </a:cubicBezTo>
                    <a:lnTo>
                      <a:pt x="442" y="53"/>
                    </a:lnTo>
                    <a:cubicBezTo>
                      <a:pt x="411" y="16"/>
                      <a:pt x="372" y="1"/>
                      <a:pt x="332" y="1"/>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1" name="Google Shape;15511;p127">
                <a:extLst>
                  <a:ext uri="{FF2B5EF4-FFF2-40B4-BE49-F238E27FC236}">
                    <a16:creationId xmlns:a16="http://schemas.microsoft.com/office/drawing/2014/main" id="{67B53C52-FC6B-3D7E-190A-71EF7322C408}"/>
                  </a:ext>
                </a:extLst>
              </p:cNvPr>
              <p:cNvSpPr/>
              <p:nvPr/>
            </p:nvSpPr>
            <p:spPr>
              <a:xfrm>
                <a:off x="2010247" y="1588193"/>
                <a:ext cx="21113" cy="16833"/>
              </a:xfrm>
              <a:custGeom>
                <a:avLst/>
                <a:gdLst/>
                <a:ahLst/>
                <a:cxnLst/>
                <a:rect l="l" t="t" r="r" b="b"/>
                <a:pathLst>
                  <a:path w="804" h="641" extrusionOk="0">
                    <a:moveTo>
                      <a:pt x="493" y="0"/>
                    </a:moveTo>
                    <a:cubicBezTo>
                      <a:pt x="444" y="0"/>
                      <a:pt x="392" y="20"/>
                      <a:pt x="345" y="66"/>
                    </a:cubicBezTo>
                    <a:lnTo>
                      <a:pt x="135" y="277"/>
                    </a:lnTo>
                    <a:cubicBezTo>
                      <a:pt x="1" y="411"/>
                      <a:pt x="96" y="640"/>
                      <a:pt x="288" y="640"/>
                    </a:cubicBezTo>
                    <a:cubicBezTo>
                      <a:pt x="336" y="640"/>
                      <a:pt x="393" y="612"/>
                      <a:pt x="431" y="583"/>
                    </a:cubicBezTo>
                    <a:lnTo>
                      <a:pt x="642" y="363"/>
                    </a:lnTo>
                    <a:cubicBezTo>
                      <a:pt x="804" y="216"/>
                      <a:pt x="660" y="0"/>
                      <a:pt x="493" y="0"/>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2" name="Google Shape;15512;p127">
                <a:extLst>
                  <a:ext uri="{FF2B5EF4-FFF2-40B4-BE49-F238E27FC236}">
                    <a16:creationId xmlns:a16="http://schemas.microsoft.com/office/drawing/2014/main" id="{DD405547-0942-1CB3-C1FE-4D027AB71688}"/>
                  </a:ext>
                </a:extLst>
              </p:cNvPr>
              <p:cNvSpPr/>
              <p:nvPr/>
            </p:nvSpPr>
            <p:spPr>
              <a:xfrm>
                <a:off x="1835591" y="1762927"/>
                <a:ext cx="20719" cy="16754"/>
              </a:xfrm>
              <a:custGeom>
                <a:avLst/>
                <a:gdLst/>
                <a:ahLst/>
                <a:cxnLst/>
                <a:rect l="l" t="t" r="r" b="b"/>
                <a:pathLst>
                  <a:path w="789" h="638" extrusionOk="0">
                    <a:moveTo>
                      <a:pt x="496" y="0"/>
                    </a:moveTo>
                    <a:cubicBezTo>
                      <a:pt x="448" y="0"/>
                      <a:pt x="399" y="19"/>
                      <a:pt x="354" y="63"/>
                    </a:cubicBezTo>
                    <a:lnTo>
                      <a:pt x="144" y="274"/>
                    </a:lnTo>
                    <a:cubicBezTo>
                      <a:pt x="0" y="408"/>
                      <a:pt x="96" y="638"/>
                      <a:pt x="287" y="638"/>
                    </a:cubicBezTo>
                    <a:cubicBezTo>
                      <a:pt x="345" y="628"/>
                      <a:pt x="393" y="609"/>
                      <a:pt x="431" y="571"/>
                    </a:cubicBezTo>
                    <a:lnTo>
                      <a:pt x="641" y="360"/>
                    </a:lnTo>
                    <a:cubicBezTo>
                      <a:pt x="789" y="206"/>
                      <a:pt x="653" y="0"/>
                      <a:pt x="496" y="0"/>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3" name="Google Shape;15513;p127">
                <a:extLst>
                  <a:ext uri="{FF2B5EF4-FFF2-40B4-BE49-F238E27FC236}">
                    <a16:creationId xmlns:a16="http://schemas.microsoft.com/office/drawing/2014/main" id="{83FCD5BF-63DA-FBD2-01FB-731DE99B7111}"/>
                  </a:ext>
                </a:extLst>
              </p:cNvPr>
              <p:cNvSpPr/>
              <p:nvPr/>
            </p:nvSpPr>
            <p:spPr>
              <a:xfrm>
                <a:off x="1808018" y="1628581"/>
                <a:ext cx="22820" cy="14128"/>
              </a:xfrm>
              <a:custGeom>
                <a:avLst/>
                <a:gdLst/>
                <a:ahLst/>
                <a:cxnLst/>
                <a:rect l="l" t="t" r="r" b="b"/>
                <a:pathLst>
                  <a:path w="869" h="538" extrusionOk="0">
                    <a:moveTo>
                      <a:pt x="291" y="0"/>
                    </a:moveTo>
                    <a:cubicBezTo>
                      <a:pt x="97" y="0"/>
                      <a:pt x="0" y="312"/>
                      <a:pt x="218" y="404"/>
                    </a:cubicBezTo>
                    <a:lnTo>
                      <a:pt x="495" y="519"/>
                    </a:lnTo>
                    <a:cubicBezTo>
                      <a:pt x="524" y="538"/>
                      <a:pt x="553" y="538"/>
                      <a:pt x="581" y="538"/>
                    </a:cubicBezTo>
                    <a:cubicBezTo>
                      <a:pt x="811" y="538"/>
                      <a:pt x="868" y="222"/>
                      <a:pt x="658" y="136"/>
                    </a:cubicBezTo>
                    <a:lnTo>
                      <a:pt x="380" y="21"/>
                    </a:lnTo>
                    <a:cubicBezTo>
                      <a:pt x="349" y="7"/>
                      <a:pt x="319" y="0"/>
                      <a:pt x="291" y="0"/>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4" name="Google Shape;15514;p127">
                <a:extLst>
                  <a:ext uri="{FF2B5EF4-FFF2-40B4-BE49-F238E27FC236}">
                    <a16:creationId xmlns:a16="http://schemas.microsoft.com/office/drawing/2014/main" id="{7EA954FE-6A67-15B8-BE6D-3CC4FCE9404B}"/>
                  </a:ext>
                </a:extLst>
              </p:cNvPr>
              <p:cNvSpPr/>
              <p:nvPr/>
            </p:nvSpPr>
            <p:spPr>
              <a:xfrm>
                <a:off x="2035194" y="1725139"/>
                <a:ext cx="23004" cy="14102"/>
              </a:xfrm>
              <a:custGeom>
                <a:avLst/>
                <a:gdLst/>
                <a:ahLst/>
                <a:cxnLst/>
                <a:rect l="l" t="t" r="r" b="b"/>
                <a:pathLst>
                  <a:path w="876" h="537" extrusionOk="0">
                    <a:moveTo>
                      <a:pt x="303" y="1"/>
                    </a:moveTo>
                    <a:cubicBezTo>
                      <a:pt x="99" y="1"/>
                      <a:pt x="0" y="309"/>
                      <a:pt x="228" y="402"/>
                    </a:cubicBezTo>
                    <a:lnTo>
                      <a:pt x="496" y="526"/>
                    </a:lnTo>
                    <a:cubicBezTo>
                      <a:pt x="524" y="536"/>
                      <a:pt x="553" y="536"/>
                      <a:pt x="582" y="536"/>
                    </a:cubicBezTo>
                    <a:cubicBezTo>
                      <a:pt x="585" y="536"/>
                      <a:pt x="589" y="536"/>
                      <a:pt x="592" y="536"/>
                    </a:cubicBezTo>
                    <a:cubicBezTo>
                      <a:pt x="814" y="536"/>
                      <a:pt x="875" y="228"/>
                      <a:pt x="658" y="144"/>
                    </a:cubicBezTo>
                    <a:lnTo>
                      <a:pt x="390" y="19"/>
                    </a:lnTo>
                    <a:cubicBezTo>
                      <a:pt x="360" y="7"/>
                      <a:pt x="330" y="1"/>
                      <a:pt x="303" y="1"/>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5" name="Google Shape;15515;p127">
                <a:extLst>
                  <a:ext uri="{FF2B5EF4-FFF2-40B4-BE49-F238E27FC236}">
                    <a16:creationId xmlns:a16="http://schemas.microsoft.com/office/drawing/2014/main" id="{1114EE9B-E697-9A82-365F-6F59C7BC5476}"/>
                  </a:ext>
                </a:extLst>
              </p:cNvPr>
              <p:cNvSpPr/>
              <p:nvPr/>
            </p:nvSpPr>
            <p:spPr>
              <a:xfrm>
                <a:off x="1973299" y="1561276"/>
                <a:ext cx="16649" cy="18119"/>
              </a:xfrm>
              <a:custGeom>
                <a:avLst/>
                <a:gdLst/>
                <a:ahLst/>
                <a:cxnLst/>
                <a:rect l="l" t="t" r="r" b="b"/>
                <a:pathLst>
                  <a:path w="634" h="690" extrusionOk="0">
                    <a:moveTo>
                      <a:pt x="363" y="1"/>
                    </a:moveTo>
                    <a:cubicBezTo>
                      <a:pt x="291" y="1"/>
                      <a:pt x="220" y="37"/>
                      <a:pt x="183" y="125"/>
                    </a:cubicBezTo>
                    <a:lnTo>
                      <a:pt x="58" y="402"/>
                    </a:lnTo>
                    <a:cubicBezTo>
                      <a:pt x="1" y="536"/>
                      <a:pt x="106" y="689"/>
                      <a:pt x="250" y="689"/>
                    </a:cubicBezTo>
                    <a:cubicBezTo>
                      <a:pt x="336" y="689"/>
                      <a:pt x="412" y="641"/>
                      <a:pt x="451" y="565"/>
                    </a:cubicBezTo>
                    <a:lnTo>
                      <a:pt x="565" y="287"/>
                    </a:lnTo>
                    <a:cubicBezTo>
                      <a:pt x="634" y="126"/>
                      <a:pt x="497" y="1"/>
                      <a:pt x="363" y="1"/>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6" name="Google Shape;15516;p127">
                <a:extLst>
                  <a:ext uri="{FF2B5EF4-FFF2-40B4-BE49-F238E27FC236}">
                    <a16:creationId xmlns:a16="http://schemas.microsoft.com/office/drawing/2014/main" id="{D5539CC1-B2D5-01FB-8BFC-1AE563F41BCC}"/>
                  </a:ext>
                </a:extLst>
              </p:cNvPr>
              <p:cNvSpPr/>
              <p:nvPr/>
            </p:nvSpPr>
            <p:spPr>
              <a:xfrm>
                <a:off x="1876557" y="1788557"/>
                <a:ext cx="16623" cy="18277"/>
              </a:xfrm>
              <a:custGeom>
                <a:avLst/>
                <a:gdLst/>
                <a:ahLst/>
                <a:cxnLst/>
                <a:rect l="l" t="t" r="r" b="b"/>
                <a:pathLst>
                  <a:path w="633" h="696" extrusionOk="0">
                    <a:moveTo>
                      <a:pt x="365" y="0"/>
                    </a:moveTo>
                    <a:cubicBezTo>
                      <a:pt x="292" y="0"/>
                      <a:pt x="220" y="39"/>
                      <a:pt x="182" y="131"/>
                    </a:cubicBezTo>
                    <a:lnTo>
                      <a:pt x="58" y="399"/>
                    </a:lnTo>
                    <a:cubicBezTo>
                      <a:pt x="0" y="542"/>
                      <a:pt x="106" y="695"/>
                      <a:pt x="259" y="695"/>
                    </a:cubicBezTo>
                    <a:cubicBezTo>
                      <a:pt x="335" y="695"/>
                      <a:pt x="412" y="638"/>
                      <a:pt x="450" y="561"/>
                    </a:cubicBezTo>
                    <a:lnTo>
                      <a:pt x="565" y="293"/>
                    </a:lnTo>
                    <a:cubicBezTo>
                      <a:pt x="633" y="127"/>
                      <a:pt x="498" y="0"/>
                      <a:pt x="365" y="0"/>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7" name="Google Shape;15517;p127">
                <a:extLst>
                  <a:ext uri="{FF2B5EF4-FFF2-40B4-BE49-F238E27FC236}">
                    <a16:creationId xmlns:a16="http://schemas.microsoft.com/office/drawing/2014/main" id="{DD3ED615-D31F-7811-A6B8-EC7947E45045}"/>
                  </a:ext>
                </a:extLst>
              </p:cNvPr>
              <p:cNvSpPr/>
              <p:nvPr/>
            </p:nvSpPr>
            <p:spPr>
              <a:xfrm>
                <a:off x="1878710" y="1560541"/>
                <a:ext cx="15966" cy="18093"/>
              </a:xfrm>
              <a:custGeom>
                <a:avLst/>
                <a:gdLst/>
                <a:ahLst/>
                <a:cxnLst/>
                <a:rect l="l" t="t" r="r" b="b"/>
                <a:pathLst>
                  <a:path w="608" h="689" extrusionOk="0">
                    <a:moveTo>
                      <a:pt x="266" y="0"/>
                    </a:moveTo>
                    <a:cubicBezTo>
                      <a:pt x="134" y="0"/>
                      <a:pt x="1" y="122"/>
                      <a:pt x="62" y="287"/>
                    </a:cubicBezTo>
                    <a:lnTo>
                      <a:pt x="177" y="564"/>
                    </a:lnTo>
                    <a:cubicBezTo>
                      <a:pt x="215" y="641"/>
                      <a:pt x="291" y="688"/>
                      <a:pt x="368" y="688"/>
                    </a:cubicBezTo>
                    <a:cubicBezTo>
                      <a:pt x="512" y="679"/>
                      <a:pt x="607" y="545"/>
                      <a:pt x="569" y="411"/>
                    </a:cubicBezTo>
                    <a:lnTo>
                      <a:pt x="454" y="133"/>
                    </a:lnTo>
                    <a:cubicBezTo>
                      <a:pt x="416" y="40"/>
                      <a:pt x="341" y="0"/>
                      <a:pt x="266" y="0"/>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8" name="Google Shape;15518;p127">
                <a:extLst>
                  <a:ext uri="{FF2B5EF4-FFF2-40B4-BE49-F238E27FC236}">
                    <a16:creationId xmlns:a16="http://schemas.microsoft.com/office/drawing/2014/main" id="{783A72AB-396D-289B-3327-AB0B6BD47C2E}"/>
                  </a:ext>
                </a:extLst>
              </p:cNvPr>
              <p:cNvSpPr/>
              <p:nvPr/>
            </p:nvSpPr>
            <p:spPr>
              <a:xfrm>
                <a:off x="1971014" y="1789292"/>
                <a:ext cx="16386" cy="18277"/>
              </a:xfrm>
              <a:custGeom>
                <a:avLst/>
                <a:gdLst/>
                <a:ahLst/>
                <a:cxnLst/>
                <a:rect l="l" t="t" r="r" b="b"/>
                <a:pathLst>
                  <a:path w="624" h="696" extrusionOk="0">
                    <a:moveTo>
                      <a:pt x="272" y="1"/>
                    </a:moveTo>
                    <a:cubicBezTo>
                      <a:pt x="140" y="1"/>
                      <a:pt x="1" y="128"/>
                      <a:pt x="69" y="294"/>
                    </a:cubicBezTo>
                    <a:lnTo>
                      <a:pt x="184" y="572"/>
                    </a:lnTo>
                    <a:cubicBezTo>
                      <a:pt x="212" y="648"/>
                      <a:pt x="289" y="696"/>
                      <a:pt x="375" y="696"/>
                    </a:cubicBezTo>
                    <a:cubicBezTo>
                      <a:pt x="518" y="696"/>
                      <a:pt x="624" y="552"/>
                      <a:pt x="566" y="409"/>
                    </a:cubicBezTo>
                    <a:lnTo>
                      <a:pt x="451" y="131"/>
                    </a:lnTo>
                    <a:cubicBezTo>
                      <a:pt x="417" y="39"/>
                      <a:pt x="346" y="1"/>
                      <a:pt x="272" y="1"/>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9" name="Google Shape;15519;p127">
                <a:extLst>
                  <a:ext uri="{FF2B5EF4-FFF2-40B4-BE49-F238E27FC236}">
                    <a16:creationId xmlns:a16="http://schemas.microsoft.com/office/drawing/2014/main" id="{905844FB-A875-CC7D-2F0B-EE38DF7EE008}"/>
                  </a:ext>
                </a:extLst>
              </p:cNvPr>
              <p:cNvSpPr/>
              <p:nvPr/>
            </p:nvSpPr>
            <p:spPr>
              <a:xfrm>
                <a:off x="2036375" y="1630734"/>
                <a:ext cx="22951" cy="13997"/>
              </a:xfrm>
              <a:custGeom>
                <a:avLst/>
                <a:gdLst/>
                <a:ahLst/>
                <a:cxnLst/>
                <a:rect l="l" t="t" r="r" b="b"/>
                <a:pathLst>
                  <a:path w="874" h="533" extrusionOk="0">
                    <a:moveTo>
                      <a:pt x="570" y="0"/>
                    </a:moveTo>
                    <a:cubicBezTo>
                      <a:pt x="544" y="0"/>
                      <a:pt x="517" y="5"/>
                      <a:pt x="489" y="16"/>
                    </a:cubicBezTo>
                    <a:lnTo>
                      <a:pt x="212" y="131"/>
                    </a:lnTo>
                    <a:cubicBezTo>
                      <a:pt x="1" y="217"/>
                      <a:pt x="58" y="532"/>
                      <a:pt x="288" y="532"/>
                    </a:cubicBezTo>
                    <a:cubicBezTo>
                      <a:pt x="317" y="532"/>
                      <a:pt x="345" y="532"/>
                      <a:pt x="374" y="523"/>
                    </a:cubicBezTo>
                    <a:lnTo>
                      <a:pt x="652" y="408"/>
                    </a:lnTo>
                    <a:cubicBezTo>
                      <a:pt x="873" y="314"/>
                      <a:pt x="776" y="0"/>
                      <a:pt x="570" y="0"/>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0" name="Google Shape;15520;p127">
                <a:extLst>
                  <a:ext uri="{FF2B5EF4-FFF2-40B4-BE49-F238E27FC236}">
                    <a16:creationId xmlns:a16="http://schemas.microsoft.com/office/drawing/2014/main" id="{9B5231B9-F4BB-7D83-C28E-912E930C6913}"/>
                  </a:ext>
                </a:extLst>
              </p:cNvPr>
              <p:cNvSpPr/>
              <p:nvPr/>
            </p:nvSpPr>
            <p:spPr>
              <a:xfrm>
                <a:off x="1807441" y="1723143"/>
                <a:ext cx="22846" cy="14075"/>
              </a:xfrm>
              <a:custGeom>
                <a:avLst/>
                <a:gdLst/>
                <a:ahLst/>
                <a:cxnLst/>
                <a:rect l="l" t="t" r="r" b="b"/>
                <a:pathLst>
                  <a:path w="870" h="536" extrusionOk="0">
                    <a:moveTo>
                      <a:pt x="574" y="1"/>
                    </a:moveTo>
                    <a:cubicBezTo>
                      <a:pt x="547" y="1"/>
                      <a:pt x="519" y="6"/>
                      <a:pt x="488" y="19"/>
                    </a:cubicBezTo>
                    <a:lnTo>
                      <a:pt x="211" y="133"/>
                    </a:lnTo>
                    <a:cubicBezTo>
                      <a:pt x="0" y="220"/>
                      <a:pt x="58" y="535"/>
                      <a:pt x="288" y="535"/>
                    </a:cubicBezTo>
                    <a:cubicBezTo>
                      <a:pt x="316" y="535"/>
                      <a:pt x="345" y="526"/>
                      <a:pt x="364" y="516"/>
                    </a:cubicBezTo>
                    <a:lnTo>
                      <a:pt x="642" y="401"/>
                    </a:lnTo>
                    <a:cubicBezTo>
                      <a:pt x="870" y="317"/>
                      <a:pt x="777" y="1"/>
                      <a:pt x="574" y="1"/>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grpSp>
      <p:grpSp>
        <p:nvGrpSpPr>
          <p:cNvPr id="51" name="Group 50">
            <a:extLst>
              <a:ext uri="{FF2B5EF4-FFF2-40B4-BE49-F238E27FC236}">
                <a16:creationId xmlns:a16="http://schemas.microsoft.com/office/drawing/2014/main" id="{8BDF4579-FE7F-7CF4-5C77-6A57307D769D}"/>
              </a:ext>
            </a:extLst>
          </p:cNvPr>
          <p:cNvGrpSpPr/>
          <p:nvPr/>
        </p:nvGrpSpPr>
        <p:grpSpPr>
          <a:xfrm>
            <a:off x="4541700" y="2109000"/>
            <a:ext cx="572700" cy="572700"/>
            <a:chOff x="941935" y="4454968"/>
            <a:chExt cx="572700" cy="572700"/>
          </a:xfrm>
        </p:grpSpPr>
        <p:sp>
          <p:nvSpPr>
            <p:cNvPr id="52" name="Google Shape;839;p61">
              <a:extLst>
                <a:ext uri="{FF2B5EF4-FFF2-40B4-BE49-F238E27FC236}">
                  <a16:creationId xmlns:a16="http://schemas.microsoft.com/office/drawing/2014/main" id="{104D0511-CA95-8D71-A3F0-82E8D29746C8}"/>
                </a:ext>
              </a:extLst>
            </p:cNvPr>
            <p:cNvSpPr/>
            <p:nvPr/>
          </p:nvSpPr>
          <p:spPr>
            <a:xfrm>
              <a:off x="941935" y="4454968"/>
              <a:ext cx="572700" cy="572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nvGrpSpPr>
            <p:cNvPr id="53" name="Google Shape;16037;p127">
              <a:extLst>
                <a:ext uri="{FF2B5EF4-FFF2-40B4-BE49-F238E27FC236}">
                  <a16:creationId xmlns:a16="http://schemas.microsoft.com/office/drawing/2014/main" id="{9A6F2633-7082-9F03-9E6E-6F8D4D6C8B04}"/>
                </a:ext>
              </a:extLst>
            </p:cNvPr>
            <p:cNvGrpSpPr/>
            <p:nvPr/>
          </p:nvGrpSpPr>
          <p:grpSpPr>
            <a:xfrm>
              <a:off x="1079143" y="4545575"/>
              <a:ext cx="341065" cy="298497"/>
              <a:chOff x="3117788" y="3812546"/>
              <a:chExt cx="341065" cy="298497"/>
            </a:xfrm>
          </p:grpSpPr>
          <p:sp>
            <p:nvSpPr>
              <p:cNvPr id="54" name="Google Shape;16038;p127">
                <a:extLst>
                  <a:ext uri="{FF2B5EF4-FFF2-40B4-BE49-F238E27FC236}">
                    <a16:creationId xmlns:a16="http://schemas.microsoft.com/office/drawing/2014/main" id="{58BA37E5-5168-8B68-35E9-72F9D5F0764B}"/>
                  </a:ext>
                </a:extLst>
              </p:cNvPr>
              <p:cNvSpPr/>
              <p:nvPr/>
            </p:nvSpPr>
            <p:spPr>
              <a:xfrm>
                <a:off x="3117788" y="3812546"/>
                <a:ext cx="259396" cy="259370"/>
              </a:xfrm>
              <a:custGeom>
                <a:avLst/>
                <a:gdLst/>
                <a:ahLst/>
                <a:cxnLst/>
                <a:rect l="l" t="t" r="r" b="b"/>
                <a:pathLst>
                  <a:path w="9878" h="9877" extrusionOk="0">
                    <a:moveTo>
                      <a:pt x="4633" y="0"/>
                    </a:moveTo>
                    <a:cubicBezTo>
                      <a:pt x="4422" y="0"/>
                      <a:pt x="4231" y="154"/>
                      <a:pt x="4193" y="355"/>
                    </a:cubicBezTo>
                    <a:lnTo>
                      <a:pt x="3963" y="1474"/>
                    </a:lnTo>
                    <a:cubicBezTo>
                      <a:pt x="3695" y="1560"/>
                      <a:pt x="3427" y="1666"/>
                      <a:pt x="3178" y="1809"/>
                    </a:cubicBezTo>
                    <a:lnTo>
                      <a:pt x="2221" y="1168"/>
                    </a:lnTo>
                    <a:cubicBezTo>
                      <a:pt x="2149" y="1120"/>
                      <a:pt x="2066" y="1097"/>
                      <a:pt x="1982" y="1097"/>
                    </a:cubicBezTo>
                    <a:cubicBezTo>
                      <a:pt x="1864" y="1097"/>
                      <a:pt x="1746" y="1142"/>
                      <a:pt x="1657" y="1225"/>
                    </a:cubicBezTo>
                    <a:lnTo>
                      <a:pt x="1226" y="1666"/>
                    </a:lnTo>
                    <a:cubicBezTo>
                      <a:pt x="1073" y="1809"/>
                      <a:pt x="1054" y="2049"/>
                      <a:pt x="1169" y="2230"/>
                    </a:cubicBezTo>
                    <a:lnTo>
                      <a:pt x="1800" y="3178"/>
                    </a:lnTo>
                    <a:cubicBezTo>
                      <a:pt x="1666" y="3427"/>
                      <a:pt x="1551" y="3695"/>
                      <a:pt x="1475" y="3972"/>
                    </a:cubicBezTo>
                    <a:lnTo>
                      <a:pt x="355" y="4192"/>
                    </a:lnTo>
                    <a:cubicBezTo>
                      <a:pt x="145" y="4240"/>
                      <a:pt x="1" y="4422"/>
                      <a:pt x="1" y="4632"/>
                    </a:cubicBezTo>
                    <a:lnTo>
                      <a:pt x="1" y="5245"/>
                    </a:lnTo>
                    <a:cubicBezTo>
                      <a:pt x="1" y="5456"/>
                      <a:pt x="145" y="5637"/>
                      <a:pt x="355" y="5685"/>
                    </a:cubicBezTo>
                    <a:lnTo>
                      <a:pt x="1475" y="5905"/>
                    </a:lnTo>
                    <a:cubicBezTo>
                      <a:pt x="1551" y="6183"/>
                      <a:pt x="1666" y="6451"/>
                      <a:pt x="1800" y="6700"/>
                    </a:cubicBezTo>
                    <a:lnTo>
                      <a:pt x="1169" y="7647"/>
                    </a:lnTo>
                    <a:cubicBezTo>
                      <a:pt x="1054" y="7829"/>
                      <a:pt x="1073" y="8068"/>
                      <a:pt x="1226" y="8221"/>
                    </a:cubicBezTo>
                    <a:lnTo>
                      <a:pt x="1657" y="8652"/>
                    </a:lnTo>
                    <a:cubicBezTo>
                      <a:pt x="1744" y="8739"/>
                      <a:pt x="1860" y="8783"/>
                      <a:pt x="1975" y="8783"/>
                    </a:cubicBezTo>
                    <a:cubicBezTo>
                      <a:pt x="2061" y="8783"/>
                      <a:pt x="2147" y="8759"/>
                      <a:pt x="2221" y="8709"/>
                    </a:cubicBezTo>
                    <a:lnTo>
                      <a:pt x="3178" y="8068"/>
                    </a:lnTo>
                    <a:cubicBezTo>
                      <a:pt x="3427" y="8212"/>
                      <a:pt x="3695" y="8327"/>
                      <a:pt x="3963" y="8403"/>
                    </a:cubicBezTo>
                    <a:lnTo>
                      <a:pt x="4193" y="9523"/>
                    </a:lnTo>
                    <a:cubicBezTo>
                      <a:pt x="4231" y="9724"/>
                      <a:pt x="4422" y="9877"/>
                      <a:pt x="4633" y="9877"/>
                    </a:cubicBezTo>
                    <a:lnTo>
                      <a:pt x="5245" y="9877"/>
                    </a:lnTo>
                    <a:cubicBezTo>
                      <a:pt x="5456" y="9877"/>
                      <a:pt x="5638" y="9724"/>
                      <a:pt x="5686" y="9523"/>
                    </a:cubicBezTo>
                    <a:lnTo>
                      <a:pt x="5906" y="8403"/>
                    </a:lnTo>
                    <a:cubicBezTo>
                      <a:pt x="6183" y="8327"/>
                      <a:pt x="6451" y="8212"/>
                      <a:pt x="6700" y="8068"/>
                    </a:cubicBezTo>
                    <a:lnTo>
                      <a:pt x="7648" y="8709"/>
                    </a:lnTo>
                    <a:cubicBezTo>
                      <a:pt x="7726" y="8759"/>
                      <a:pt x="7814" y="8783"/>
                      <a:pt x="7901" y="8783"/>
                    </a:cubicBezTo>
                    <a:cubicBezTo>
                      <a:pt x="8017" y="8783"/>
                      <a:pt x="8130" y="8739"/>
                      <a:pt x="8212" y="8652"/>
                    </a:cubicBezTo>
                    <a:lnTo>
                      <a:pt x="8643" y="8221"/>
                    </a:lnTo>
                    <a:cubicBezTo>
                      <a:pt x="8796" y="8068"/>
                      <a:pt x="8825" y="7829"/>
                      <a:pt x="8700" y="7647"/>
                    </a:cubicBezTo>
                    <a:lnTo>
                      <a:pt x="8069" y="6700"/>
                    </a:lnTo>
                    <a:cubicBezTo>
                      <a:pt x="8212" y="6451"/>
                      <a:pt x="8318" y="6183"/>
                      <a:pt x="8394" y="5905"/>
                    </a:cubicBezTo>
                    <a:lnTo>
                      <a:pt x="9514" y="5685"/>
                    </a:lnTo>
                    <a:cubicBezTo>
                      <a:pt x="9724" y="5637"/>
                      <a:pt x="9878" y="5456"/>
                      <a:pt x="9878" y="5245"/>
                    </a:cubicBezTo>
                    <a:lnTo>
                      <a:pt x="9878" y="4632"/>
                    </a:lnTo>
                    <a:cubicBezTo>
                      <a:pt x="9878" y="4422"/>
                      <a:pt x="9724" y="4240"/>
                      <a:pt x="9514" y="4192"/>
                    </a:cubicBezTo>
                    <a:lnTo>
                      <a:pt x="8394" y="3972"/>
                    </a:lnTo>
                    <a:cubicBezTo>
                      <a:pt x="8318" y="3695"/>
                      <a:pt x="8212" y="3427"/>
                      <a:pt x="8069" y="3178"/>
                    </a:cubicBezTo>
                    <a:lnTo>
                      <a:pt x="8700" y="2230"/>
                    </a:lnTo>
                    <a:cubicBezTo>
                      <a:pt x="8825" y="2049"/>
                      <a:pt x="8796" y="1809"/>
                      <a:pt x="8643" y="1666"/>
                    </a:cubicBezTo>
                    <a:lnTo>
                      <a:pt x="8212" y="1225"/>
                    </a:lnTo>
                    <a:cubicBezTo>
                      <a:pt x="8129" y="1142"/>
                      <a:pt x="8013" y="1097"/>
                      <a:pt x="7894" y="1097"/>
                    </a:cubicBezTo>
                    <a:cubicBezTo>
                      <a:pt x="7809" y="1097"/>
                      <a:pt x="7724" y="1120"/>
                      <a:pt x="7648" y="1168"/>
                    </a:cubicBezTo>
                    <a:lnTo>
                      <a:pt x="6700" y="1809"/>
                    </a:lnTo>
                    <a:cubicBezTo>
                      <a:pt x="6451" y="1666"/>
                      <a:pt x="6183" y="1560"/>
                      <a:pt x="5906" y="1474"/>
                    </a:cubicBezTo>
                    <a:lnTo>
                      <a:pt x="5686" y="355"/>
                    </a:lnTo>
                    <a:cubicBezTo>
                      <a:pt x="5638" y="154"/>
                      <a:pt x="5456" y="0"/>
                      <a:pt x="5245" y="0"/>
                    </a:cubicBezTo>
                    <a:close/>
                  </a:path>
                </a:pathLst>
              </a:custGeom>
              <a:solidFill>
                <a:srgbClr val="00B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5" name="Google Shape;16039;p127">
                <a:extLst>
                  <a:ext uri="{FF2B5EF4-FFF2-40B4-BE49-F238E27FC236}">
                    <a16:creationId xmlns:a16="http://schemas.microsoft.com/office/drawing/2014/main" id="{AA5D5FE1-A444-CA36-0D6E-5798F8B1B02D}"/>
                  </a:ext>
                </a:extLst>
              </p:cNvPr>
              <p:cNvSpPr/>
              <p:nvPr/>
            </p:nvSpPr>
            <p:spPr>
              <a:xfrm>
                <a:off x="3171332" y="3885181"/>
                <a:ext cx="132981" cy="114126"/>
              </a:xfrm>
              <a:custGeom>
                <a:avLst/>
                <a:gdLst/>
                <a:ahLst/>
                <a:cxnLst/>
                <a:rect l="l" t="t" r="r" b="b"/>
                <a:pathLst>
                  <a:path w="5064" h="4346" extrusionOk="0">
                    <a:moveTo>
                      <a:pt x="2900" y="0"/>
                    </a:moveTo>
                    <a:cubicBezTo>
                      <a:pt x="967" y="0"/>
                      <a:pt x="0" y="2335"/>
                      <a:pt x="1359" y="3704"/>
                    </a:cubicBezTo>
                    <a:cubicBezTo>
                      <a:pt x="1802" y="4147"/>
                      <a:pt x="2347" y="4345"/>
                      <a:pt x="2880" y="4345"/>
                    </a:cubicBezTo>
                    <a:cubicBezTo>
                      <a:pt x="3995" y="4345"/>
                      <a:pt x="5063" y="3480"/>
                      <a:pt x="5063" y="2173"/>
                    </a:cubicBezTo>
                    <a:cubicBezTo>
                      <a:pt x="5063" y="976"/>
                      <a:pt x="4097" y="0"/>
                      <a:pt x="2900" y="0"/>
                    </a:cubicBezTo>
                    <a:close/>
                  </a:path>
                </a:pathLst>
              </a:custGeom>
              <a:solidFill>
                <a:srgbClr val="E3E8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6" name="Google Shape;16040;p127">
                <a:extLst>
                  <a:ext uri="{FF2B5EF4-FFF2-40B4-BE49-F238E27FC236}">
                    <a16:creationId xmlns:a16="http://schemas.microsoft.com/office/drawing/2014/main" id="{5A38CBAC-C334-D77E-6A6F-BBA05BD808B6}"/>
                  </a:ext>
                </a:extLst>
              </p:cNvPr>
              <p:cNvSpPr/>
              <p:nvPr/>
            </p:nvSpPr>
            <p:spPr>
              <a:xfrm>
                <a:off x="3209541" y="3914067"/>
                <a:ext cx="66123" cy="56485"/>
              </a:xfrm>
              <a:custGeom>
                <a:avLst/>
                <a:gdLst/>
                <a:ahLst/>
                <a:cxnLst/>
                <a:rect l="l" t="t" r="r" b="b"/>
                <a:pathLst>
                  <a:path w="2518" h="2151" extrusionOk="0">
                    <a:moveTo>
                      <a:pt x="1445" y="1"/>
                    </a:moveTo>
                    <a:cubicBezTo>
                      <a:pt x="479" y="1"/>
                      <a:pt x="0" y="1159"/>
                      <a:pt x="680" y="1838"/>
                    </a:cubicBezTo>
                    <a:cubicBezTo>
                      <a:pt x="898" y="2054"/>
                      <a:pt x="1167" y="2151"/>
                      <a:pt x="1430" y="2151"/>
                    </a:cubicBezTo>
                    <a:cubicBezTo>
                      <a:pt x="1985" y="2151"/>
                      <a:pt x="2517" y="1722"/>
                      <a:pt x="2517" y="1073"/>
                    </a:cubicBezTo>
                    <a:cubicBezTo>
                      <a:pt x="2517" y="479"/>
                      <a:pt x="2039" y="1"/>
                      <a:pt x="1445" y="1"/>
                    </a:cubicBezTo>
                    <a:close/>
                  </a:path>
                </a:pathLst>
              </a:custGeom>
              <a:solidFill>
                <a:srgbClr val="364F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7" name="Google Shape;16041;p127">
                <a:extLst>
                  <a:ext uri="{FF2B5EF4-FFF2-40B4-BE49-F238E27FC236}">
                    <a16:creationId xmlns:a16="http://schemas.microsoft.com/office/drawing/2014/main" id="{F4F4151B-DC24-F59E-FFBB-DADDA1F1FF15}"/>
                  </a:ext>
                </a:extLst>
              </p:cNvPr>
              <p:cNvSpPr/>
              <p:nvPr/>
            </p:nvSpPr>
            <p:spPr>
              <a:xfrm>
                <a:off x="3288189" y="3929160"/>
                <a:ext cx="170664" cy="170664"/>
              </a:xfrm>
              <a:custGeom>
                <a:avLst/>
                <a:gdLst/>
                <a:ahLst/>
                <a:cxnLst/>
                <a:rect l="l" t="t" r="r" b="b"/>
                <a:pathLst>
                  <a:path w="6499" h="6499" extrusionOk="0">
                    <a:moveTo>
                      <a:pt x="3044" y="0"/>
                    </a:moveTo>
                    <a:cubicBezTo>
                      <a:pt x="2900" y="0"/>
                      <a:pt x="2786" y="105"/>
                      <a:pt x="2757" y="239"/>
                    </a:cubicBezTo>
                    <a:lnTo>
                      <a:pt x="2613" y="976"/>
                    </a:lnTo>
                    <a:cubicBezTo>
                      <a:pt x="2431" y="1034"/>
                      <a:pt x="2250" y="1101"/>
                      <a:pt x="2087" y="1196"/>
                    </a:cubicBezTo>
                    <a:lnTo>
                      <a:pt x="1465" y="775"/>
                    </a:lnTo>
                    <a:cubicBezTo>
                      <a:pt x="1417" y="743"/>
                      <a:pt x="1362" y="728"/>
                      <a:pt x="1307" y="728"/>
                    </a:cubicBezTo>
                    <a:cubicBezTo>
                      <a:pt x="1231" y="728"/>
                      <a:pt x="1153" y="758"/>
                      <a:pt x="1092" y="814"/>
                    </a:cubicBezTo>
                    <a:lnTo>
                      <a:pt x="814" y="1101"/>
                    </a:lnTo>
                    <a:cubicBezTo>
                      <a:pt x="709" y="1196"/>
                      <a:pt x="699" y="1350"/>
                      <a:pt x="776" y="1474"/>
                    </a:cubicBezTo>
                    <a:lnTo>
                      <a:pt x="1187" y="2096"/>
                    </a:lnTo>
                    <a:cubicBezTo>
                      <a:pt x="1092" y="2259"/>
                      <a:pt x="1025" y="2431"/>
                      <a:pt x="977" y="2613"/>
                    </a:cubicBezTo>
                    <a:lnTo>
                      <a:pt x="240" y="2766"/>
                    </a:lnTo>
                    <a:cubicBezTo>
                      <a:pt x="96" y="2785"/>
                      <a:pt x="1" y="2909"/>
                      <a:pt x="1" y="3053"/>
                    </a:cubicBezTo>
                    <a:lnTo>
                      <a:pt x="1" y="3455"/>
                    </a:lnTo>
                    <a:cubicBezTo>
                      <a:pt x="1" y="3599"/>
                      <a:pt x="96" y="3713"/>
                      <a:pt x="240" y="3742"/>
                    </a:cubicBezTo>
                    <a:lnTo>
                      <a:pt x="977" y="3886"/>
                    </a:lnTo>
                    <a:cubicBezTo>
                      <a:pt x="1025" y="4067"/>
                      <a:pt x="1092" y="4249"/>
                      <a:pt x="1187" y="4412"/>
                    </a:cubicBezTo>
                    <a:lnTo>
                      <a:pt x="776" y="5034"/>
                    </a:lnTo>
                    <a:cubicBezTo>
                      <a:pt x="699" y="5149"/>
                      <a:pt x="709" y="5302"/>
                      <a:pt x="814" y="5407"/>
                    </a:cubicBezTo>
                    <a:lnTo>
                      <a:pt x="1092" y="5685"/>
                    </a:lnTo>
                    <a:cubicBezTo>
                      <a:pt x="1146" y="5744"/>
                      <a:pt x="1218" y="5773"/>
                      <a:pt x="1294" y="5773"/>
                    </a:cubicBezTo>
                    <a:cubicBezTo>
                      <a:pt x="1351" y="5773"/>
                      <a:pt x="1411" y="5756"/>
                      <a:pt x="1465" y="5723"/>
                    </a:cubicBezTo>
                    <a:lnTo>
                      <a:pt x="2087" y="5312"/>
                    </a:lnTo>
                    <a:cubicBezTo>
                      <a:pt x="2250" y="5398"/>
                      <a:pt x="2422" y="5474"/>
                      <a:pt x="2604" y="5522"/>
                    </a:cubicBezTo>
                    <a:lnTo>
                      <a:pt x="2747" y="6259"/>
                    </a:lnTo>
                    <a:cubicBezTo>
                      <a:pt x="2776" y="6403"/>
                      <a:pt x="2900" y="6498"/>
                      <a:pt x="3044" y="6498"/>
                    </a:cubicBezTo>
                    <a:lnTo>
                      <a:pt x="3446" y="6498"/>
                    </a:lnTo>
                    <a:cubicBezTo>
                      <a:pt x="3580" y="6498"/>
                      <a:pt x="3704" y="6403"/>
                      <a:pt x="3733" y="6259"/>
                    </a:cubicBezTo>
                    <a:lnTo>
                      <a:pt x="3877" y="5522"/>
                    </a:lnTo>
                    <a:cubicBezTo>
                      <a:pt x="4058" y="5474"/>
                      <a:pt x="4231" y="5398"/>
                      <a:pt x="4403" y="5312"/>
                    </a:cubicBezTo>
                    <a:lnTo>
                      <a:pt x="5025" y="5733"/>
                    </a:lnTo>
                    <a:cubicBezTo>
                      <a:pt x="5077" y="5765"/>
                      <a:pt x="5134" y="5780"/>
                      <a:pt x="5190" y="5780"/>
                    </a:cubicBezTo>
                    <a:cubicBezTo>
                      <a:pt x="5267" y="5780"/>
                      <a:pt x="5343" y="5750"/>
                      <a:pt x="5398" y="5694"/>
                    </a:cubicBezTo>
                    <a:lnTo>
                      <a:pt x="5685" y="5407"/>
                    </a:lnTo>
                    <a:cubicBezTo>
                      <a:pt x="5781" y="5302"/>
                      <a:pt x="5800" y="5149"/>
                      <a:pt x="5724" y="5034"/>
                    </a:cubicBezTo>
                    <a:lnTo>
                      <a:pt x="5303" y="4412"/>
                    </a:lnTo>
                    <a:cubicBezTo>
                      <a:pt x="5398" y="4240"/>
                      <a:pt x="5465" y="4067"/>
                      <a:pt x="5523" y="3886"/>
                    </a:cubicBezTo>
                    <a:lnTo>
                      <a:pt x="6260" y="3742"/>
                    </a:lnTo>
                    <a:cubicBezTo>
                      <a:pt x="6394" y="3713"/>
                      <a:pt x="6489" y="3589"/>
                      <a:pt x="6499" y="3455"/>
                    </a:cubicBezTo>
                    <a:lnTo>
                      <a:pt x="6499" y="3053"/>
                    </a:lnTo>
                    <a:cubicBezTo>
                      <a:pt x="6489" y="2909"/>
                      <a:pt x="6394" y="2785"/>
                      <a:pt x="6250" y="2766"/>
                    </a:cubicBezTo>
                    <a:lnTo>
                      <a:pt x="5513" y="2613"/>
                    </a:lnTo>
                    <a:cubicBezTo>
                      <a:pt x="5465" y="2431"/>
                      <a:pt x="5389" y="2259"/>
                      <a:pt x="5303" y="2096"/>
                    </a:cubicBezTo>
                    <a:lnTo>
                      <a:pt x="5714" y="1474"/>
                    </a:lnTo>
                    <a:cubicBezTo>
                      <a:pt x="5791" y="1350"/>
                      <a:pt x="5772" y="1196"/>
                      <a:pt x="5676" y="1101"/>
                    </a:cubicBezTo>
                    <a:lnTo>
                      <a:pt x="5398" y="814"/>
                    </a:lnTo>
                    <a:cubicBezTo>
                      <a:pt x="5337" y="758"/>
                      <a:pt x="5259" y="728"/>
                      <a:pt x="5183" y="728"/>
                    </a:cubicBezTo>
                    <a:cubicBezTo>
                      <a:pt x="5128" y="728"/>
                      <a:pt x="5073" y="743"/>
                      <a:pt x="5025" y="775"/>
                    </a:cubicBezTo>
                    <a:lnTo>
                      <a:pt x="4393" y="1196"/>
                    </a:lnTo>
                    <a:cubicBezTo>
                      <a:pt x="4231" y="1101"/>
                      <a:pt x="4058" y="1034"/>
                      <a:pt x="3877" y="976"/>
                    </a:cubicBezTo>
                    <a:lnTo>
                      <a:pt x="3733" y="239"/>
                    </a:lnTo>
                    <a:cubicBezTo>
                      <a:pt x="3704" y="105"/>
                      <a:pt x="3580" y="0"/>
                      <a:pt x="3446" y="0"/>
                    </a:cubicBezTo>
                    <a:close/>
                  </a:path>
                </a:pathLst>
              </a:custGeom>
              <a:solidFill>
                <a:srgbClr val="00B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8" name="Google Shape;16042;p127">
                <a:extLst>
                  <a:ext uri="{FF2B5EF4-FFF2-40B4-BE49-F238E27FC236}">
                    <a16:creationId xmlns:a16="http://schemas.microsoft.com/office/drawing/2014/main" id="{89431D78-D011-876C-23A9-05727C6F3D74}"/>
                  </a:ext>
                </a:extLst>
              </p:cNvPr>
              <p:cNvSpPr/>
              <p:nvPr/>
            </p:nvSpPr>
            <p:spPr>
              <a:xfrm>
                <a:off x="3316340" y="4025672"/>
                <a:ext cx="99788" cy="85371"/>
              </a:xfrm>
              <a:custGeom>
                <a:avLst/>
                <a:gdLst/>
                <a:ahLst/>
                <a:cxnLst/>
                <a:rect l="l" t="t" r="r" b="b"/>
                <a:pathLst>
                  <a:path w="3800" h="3251" extrusionOk="0">
                    <a:moveTo>
                      <a:pt x="2173" y="0"/>
                    </a:moveTo>
                    <a:cubicBezTo>
                      <a:pt x="728" y="0"/>
                      <a:pt x="0" y="1751"/>
                      <a:pt x="1025" y="2775"/>
                    </a:cubicBezTo>
                    <a:cubicBezTo>
                      <a:pt x="1355" y="3103"/>
                      <a:pt x="1762" y="3250"/>
                      <a:pt x="2161" y="3250"/>
                    </a:cubicBezTo>
                    <a:cubicBezTo>
                      <a:pt x="2997" y="3250"/>
                      <a:pt x="3800" y="2605"/>
                      <a:pt x="3800" y="1627"/>
                    </a:cubicBezTo>
                    <a:cubicBezTo>
                      <a:pt x="3800" y="727"/>
                      <a:pt x="3073" y="0"/>
                      <a:pt x="2173" y="0"/>
                    </a:cubicBezTo>
                    <a:close/>
                  </a:path>
                </a:pathLst>
              </a:custGeom>
              <a:solidFill>
                <a:srgbClr val="C6CF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9" name="Google Shape;16043;p127">
                <a:extLst>
                  <a:ext uri="{FF2B5EF4-FFF2-40B4-BE49-F238E27FC236}">
                    <a16:creationId xmlns:a16="http://schemas.microsoft.com/office/drawing/2014/main" id="{D2B16F25-8072-8077-7853-A0AF87FAB6A0}"/>
                  </a:ext>
                </a:extLst>
              </p:cNvPr>
              <p:cNvSpPr/>
              <p:nvPr/>
            </p:nvSpPr>
            <p:spPr>
              <a:xfrm>
                <a:off x="3339213" y="4042741"/>
                <a:ext cx="59847" cy="51260"/>
              </a:xfrm>
              <a:custGeom>
                <a:avLst/>
                <a:gdLst/>
                <a:ahLst/>
                <a:cxnLst/>
                <a:rect l="l" t="t" r="r" b="b"/>
                <a:pathLst>
                  <a:path w="2279" h="1952" extrusionOk="0">
                    <a:moveTo>
                      <a:pt x="1302" y="1"/>
                    </a:moveTo>
                    <a:cubicBezTo>
                      <a:pt x="431" y="1"/>
                      <a:pt x="0" y="1044"/>
                      <a:pt x="613" y="1666"/>
                    </a:cubicBezTo>
                    <a:cubicBezTo>
                      <a:pt x="810" y="1863"/>
                      <a:pt x="1053" y="1951"/>
                      <a:pt x="1292" y="1951"/>
                    </a:cubicBezTo>
                    <a:cubicBezTo>
                      <a:pt x="1794" y="1951"/>
                      <a:pt x="2278" y="1561"/>
                      <a:pt x="2278" y="977"/>
                    </a:cubicBezTo>
                    <a:cubicBezTo>
                      <a:pt x="2278" y="431"/>
                      <a:pt x="1838" y="1"/>
                      <a:pt x="1302" y="1"/>
                    </a:cubicBezTo>
                    <a:close/>
                  </a:path>
                </a:pathLst>
              </a:custGeom>
              <a:solidFill>
                <a:srgbClr val="4B63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grpSp>
      <p:grpSp>
        <p:nvGrpSpPr>
          <p:cNvPr id="60" name="Group 59">
            <a:extLst>
              <a:ext uri="{FF2B5EF4-FFF2-40B4-BE49-F238E27FC236}">
                <a16:creationId xmlns:a16="http://schemas.microsoft.com/office/drawing/2014/main" id="{47F89C20-F7A1-CB54-60C0-33388731BDDB}"/>
              </a:ext>
            </a:extLst>
          </p:cNvPr>
          <p:cNvGrpSpPr/>
          <p:nvPr/>
        </p:nvGrpSpPr>
        <p:grpSpPr>
          <a:xfrm>
            <a:off x="4542022" y="3593313"/>
            <a:ext cx="572700" cy="572700"/>
            <a:chOff x="6233774" y="1425062"/>
            <a:chExt cx="572700" cy="572700"/>
          </a:xfrm>
        </p:grpSpPr>
        <p:sp>
          <p:nvSpPr>
            <p:cNvPr id="61" name="Google Shape;839;p61">
              <a:extLst>
                <a:ext uri="{FF2B5EF4-FFF2-40B4-BE49-F238E27FC236}">
                  <a16:creationId xmlns:a16="http://schemas.microsoft.com/office/drawing/2014/main" id="{F9FBBE64-D7FA-9BE1-1AE3-94C235ED97D4}"/>
                </a:ext>
              </a:extLst>
            </p:cNvPr>
            <p:cNvSpPr/>
            <p:nvPr/>
          </p:nvSpPr>
          <p:spPr>
            <a:xfrm>
              <a:off x="6233774" y="1425062"/>
              <a:ext cx="572700" cy="572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nvGrpSpPr>
            <p:cNvPr id="62" name="Google Shape;16450;p127">
              <a:extLst>
                <a:ext uri="{FF2B5EF4-FFF2-40B4-BE49-F238E27FC236}">
                  <a16:creationId xmlns:a16="http://schemas.microsoft.com/office/drawing/2014/main" id="{12F6F46C-8BE8-C8B0-5E14-F225D74D7CD3}"/>
                </a:ext>
              </a:extLst>
            </p:cNvPr>
            <p:cNvGrpSpPr/>
            <p:nvPr/>
          </p:nvGrpSpPr>
          <p:grpSpPr>
            <a:xfrm>
              <a:off x="6348052" y="1531964"/>
              <a:ext cx="342824" cy="351228"/>
              <a:chOff x="870773" y="3357985"/>
              <a:chExt cx="342824" cy="351228"/>
            </a:xfrm>
          </p:grpSpPr>
          <p:sp>
            <p:nvSpPr>
              <p:cNvPr id="63" name="Google Shape;16451;p127">
                <a:extLst>
                  <a:ext uri="{FF2B5EF4-FFF2-40B4-BE49-F238E27FC236}">
                    <a16:creationId xmlns:a16="http://schemas.microsoft.com/office/drawing/2014/main" id="{2CABFC24-361E-8887-7C89-936554A75037}"/>
                  </a:ext>
                </a:extLst>
              </p:cNvPr>
              <p:cNvSpPr/>
              <p:nvPr/>
            </p:nvSpPr>
            <p:spPr>
              <a:xfrm>
                <a:off x="870773" y="3357985"/>
                <a:ext cx="342824" cy="351228"/>
              </a:xfrm>
              <a:custGeom>
                <a:avLst/>
                <a:gdLst/>
                <a:ahLst/>
                <a:cxnLst/>
                <a:rect l="l" t="t" r="r" b="b"/>
                <a:pathLst>
                  <a:path w="13055" h="13375" extrusionOk="0">
                    <a:moveTo>
                      <a:pt x="6523" y="0"/>
                    </a:moveTo>
                    <a:cubicBezTo>
                      <a:pt x="6339" y="0"/>
                      <a:pt x="6155" y="89"/>
                      <a:pt x="6049" y="266"/>
                    </a:cubicBezTo>
                    <a:lnTo>
                      <a:pt x="5255" y="1606"/>
                    </a:lnTo>
                    <a:cubicBezTo>
                      <a:pt x="5152" y="1777"/>
                      <a:pt x="4972" y="1874"/>
                      <a:pt x="4786" y="1874"/>
                    </a:cubicBezTo>
                    <a:cubicBezTo>
                      <a:pt x="4712" y="1874"/>
                      <a:pt x="4637" y="1859"/>
                      <a:pt x="4566" y="1826"/>
                    </a:cubicBezTo>
                    <a:lnTo>
                      <a:pt x="3130" y="1213"/>
                    </a:lnTo>
                    <a:cubicBezTo>
                      <a:pt x="3059" y="1183"/>
                      <a:pt x="2986" y="1169"/>
                      <a:pt x="2915" y="1169"/>
                    </a:cubicBezTo>
                    <a:cubicBezTo>
                      <a:pt x="2606" y="1169"/>
                      <a:pt x="2334" y="1434"/>
                      <a:pt x="2365" y="1768"/>
                    </a:cubicBezTo>
                    <a:lnTo>
                      <a:pt x="2508" y="3328"/>
                    </a:lnTo>
                    <a:cubicBezTo>
                      <a:pt x="2527" y="3606"/>
                      <a:pt x="2346" y="3855"/>
                      <a:pt x="2078" y="3912"/>
                    </a:cubicBezTo>
                    <a:lnTo>
                      <a:pt x="566" y="4257"/>
                    </a:lnTo>
                    <a:cubicBezTo>
                      <a:pt x="154" y="4343"/>
                      <a:pt x="1" y="4840"/>
                      <a:pt x="278" y="5156"/>
                    </a:cubicBezTo>
                    <a:lnTo>
                      <a:pt x="1302" y="6324"/>
                    </a:lnTo>
                    <a:cubicBezTo>
                      <a:pt x="1484" y="6534"/>
                      <a:pt x="1484" y="6841"/>
                      <a:pt x="1302" y="7051"/>
                    </a:cubicBezTo>
                    <a:lnTo>
                      <a:pt x="278" y="8219"/>
                    </a:lnTo>
                    <a:cubicBezTo>
                      <a:pt x="1" y="8535"/>
                      <a:pt x="154" y="9023"/>
                      <a:pt x="566" y="9118"/>
                    </a:cubicBezTo>
                    <a:lnTo>
                      <a:pt x="2078" y="9463"/>
                    </a:lnTo>
                    <a:cubicBezTo>
                      <a:pt x="2355" y="9520"/>
                      <a:pt x="2537" y="9779"/>
                      <a:pt x="2508" y="10047"/>
                    </a:cubicBezTo>
                    <a:lnTo>
                      <a:pt x="2365" y="11607"/>
                    </a:lnTo>
                    <a:cubicBezTo>
                      <a:pt x="2334" y="11941"/>
                      <a:pt x="2606" y="12206"/>
                      <a:pt x="2915" y="12206"/>
                    </a:cubicBezTo>
                    <a:cubicBezTo>
                      <a:pt x="2986" y="12206"/>
                      <a:pt x="3059" y="12192"/>
                      <a:pt x="3130" y="12162"/>
                    </a:cubicBezTo>
                    <a:lnTo>
                      <a:pt x="4566" y="11549"/>
                    </a:lnTo>
                    <a:cubicBezTo>
                      <a:pt x="4637" y="11520"/>
                      <a:pt x="4711" y="11507"/>
                      <a:pt x="4783" y="11507"/>
                    </a:cubicBezTo>
                    <a:cubicBezTo>
                      <a:pt x="4975" y="11507"/>
                      <a:pt x="5158" y="11603"/>
                      <a:pt x="5255" y="11769"/>
                    </a:cubicBezTo>
                    <a:lnTo>
                      <a:pt x="6049" y="13109"/>
                    </a:lnTo>
                    <a:cubicBezTo>
                      <a:pt x="6155" y="13286"/>
                      <a:pt x="6339" y="13375"/>
                      <a:pt x="6523" y="13375"/>
                    </a:cubicBezTo>
                    <a:cubicBezTo>
                      <a:pt x="6707" y="13375"/>
                      <a:pt x="6892" y="13286"/>
                      <a:pt x="6997" y="13109"/>
                    </a:cubicBezTo>
                    <a:lnTo>
                      <a:pt x="7791" y="11769"/>
                    </a:lnTo>
                    <a:cubicBezTo>
                      <a:pt x="7894" y="11598"/>
                      <a:pt x="8076" y="11505"/>
                      <a:pt x="8262" y="11505"/>
                    </a:cubicBezTo>
                    <a:cubicBezTo>
                      <a:pt x="8336" y="11505"/>
                      <a:pt x="8410" y="11519"/>
                      <a:pt x="8480" y="11549"/>
                    </a:cubicBezTo>
                    <a:lnTo>
                      <a:pt x="9916" y="12162"/>
                    </a:lnTo>
                    <a:cubicBezTo>
                      <a:pt x="9987" y="12192"/>
                      <a:pt x="10060" y="12206"/>
                      <a:pt x="10131" y="12206"/>
                    </a:cubicBezTo>
                    <a:cubicBezTo>
                      <a:pt x="10440" y="12206"/>
                      <a:pt x="10712" y="11941"/>
                      <a:pt x="10681" y="11607"/>
                    </a:cubicBezTo>
                    <a:lnTo>
                      <a:pt x="10547" y="10056"/>
                    </a:lnTo>
                    <a:cubicBezTo>
                      <a:pt x="10519" y="9779"/>
                      <a:pt x="10701" y="9520"/>
                      <a:pt x="10968" y="9463"/>
                    </a:cubicBezTo>
                    <a:lnTo>
                      <a:pt x="12490" y="9118"/>
                    </a:lnTo>
                    <a:cubicBezTo>
                      <a:pt x="12892" y="9023"/>
                      <a:pt x="13055" y="8535"/>
                      <a:pt x="12777" y="8219"/>
                    </a:cubicBezTo>
                    <a:lnTo>
                      <a:pt x="11753" y="7051"/>
                    </a:lnTo>
                    <a:cubicBezTo>
                      <a:pt x="11571" y="6841"/>
                      <a:pt x="11571" y="6534"/>
                      <a:pt x="11753" y="6324"/>
                    </a:cubicBezTo>
                    <a:lnTo>
                      <a:pt x="12777" y="5156"/>
                    </a:lnTo>
                    <a:cubicBezTo>
                      <a:pt x="13055" y="4840"/>
                      <a:pt x="12892" y="4343"/>
                      <a:pt x="12481" y="4257"/>
                    </a:cubicBezTo>
                    <a:lnTo>
                      <a:pt x="10968" y="3912"/>
                    </a:lnTo>
                    <a:cubicBezTo>
                      <a:pt x="10701" y="3845"/>
                      <a:pt x="10519" y="3596"/>
                      <a:pt x="10538" y="3319"/>
                    </a:cubicBezTo>
                    <a:lnTo>
                      <a:pt x="10681" y="1768"/>
                    </a:lnTo>
                    <a:cubicBezTo>
                      <a:pt x="10712" y="1429"/>
                      <a:pt x="10445" y="1164"/>
                      <a:pt x="10140" y="1164"/>
                    </a:cubicBezTo>
                    <a:cubicBezTo>
                      <a:pt x="10066" y="1164"/>
                      <a:pt x="9990" y="1180"/>
                      <a:pt x="9916" y="1213"/>
                    </a:cubicBezTo>
                    <a:lnTo>
                      <a:pt x="8480" y="1826"/>
                    </a:lnTo>
                    <a:cubicBezTo>
                      <a:pt x="8410" y="1854"/>
                      <a:pt x="8337" y="1868"/>
                      <a:pt x="8264" y="1868"/>
                    </a:cubicBezTo>
                    <a:cubicBezTo>
                      <a:pt x="8072" y="1868"/>
                      <a:pt x="7889" y="1770"/>
                      <a:pt x="7791" y="1596"/>
                    </a:cubicBezTo>
                    <a:lnTo>
                      <a:pt x="6997" y="266"/>
                    </a:lnTo>
                    <a:cubicBezTo>
                      <a:pt x="6892" y="89"/>
                      <a:pt x="6707" y="0"/>
                      <a:pt x="6523" y="0"/>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64" name="Google Shape;16452;p127">
                <a:extLst>
                  <a:ext uri="{FF2B5EF4-FFF2-40B4-BE49-F238E27FC236}">
                    <a16:creationId xmlns:a16="http://schemas.microsoft.com/office/drawing/2014/main" id="{FBDCB511-5ECE-DBF4-7B07-0861B298945A}"/>
                  </a:ext>
                </a:extLst>
              </p:cNvPr>
              <p:cNvSpPr/>
              <p:nvPr/>
            </p:nvSpPr>
            <p:spPr>
              <a:xfrm>
                <a:off x="1024577" y="3357985"/>
                <a:ext cx="50288" cy="49238"/>
              </a:xfrm>
              <a:custGeom>
                <a:avLst/>
                <a:gdLst/>
                <a:ahLst/>
                <a:cxnLst/>
                <a:rect l="l" t="t" r="r" b="b"/>
                <a:pathLst>
                  <a:path w="1915" h="1875" extrusionOk="0">
                    <a:moveTo>
                      <a:pt x="666" y="0"/>
                    </a:moveTo>
                    <a:cubicBezTo>
                      <a:pt x="482" y="0"/>
                      <a:pt x="298" y="89"/>
                      <a:pt x="192" y="266"/>
                    </a:cubicBezTo>
                    <a:lnTo>
                      <a:pt x="1" y="591"/>
                    </a:lnTo>
                    <a:lnTo>
                      <a:pt x="604" y="1606"/>
                    </a:lnTo>
                    <a:cubicBezTo>
                      <a:pt x="706" y="1777"/>
                      <a:pt x="887" y="1874"/>
                      <a:pt x="1073" y="1874"/>
                    </a:cubicBezTo>
                    <a:cubicBezTo>
                      <a:pt x="1147" y="1874"/>
                      <a:pt x="1222" y="1859"/>
                      <a:pt x="1293" y="1826"/>
                    </a:cubicBezTo>
                    <a:lnTo>
                      <a:pt x="1915" y="1567"/>
                    </a:lnTo>
                    <a:lnTo>
                      <a:pt x="1140" y="266"/>
                    </a:lnTo>
                    <a:cubicBezTo>
                      <a:pt x="1035" y="89"/>
                      <a:pt x="850" y="0"/>
                      <a:pt x="666" y="0"/>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65" name="Google Shape;16453;p127">
                <a:extLst>
                  <a:ext uri="{FF2B5EF4-FFF2-40B4-BE49-F238E27FC236}">
                    <a16:creationId xmlns:a16="http://schemas.microsoft.com/office/drawing/2014/main" id="{F663CD28-D06B-C623-ECF9-E5B9804FE38E}"/>
                  </a:ext>
                </a:extLst>
              </p:cNvPr>
              <p:cNvSpPr/>
              <p:nvPr/>
            </p:nvSpPr>
            <p:spPr>
              <a:xfrm>
                <a:off x="1111787" y="3388552"/>
                <a:ext cx="101810" cy="289832"/>
              </a:xfrm>
              <a:custGeom>
                <a:avLst/>
                <a:gdLst/>
                <a:ahLst/>
                <a:cxnLst/>
                <a:rect l="l" t="t" r="r" b="b"/>
                <a:pathLst>
                  <a:path w="3877" h="11037" extrusionOk="0">
                    <a:moveTo>
                      <a:pt x="962" y="0"/>
                    </a:moveTo>
                    <a:cubicBezTo>
                      <a:pt x="888" y="0"/>
                      <a:pt x="812" y="16"/>
                      <a:pt x="738" y="49"/>
                    </a:cubicBezTo>
                    <a:lnTo>
                      <a:pt x="116" y="308"/>
                    </a:lnTo>
                    <a:cubicBezTo>
                      <a:pt x="164" y="403"/>
                      <a:pt x="183" y="499"/>
                      <a:pt x="173" y="604"/>
                    </a:cubicBezTo>
                    <a:lnTo>
                      <a:pt x="30" y="2155"/>
                    </a:lnTo>
                    <a:cubicBezTo>
                      <a:pt x="1" y="2432"/>
                      <a:pt x="183" y="2681"/>
                      <a:pt x="460" y="2748"/>
                    </a:cubicBezTo>
                    <a:lnTo>
                      <a:pt x="1972" y="3093"/>
                    </a:lnTo>
                    <a:cubicBezTo>
                      <a:pt x="2384" y="3179"/>
                      <a:pt x="2537" y="3676"/>
                      <a:pt x="2269" y="3992"/>
                    </a:cubicBezTo>
                    <a:lnTo>
                      <a:pt x="1245" y="5160"/>
                    </a:lnTo>
                    <a:cubicBezTo>
                      <a:pt x="1054" y="5361"/>
                      <a:pt x="1054" y="5677"/>
                      <a:pt x="1245" y="5887"/>
                    </a:cubicBezTo>
                    <a:lnTo>
                      <a:pt x="2269" y="7055"/>
                    </a:lnTo>
                    <a:cubicBezTo>
                      <a:pt x="2537" y="7371"/>
                      <a:pt x="2384" y="7859"/>
                      <a:pt x="1972" y="7954"/>
                    </a:cubicBezTo>
                    <a:lnTo>
                      <a:pt x="460" y="8299"/>
                    </a:lnTo>
                    <a:cubicBezTo>
                      <a:pt x="183" y="8356"/>
                      <a:pt x="1" y="8615"/>
                      <a:pt x="30" y="8883"/>
                    </a:cubicBezTo>
                    <a:lnTo>
                      <a:pt x="173" y="10433"/>
                    </a:lnTo>
                    <a:cubicBezTo>
                      <a:pt x="183" y="10538"/>
                      <a:pt x="164" y="10634"/>
                      <a:pt x="116" y="10730"/>
                    </a:cubicBezTo>
                    <a:lnTo>
                      <a:pt x="738" y="10988"/>
                    </a:lnTo>
                    <a:cubicBezTo>
                      <a:pt x="812" y="11022"/>
                      <a:pt x="888" y="11037"/>
                      <a:pt x="962" y="11037"/>
                    </a:cubicBezTo>
                    <a:cubicBezTo>
                      <a:pt x="1267" y="11037"/>
                      <a:pt x="1534" y="10772"/>
                      <a:pt x="1503" y="10433"/>
                    </a:cubicBezTo>
                    <a:lnTo>
                      <a:pt x="1360" y="8892"/>
                    </a:lnTo>
                    <a:cubicBezTo>
                      <a:pt x="1331" y="8615"/>
                      <a:pt x="1513" y="8356"/>
                      <a:pt x="1790" y="8299"/>
                    </a:cubicBezTo>
                    <a:lnTo>
                      <a:pt x="3303" y="7954"/>
                    </a:lnTo>
                    <a:cubicBezTo>
                      <a:pt x="3714" y="7859"/>
                      <a:pt x="3867" y="7371"/>
                      <a:pt x="3599" y="7055"/>
                    </a:cubicBezTo>
                    <a:lnTo>
                      <a:pt x="2575" y="5887"/>
                    </a:lnTo>
                    <a:cubicBezTo>
                      <a:pt x="2393" y="5677"/>
                      <a:pt x="2393" y="5370"/>
                      <a:pt x="2575" y="5160"/>
                    </a:cubicBezTo>
                    <a:lnTo>
                      <a:pt x="3599" y="3992"/>
                    </a:lnTo>
                    <a:cubicBezTo>
                      <a:pt x="3877" y="3676"/>
                      <a:pt x="3714" y="3179"/>
                      <a:pt x="3303" y="3093"/>
                    </a:cubicBezTo>
                    <a:lnTo>
                      <a:pt x="1790" y="2748"/>
                    </a:lnTo>
                    <a:cubicBezTo>
                      <a:pt x="1523" y="2681"/>
                      <a:pt x="1341" y="2432"/>
                      <a:pt x="1360" y="2155"/>
                    </a:cubicBezTo>
                    <a:lnTo>
                      <a:pt x="1503" y="604"/>
                    </a:lnTo>
                    <a:cubicBezTo>
                      <a:pt x="1534" y="265"/>
                      <a:pt x="1267" y="0"/>
                      <a:pt x="962" y="0"/>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66" name="Google Shape;16454;p127">
                <a:extLst>
                  <a:ext uri="{FF2B5EF4-FFF2-40B4-BE49-F238E27FC236}">
                    <a16:creationId xmlns:a16="http://schemas.microsoft.com/office/drawing/2014/main" id="{685DC09B-C88E-5B81-94F9-CA435B2F98E4}"/>
                  </a:ext>
                </a:extLst>
              </p:cNvPr>
              <p:cNvSpPr/>
              <p:nvPr/>
            </p:nvSpPr>
            <p:spPr>
              <a:xfrm>
                <a:off x="1024840" y="3660133"/>
                <a:ext cx="50025" cy="49080"/>
              </a:xfrm>
              <a:custGeom>
                <a:avLst/>
                <a:gdLst/>
                <a:ahLst/>
                <a:cxnLst/>
                <a:rect l="l" t="t" r="r" b="b"/>
                <a:pathLst>
                  <a:path w="1905" h="1869" extrusionOk="0">
                    <a:moveTo>
                      <a:pt x="1071" y="1"/>
                    </a:moveTo>
                    <a:cubicBezTo>
                      <a:pt x="883" y="1"/>
                      <a:pt x="698" y="97"/>
                      <a:pt x="594" y="263"/>
                    </a:cubicBezTo>
                    <a:lnTo>
                      <a:pt x="0" y="1278"/>
                    </a:lnTo>
                    <a:lnTo>
                      <a:pt x="192" y="1603"/>
                    </a:lnTo>
                    <a:cubicBezTo>
                      <a:pt x="297" y="1780"/>
                      <a:pt x="479" y="1869"/>
                      <a:pt x="662" y="1869"/>
                    </a:cubicBezTo>
                    <a:cubicBezTo>
                      <a:pt x="845" y="1869"/>
                      <a:pt x="1029" y="1780"/>
                      <a:pt x="1139" y="1603"/>
                    </a:cubicBezTo>
                    <a:lnTo>
                      <a:pt x="1905" y="311"/>
                    </a:lnTo>
                    <a:lnTo>
                      <a:pt x="1283" y="43"/>
                    </a:lnTo>
                    <a:cubicBezTo>
                      <a:pt x="1215" y="14"/>
                      <a:pt x="1143" y="1"/>
                      <a:pt x="1071" y="1"/>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67" name="Google Shape;16455;p127">
                <a:extLst>
                  <a:ext uri="{FF2B5EF4-FFF2-40B4-BE49-F238E27FC236}">
                    <a16:creationId xmlns:a16="http://schemas.microsoft.com/office/drawing/2014/main" id="{F6F7E2C8-4877-C8FC-F020-9D34F3070D99}"/>
                  </a:ext>
                </a:extLst>
              </p:cNvPr>
              <p:cNvSpPr/>
              <p:nvPr/>
            </p:nvSpPr>
            <p:spPr>
              <a:xfrm>
                <a:off x="939390" y="3431067"/>
                <a:ext cx="211892" cy="205222"/>
              </a:xfrm>
              <a:custGeom>
                <a:avLst/>
                <a:gdLst/>
                <a:ahLst/>
                <a:cxnLst/>
                <a:rect l="l" t="t" r="r" b="b"/>
                <a:pathLst>
                  <a:path w="8069" h="7815" extrusionOk="0">
                    <a:moveTo>
                      <a:pt x="3916" y="0"/>
                    </a:moveTo>
                    <a:cubicBezTo>
                      <a:pt x="1659" y="0"/>
                      <a:pt x="1" y="1823"/>
                      <a:pt x="1" y="3895"/>
                    </a:cubicBezTo>
                    <a:cubicBezTo>
                      <a:pt x="1" y="6224"/>
                      <a:pt x="1910" y="7814"/>
                      <a:pt x="3928" y="7814"/>
                    </a:cubicBezTo>
                    <a:cubicBezTo>
                      <a:pt x="4771" y="7814"/>
                      <a:pt x="5634" y="7537"/>
                      <a:pt x="6384" y="6919"/>
                    </a:cubicBezTo>
                    <a:cubicBezTo>
                      <a:pt x="7561" y="5962"/>
                      <a:pt x="8068" y="4421"/>
                      <a:pt x="7695" y="2947"/>
                    </a:cubicBezTo>
                    <a:cubicBezTo>
                      <a:pt x="7331" y="1483"/>
                      <a:pt x="6154" y="363"/>
                      <a:pt x="4671" y="67"/>
                    </a:cubicBezTo>
                    <a:cubicBezTo>
                      <a:pt x="4413" y="22"/>
                      <a:pt x="4161" y="0"/>
                      <a:pt x="3916" y="0"/>
                    </a:cubicBezTo>
                    <a:close/>
                  </a:path>
                </a:pathLst>
              </a:custGeom>
              <a:solidFill>
                <a:srgbClr val="C1C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68" name="Google Shape;16456;p127">
                <a:extLst>
                  <a:ext uri="{FF2B5EF4-FFF2-40B4-BE49-F238E27FC236}">
                    <a16:creationId xmlns:a16="http://schemas.microsoft.com/office/drawing/2014/main" id="{376078E3-0D9C-5788-2036-95BEDF465721}"/>
                  </a:ext>
                </a:extLst>
              </p:cNvPr>
              <p:cNvSpPr/>
              <p:nvPr/>
            </p:nvSpPr>
            <p:spPr>
              <a:xfrm>
                <a:off x="970561" y="3470641"/>
                <a:ext cx="60345" cy="51653"/>
              </a:xfrm>
              <a:custGeom>
                <a:avLst/>
                <a:gdLst/>
                <a:ahLst/>
                <a:cxnLst/>
                <a:rect l="l" t="t" r="r" b="b"/>
                <a:pathLst>
                  <a:path w="2298" h="1967" extrusionOk="0">
                    <a:moveTo>
                      <a:pt x="1315" y="409"/>
                    </a:moveTo>
                    <a:cubicBezTo>
                      <a:pt x="1456" y="409"/>
                      <a:pt x="1599" y="461"/>
                      <a:pt x="1713" y="579"/>
                    </a:cubicBezTo>
                    <a:cubicBezTo>
                      <a:pt x="2077" y="943"/>
                      <a:pt x="1819" y="1555"/>
                      <a:pt x="1311" y="1555"/>
                    </a:cubicBezTo>
                    <a:cubicBezTo>
                      <a:pt x="996" y="1555"/>
                      <a:pt x="737" y="1297"/>
                      <a:pt x="737" y="981"/>
                    </a:cubicBezTo>
                    <a:cubicBezTo>
                      <a:pt x="737" y="638"/>
                      <a:pt x="1022" y="409"/>
                      <a:pt x="1315" y="409"/>
                    </a:cubicBezTo>
                    <a:close/>
                    <a:moveTo>
                      <a:pt x="1308" y="0"/>
                    </a:moveTo>
                    <a:cubicBezTo>
                      <a:pt x="1067" y="0"/>
                      <a:pt x="821" y="90"/>
                      <a:pt x="622" y="292"/>
                    </a:cubicBezTo>
                    <a:cubicBezTo>
                      <a:pt x="0" y="905"/>
                      <a:pt x="441" y="1967"/>
                      <a:pt x="1311" y="1967"/>
                    </a:cubicBezTo>
                    <a:cubicBezTo>
                      <a:pt x="1857" y="1967"/>
                      <a:pt x="2288" y="1527"/>
                      <a:pt x="2297" y="981"/>
                    </a:cubicBezTo>
                    <a:cubicBezTo>
                      <a:pt x="2297" y="392"/>
                      <a:pt x="1812" y="0"/>
                      <a:pt x="1308" y="0"/>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69" name="Google Shape;16457;p127">
                <a:extLst>
                  <a:ext uri="{FF2B5EF4-FFF2-40B4-BE49-F238E27FC236}">
                    <a16:creationId xmlns:a16="http://schemas.microsoft.com/office/drawing/2014/main" id="{00124160-65FB-8D7D-628E-2EBB12B2F9E9}"/>
                  </a:ext>
                </a:extLst>
              </p:cNvPr>
              <p:cNvSpPr/>
              <p:nvPr/>
            </p:nvSpPr>
            <p:spPr>
              <a:xfrm>
                <a:off x="1053332" y="3545140"/>
                <a:ext cx="60188" cy="51417"/>
              </a:xfrm>
              <a:custGeom>
                <a:avLst/>
                <a:gdLst/>
                <a:ahLst/>
                <a:cxnLst/>
                <a:rect l="l" t="t" r="r" b="b"/>
                <a:pathLst>
                  <a:path w="2292" h="1958" extrusionOk="0">
                    <a:moveTo>
                      <a:pt x="983" y="393"/>
                    </a:moveTo>
                    <a:cubicBezTo>
                      <a:pt x="1299" y="403"/>
                      <a:pt x="1557" y="652"/>
                      <a:pt x="1557" y="967"/>
                    </a:cubicBezTo>
                    <a:cubicBezTo>
                      <a:pt x="1557" y="1317"/>
                      <a:pt x="1276" y="1549"/>
                      <a:pt x="982" y="1549"/>
                    </a:cubicBezTo>
                    <a:cubicBezTo>
                      <a:pt x="841" y="1549"/>
                      <a:pt x="698" y="1496"/>
                      <a:pt x="581" y="1379"/>
                    </a:cubicBezTo>
                    <a:cubicBezTo>
                      <a:pt x="217" y="1015"/>
                      <a:pt x="475" y="393"/>
                      <a:pt x="983" y="393"/>
                    </a:cubicBezTo>
                    <a:close/>
                    <a:moveTo>
                      <a:pt x="994" y="1"/>
                    </a:moveTo>
                    <a:cubicBezTo>
                      <a:pt x="991" y="1"/>
                      <a:pt x="987" y="1"/>
                      <a:pt x="983" y="1"/>
                    </a:cubicBezTo>
                    <a:cubicBezTo>
                      <a:pt x="437" y="1"/>
                      <a:pt x="7" y="431"/>
                      <a:pt x="7" y="967"/>
                    </a:cubicBezTo>
                    <a:cubicBezTo>
                      <a:pt x="0" y="1563"/>
                      <a:pt x="484" y="1957"/>
                      <a:pt x="991" y="1957"/>
                    </a:cubicBezTo>
                    <a:cubicBezTo>
                      <a:pt x="1233" y="1957"/>
                      <a:pt x="1480" y="1867"/>
                      <a:pt x="1681" y="1666"/>
                    </a:cubicBezTo>
                    <a:cubicBezTo>
                      <a:pt x="2291" y="1047"/>
                      <a:pt x="1858" y="1"/>
                      <a:pt x="994" y="1"/>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70" name="Google Shape;16458;p127">
                <a:extLst>
                  <a:ext uri="{FF2B5EF4-FFF2-40B4-BE49-F238E27FC236}">
                    <a16:creationId xmlns:a16="http://schemas.microsoft.com/office/drawing/2014/main" id="{E1FC3C75-E2D8-75D1-AA2E-82C287E04813}"/>
                  </a:ext>
                </a:extLst>
              </p:cNvPr>
              <p:cNvSpPr/>
              <p:nvPr/>
            </p:nvSpPr>
            <p:spPr>
              <a:xfrm>
                <a:off x="992330" y="3479595"/>
                <a:ext cx="106090" cy="101836"/>
              </a:xfrm>
              <a:custGeom>
                <a:avLst/>
                <a:gdLst/>
                <a:ahLst/>
                <a:cxnLst/>
                <a:rect l="l" t="t" r="r" b="b"/>
                <a:pathLst>
                  <a:path w="4040" h="3878" extrusionOk="0">
                    <a:moveTo>
                      <a:pt x="3742" y="0"/>
                    </a:moveTo>
                    <a:cubicBezTo>
                      <a:pt x="3692" y="0"/>
                      <a:pt x="3639" y="22"/>
                      <a:pt x="3593" y="75"/>
                    </a:cubicBezTo>
                    <a:lnTo>
                      <a:pt x="128" y="3540"/>
                    </a:lnTo>
                    <a:cubicBezTo>
                      <a:pt x="1" y="3682"/>
                      <a:pt x="132" y="3877"/>
                      <a:pt x="286" y="3877"/>
                    </a:cubicBezTo>
                    <a:cubicBezTo>
                      <a:pt x="329" y="3877"/>
                      <a:pt x="374" y="3862"/>
                      <a:pt x="415" y="3827"/>
                    </a:cubicBezTo>
                    <a:lnTo>
                      <a:pt x="3880" y="363"/>
                    </a:lnTo>
                    <a:cubicBezTo>
                      <a:pt x="4040" y="217"/>
                      <a:pt x="3902" y="0"/>
                      <a:pt x="3742" y="0"/>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grpSp>
      <p:grpSp>
        <p:nvGrpSpPr>
          <p:cNvPr id="71" name="Group 70">
            <a:extLst>
              <a:ext uri="{FF2B5EF4-FFF2-40B4-BE49-F238E27FC236}">
                <a16:creationId xmlns:a16="http://schemas.microsoft.com/office/drawing/2014/main" id="{772E25EA-1A32-DE33-BDED-3812ECFE150D}"/>
              </a:ext>
            </a:extLst>
          </p:cNvPr>
          <p:cNvGrpSpPr/>
          <p:nvPr/>
        </p:nvGrpSpPr>
        <p:grpSpPr>
          <a:xfrm>
            <a:off x="8395237" y="313800"/>
            <a:ext cx="572700" cy="572700"/>
            <a:chOff x="6390826" y="4149966"/>
            <a:chExt cx="572700" cy="572700"/>
          </a:xfrm>
        </p:grpSpPr>
        <p:sp>
          <p:nvSpPr>
            <p:cNvPr id="72" name="Google Shape;839;p61">
              <a:extLst>
                <a:ext uri="{FF2B5EF4-FFF2-40B4-BE49-F238E27FC236}">
                  <a16:creationId xmlns:a16="http://schemas.microsoft.com/office/drawing/2014/main" id="{5A059927-BD4D-3156-B0F9-0705088CC6C0}"/>
                </a:ext>
              </a:extLst>
            </p:cNvPr>
            <p:cNvSpPr/>
            <p:nvPr/>
          </p:nvSpPr>
          <p:spPr>
            <a:xfrm>
              <a:off x="6390826" y="4149966"/>
              <a:ext cx="572700" cy="572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nvGrpSpPr>
            <p:cNvPr id="73" name="Google Shape;16591;p127">
              <a:extLst>
                <a:ext uri="{FF2B5EF4-FFF2-40B4-BE49-F238E27FC236}">
                  <a16:creationId xmlns:a16="http://schemas.microsoft.com/office/drawing/2014/main" id="{68724CCA-580F-EB85-BBF2-C8DC8EC3285D}"/>
                </a:ext>
              </a:extLst>
            </p:cNvPr>
            <p:cNvGrpSpPr/>
            <p:nvPr/>
          </p:nvGrpSpPr>
          <p:grpSpPr>
            <a:xfrm>
              <a:off x="6514212" y="4270070"/>
              <a:ext cx="337284" cy="380192"/>
              <a:chOff x="7556043" y="1499959"/>
              <a:chExt cx="337284" cy="380192"/>
            </a:xfrm>
          </p:grpSpPr>
          <p:sp>
            <p:nvSpPr>
              <p:cNvPr id="74" name="Google Shape;16592;p127">
                <a:extLst>
                  <a:ext uri="{FF2B5EF4-FFF2-40B4-BE49-F238E27FC236}">
                    <a16:creationId xmlns:a16="http://schemas.microsoft.com/office/drawing/2014/main" id="{AFA03B2C-A988-76D5-CE19-904880206372}"/>
                  </a:ext>
                </a:extLst>
              </p:cNvPr>
              <p:cNvSpPr/>
              <p:nvPr/>
            </p:nvSpPr>
            <p:spPr>
              <a:xfrm>
                <a:off x="7556043" y="1499959"/>
                <a:ext cx="337283" cy="380140"/>
              </a:xfrm>
              <a:custGeom>
                <a:avLst/>
                <a:gdLst/>
                <a:ahLst/>
                <a:cxnLst/>
                <a:rect l="l" t="t" r="r" b="b"/>
                <a:pathLst>
                  <a:path w="12844" h="14476" extrusionOk="0">
                    <a:moveTo>
                      <a:pt x="6423" y="0"/>
                    </a:moveTo>
                    <a:cubicBezTo>
                      <a:pt x="6386" y="0"/>
                      <a:pt x="6350" y="10"/>
                      <a:pt x="6317" y="29"/>
                    </a:cubicBezTo>
                    <a:cubicBezTo>
                      <a:pt x="6279" y="48"/>
                      <a:pt x="2948" y="2038"/>
                      <a:pt x="431" y="2038"/>
                    </a:cubicBezTo>
                    <a:cubicBezTo>
                      <a:pt x="326" y="2038"/>
                      <a:pt x="240" y="2105"/>
                      <a:pt x="221" y="2211"/>
                    </a:cubicBezTo>
                    <a:cubicBezTo>
                      <a:pt x="0" y="3933"/>
                      <a:pt x="67" y="5666"/>
                      <a:pt x="412" y="7369"/>
                    </a:cubicBezTo>
                    <a:cubicBezTo>
                      <a:pt x="747" y="8958"/>
                      <a:pt x="1331" y="10336"/>
                      <a:pt x="2154" y="11465"/>
                    </a:cubicBezTo>
                    <a:cubicBezTo>
                      <a:pt x="3197" y="12872"/>
                      <a:pt x="4604" y="13886"/>
                      <a:pt x="6355" y="14461"/>
                    </a:cubicBezTo>
                    <a:cubicBezTo>
                      <a:pt x="6379" y="14470"/>
                      <a:pt x="6403" y="14475"/>
                      <a:pt x="6426" y="14475"/>
                    </a:cubicBezTo>
                    <a:cubicBezTo>
                      <a:pt x="6448" y="14475"/>
                      <a:pt x="6470" y="14470"/>
                      <a:pt x="6489" y="14461"/>
                    </a:cubicBezTo>
                    <a:cubicBezTo>
                      <a:pt x="8240" y="13886"/>
                      <a:pt x="9657" y="12872"/>
                      <a:pt x="10690" y="11465"/>
                    </a:cubicBezTo>
                    <a:cubicBezTo>
                      <a:pt x="11514" y="10336"/>
                      <a:pt x="12097" y="8958"/>
                      <a:pt x="12432" y="7369"/>
                    </a:cubicBezTo>
                    <a:cubicBezTo>
                      <a:pt x="12777" y="5666"/>
                      <a:pt x="12844" y="3933"/>
                      <a:pt x="12624" y="2211"/>
                    </a:cubicBezTo>
                    <a:cubicBezTo>
                      <a:pt x="12605" y="2105"/>
                      <a:pt x="12518" y="2038"/>
                      <a:pt x="12413" y="2038"/>
                    </a:cubicBezTo>
                    <a:cubicBezTo>
                      <a:pt x="9896" y="2038"/>
                      <a:pt x="6566" y="48"/>
                      <a:pt x="6537" y="29"/>
                    </a:cubicBezTo>
                    <a:cubicBezTo>
                      <a:pt x="6499" y="10"/>
                      <a:pt x="6460" y="0"/>
                      <a:pt x="6423" y="0"/>
                    </a:cubicBezTo>
                    <a:close/>
                  </a:path>
                </a:pathLst>
              </a:cu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75" name="Google Shape;16593;p127">
                <a:extLst>
                  <a:ext uri="{FF2B5EF4-FFF2-40B4-BE49-F238E27FC236}">
                    <a16:creationId xmlns:a16="http://schemas.microsoft.com/office/drawing/2014/main" id="{3A31F73F-07E5-54CC-D59F-1FBEAC1DCA07}"/>
                  </a:ext>
                </a:extLst>
              </p:cNvPr>
              <p:cNvSpPr/>
              <p:nvPr/>
            </p:nvSpPr>
            <p:spPr>
              <a:xfrm>
                <a:off x="7714628" y="1552479"/>
                <a:ext cx="178699" cy="327672"/>
              </a:xfrm>
              <a:custGeom>
                <a:avLst/>
                <a:gdLst/>
                <a:ahLst/>
                <a:cxnLst/>
                <a:rect l="l" t="t" r="r" b="b"/>
                <a:pathLst>
                  <a:path w="6805" h="12478" extrusionOk="0">
                    <a:moveTo>
                      <a:pt x="5800" y="0"/>
                    </a:moveTo>
                    <a:lnTo>
                      <a:pt x="5800" y="0"/>
                    </a:lnTo>
                    <a:cubicBezTo>
                      <a:pt x="5991" y="1732"/>
                      <a:pt x="5924" y="3493"/>
                      <a:pt x="5580" y="5206"/>
                    </a:cubicBezTo>
                    <a:cubicBezTo>
                      <a:pt x="5235" y="6862"/>
                      <a:pt x="4623" y="8288"/>
                      <a:pt x="3761" y="9456"/>
                    </a:cubicBezTo>
                    <a:cubicBezTo>
                      <a:pt x="2814" y="10757"/>
                      <a:pt x="1503" y="11762"/>
                      <a:pt x="0" y="12355"/>
                    </a:cubicBezTo>
                    <a:cubicBezTo>
                      <a:pt x="106" y="12394"/>
                      <a:pt x="211" y="12432"/>
                      <a:pt x="316" y="12470"/>
                    </a:cubicBezTo>
                    <a:cubicBezTo>
                      <a:pt x="340" y="12475"/>
                      <a:pt x="362" y="12477"/>
                      <a:pt x="383" y="12477"/>
                    </a:cubicBezTo>
                    <a:cubicBezTo>
                      <a:pt x="405" y="12477"/>
                      <a:pt x="426" y="12475"/>
                      <a:pt x="450" y="12470"/>
                    </a:cubicBezTo>
                    <a:cubicBezTo>
                      <a:pt x="2201" y="11886"/>
                      <a:pt x="3618" y="10872"/>
                      <a:pt x="4651" y="9465"/>
                    </a:cubicBezTo>
                    <a:cubicBezTo>
                      <a:pt x="5475" y="8336"/>
                      <a:pt x="6058" y="6958"/>
                      <a:pt x="6393" y="5369"/>
                    </a:cubicBezTo>
                    <a:cubicBezTo>
                      <a:pt x="6738" y="3666"/>
                      <a:pt x="6805" y="1933"/>
                      <a:pt x="6585" y="211"/>
                    </a:cubicBezTo>
                    <a:cubicBezTo>
                      <a:pt x="6566" y="105"/>
                      <a:pt x="6479" y="38"/>
                      <a:pt x="6374" y="38"/>
                    </a:cubicBezTo>
                    <a:cubicBezTo>
                      <a:pt x="6183" y="29"/>
                      <a:pt x="5991" y="19"/>
                      <a:pt x="5800" y="0"/>
                    </a:cubicBezTo>
                    <a:close/>
                  </a:path>
                </a:pathLst>
              </a:cu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76" name="Google Shape;16594;p127">
                <a:extLst>
                  <a:ext uri="{FF2B5EF4-FFF2-40B4-BE49-F238E27FC236}">
                    <a16:creationId xmlns:a16="http://schemas.microsoft.com/office/drawing/2014/main" id="{8B2C1DF2-CDC3-DED3-1B04-B57EE95A78B0}"/>
                  </a:ext>
                </a:extLst>
              </p:cNvPr>
              <p:cNvSpPr/>
              <p:nvPr/>
            </p:nvSpPr>
            <p:spPr>
              <a:xfrm>
                <a:off x="7588974" y="1536382"/>
                <a:ext cx="271450" cy="305824"/>
              </a:xfrm>
              <a:custGeom>
                <a:avLst/>
                <a:gdLst/>
                <a:ahLst/>
                <a:cxnLst/>
                <a:rect l="l" t="t" r="r" b="b"/>
                <a:pathLst>
                  <a:path w="10337" h="11646" extrusionOk="0">
                    <a:moveTo>
                      <a:pt x="5168" y="1"/>
                    </a:moveTo>
                    <a:cubicBezTo>
                      <a:pt x="5132" y="1"/>
                      <a:pt x="5096" y="10"/>
                      <a:pt x="5063" y="29"/>
                    </a:cubicBezTo>
                    <a:cubicBezTo>
                      <a:pt x="5034" y="39"/>
                      <a:pt x="2383" y="1618"/>
                      <a:pt x="383" y="1618"/>
                    </a:cubicBezTo>
                    <a:cubicBezTo>
                      <a:pt x="278" y="1618"/>
                      <a:pt x="192" y="1695"/>
                      <a:pt x="172" y="1800"/>
                    </a:cubicBezTo>
                    <a:cubicBezTo>
                      <a:pt x="0" y="3178"/>
                      <a:pt x="48" y="4575"/>
                      <a:pt x="326" y="5934"/>
                    </a:cubicBezTo>
                    <a:cubicBezTo>
                      <a:pt x="594" y="7207"/>
                      <a:pt x="1062" y="8317"/>
                      <a:pt x="1723" y="9217"/>
                    </a:cubicBezTo>
                    <a:cubicBezTo>
                      <a:pt x="2565" y="10356"/>
                      <a:pt x="3752" y="11207"/>
                      <a:pt x="5101" y="11638"/>
                    </a:cubicBezTo>
                    <a:cubicBezTo>
                      <a:pt x="5125" y="11643"/>
                      <a:pt x="5147" y="11645"/>
                      <a:pt x="5168" y="11645"/>
                    </a:cubicBezTo>
                    <a:cubicBezTo>
                      <a:pt x="5190" y="11645"/>
                      <a:pt x="5211" y="11643"/>
                      <a:pt x="5235" y="11638"/>
                    </a:cubicBezTo>
                    <a:cubicBezTo>
                      <a:pt x="6585" y="11207"/>
                      <a:pt x="7771" y="10356"/>
                      <a:pt x="8613" y="9217"/>
                    </a:cubicBezTo>
                    <a:cubicBezTo>
                      <a:pt x="9274" y="8317"/>
                      <a:pt x="9743" y="7207"/>
                      <a:pt x="10011" y="5934"/>
                    </a:cubicBezTo>
                    <a:cubicBezTo>
                      <a:pt x="10288" y="4575"/>
                      <a:pt x="10336" y="3178"/>
                      <a:pt x="10164" y="1800"/>
                    </a:cubicBezTo>
                    <a:cubicBezTo>
                      <a:pt x="10145" y="1695"/>
                      <a:pt x="10059" y="1618"/>
                      <a:pt x="9953" y="1618"/>
                    </a:cubicBezTo>
                    <a:cubicBezTo>
                      <a:pt x="7953" y="1618"/>
                      <a:pt x="5302" y="39"/>
                      <a:pt x="5273" y="29"/>
                    </a:cubicBezTo>
                    <a:cubicBezTo>
                      <a:pt x="5240" y="10"/>
                      <a:pt x="5204" y="1"/>
                      <a:pt x="51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77" name="Google Shape;16595;p127">
                <a:extLst>
                  <a:ext uri="{FF2B5EF4-FFF2-40B4-BE49-F238E27FC236}">
                    <a16:creationId xmlns:a16="http://schemas.microsoft.com/office/drawing/2014/main" id="{33B3E738-5A70-C1F8-1136-032AE081BBC1}"/>
                  </a:ext>
                </a:extLst>
              </p:cNvPr>
              <p:cNvSpPr/>
              <p:nvPr/>
            </p:nvSpPr>
            <p:spPr>
              <a:xfrm>
                <a:off x="7719906" y="1577846"/>
                <a:ext cx="140517" cy="264281"/>
              </a:xfrm>
              <a:custGeom>
                <a:avLst/>
                <a:gdLst/>
                <a:ahLst/>
                <a:cxnLst/>
                <a:rect l="l" t="t" r="r" b="b"/>
                <a:pathLst>
                  <a:path w="5351" h="10064" extrusionOk="0">
                    <a:moveTo>
                      <a:pt x="4393" y="1"/>
                    </a:moveTo>
                    <a:lnTo>
                      <a:pt x="4393" y="1"/>
                    </a:lnTo>
                    <a:cubicBezTo>
                      <a:pt x="4537" y="1408"/>
                      <a:pt x="4470" y="2834"/>
                      <a:pt x="4192" y="4221"/>
                    </a:cubicBezTo>
                    <a:cubicBezTo>
                      <a:pt x="3905" y="5609"/>
                      <a:pt x="3388" y="6815"/>
                      <a:pt x="2670" y="7791"/>
                    </a:cubicBezTo>
                    <a:cubicBezTo>
                      <a:pt x="1972" y="8738"/>
                      <a:pt x="1063" y="9504"/>
                      <a:pt x="0" y="10011"/>
                    </a:cubicBezTo>
                    <a:lnTo>
                      <a:pt x="115" y="10050"/>
                    </a:lnTo>
                    <a:cubicBezTo>
                      <a:pt x="139" y="10059"/>
                      <a:pt x="163" y="10064"/>
                      <a:pt x="186" y="10064"/>
                    </a:cubicBezTo>
                    <a:cubicBezTo>
                      <a:pt x="208" y="10064"/>
                      <a:pt x="230" y="10059"/>
                      <a:pt x="249" y="10050"/>
                    </a:cubicBezTo>
                    <a:cubicBezTo>
                      <a:pt x="1599" y="9628"/>
                      <a:pt x="2785" y="8777"/>
                      <a:pt x="3627" y="7638"/>
                    </a:cubicBezTo>
                    <a:cubicBezTo>
                      <a:pt x="4288" y="6738"/>
                      <a:pt x="4757" y="5628"/>
                      <a:pt x="5025" y="4355"/>
                    </a:cubicBezTo>
                    <a:cubicBezTo>
                      <a:pt x="5302" y="2987"/>
                      <a:pt x="5350" y="1599"/>
                      <a:pt x="5178" y="221"/>
                    </a:cubicBezTo>
                    <a:cubicBezTo>
                      <a:pt x="5159" y="116"/>
                      <a:pt x="5073" y="39"/>
                      <a:pt x="4967" y="39"/>
                    </a:cubicBezTo>
                    <a:cubicBezTo>
                      <a:pt x="4776" y="39"/>
                      <a:pt x="4584" y="29"/>
                      <a:pt x="4393"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78" name="Google Shape;16596;p127">
                <a:extLst>
                  <a:ext uri="{FF2B5EF4-FFF2-40B4-BE49-F238E27FC236}">
                    <a16:creationId xmlns:a16="http://schemas.microsoft.com/office/drawing/2014/main" id="{F9FE0367-7CD2-4CE7-AF8F-00D7267E8C7C}"/>
                  </a:ext>
                </a:extLst>
              </p:cNvPr>
              <p:cNvSpPr/>
              <p:nvPr/>
            </p:nvSpPr>
            <p:spPr>
              <a:xfrm>
                <a:off x="7657565" y="1674352"/>
                <a:ext cx="134477" cy="90518"/>
              </a:xfrm>
              <a:custGeom>
                <a:avLst/>
                <a:gdLst/>
                <a:ahLst/>
                <a:cxnLst/>
                <a:rect l="l" t="t" r="r" b="b"/>
                <a:pathLst>
                  <a:path w="5121" h="3447" extrusionOk="0">
                    <a:moveTo>
                      <a:pt x="2556" y="1"/>
                    </a:moveTo>
                    <a:cubicBezTo>
                      <a:pt x="1178" y="20"/>
                      <a:pt x="1" y="1159"/>
                      <a:pt x="1" y="2479"/>
                    </a:cubicBezTo>
                    <a:lnTo>
                      <a:pt x="1" y="3236"/>
                    </a:lnTo>
                    <a:cubicBezTo>
                      <a:pt x="1" y="3350"/>
                      <a:pt x="97" y="3446"/>
                      <a:pt x="221" y="3446"/>
                    </a:cubicBezTo>
                    <a:lnTo>
                      <a:pt x="4910" y="3446"/>
                    </a:lnTo>
                    <a:cubicBezTo>
                      <a:pt x="5025" y="3446"/>
                      <a:pt x="5121" y="3350"/>
                      <a:pt x="5121" y="3236"/>
                    </a:cubicBezTo>
                    <a:lnTo>
                      <a:pt x="5121" y="2479"/>
                    </a:lnTo>
                    <a:cubicBezTo>
                      <a:pt x="5111" y="1159"/>
                      <a:pt x="3944" y="20"/>
                      <a:pt x="2556" y="1"/>
                    </a:cubicBezTo>
                    <a:close/>
                  </a:path>
                </a:pathLst>
              </a:cu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79" name="Google Shape;16597;p127">
                <a:extLst>
                  <a:ext uri="{FF2B5EF4-FFF2-40B4-BE49-F238E27FC236}">
                    <a16:creationId xmlns:a16="http://schemas.microsoft.com/office/drawing/2014/main" id="{1FE00C29-C486-6D01-3FB0-1D1703EAF181}"/>
                  </a:ext>
                </a:extLst>
              </p:cNvPr>
              <p:cNvSpPr/>
              <p:nvPr/>
            </p:nvSpPr>
            <p:spPr>
              <a:xfrm>
                <a:off x="7714365" y="1674352"/>
                <a:ext cx="77677" cy="90518"/>
              </a:xfrm>
              <a:custGeom>
                <a:avLst/>
                <a:gdLst/>
                <a:ahLst/>
                <a:cxnLst/>
                <a:rect l="l" t="t" r="r" b="b"/>
                <a:pathLst>
                  <a:path w="2958" h="3447" extrusionOk="0">
                    <a:moveTo>
                      <a:pt x="393" y="1"/>
                    </a:moveTo>
                    <a:cubicBezTo>
                      <a:pt x="259" y="1"/>
                      <a:pt x="135" y="20"/>
                      <a:pt x="1" y="39"/>
                    </a:cubicBezTo>
                    <a:cubicBezTo>
                      <a:pt x="1207" y="240"/>
                      <a:pt x="2164" y="1283"/>
                      <a:pt x="2164" y="2479"/>
                    </a:cubicBezTo>
                    <a:lnTo>
                      <a:pt x="2164" y="3236"/>
                    </a:lnTo>
                    <a:cubicBezTo>
                      <a:pt x="2164" y="3350"/>
                      <a:pt x="2068" y="3446"/>
                      <a:pt x="1953" y="3446"/>
                    </a:cubicBezTo>
                    <a:lnTo>
                      <a:pt x="2747" y="3446"/>
                    </a:lnTo>
                    <a:cubicBezTo>
                      <a:pt x="2862" y="3446"/>
                      <a:pt x="2958" y="3350"/>
                      <a:pt x="2958" y="3236"/>
                    </a:cubicBezTo>
                    <a:lnTo>
                      <a:pt x="2958" y="2479"/>
                    </a:lnTo>
                    <a:cubicBezTo>
                      <a:pt x="2948" y="1159"/>
                      <a:pt x="1781" y="20"/>
                      <a:pt x="393" y="1"/>
                    </a:cubicBezTo>
                    <a:close/>
                  </a:path>
                </a:pathLst>
              </a:custGeom>
              <a:solidFill>
                <a:srgbClr val="6A7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80" name="Google Shape;16598;p127">
                <a:extLst>
                  <a:ext uri="{FF2B5EF4-FFF2-40B4-BE49-F238E27FC236}">
                    <a16:creationId xmlns:a16="http://schemas.microsoft.com/office/drawing/2014/main" id="{D10E9CF6-CBA2-24A7-5E37-160F948B66FE}"/>
                  </a:ext>
                </a:extLst>
              </p:cNvPr>
              <p:cNvSpPr/>
              <p:nvPr/>
            </p:nvSpPr>
            <p:spPr>
              <a:xfrm>
                <a:off x="7709586" y="1680076"/>
                <a:ext cx="30199" cy="17437"/>
              </a:xfrm>
              <a:custGeom>
                <a:avLst/>
                <a:gdLst/>
                <a:ahLst/>
                <a:cxnLst/>
                <a:rect l="l" t="t" r="r" b="b"/>
                <a:pathLst>
                  <a:path w="1150" h="664" extrusionOk="0">
                    <a:moveTo>
                      <a:pt x="575" y="0"/>
                    </a:moveTo>
                    <a:cubicBezTo>
                      <a:pt x="381" y="0"/>
                      <a:pt x="188" y="27"/>
                      <a:pt x="1" y="79"/>
                    </a:cubicBezTo>
                    <a:lnTo>
                      <a:pt x="307" y="663"/>
                    </a:lnTo>
                    <a:lnTo>
                      <a:pt x="843" y="663"/>
                    </a:lnTo>
                    <a:lnTo>
                      <a:pt x="1149" y="79"/>
                    </a:lnTo>
                    <a:cubicBezTo>
                      <a:pt x="963" y="27"/>
                      <a:pt x="769" y="0"/>
                      <a:pt x="57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81" name="Google Shape;16599;p127">
                <a:extLst>
                  <a:ext uri="{FF2B5EF4-FFF2-40B4-BE49-F238E27FC236}">
                    <a16:creationId xmlns:a16="http://schemas.microsoft.com/office/drawing/2014/main" id="{811327C1-11F8-51C4-978C-D10D7BB9D08A}"/>
                  </a:ext>
                </a:extLst>
              </p:cNvPr>
              <p:cNvSpPr/>
              <p:nvPr/>
            </p:nvSpPr>
            <p:spPr>
              <a:xfrm>
                <a:off x="7702811" y="1690686"/>
                <a:ext cx="43749" cy="62866"/>
              </a:xfrm>
              <a:custGeom>
                <a:avLst/>
                <a:gdLst/>
                <a:ahLst/>
                <a:cxnLst/>
                <a:rect l="l" t="t" r="r" b="b"/>
                <a:pathLst>
                  <a:path w="1666" h="2394" extrusionOk="0">
                    <a:moveTo>
                      <a:pt x="556" y="1"/>
                    </a:moveTo>
                    <a:cubicBezTo>
                      <a:pt x="450" y="1"/>
                      <a:pt x="364" y="77"/>
                      <a:pt x="335" y="173"/>
                    </a:cubicBezTo>
                    <a:lnTo>
                      <a:pt x="20" y="1580"/>
                    </a:lnTo>
                    <a:cubicBezTo>
                      <a:pt x="1" y="1656"/>
                      <a:pt x="20" y="1733"/>
                      <a:pt x="87" y="1790"/>
                    </a:cubicBezTo>
                    <a:lnTo>
                      <a:pt x="680" y="2336"/>
                    </a:lnTo>
                    <a:cubicBezTo>
                      <a:pt x="723" y="2374"/>
                      <a:pt x="776" y="2393"/>
                      <a:pt x="828" y="2393"/>
                    </a:cubicBezTo>
                    <a:cubicBezTo>
                      <a:pt x="881" y="2393"/>
                      <a:pt x="934" y="2374"/>
                      <a:pt x="977" y="2336"/>
                    </a:cubicBezTo>
                    <a:lnTo>
                      <a:pt x="1580" y="1790"/>
                    </a:lnTo>
                    <a:cubicBezTo>
                      <a:pt x="1637" y="1733"/>
                      <a:pt x="1666" y="1656"/>
                      <a:pt x="1647" y="1580"/>
                    </a:cubicBezTo>
                    <a:lnTo>
                      <a:pt x="1321" y="173"/>
                    </a:lnTo>
                    <a:cubicBezTo>
                      <a:pt x="1302" y="77"/>
                      <a:pt x="1216" y="1"/>
                      <a:pt x="111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82" name="Google Shape;16600;p127">
                <a:extLst>
                  <a:ext uri="{FF2B5EF4-FFF2-40B4-BE49-F238E27FC236}">
                    <a16:creationId xmlns:a16="http://schemas.microsoft.com/office/drawing/2014/main" id="{A2547656-51EE-0B27-14C8-EA2F852F6F75}"/>
                  </a:ext>
                </a:extLst>
              </p:cNvPr>
              <p:cNvSpPr/>
              <p:nvPr/>
            </p:nvSpPr>
            <p:spPr>
              <a:xfrm>
                <a:off x="7714365" y="1690922"/>
                <a:ext cx="31958" cy="62630"/>
              </a:xfrm>
              <a:custGeom>
                <a:avLst/>
                <a:gdLst/>
                <a:ahLst/>
                <a:cxnLst/>
                <a:rect l="l" t="t" r="r" b="b"/>
                <a:pathLst>
                  <a:path w="1217" h="2385" extrusionOk="0">
                    <a:moveTo>
                      <a:pt x="688" y="1"/>
                    </a:moveTo>
                    <a:cubicBezTo>
                      <a:pt x="683" y="1"/>
                      <a:pt x="677" y="1"/>
                      <a:pt x="671" y="1"/>
                    </a:cubicBezTo>
                    <a:lnTo>
                      <a:pt x="364" y="1"/>
                    </a:lnTo>
                    <a:lnTo>
                      <a:pt x="240" y="250"/>
                    </a:lnTo>
                    <a:lnTo>
                      <a:pt x="546" y="1600"/>
                    </a:lnTo>
                    <a:lnTo>
                      <a:pt x="1" y="2107"/>
                    </a:lnTo>
                    <a:lnTo>
                      <a:pt x="240" y="2327"/>
                    </a:lnTo>
                    <a:cubicBezTo>
                      <a:pt x="283" y="2365"/>
                      <a:pt x="336" y="2384"/>
                      <a:pt x="388" y="2384"/>
                    </a:cubicBezTo>
                    <a:cubicBezTo>
                      <a:pt x="441" y="2384"/>
                      <a:pt x="494" y="2365"/>
                      <a:pt x="537" y="2327"/>
                    </a:cubicBezTo>
                    <a:lnTo>
                      <a:pt x="1140" y="1781"/>
                    </a:lnTo>
                    <a:cubicBezTo>
                      <a:pt x="1197" y="1724"/>
                      <a:pt x="1216" y="1647"/>
                      <a:pt x="1207" y="1571"/>
                    </a:cubicBezTo>
                    <a:lnTo>
                      <a:pt x="881" y="164"/>
                    </a:lnTo>
                    <a:cubicBezTo>
                      <a:pt x="863" y="74"/>
                      <a:pt x="786" y="1"/>
                      <a:pt x="68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83" name="Google Shape;16601;p127">
                <a:extLst>
                  <a:ext uri="{FF2B5EF4-FFF2-40B4-BE49-F238E27FC236}">
                    <a16:creationId xmlns:a16="http://schemas.microsoft.com/office/drawing/2014/main" id="{98F0B972-F749-DD4D-E4C4-0C8BC3E85440}"/>
                  </a:ext>
                </a:extLst>
              </p:cNvPr>
              <p:cNvSpPr/>
              <p:nvPr/>
            </p:nvSpPr>
            <p:spPr>
              <a:xfrm>
                <a:off x="7701813" y="1674352"/>
                <a:ext cx="45745" cy="23161"/>
              </a:xfrm>
              <a:custGeom>
                <a:avLst/>
                <a:gdLst/>
                <a:ahLst/>
                <a:cxnLst/>
                <a:rect l="l" t="t" r="r" b="b"/>
                <a:pathLst>
                  <a:path w="1742" h="882" extrusionOk="0">
                    <a:moveTo>
                      <a:pt x="871" y="1"/>
                    </a:moveTo>
                    <a:cubicBezTo>
                      <a:pt x="574" y="10"/>
                      <a:pt x="278" y="58"/>
                      <a:pt x="0" y="163"/>
                    </a:cubicBezTo>
                    <a:lnTo>
                      <a:pt x="373" y="881"/>
                    </a:lnTo>
                    <a:lnTo>
                      <a:pt x="1388" y="881"/>
                    </a:lnTo>
                    <a:lnTo>
                      <a:pt x="1742" y="163"/>
                    </a:lnTo>
                    <a:cubicBezTo>
                      <a:pt x="1464" y="58"/>
                      <a:pt x="1168" y="1"/>
                      <a:pt x="87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84" name="Google Shape;16602;p127">
                <a:extLst>
                  <a:ext uri="{FF2B5EF4-FFF2-40B4-BE49-F238E27FC236}">
                    <a16:creationId xmlns:a16="http://schemas.microsoft.com/office/drawing/2014/main" id="{C491D2BD-D785-C7E1-2B80-9F0EF903338C}"/>
                  </a:ext>
                </a:extLst>
              </p:cNvPr>
              <p:cNvSpPr/>
              <p:nvPr/>
            </p:nvSpPr>
            <p:spPr>
              <a:xfrm>
                <a:off x="7720667" y="1674851"/>
                <a:ext cx="26890" cy="22662"/>
              </a:xfrm>
              <a:custGeom>
                <a:avLst/>
                <a:gdLst/>
                <a:ahLst/>
                <a:cxnLst/>
                <a:rect l="l" t="t" r="r" b="b"/>
                <a:pathLst>
                  <a:path w="1024" h="863" extrusionOk="0">
                    <a:moveTo>
                      <a:pt x="431" y="1"/>
                    </a:moveTo>
                    <a:lnTo>
                      <a:pt x="0" y="862"/>
                    </a:lnTo>
                    <a:lnTo>
                      <a:pt x="660" y="862"/>
                    </a:lnTo>
                    <a:lnTo>
                      <a:pt x="1024" y="144"/>
                    </a:lnTo>
                    <a:cubicBezTo>
                      <a:pt x="833" y="68"/>
                      <a:pt x="632" y="30"/>
                      <a:pt x="43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85" name="Google Shape;16603;p127">
                <a:extLst>
                  <a:ext uri="{FF2B5EF4-FFF2-40B4-BE49-F238E27FC236}">
                    <a16:creationId xmlns:a16="http://schemas.microsoft.com/office/drawing/2014/main" id="{B97AA70A-1EBC-29C6-A380-A27D0B735026}"/>
                  </a:ext>
                </a:extLst>
              </p:cNvPr>
              <p:cNvSpPr/>
              <p:nvPr/>
            </p:nvSpPr>
            <p:spPr>
              <a:xfrm>
                <a:off x="7689733" y="1590162"/>
                <a:ext cx="69904" cy="95534"/>
              </a:xfrm>
              <a:custGeom>
                <a:avLst/>
                <a:gdLst/>
                <a:ahLst/>
                <a:cxnLst/>
                <a:rect l="l" t="t" r="r" b="b"/>
                <a:pathLst>
                  <a:path w="2662" h="3638" extrusionOk="0">
                    <a:moveTo>
                      <a:pt x="1331" y="1"/>
                    </a:moveTo>
                    <a:cubicBezTo>
                      <a:pt x="594" y="1"/>
                      <a:pt x="1" y="604"/>
                      <a:pt x="1" y="1341"/>
                    </a:cubicBezTo>
                    <a:lnTo>
                      <a:pt x="1" y="2307"/>
                    </a:lnTo>
                    <a:cubicBezTo>
                      <a:pt x="1" y="3044"/>
                      <a:pt x="594" y="3637"/>
                      <a:pt x="1331" y="3637"/>
                    </a:cubicBezTo>
                    <a:cubicBezTo>
                      <a:pt x="2068" y="3637"/>
                      <a:pt x="2661" y="3044"/>
                      <a:pt x="2661" y="2307"/>
                    </a:cubicBezTo>
                    <a:lnTo>
                      <a:pt x="2661" y="1341"/>
                    </a:lnTo>
                    <a:cubicBezTo>
                      <a:pt x="2661" y="604"/>
                      <a:pt x="2068" y="1"/>
                      <a:pt x="1331" y="1"/>
                    </a:cubicBezTo>
                    <a:close/>
                  </a:path>
                </a:pathLst>
              </a:custGeom>
              <a:solidFill>
                <a:srgbClr val="CCD7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86" name="Google Shape;16604;p127">
                <a:extLst>
                  <a:ext uri="{FF2B5EF4-FFF2-40B4-BE49-F238E27FC236}">
                    <a16:creationId xmlns:a16="http://schemas.microsoft.com/office/drawing/2014/main" id="{A4F22E68-092E-9678-BCC7-8D44BC94C2B1}"/>
                  </a:ext>
                </a:extLst>
              </p:cNvPr>
              <p:cNvSpPr/>
              <p:nvPr/>
            </p:nvSpPr>
            <p:spPr>
              <a:xfrm>
                <a:off x="7714365" y="1590162"/>
                <a:ext cx="45272" cy="95534"/>
              </a:xfrm>
              <a:custGeom>
                <a:avLst/>
                <a:gdLst/>
                <a:ahLst/>
                <a:cxnLst/>
                <a:rect l="l" t="t" r="r" b="b"/>
                <a:pathLst>
                  <a:path w="1724" h="3638" extrusionOk="0">
                    <a:moveTo>
                      <a:pt x="393" y="1"/>
                    </a:moveTo>
                    <a:cubicBezTo>
                      <a:pt x="259" y="1"/>
                      <a:pt x="125" y="20"/>
                      <a:pt x="1" y="58"/>
                    </a:cubicBezTo>
                    <a:cubicBezTo>
                      <a:pt x="565" y="230"/>
                      <a:pt x="939" y="747"/>
                      <a:pt x="948" y="1331"/>
                    </a:cubicBezTo>
                    <a:lnTo>
                      <a:pt x="948" y="2307"/>
                    </a:lnTo>
                    <a:cubicBezTo>
                      <a:pt x="939" y="2891"/>
                      <a:pt x="565" y="3408"/>
                      <a:pt x="1" y="3580"/>
                    </a:cubicBezTo>
                    <a:cubicBezTo>
                      <a:pt x="125" y="3618"/>
                      <a:pt x="259" y="3637"/>
                      <a:pt x="393" y="3637"/>
                    </a:cubicBezTo>
                    <a:cubicBezTo>
                      <a:pt x="1130" y="3637"/>
                      <a:pt x="1723" y="3044"/>
                      <a:pt x="1723" y="2307"/>
                    </a:cubicBezTo>
                    <a:lnTo>
                      <a:pt x="1723" y="1341"/>
                    </a:lnTo>
                    <a:cubicBezTo>
                      <a:pt x="1723" y="604"/>
                      <a:pt x="1130" y="1"/>
                      <a:pt x="393" y="1"/>
                    </a:cubicBezTo>
                    <a:close/>
                  </a:path>
                </a:pathLst>
              </a:custGeom>
              <a:solidFill>
                <a:srgbClr val="B4C3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87" name="Google Shape;16605;p127">
                <a:extLst>
                  <a:ext uri="{FF2B5EF4-FFF2-40B4-BE49-F238E27FC236}">
                    <a16:creationId xmlns:a16="http://schemas.microsoft.com/office/drawing/2014/main" id="{81132B3B-D969-9C75-2BC0-4F8C98E77AFC}"/>
                  </a:ext>
                </a:extLst>
              </p:cNvPr>
              <p:cNvSpPr/>
              <p:nvPr/>
            </p:nvSpPr>
            <p:spPr>
              <a:xfrm>
                <a:off x="7689733" y="1591423"/>
                <a:ext cx="69904" cy="46533"/>
              </a:xfrm>
              <a:custGeom>
                <a:avLst/>
                <a:gdLst/>
                <a:ahLst/>
                <a:cxnLst/>
                <a:rect l="l" t="t" r="r" b="b"/>
                <a:pathLst>
                  <a:path w="2662" h="1772" extrusionOk="0">
                    <a:moveTo>
                      <a:pt x="1331" y="1"/>
                    </a:moveTo>
                    <a:cubicBezTo>
                      <a:pt x="613" y="1"/>
                      <a:pt x="20" y="575"/>
                      <a:pt x="1" y="1293"/>
                    </a:cubicBezTo>
                    <a:lnTo>
                      <a:pt x="1" y="1771"/>
                    </a:lnTo>
                    <a:lnTo>
                      <a:pt x="211" y="1771"/>
                    </a:lnTo>
                    <a:cubicBezTo>
                      <a:pt x="1188" y="1771"/>
                      <a:pt x="1551" y="1111"/>
                      <a:pt x="1551" y="1111"/>
                    </a:cubicBezTo>
                    <a:cubicBezTo>
                      <a:pt x="1551" y="1111"/>
                      <a:pt x="1800" y="1771"/>
                      <a:pt x="2451" y="1771"/>
                    </a:cubicBezTo>
                    <a:lnTo>
                      <a:pt x="2661" y="1771"/>
                    </a:lnTo>
                    <a:lnTo>
                      <a:pt x="2661" y="1293"/>
                    </a:lnTo>
                    <a:cubicBezTo>
                      <a:pt x="2642" y="575"/>
                      <a:pt x="2049" y="1"/>
                      <a:pt x="1331" y="1"/>
                    </a:cubicBezTo>
                    <a:close/>
                  </a:path>
                </a:pathLst>
              </a:cu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grpSp>
      <p:grpSp>
        <p:nvGrpSpPr>
          <p:cNvPr id="88" name="Group 87">
            <a:extLst>
              <a:ext uri="{FF2B5EF4-FFF2-40B4-BE49-F238E27FC236}">
                <a16:creationId xmlns:a16="http://schemas.microsoft.com/office/drawing/2014/main" id="{A39E4101-514C-2D98-39BF-34EBA201115E}"/>
              </a:ext>
            </a:extLst>
          </p:cNvPr>
          <p:cNvGrpSpPr/>
          <p:nvPr/>
        </p:nvGrpSpPr>
        <p:grpSpPr>
          <a:xfrm>
            <a:off x="4558181" y="3011449"/>
            <a:ext cx="572700" cy="572700"/>
            <a:chOff x="6292023" y="2842332"/>
            <a:chExt cx="572700" cy="572700"/>
          </a:xfrm>
        </p:grpSpPr>
        <p:sp>
          <p:nvSpPr>
            <p:cNvPr id="89" name="Google Shape;839;p61">
              <a:extLst>
                <a:ext uri="{FF2B5EF4-FFF2-40B4-BE49-F238E27FC236}">
                  <a16:creationId xmlns:a16="http://schemas.microsoft.com/office/drawing/2014/main" id="{516FD28E-114B-A9D9-7637-D38F390BA208}"/>
                </a:ext>
              </a:extLst>
            </p:cNvPr>
            <p:cNvSpPr/>
            <p:nvPr/>
          </p:nvSpPr>
          <p:spPr>
            <a:xfrm>
              <a:off x="6292023" y="2842332"/>
              <a:ext cx="572700" cy="572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nvGrpSpPr>
            <p:cNvPr id="90" name="Google Shape;15664;p127">
              <a:extLst>
                <a:ext uri="{FF2B5EF4-FFF2-40B4-BE49-F238E27FC236}">
                  <a16:creationId xmlns:a16="http://schemas.microsoft.com/office/drawing/2014/main" id="{AC827FD6-A9E7-54B2-CC16-644C6A7E3630}"/>
                </a:ext>
              </a:extLst>
            </p:cNvPr>
            <p:cNvGrpSpPr/>
            <p:nvPr/>
          </p:nvGrpSpPr>
          <p:grpSpPr>
            <a:xfrm>
              <a:off x="6401110" y="2988677"/>
              <a:ext cx="319191" cy="271240"/>
              <a:chOff x="2659157" y="2017412"/>
              <a:chExt cx="319191" cy="271240"/>
            </a:xfrm>
          </p:grpSpPr>
          <p:sp>
            <p:nvSpPr>
              <p:cNvPr id="91" name="Google Shape;15665;p127">
                <a:extLst>
                  <a:ext uri="{FF2B5EF4-FFF2-40B4-BE49-F238E27FC236}">
                    <a16:creationId xmlns:a16="http://schemas.microsoft.com/office/drawing/2014/main" id="{EC097CDC-8EA6-4B46-B003-0398CD79FE97}"/>
                  </a:ext>
                </a:extLst>
              </p:cNvPr>
              <p:cNvSpPr/>
              <p:nvPr/>
            </p:nvSpPr>
            <p:spPr>
              <a:xfrm>
                <a:off x="2808183" y="2086765"/>
                <a:ext cx="164125" cy="149314"/>
              </a:xfrm>
              <a:custGeom>
                <a:avLst/>
                <a:gdLst/>
                <a:ahLst/>
                <a:cxnLst/>
                <a:rect l="l" t="t" r="r" b="b"/>
                <a:pathLst>
                  <a:path w="6250" h="5686" extrusionOk="0">
                    <a:moveTo>
                      <a:pt x="3934" y="1"/>
                    </a:moveTo>
                    <a:lnTo>
                      <a:pt x="2728" y="919"/>
                    </a:lnTo>
                    <a:lnTo>
                      <a:pt x="1733" y="584"/>
                    </a:lnTo>
                    <a:lnTo>
                      <a:pt x="0" y="1991"/>
                    </a:lnTo>
                    <a:lnTo>
                      <a:pt x="2670" y="5685"/>
                    </a:lnTo>
                    <a:lnTo>
                      <a:pt x="6250" y="3140"/>
                    </a:lnTo>
                    <a:lnTo>
                      <a:pt x="3934" y="1"/>
                    </a:lnTo>
                    <a:close/>
                  </a:path>
                </a:pathLst>
              </a:custGeom>
              <a:solidFill>
                <a:srgbClr val="CE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92" name="Google Shape;15666;p127">
                <a:extLst>
                  <a:ext uri="{FF2B5EF4-FFF2-40B4-BE49-F238E27FC236}">
                    <a16:creationId xmlns:a16="http://schemas.microsoft.com/office/drawing/2014/main" id="{E28BAD00-FF53-BDFC-172C-D40EB60F5AD9}"/>
                  </a:ext>
                </a:extLst>
              </p:cNvPr>
              <p:cNvSpPr/>
              <p:nvPr/>
            </p:nvSpPr>
            <p:spPr>
              <a:xfrm>
                <a:off x="2881816" y="2017412"/>
                <a:ext cx="96532" cy="177334"/>
              </a:xfrm>
              <a:custGeom>
                <a:avLst/>
                <a:gdLst/>
                <a:ahLst/>
                <a:cxnLst/>
                <a:rect l="l" t="t" r="r" b="b"/>
                <a:pathLst>
                  <a:path w="3676" h="6753" extrusionOk="0">
                    <a:moveTo>
                      <a:pt x="3675" y="0"/>
                    </a:moveTo>
                    <a:lnTo>
                      <a:pt x="106" y="2536"/>
                    </a:lnTo>
                    <a:cubicBezTo>
                      <a:pt x="10" y="2594"/>
                      <a:pt x="0" y="2718"/>
                      <a:pt x="58" y="2804"/>
                    </a:cubicBezTo>
                    <a:lnTo>
                      <a:pt x="3063" y="6680"/>
                    </a:lnTo>
                    <a:cubicBezTo>
                      <a:pt x="3101" y="6729"/>
                      <a:pt x="3153" y="6753"/>
                      <a:pt x="3208" y="6753"/>
                    </a:cubicBezTo>
                    <a:cubicBezTo>
                      <a:pt x="3250" y="6753"/>
                      <a:pt x="3293" y="6738"/>
                      <a:pt x="3331" y="6709"/>
                    </a:cubicBezTo>
                    <a:lnTo>
                      <a:pt x="3675" y="6441"/>
                    </a:lnTo>
                    <a:lnTo>
                      <a:pt x="3675" y="0"/>
                    </a:lnTo>
                    <a:close/>
                  </a:path>
                </a:pathLst>
              </a:custGeom>
              <a:solidFill>
                <a:srgbClr val="65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93" name="Google Shape;15667;p127">
                <a:extLst>
                  <a:ext uri="{FF2B5EF4-FFF2-40B4-BE49-F238E27FC236}">
                    <a16:creationId xmlns:a16="http://schemas.microsoft.com/office/drawing/2014/main" id="{B00C8EAE-1AAB-7ED5-D989-488FC12CCEC8}"/>
                  </a:ext>
                </a:extLst>
              </p:cNvPr>
              <p:cNvSpPr/>
              <p:nvPr/>
            </p:nvSpPr>
            <p:spPr>
              <a:xfrm>
                <a:off x="2947650" y="2150603"/>
                <a:ext cx="30698" cy="44196"/>
              </a:xfrm>
              <a:custGeom>
                <a:avLst/>
                <a:gdLst/>
                <a:ahLst/>
                <a:cxnLst/>
                <a:rect l="l" t="t" r="r" b="b"/>
                <a:pathLst>
                  <a:path w="1169" h="1683" extrusionOk="0">
                    <a:moveTo>
                      <a:pt x="1168" y="0"/>
                    </a:moveTo>
                    <a:lnTo>
                      <a:pt x="1" y="890"/>
                    </a:lnTo>
                    <a:lnTo>
                      <a:pt x="556" y="1608"/>
                    </a:lnTo>
                    <a:cubicBezTo>
                      <a:pt x="595" y="1658"/>
                      <a:pt x="650" y="1683"/>
                      <a:pt x="707" y="1683"/>
                    </a:cubicBezTo>
                    <a:cubicBezTo>
                      <a:pt x="747" y="1683"/>
                      <a:pt x="788" y="1670"/>
                      <a:pt x="824" y="1646"/>
                    </a:cubicBezTo>
                    <a:lnTo>
                      <a:pt x="1168" y="1369"/>
                    </a:lnTo>
                    <a:lnTo>
                      <a:pt x="1168" y="0"/>
                    </a:lnTo>
                    <a:close/>
                  </a:path>
                </a:pathLst>
              </a:custGeom>
              <a:solidFill>
                <a:srgbClr val="65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94" name="Google Shape;15668;p127">
                <a:extLst>
                  <a:ext uri="{FF2B5EF4-FFF2-40B4-BE49-F238E27FC236}">
                    <a16:creationId xmlns:a16="http://schemas.microsoft.com/office/drawing/2014/main" id="{BC51858D-8E6D-3DEC-F804-47068F1F18E5}"/>
                  </a:ext>
                </a:extLst>
              </p:cNvPr>
              <p:cNvSpPr/>
              <p:nvPr/>
            </p:nvSpPr>
            <p:spPr>
              <a:xfrm>
                <a:off x="2818976" y="2136029"/>
                <a:ext cx="124682" cy="83034"/>
              </a:xfrm>
              <a:custGeom>
                <a:avLst/>
                <a:gdLst/>
                <a:ahLst/>
                <a:cxnLst/>
                <a:rect l="l" t="t" r="r" b="b"/>
                <a:pathLst>
                  <a:path w="4748" h="3162" extrusionOk="0">
                    <a:moveTo>
                      <a:pt x="546" y="0"/>
                    </a:moveTo>
                    <a:lnTo>
                      <a:pt x="1" y="1005"/>
                    </a:lnTo>
                    <a:lnTo>
                      <a:pt x="3829" y="3092"/>
                    </a:lnTo>
                    <a:cubicBezTo>
                      <a:pt x="3916" y="3139"/>
                      <a:pt x="4009" y="3162"/>
                      <a:pt x="4101" y="3162"/>
                    </a:cubicBezTo>
                    <a:cubicBezTo>
                      <a:pt x="4303" y="3162"/>
                      <a:pt x="4499" y="3053"/>
                      <a:pt x="4604" y="2862"/>
                    </a:cubicBezTo>
                    <a:cubicBezTo>
                      <a:pt x="4748" y="2584"/>
                      <a:pt x="4652" y="2240"/>
                      <a:pt x="4374" y="2087"/>
                    </a:cubicBezTo>
                    <a:lnTo>
                      <a:pt x="546" y="0"/>
                    </a:lnTo>
                    <a:close/>
                  </a:path>
                </a:pathLst>
              </a:custGeom>
              <a:solidFill>
                <a:srgbClr val="47C6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95" name="Google Shape;15669;p127">
                <a:extLst>
                  <a:ext uri="{FF2B5EF4-FFF2-40B4-BE49-F238E27FC236}">
                    <a16:creationId xmlns:a16="http://schemas.microsoft.com/office/drawing/2014/main" id="{9B893F6E-BD22-8D8E-5DC5-77224756FF0E}"/>
                  </a:ext>
                </a:extLst>
              </p:cNvPr>
              <p:cNvSpPr/>
              <p:nvPr/>
            </p:nvSpPr>
            <p:spPr>
              <a:xfrm>
                <a:off x="2867741" y="2177730"/>
                <a:ext cx="73160" cy="41360"/>
              </a:xfrm>
              <a:custGeom>
                <a:avLst/>
                <a:gdLst/>
                <a:ahLst/>
                <a:cxnLst/>
                <a:rect l="l" t="t" r="r" b="b"/>
                <a:pathLst>
                  <a:path w="2786" h="1575" extrusionOk="0">
                    <a:moveTo>
                      <a:pt x="240" y="1"/>
                    </a:moveTo>
                    <a:lnTo>
                      <a:pt x="1" y="432"/>
                    </a:lnTo>
                    <a:lnTo>
                      <a:pt x="1972" y="1504"/>
                    </a:lnTo>
                    <a:cubicBezTo>
                      <a:pt x="2058" y="1552"/>
                      <a:pt x="2152" y="1575"/>
                      <a:pt x="2244" y="1575"/>
                    </a:cubicBezTo>
                    <a:cubicBezTo>
                      <a:pt x="2478" y="1575"/>
                      <a:pt x="2703" y="1428"/>
                      <a:pt x="2785" y="1188"/>
                    </a:cubicBezTo>
                    <a:lnTo>
                      <a:pt x="2785" y="1188"/>
                    </a:lnTo>
                    <a:cubicBezTo>
                      <a:pt x="2729" y="1205"/>
                      <a:pt x="2672" y="1214"/>
                      <a:pt x="2615" y="1214"/>
                    </a:cubicBezTo>
                    <a:cubicBezTo>
                      <a:pt x="2517" y="1214"/>
                      <a:pt x="2421" y="1188"/>
                      <a:pt x="2336" y="1140"/>
                    </a:cubicBezTo>
                    <a:lnTo>
                      <a:pt x="240" y="1"/>
                    </a:lnTo>
                    <a:close/>
                  </a:path>
                </a:pathLst>
              </a:custGeom>
              <a:solidFill>
                <a:srgbClr val="CE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96" name="Google Shape;15670;p127">
                <a:extLst>
                  <a:ext uri="{FF2B5EF4-FFF2-40B4-BE49-F238E27FC236}">
                    <a16:creationId xmlns:a16="http://schemas.microsoft.com/office/drawing/2014/main" id="{60885DC0-2FE9-59EA-A90F-4B89B2D6AB79}"/>
                  </a:ext>
                </a:extLst>
              </p:cNvPr>
              <p:cNvSpPr/>
              <p:nvPr/>
            </p:nvSpPr>
            <p:spPr>
              <a:xfrm>
                <a:off x="2795867" y="2157641"/>
                <a:ext cx="124919" cy="82798"/>
              </a:xfrm>
              <a:custGeom>
                <a:avLst/>
                <a:gdLst/>
                <a:ahLst/>
                <a:cxnLst/>
                <a:rect l="l" t="t" r="r" b="b"/>
                <a:pathLst>
                  <a:path w="4757" h="3153" extrusionOk="0">
                    <a:moveTo>
                      <a:pt x="546" y="0"/>
                    </a:moveTo>
                    <a:lnTo>
                      <a:pt x="0" y="996"/>
                    </a:lnTo>
                    <a:lnTo>
                      <a:pt x="3829" y="3082"/>
                    </a:lnTo>
                    <a:cubicBezTo>
                      <a:pt x="3916" y="3130"/>
                      <a:pt x="4010" y="3153"/>
                      <a:pt x="4102" y="3153"/>
                    </a:cubicBezTo>
                    <a:cubicBezTo>
                      <a:pt x="4304" y="3153"/>
                      <a:pt x="4499" y="3046"/>
                      <a:pt x="4604" y="2862"/>
                    </a:cubicBezTo>
                    <a:cubicBezTo>
                      <a:pt x="4757" y="2584"/>
                      <a:pt x="4652" y="2240"/>
                      <a:pt x="4374" y="2087"/>
                    </a:cubicBezTo>
                    <a:lnTo>
                      <a:pt x="546" y="0"/>
                    </a:lnTo>
                    <a:close/>
                  </a:path>
                </a:pathLst>
              </a:custGeom>
              <a:solidFill>
                <a:srgbClr val="47C6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97" name="Google Shape;15671;p127">
                <a:extLst>
                  <a:ext uri="{FF2B5EF4-FFF2-40B4-BE49-F238E27FC236}">
                    <a16:creationId xmlns:a16="http://schemas.microsoft.com/office/drawing/2014/main" id="{64913AA6-4A6C-7DE7-C02D-9DBA87BA06AE}"/>
                  </a:ext>
                </a:extLst>
              </p:cNvPr>
              <p:cNvSpPr/>
              <p:nvPr/>
            </p:nvSpPr>
            <p:spPr>
              <a:xfrm>
                <a:off x="2852667" y="2204620"/>
                <a:ext cx="65099" cy="35845"/>
              </a:xfrm>
              <a:custGeom>
                <a:avLst/>
                <a:gdLst/>
                <a:ahLst/>
                <a:cxnLst/>
                <a:rect l="l" t="t" r="r" b="b"/>
                <a:pathLst>
                  <a:path w="2479" h="1365" extrusionOk="0">
                    <a:moveTo>
                      <a:pt x="220" y="1"/>
                    </a:moveTo>
                    <a:lnTo>
                      <a:pt x="0" y="384"/>
                    </a:lnTo>
                    <a:lnTo>
                      <a:pt x="1666" y="1293"/>
                    </a:lnTo>
                    <a:cubicBezTo>
                      <a:pt x="1752" y="1342"/>
                      <a:pt x="1845" y="1364"/>
                      <a:pt x="1937" y="1364"/>
                    </a:cubicBezTo>
                    <a:cubicBezTo>
                      <a:pt x="2171" y="1364"/>
                      <a:pt x="2397" y="1218"/>
                      <a:pt x="2479" y="977"/>
                    </a:cubicBezTo>
                    <a:lnTo>
                      <a:pt x="2479" y="977"/>
                    </a:lnTo>
                    <a:cubicBezTo>
                      <a:pt x="2405" y="1012"/>
                      <a:pt x="2325" y="1029"/>
                      <a:pt x="2245" y="1029"/>
                    </a:cubicBezTo>
                    <a:cubicBezTo>
                      <a:pt x="2150" y="1029"/>
                      <a:pt x="2055" y="1005"/>
                      <a:pt x="1972" y="958"/>
                    </a:cubicBezTo>
                    <a:lnTo>
                      <a:pt x="220" y="1"/>
                    </a:lnTo>
                    <a:close/>
                  </a:path>
                </a:pathLst>
              </a:custGeom>
              <a:solidFill>
                <a:srgbClr val="CE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98" name="Google Shape;15672;p127">
                <a:extLst>
                  <a:ext uri="{FF2B5EF4-FFF2-40B4-BE49-F238E27FC236}">
                    <a16:creationId xmlns:a16="http://schemas.microsoft.com/office/drawing/2014/main" id="{38D2D599-CBF5-2FF2-178D-4516F0AA3CF8}"/>
                  </a:ext>
                </a:extLst>
              </p:cNvPr>
              <p:cNvSpPr/>
              <p:nvPr/>
            </p:nvSpPr>
            <p:spPr>
              <a:xfrm>
                <a:off x="2772732" y="2178990"/>
                <a:ext cx="124945" cy="83060"/>
              </a:xfrm>
              <a:custGeom>
                <a:avLst/>
                <a:gdLst/>
                <a:ahLst/>
                <a:cxnLst/>
                <a:rect l="l" t="t" r="r" b="b"/>
                <a:pathLst>
                  <a:path w="4758" h="3163" extrusionOk="0">
                    <a:moveTo>
                      <a:pt x="546" y="1"/>
                    </a:moveTo>
                    <a:lnTo>
                      <a:pt x="1" y="1006"/>
                    </a:lnTo>
                    <a:lnTo>
                      <a:pt x="3829" y="3092"/>
                    </a:lnTo>
                    <a:cubicBezTo>
                      <a:pt x="3916" y="3140"/>
                      <a:pt x="4009" y="3163"/>
                      <a:pt x="4101" y="3163"/>
                    </a:cubicBezTo>
                    <a:cubicBezTo>
                      <a:pt x="4303" y="3163"/>
                      <a:pt x="4499" y="3053"/>
                      <a:pt x="4604" y="2862"/>
                    </a:cubicBezTo>
                    <a:cubicBezTo>
                      <a:pt x="4757" y="2585"/>
                      <a:pt x="4652" y="2240"/>
                      <a:pt x="4375" y="2097"/>
                    </a:cubicBezTo>
                    <a:lnTo>
                      <a:pt x="546" y="1"/>
                    </a:lnTo>
                    <a:close/>
                  </a:path>
                </a:pathLst>
              </a:custGeom>
              <a:solidFill>
                <a:srgbClr val="47C6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99" name="Google Shape;15673;p127">
                <a:extLst>
                  <a:ext uri="{FF2B5EF4-FFF2-40B4-BE49-F238E27FC236}">
                    <a16:creationId xmlns:a16="http://schemas.microsoft.com/office/drawing/2014/main" id="{3E6E8CCA-B618-4AF2-B457-168032860A90}"/>
                  </a:ext>
                </a:extLst>
              </p:cNvPr>
              <p:cNvSpPr/>
              <p:nvPr/>
            </p:nvSpPr>
            <p:spPr>
              <a:xfrm>
                <a:off x="2837594" y="2231011"/>
                <a:ext cx="56800" cy="31013"/>
              </a:xfrm>
              <a:custGeom>
                <a:avLst/>
                <a:gdLst/>
                <a:ahLst/>
                <a:cxnLst/>
                <a:rect l="l" t="t" r="r" b="b"/>
                <a:pathLst>
                  <a:path w="2163" h="1181" extrusionOk="0">
                    <a:moveTo>
                      <a:pt x="211" y="1"/>
                    </a:moveTo>
                    <a:lnTo>
                      <a:pt x="0" y="365"/>
                    </a:lnTo>
                    <a:lnTo>
                      <a:pt x="1359" y="1111"/>
                    </a:lnTo>
                    <a:cubicBezTo>
                      <a:pt x="1445" y="1158"/>
                      <a:pt x="1539" y="1181"/>
                      <a:pt x="1631" y="1181"/>
                    </a:cubicBezTo>
                    <a:cubicBezTo>
                      <a:pt x="1856" y="1181"/>
                      <a:pt x="2075" y="1048"/>
                      <a:pt x="2163" y="824"/>
                    </a:cubicBezTo>
                    <a:lnTo>
                      <a:pt x="2163" y="824"/>
                    </a:lnTo>
                    <a:cubicBezTo>
                      <a:pt x="2092" y="853"/>
                      <a:pt x="2019" y="868"/>
                      <a:pt x="1946" y="868"/>
                    </a:cubicBezTo>
                    <a:cubicBezTo>
                      <a:pt x="1853" y="868"/>
                      <a:pt x="1761" y="844"/>
                      <a:pt x="1675" y="795"/>
                    </a:cubicBezTo>
                    <a:lnTo>
                      <a:pt x="211" y="1"/>
                    </a:lnTo>
                    <a:close/>
                  </a:path>
                </a:pathLst>
              </a:custGeom>
              <a:solidFill>
                <a:srgbClr val="CE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00" name="Google Shape;15674;p127">
                <a:extLst>
                  <a:ext uri="{FF2B5EF4-FFF2-40B4-BE49-F238E27FC236}">
                    <a16:creationId xmlns:a16="http://schemas.microsoft.com/office/drawing/2014/main" id="{F59C7C9F-7F6A-9FD9-9703-FFB81DC3F8E1}"/>
                  </a:ext>
                </a:extLst>
              </p:cNvPr>
              <p:cNvSpPr/>
              <p:nvPr/>
            </p:nvSpPr>
            <p:spPr>
              <a:xfrm>
                <a:off x="2749623" y="2200602"/>
                <a:ext cx="124919" cy="82955"/>
              </a:xfrm>
              <a:custGeom>
                <a:avLst/>
                <a:gdLst/>
                <a:ahLst/>
                <a:cxnLst/>
                <a:rect l="l" t="t" r="r" b="b"/>
                <a:pathLst>
                  <a:path w="4757" h="3159" extrusionOk="0">
                    <a:moveTo>
                      <a:pt x="546" y="1"/>
                    </a:moveTo>
                    <a:lnTo>
                      <a:pt x="0" y="996"/>
                    </a:lnTo>
                    <a:lnTo>
                      <a:pt x="3829" y="3092"/>
                    </a:lnTo>
                    <a:cubicBezTo>
                      <a:pt x="3915" y="3137"/>
                      <a:pt x="4008" y="3158"/>
                      <a:pt x="4100" y="3158"/>
                    </a:cubicBezTo>
                    <a:cubicBezTo>
                      <a:pt x="4302" y="3158"/>
                      <a:pt x="4498" y="3053"/>
                      <a:pt x="4604" y="2862"/>
                    </a:cubicBezTo>
                    <a:cubicBezTo>
                      <a:pt x="4757" y="2585"/>
                      <a:pt x="4652" y="2240"/>
                      <a:pt x="4374" y="2087"/>
                    </a:cubicBezTo>
                    <a:lnTo>
                      <a:pt x="546" y="1"/>
                    </a:lnTo>
                    <a:close/>
                  </a:path>
                </a:pathLst>
              </a:custGeom>
              <a:solidFill>
                <a:srgbClr val="47C6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01" name="Google Shape;15675;p127">
                <a:extLst>
                  <a:ext uri="{FF2B5EF4-FFF2-40B4-BE49-F238E27FC236}">
                    <a16:creationId xmlns:a16="http://schemas.microsoft.com/office/drawing/2014/main" id="{B1BA9658-C769-4584-A2FA-28D816B5CDBA}"/>
                  </a:ext>
                </a:extLst>
              </p:cNvPr>
              <p:cNvSpPr/>
              <p:nvPr/>
            </p:nvSpPr>
            <p:spPr>
              <a:xfrm>
                <a:off x="2822495" y="2255906"/>
                <a:ext cx="49054" cy="27494"/>
              </a:xfrm>
              <a:custGeom>
                <a:avLst/>
                <a:gdLst/>
                <a:ahLst/>
                <a:cxnLst/>
                <a:rect l="l" t="t" r="r" b="b"/>
                <a:pathLst>
                  <a:path w="1868" h="1047" extrusionOk="0">
                    <a:moveTo>
                      <a:pt x="240" y="0"/>
                    </a:moveTo>
                    <a:lnTo>
                      <a:pt x="1" y="402"/>
                    </a:lnTo>
                    <a:lnTo>
                      <a:pt x="1054" y="976"/>
                    </a:lnTo>
                    <a:cubicBezTo>
                      <a:pt x="1140" y="1024"/>
                      <a:pt x="1234" y="1047"/>
                      <a:pt x="1326" y="1047"/>
                    </a:cubicBezTo>
                    <a:cubicBezTo>
                      <a:pt x="1528" y="1047"/>
                      <a:pt x="1724" y="938"/>
                      <a:pt x="1829" y="747"/>
                    </a:cubicBezTo>
                    <a:cubicBezTo>
                      <a:pt x="1848" y="728"/>
                      <a:pt x="1857" y="699"/>
                      <a:pt x="1867" y="670"/>
                    </a:cubicBezTo>
                    <a:lnTo>
                      <a:pt x="1867" y="670"/>
                    </a:lnTo>
                    <a:cubicBezTo>
                      <a:pt x="1801" y="695"/>
                      <a:pt x="1732" y="707"/>
                      <a:pt x="1663" y="707"/>
                    </a:cubicBezTo>
                    <a:cubicBezTo>
                      <a:pt x="1572" y="707"/>
                      <a:pt x="1480" y="685"/>
                      <a:pt x="1398" y="642"/>
                    </a:cubicBezTo>
                    <a:lnTo>
                      <a:pt x="240" y="0"/>
                    </a:lnTo>
                    <a:close/>
                  </a:path>
                </a:pathLst>
              </a:custGeom>
              <a:solidFill>
                <a:srgbClr val="CE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02" name="Google Shape;15676;p127">
                <a:extLst>
                  <a:ext uri="{FF2B5EF4-FFF2-40B4-BE49-F238E27FC236}">
                    <a16:creationId xmlns:a16="http://schemas.microsoft.com/office/drawing/2014/main" id="{DFE63791-38E0-6D9C-E610-59996F541898}"/>
                  </a:ext>
                </a:extLst>
              </p:cNvPr>
              <p:cNvSpPr/>
              <p:nvPr/>
            </p:nvSpPr>
            <p:spPr>
              <a:xfrm>
                <a:off x="2673968" y="2097059"/>
                <a:ext cx="159109" cy="144036"/>
              </a:xfrm>
              <a:custGeom>
                <a:avLst/>
                <a:gdLst/>
                <a:ahLst/>
                <a:cxnLst/>
                <a:rect l="l" t="t" r="r" b="b"/>
                <a:pathLst>
                  <a:path w="6059" h="5485" extrusionOk="0">
                    <a:moveTo>
                      <a:pt x="1896" y="1"/>
                    </a:moveTo>
                    <a:lnTo>
                      <a:pt x="1" y="3418"/>
                    </a:lnTo>
                    <a:lnTo>
                      <a:pt x="3877" y="5485"/>
                    </a:lnTo>
                    <a:lnTo>
                      <a:pt x="6059" y="1484"/>
                    </a:lnTo>
                    <a:lnTo>
                      <a:pt x="4145" y="680"/>
                    </a:lnTo>
                    <a:cubicBezTo>
                      <a:pt x="4106" y="661"/>
                      <a:pt x="4078" y="661"/>
                      <a:pt x="4039" y="661"/>
                    </a:cubicBezTo>
                    <a:lnTo>
                      <a:pt x="3274" y="757"/>
                    </a:lnTo>
                    <a:cubicBezTo>
                      <a:pt x="3226" y="757"/>
                      <a:pt x="3188" y="747"/>
                      <a:pt x="3149" y="728"/>
                    </a:cubicBezTo>
                    <a:lnTo>
                      <a:pt x="1896" y="1"/>
                    </a:lnTo>
                    <a:close/>
                  </a:path>
                </a:pathLst>
              </a:custGeom>
              <a:solidFill>
                <a:srgbClr val="47C6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03" name="Google Shape;15677;p127">
                <a:extLst>
                  <a:ext uri="{FF2B5EF4-FFF2-40B4-BE49-F238E27FC236}">
                    <a16:creationId xmlns:a16="http://schemas.microsoft.com/office/drawing/2014/main" id="{7359BA76-8794-144D-0B18-DB24E03FF822}"/>
                  </a:ext>
                </a:extLst>
              </p:cNvPr>
              <p:cNvSpPr/>
              <p:nvPr/>
            </p:nvSpPr>
            <p:spPr>
              <a:xfrm>
                <a:off x="2659157" y="2039261"/>
                <a:ext cx="98528" cy="170191"/>
              </a:xfrm>
              <a:custGeom>
                <a:avLst/>
                <a:gdLst/>
                <a:ahLst/>
                <a:cxnLst/>
                <a:rect l="l" t="t" r="r" b="b"/>
                <a:pathLst>
                  <a:path w="3752" h="6481" extrusionOk="0">
                    <a:moveTo>
                      <a:pt x="0" y="1"/>
                    </a:moveTo>
                    <a:lnTo>
                      <a:pt x="0" y="5810"/>
                    </a:lnTo>
                    <a:lnTo>
                      <a:pt x="1101" y="6451"/>
                    </a:lnTo>
                    <a:cubicBezTo>
                      <a:pt x="1133" y="6471"/>
                      <a:pt x="1170" y="6480"/>
                      <a:pt x="1207" y="6480"/>
                    </a:cubicBezTo>
                    <a:cubicBezTo>
                      <a:pt x="1279" y="6480"/>
                      <a:pt x="1350" y="6444"/>
                      <a:pt x="1388" y="6375"/>
                    </a:cubicBezTo>
                    <a:lnTo>
                      <a:pt x="3694" y="2384"/>
                    </a:lnTo>
                    <a:cubicBezTo>
                      <a:pt x="3752" y="2288"/>
                      <a:pt x="3713" y="2154"/>
                      <a:pt x="3618" y="2097"/>
                    </a:cubicBezTo>
                    <a:lnTo>
                      <a:pt x="0" y="1"/>
                    </a:lnTo>
                    <a:close/>
                  </a:path>
                </a:pathLst>
              </a:custGeom>
              <a:solidFill>
                <a:srgbClr val="F4F6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04" name="Google Shape;15678;p127">
                <a:extLst>
                  <a:ext uri="{FF2B5EF4-FFF2-40B4-BE49-F238E27FC236}">
                    <a16:creationId xmlns:a16="http://schemas.microsoft.com/office/drawing/2014/main" id="{15B5690D-D3EC-27BB-41C4-14ABD9071AA2}"/>
                  </a:ext>
                </a:extLst>
              </p:cNvPr>
              <p:cNvSpPr/>
              <p:nvPr/>
            </p:nvSpPr>
            <p:spPr>
              <a:xfrm>
                <a:off x="2659157" y="2039261"/>
                <a:ext cx="75918" cy="159109"/>
              </a:xfrm>
              <a:custGeom>
                <a:avLst/>
                <a:gdLst/>
                <a:ahLst/>
                <a:cxnLst/>
                <a:rect l="l" t="t" r="r" b="b"/>
                <a:pathLst>
                  <a:path w="2891" h="6059" extrusionOk="0">
                    <a:moveTo>
                      <a:pt x="0" y="1"/>
                    </a:moveTo>
                    <a:lnTo>
                      <a:pt x="0" y="5810"/>
                    </a:lnTo>
                    <a:lnTo>
                      <a:pt x="431" y="6059"/>
                    </a:lnTo>
                    <a:lnTo>
                      <a:pt x="2890" y="1676"/>
                    </a:lnTo>
                    <a:lnTo>
                      <a:pt x="0" y="1"/>
                    </a:lnTo>
                    <a:close/>
                  </a:path>
                </a:pathLst>
              </a:custGeom>
              <a:solidFill>
                <a:srgbClr val="058D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05" name="Google Shape;15679;p127">
                <a:extLst>
                  <a:ext uri="{FF2B5EF4-FFF2-40B4-BE49-F238E27FC236}">
                    <a16:creationId xmlns:a16="http://schemas.microsoft.com/office/drawing/2014/main" id="{D777431A-C71E-1EEB-B827-3AF1FC9A9F28}"/>
                  </a:ext>
                </a:extLst>
              </p:cNvPr>
              <p:cNvSpPr/>
              <p:nvPr/>
            </p:nvSpPr>
            <p:spPr>
              <a:xfrm>
                <a:off x="2659157" y="2159138"/>
                <a:ext cx="47268" cy="50314"/>
              </a:xfrm>
              <a:custGeom>
                <a:avLst/>
                <a:gdLst/>
                <a:ahLst/>
                <a:cxnLst/>
                <a:rect l="l" t="t" r="r" b="b"/>
                <a:pathLst>
                  <a:path w="1800" h="1916" extrusionOk="0">
                    <a:moveTo>
                      <a:pt x="0" y="1"/>
                    </a:moveTo>
                    <a:lnTo>
                      <a:pt x="0" y="1245"/>
                    </a:lnTo>
                    <a:lnTo>
                      <a:pt x="1101" y="1886"/>
                    </a:lnTo>
                    <a:cubicBezTo>
                      <a:pt x="1133" y="1906"/>
                      <a:pt x="1170" y="1915"/>
                      <a:pt x="1207" y="1915"/>
                    </a:cubicBezTo>
                    <a:cubicBezTo>
                      <a:pt x="1279" y="1915"/>
                      <a:pt x="1350" y="1879"/>
                      <a:pt x="1388" y="1810"/>
                    </a:cubicBezTo>
                    <a:lnTo>
                      <a:pt x="1799" y="1092"/>
                    </a:lnTo>
                    <a:lnTo>
                      <a:pt x="0" y="1"/>
                    </a:lnTo>
                    <a:close/>
                  </a:path>
                </a:pathLst>
              </a:custGeom>
              <a:solidFill>
                <a:srgbClr val="E8ED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06" name="Google Shape;15680;p127">
                <a:extLst>
                  <a:ext uri="{FF2B5EF4-FFF2-40B4-BE49-F238E27FC236}">
                    <a16:creationId xmlns:a16="http://schemas.microsoft.com/office/drawing/2014/main" id="{E2048FB6-1012-A95E-9BED-C461ED40A357}"/>
                  </a:ext>
                </a:extLst>
              </p:cNvPr>
              <p:cNvSpPr/>
              <p:nvPr/>
            </p:nvSpPr>
            <p:spPr>
              <a:xfrm>
                <a:off x="2659157" y="2159138"/>
                <a:ext cx="24894" cy="39232"/>
              </a:xfrm>
              <a:custGeom>
                <a:avLst/>
                <a:gdLst/>
                <a:ahLst/>
                <a:cxnLst/>
                <a:rect l="l" t="t" r="r" b="b"/>
                <a:pathLst>
                  <a:path w="948" h="1494" extrusionOk="0">
                    <a:moveTo>
                      <a:pt x="0" y="1"/>
                    </a:moveTo>
                    <a:lnTo>
                      <a:pt x="0" y="1245"/>
                    </a:lnTo>
                    <a:lnTo>
                      <a:pt x="431" y="1494"/>
                    </a:lnTo>
                    <a:lnTo>
                      <a:pt x="948" y="575"/>
                    </a:lnTo>
                    <a:lnTo>
                      <a:pt x="0" y="1"/>
                    </a:lnTo>
                    <a:close/>
                  </a:path>
                </a:pathLst>
              </a:custGeom>
              <a:solidFill>
                <a:srgbClr val="465C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07" name="Google Shape;15681;p127">
                <a:extLst>
                  <a:ext uri="{FF2B5EF4-FFF2-40B4-BE49-F238E27FC236}">
                    <a16:creationId xmlns:a16="http://schemas.microsoft.com/office/drawing/2014/main" id="{55F8F0BC-8DFF-30C5-C7F6-A0FEDC7F3AC9}"/>
                  </a:ext>
                </a:extLst>
              </p:cNvPr>
              <p:cNvSpPr/>
              <p:nvPr/>
            </p:nvSpPr>
            <p:spPr>
              <a:xfrm>
                <a:off x="2706898" y="2179463"/>
                <a:ext cx="67121" cy="53859"/>
              </a:xfrm>
              <a:custGeom>
                <a:avLst/>
                <a:gdLst/>
                <a:ahLst/>
                <a:cxnLst/>
                <a:rect l="l" t="t" r="r" b="b"/>
                <a:pathLst>
                  <a:path w="2556" h="2051" extrusionOk="0">
                    <a:moveTo>
                      <a:pt x="1902" y="1"/>
                    </a:moveTo>
                    <a:cubicBezTo>
                      <a:pt x="1788" y="1"/>
                      <a:pt x="1672" y="35"/>
                      <a:pt x="1570" y="107"/>
                    </a:cubicBezTo>
                    <a:lnTo>
                      <a:pt x="316" y="1016"/>
                    </a:lnTo>
                    <a:cubicBezTo>
                      <a:pt x="58" y="1198"/>
                      <a:pt x="1" y="1562"/>
                      <a:pt x="192" y="1811"/>
                    </a:cubicBezTo>
                    <a:cubicBezTo>
                      <a:pt x="302" y="1968"/>
                      <a:pt x="477" y="2051"/>
                      <a:pt x="654" y="2051"/>
                    </a:cubicBezTo>
                    <a:cubicBezTo>
                      <a:pt x="769" y="2051"/>
                      <a:pt x="885" y="2016"/>
                      <a:pt x="986" y="1945"/>
                    </a:cubicBezTo>
                    <a:lnTo>
                      <a:pt x="2240" y="1045"/>
                    </a:lnTo>
                    <a:cubicBezTo>
                      <a:pt x="2508" y="854"/>
                      <a:pt x="2556" y="490"/>
                      <a:pt x="2364" y="232"/>
                    </a:cubicBezTo>
                    <a:cubicBezTo>
                      <a:pt x="2249" y="81"/>
                      <a:pt x="2077" y="1"/>
                      <a:pt x="1902" y="1"/>
                    </a:cubicBezTo>
                    <a:close/>
                  </a:path>
                </a:pathLst>
              </a:custGeom>
              <a:solidFill>
                <a:srgbClr val="CE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08" name="Google Shape;15682;p127">
                <a:extLst>
                  <a:ext uri="{FF2B5EF4-FFF2-40B4-BE49-F238E27FC236}">
                    <a16:creationId xmlns:a16="http://schemas.microsoft.com/office/drawing/2014/main" id="{ED938B05-261B-3F8D-6A6F-9DA99B5A26C7}"/>
                  </a:ext>
                </a:extLst>
              </p:cNvPr>
              <p:cNvSpPr/>
              <p:nvPr/>
            </p:nvSpPr>
            <p:spPr>
              <a:xfrm>
                <a:off x="2710154" y="2180513"/>
                <a:ext cx="63864" cy="52914"/>
              </a:xfrm>
              <a:custGeom>
                <a:avLst/>
                <a:gdLst/>
                <a:ahLst/>
                <a:cxnLst/>
                <a:rect l="l" t="t" r="r" b="b"/>
                <a:pathLst>
                  <a:path w="2432" h="2015" extrusionOk="0">
                    <a:moveTo>
                      <a:pt x="2001" y="0"/>
                    </a:moveTo>
                    <a:lnTo>
                      <a:pt x="2001" y="0"/>
                    </a:lnTo>
                    <a:cubicBezTo>
                      <a:pt x="2097" y="249"/>
                      <a:pt x="2011" y="527"/>
                      <a:pt x="1800" y="680"/>
                    </a:cubicBezTo>
                    <a:lnTo>
                      <a:pt x="546" y="1589"/>
                    </a:lnTo>
                    <a:cubicBezTo>
                      <a:pt x="445" y="1661"/>
                      <a:pt x="329" y="1699"/>
                      <a:pt x="211" y="1699"/>
                    </a:cubicBezTo>
                    <a:cubicBezTo>
                      <a:pt x="141" y="1699"/>
                      <a:pt x="69" y="1685"/>
                      <a:pt x="1" y="1656"/>
                    </a:cubicBezTo>
                    <a:lnTo>
                      <a:pt x="1" y="1656"/>
                    </a:lnTo>
                    <a:cubicBezTo>
                      <a:pt x="89" y="1883"/>
                      <a:pt x="303" y="2015"/>
                      <a:pt x="525" y="2015"/>
                    </a:cubicBezTo>
                    <a:cubicBezTo>
                      <a:pt x="640" y="2015"/>
                      <a:pt x="758" y="1980"/>
                      <a:pt x="862" y="1905"/>
                    </a:cubicBezTo>
                    <a:lnTo>
                      <a:pt x="2116" y="1005"/>
                    </a:lnTo>
                    <a:cubicBezTo>
                      <a:pt x="2384" y="814"/>
                      <a:pt x="2432" y="440"/>
                      <a:pt x="2240" y="192"/>
                    </a:cubicBezTo>
                    <a:cubicBezTo>
                      <a:pt x="2173" y="106"/>
                      <a:pt x="2097" y="39"/>
                      <a:pt x="2001" y="0"/>
                    </a:cubicBezTo>
                    <a:close/>
                  </a:path>
                </a:pathLst>
              </a:custGeom>
              <a:solidFill>
                <a:srgbClr val="A9B4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09" name="Google Shape;15683;p127">
                <a:extLst>
                  <a:ext uri="{FF2B5EF4-FFF2-40B4-BE49-F238E27FC236}">
                    <a16:creationId xmlns:a16="http://schemas.microsoft.com/office/drawing/2014/main" id="{9A9354DA-C28C-6AB3-3D58-455984BFA0C0}"/>
                  </a:ext>
                </a:extLst>
              </p:cNvPr>
              <p:cNvSpPr/>
              <p:nvPr/>
            </p:nvSpPr>
            <p:spPr>
              <a:xfrm>
                <a:off x="2732528" y="2203254"/>
                <a:ext cx="59847" cy="48528"/>
              </a:xfrm>
              <a:custGeom>
                <a:avLst/>
                <a:gdLst/>
                <a:ahLst/>
                <a:cxnLst/>
                <a:rect l="l" t="t" r="r" b="b"/>
                <a:pathLst>
                  <a:path w="2279" h="1848" extrusionOk="0">
                    <a:moveTo>
                      <a:pt x="1629" y="1"/>
                    </a:moveTo>
                    <a:cubicBezTo>
                      <a:pt x="1512" y="1"/>
                      <a:pt x="1394" y="37"/>
                      <a:pt x="1293" y="110"/>
                    </a:cubicBezTo>
                    <a:lnTo>
                      <a:pt x="326" y="809"/>
                    </a:lnTo>
                    <a:cubicBezTo>
                      <a:pt x="68" y="1000"/>
                      <a:pt x="1" y="1364"/>
                      <a:pt x="192" y="1623"/>
                    </a:cubicBezTo>
                    <a:cubicBezTo>
                      <a:pt x="306" y="1770"/>
                      <a:pt x="473" y="1847"/>
                      <a:pt x="643" y="1847"/>
                    </a:cubicBezTo>
                    <a:cubicBezTo>
                      <a:pt x="759" y="1847"/>
                      <a:pt x="876" y="1811"/>
                      <a:pt x="977" y="1737"/>
                    </a:cubicBezTo>
                    <a:lnTo>
                      <a:pt x="1963" y="1039"/>
                    </a:lnTo>
                    <a:cubicBezTo>
                      <a:pt x="2221" y="847"/>
                      <a:pt x="2278" y="484"/>
                      <a:pt x="2077" y="225"/>
                    </a:cubicBezTo>
                    <a:cubicBezTo>
                      <a:pt x="1969" y="77"/>
                      <a:pt x="1801" y="1"/>
                      <a:pt x="1629" y="1"/>
                    </a:cubicBezTo>
                    <a:close/>
                  </a:path>
                </a:pathLst>
              </a:custGeom>
              <a:solidFill>
                <a:srgbClr val="CE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10" name="Google Shape;15684;p127">
                <a:extLst>
                  <a:ext uri="{FF2B5EF4-FFF2-40B4-BE49-F238E27FC236}">
                    <a16:creationId xmlns:a16="http://schemas.microsoft.com/office/drawing/2014/main" id="{D20F02A2-192C-5063-40FB-F790235E0455}"/>
                  </a:ext>
                </a:extLst>
              </p:cNvPr>
              <p:cNvSpPr/>
              <p:nvPr/>
            </p:nvSpPr>
            <p:spPr>
              <a:xfrm>
                <a:off x="2735810" y="2204384"/>
                <a:ext cx="56564" cy="47399"/>
              </a:xfrm>
              <a:custGeom>
                <a:avLst/>
                <a:gdLst/>
                <a:ahLst/>
                <a:cxnLst/>
                <a:rect l="l" t="t" r="r" b="b"/>
                <a:pathLst>
                  <a:path w="2154" h="1805" extrusionOk="0">
                    <a:moveTo>
                      <a:pt x="1713" y="0"/>
                    </a:moveTo>
                    <a:lnTo>
                      <a:pt x="1713" y="0"/>
                    </a:lnTo>
                    <a:cubicBezTo>
                      <a:pt x="1809" y="240"/>
                      <a:pt x="1732" y="517"/>
                      <a:pt x="1522" y="670"/>
                    </a:cubicBezTo>
                    <a:lnTo>
                      <a:pt x="546" y="1379"/>
                    </a:lnTo>
                    <a:cubicBezTo>
                      <a:pt x="444" y="1450"/>
                      <a:pt x="328" y="1488"/>
                      <a:pt x="211" y="1488"/>
                    </a:cubicBezTo>
                    <a:cubicBezTo>
                      <a:pt x="140" y="1488"/>
                      <a:pt x="69" y="1474"/>
                      <a:pt x="0" y="1446"/>
                    </a:cubicBezTo>
                    <a:lnTo>
                      <a:pt x="0" y="1446"/>
                    </a:lnTo>
                    <a:cubicBezTo>
                      <a:pt x="19" y="1493"/>
                      <a:pt x="38" y="1541"/>
                      <a:pt x="67" y="1580"/>
                    </a:cubicBezTo>
                    <a:cubicBezTo>
                      <a:pt x="181" y="1727"/>
                      <a:pt x="348" y="1804"/>
                      <a:pt x="520" y="1804"/>
                    </a:cubicBezTo>
                    <a:cubicBezTo>
                      <a:pt x="637" y="1804"/>
                      <a:pt x="756" y="1768"/>
                      <a:pt x="861" y="1694"/>
                    </a:cubicBezTo>
                    <a:lnTo>
                      <a:pt x="1838" y="996"/>
                    </a:lnTo>
                    <a:cubicBezTo>
                      <a:pt x="2096" y="804"/>
                      <a:pt x="2153" y="441"/>
                      <a:pt x="1952" y="182"/>
                    </a:cubicBezTo>
                    <a:cubicBezTo>
                      <a:pt x="1895" y="106"/>
                      <a:pt x="1809" y="39"/>
                      <a:pt x="1713" y="0"/>
                    </a:cubicBezTo>
                    <a:close/>
                  </a:path>
                </a:pathLst>
              </a:custGeom>
              <a:solidFill>
                <a:srgbClr val="A9B4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11" name="Google Shape;15685;p127">
                <a:extLst>
                  <a:ext uri="{FF2B5EF4-FFF2-40B4-BE49-F238E27FC236}">
                    <a16:creationId xmlns:a16="http://schemas.microsoft.com/office/drawing/2014/main" id="{E6D07A90-0A30-173B-73E2-94EBF18EC04E}"/>
                  </a:ext>
                </a:extLst>
              </p:cNvPr>
              <p:cNvSpPr/>
              <p:nvPr/>
            </p:nvSpPr>
            <p:spPr>
              <a:xfrm>
                <a:off x="2758158" y="2226967"/>
                <a:ext cx="52310" cy="43303"/>
              </a:xfrm>
              <a:custGeom>
                <a:avLst/>
                <a:gdLst/>
                <a:ahLst/>
                <a:cxnLst/>
                <a:rect l="l" t="t" r="r" b="b"/>
                <a:pathLst>
                  <a:path w="1992" h="1649" extrusionOk="0">
                    <a:moveTo>
                      <a:pt x="1340" y="1"/>
                    </a:moveTo>
                    <a:cubicBezTo>
                      <a:pt x="1227" y="1"/>
                      <a:pt x="1114" y="35"/>
                      <a:pt x="1015" y="107"/>
                    </a:cubicBezTo>
                    <a:lnTo>
                      <a:pt x="317" y="614"/>
                    </a:lnTo>
                    <a:cubicBezTo>
                      <a:pt x="58" y="796"/>
                      <a:pt x="1" y="1160"/>
                      <a:pt x="183" y="1409"/>
                    </a:cubicBezTo>
                    <a:cubicBezTo>
                      <a:pt x="299" y="1566"/>
                      <a:pt x="475" y="1648"/>
                      <a:pt x="652" y="1648"/>
                    </a:cubicBezTo>
                    <a:cubicBezTo>
                      <a:pt x="766" y="1648"/>
                      <a:pt x="879" y="1614"/>
                      <a:pt x="977" y="1543"/>
                    </a:cubicBezTo>
                    <a:lnTo>
                      <a:pt x="1676" y="1035"/>
                    </a:lnTo>
                    <a:cubicBezTo>
                      <a:pt x="1944" y="844"/>
                      <a:pt x="1991" y="480"/>
                      <a:pt x="1800" y="231"/>
                    </a:cubicBezTo>
                    <a:cubicBezTo>
                      <a:pt x="1684" y="81"/>
                      <a:pt x="1513" y="1"/>
                      <a:pt x="1340" y="1"/>
                    </a:cubicBezTo>
                    <a:close/>
                  </a:path>
                </a:pathLst>
              </a:custGeom>
              <a:solidFill>
                <a:srgbClr val="CE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12" name="Google Shape;15686;p127">
                <a:extLst>
                  <a:ext uri="{FF2B5EF4-FFF2-40B4-BE49-F238E27FC236}">
                    <a16:creationId xmlns:a16="http://schemas.microsoft.com/office/drawing/2014/main" id="{5DA55806-3F04-11EB-B8FB-4F5CB4F6A4C4}"/>
                  </a:ext>
                </a:extLst>
              </p:cNvPr>
              <p:cNvSpPr/>
              <p:nvPr/>
            </p:nvSpPr>
            <p:spPr>
              <a:xfrm>
                <a:off x="2761178" y="2228018"/>
                <a:ext cx="49290" cy="42252"/>
              </a:xfrm>
              <a:custGeom>
                <a:avLst/>
                <a:gdLst/>
                <a:ahLst/>
                <a:cxnLst/>
                <a:rect l="l" t="t" r="r" b="b"/>
                <a:pathLst>
                  <a:path w="1877" h="1609" extrusionOk="0">
                    <a:moveTo>
                      <a:pt x="1417" y="0"/>
                    </a:moveTo>
                    <a:cubicBezTo>
                      <a:pt x="1503" y="230"/>
                      <a:pt x="1417" y="498"/>
                      <a:pt x="1216" y="651"/>
                    </a:cubicBezTo>
                    <a:lnTo>
                      <a:pt x="517" y="1148"/>
                    </a:lnTo>
                    <a:cubicBezTo>
                      <a:pt x="419" y="1222"/>
                      <a:pt x="305" y="1261"/>
                      <a:pt x="190" y="1261"/>
                    </a:cubicBezTo>
                    <a:cubicBezTo>
                      <a:pt x="126" y="1261"/>
                      <a:pt x="62" y="1249"/>
                      <a:pt x="1" y="1225"/>
                    </a:cubicBezTo>
                    <a:lnTo>
                      <a:pt x="1" y="1225"/>
                    </a:lnTo>
                    <a:cubicBezTo>
                      <a:pt x="20" y="1273"/>
                      <a:pt x="39" y="1321"/>
                      <a:pt x="68" y="1369"/>
                    </a:cubicBezTo>
                    <a:cubicBezTo>
                      <a:pt x="184" y="1526"/>
                      <a:pt x="360" y="1608"/>
                      <a:pt x="539" y="1608"/>
                    </a:cubicBezTo>
                    <a:cubicBezTo>
                      <a:pt x="654" y="1608"/>
                      <a:pt x="770" y="1574"/>
                      <a:pt x="872" y="1503"/>
                    </a:cubicBezTo>
                    <a:lnTo>
                      <a:pt x="1561" y="995"/>
                    </a:lnTo>
                    <a:cubicBezTo>
                      <a:pt x="1829" y="804"/>
                      <a:pt x="1876" y="440"/>
                      <a:pt x="1685" y="182"/>
                    </a:cubicBezTo>
                    <a:cubicBezTo>
                      <a:pt x="1618" y="96"/>
                      <a:pt x="1522" y="29"/>
                      <a:pt x="1417" y="0"/>
                    </a:cubicBezTo>
                    <a:close/>
                  </a:path>
                </a:pathLst>
              </a:custGeom>
              <a:solidFill>
                <a:srgbClr val="A9B4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13" name="Google Shape;15687;p127">
                <a:extLst>
                  <a:ext uri="{FF2B5EF4-FFF2-40B4-BE49-F238E27FC236}">
                    <a16:creationId xmlns:a16="http://schemas.microsoft.com/office/drawing/2014/main" id="{E619A082-FF44-73E8-87B3-ADF8776A3CD0}"/>
                  </a:ext>
                </a:extLst>
              </p:cNvPr>
              <p:cNvSpPr/>
              <p:nvPr/>
            </p:nvSpPr>
            <p:spPr>
              <a:xfrm>
                <a:off x="2783814" y="2250706"/>
                <a:ext cx="45010" cy="37919"/>
              </a:xfrm>
              <a:custGeom>
                <a:avLst/>
                <a:gdLst/>
                <a:ahLst/>
                <a:cxnLst/>
                <a:rect l="l" t="t" r="r" b="b"/>
                <a:pathLst>
                  <a:path w="1714" h="1444" extrusionOk="0">
                    <a:moveTo>
                      <a:pt x="1057" y="0"/>
                    </a:moveTo>
                    <a:cubicBezTo>
                      <a:pt x="942" y="0"/>
                      <a:pt x="826" y="34"/>
                      <a:pt x="727" y="103"/>
                    </a:cubicBezTo>
                    <a:lnTo>
                      <a:pt x="316" y="409"/>
                    </a:lnTo>
                    <a:cubicBezTo>
                      <a:pt x="57" y="600"/>
                      <a:pt x="0" y="954"/>
                      <a:pt x="182" y="1203"/>
                    </a:cubicBezTo>
                    <a:cubicBezTo>
                      <a:pt x="298" y="1360"/>
                      <a:pt x="475" y="1443"/>
                      <a:pt x="651" y="1443"/>
                    </a:cubicBezTo>
                    <a:cubicBezTo>
                      <a:pt x="765" y="1443"/>
                      <a:pt x="879" y="1409"/>
                      <a:pt x="976" y="1337"/>
                    </a:cubicBezTo>
                    <a:lnTo>
                      <a:pt x="1397" y="1031"/>
                    </a:lnTo>
                    <a:cubicBezTo>
                      <a:pt x="1656" y="849"/>
                      <a:pt x="1713" y="485"/>
                      <a:pt x="1512" y="227"/>
                    </a:cubicBezTo>
                    <a:cubicBezTo>
                      <a:pt x="1403" y="77"/>
                      <a:pt x="1231" y="0"/>
                      <a:pt x="1057" y="0"/>
                    </a:cubicBezTo>
                    <a:close/>
                  </a:path>
                </a:pathLst>
              </a:custGeom>
              <a:solidFill>
                <a:srgbClr val="CE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14" name="Google Shape;15688;p127">
                <a:extLst>
                  <a:ext uri="{FF2B5EF4-FFF2-40B4-BE49-F238E27FC236}">
                    <a16:creationId xmlns:a16="http://schemas.microsoft.com/office/drawing/2014/main" id="{D0FD794B-05E9-77EB-3D55-F931A6FFF533}"/>
                  </a:ext>
                </a:extLst>
              </p:cNvPr>
              <p:cNvSpPr/>
              <p:nvPr/>
            </p:nvSpPr>
            <p:spPr>
              <a:xfrm>
                <a:off x="2786807" y="2251888"/>
                <a:ext cx="42016" cy="36764"/>
              </a:xfrm>
              <a:custGeom>
                <a:avLst/>
                <a:gdLst/>
                <a:ahLst/>
                <a:cxnLst/>
                <a:rect l="l" t="t" r="r" b="b"/>
                <a:pathLst>
                  <a:path w="1600" h="1400" extrusionOk="0">
                    <a:moveTo>
                      <a:pt x="1149" y="0"/>
                    </a:moveTo>
                    <a:lnTo>
                      <a:pt x="1149" y="0"/>
                    </a:lnTo>
                    <a:cubicBezTo>
                      <a:pt x="1245" y="239"/>
                      <a:pt x="1168" y="517"/>
                      <a:pt x="958" y="661"/>
                    </a:cubicBezTo>
                    <a:lnTo>
                      <a:pt x="537" y="967"/>
                    </a:lnTo>
                    <a:cubicBezTo>
                      <a:pt x="442" y="1038"/>
                      <a:pt x="329" y="1072"/>
                      <a:pt x="213" y="1072"/>
                    </a:cubicBezTo>
                    <a:cubicBezTo>
                      <a:pt x="142" y="1072"/>
                      <a:pt x="70" y="1059"/>
                      <a:pt x="1" y="1034"/>
                    </a:cubicBezTo>
                    <a:lnTo>
                      <a:pt x="1" y="1034"/>
                    </a:lnTo>
                    <a:cubicBezTo>
                      <a:pt x="90" y="1263"/>
                      <a:pt x="311" y="1400"/>
                      <a:pt x="537" y="1400"/>
                    </a:cubicBezTo>
                    <a:cubicBezTo>
                      <a:pt x="650" y="1400"/>
                      <a:pt x="763" y="1366"/>
                      <a:pt x="862" y="1292"/>
                    </a:cubicBezTo>
                    <a:lnTo>
                      <a:pt x="1283" y="986"/>
                    </a:lnTo>
                    <a:cubicBezTo>
                      <a:pt x="1542" y="804"/>
                      <a:pt x="1599" y="431"/>
                      <a:pt x="1398" y="182"/>
                    </a:cubicBezTo>
                    <a:cubicBezTo>
                      <a:pt x="1331" y="96"/>
                      <a:pt x="1255" y="38"/>
                      <a:pt x="1149" y="0"/>
                    </a:cubicBezTo>
                    <a:close/>
                  </a:path>
                </a:pathLst>
              </a:custGeom>
              <a:solidFill>
                <a:srgbClr val="A9B4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15" name="Google Shape;15689;p127">
                <a:extLst>
                  <a:ext uri="{FF2B5EF4-FFF2-40B4-BE49-F238E27FC236}">
                    <a16:creationId xmlns:a16="http://schemas.microsoft.com/office/drawing/2014/main" id="{1D386286-9206-1A3C-A7F4-E1D80C3EE555}"/>
                  </a:ext>
                </a:extLst>
              </p:cNvPr>
              <p:cNvSpPr/>
              <p:nvPr/>
            </p:nvSpPr>
            <p:spPr>
              <a:xfrm>
                <a:off x="2788829" y="2102101"/>
                <a:ext cx="64862" cy="99788"/>
              </a:xfrm>
              <a:custGeom>
                <a:avLst/>
                <a:gdLst/>
                <a:ahLst/>
                <a:cxnLst/>
                <a:rect l="l" t="t" r="r" b="b"/>
                <a:pathLst>
                  <a:path w="2470" h="3800" extrusionOk="0">
                    <a:moveTo>
                      <a:pt x="527" y="0"/>
                    </a:moveTo>
                    <a:cubicBezTo>
                      <a:pt x="441" y="0"/>
                      <a:pt x="364" y="58"/>
                      <a:pt x="345" y="144"/>
                    </a:cubicBezTo>
                    <a:lnTo>
                      <a:pt x="0" y="1522"/>
                    </a:lnTo>
                    <a:lnTo>
                      <a:pt x="0" y="3034"/>
                    </a:lnTo>
                    <a:cubicBezTo>
                      <a:pt x="0" y="3455"/>
                      <a:pt x="345" y="3800"/>
                      <a:pt x="766" y="3800"/>
                    </a:cubicBezTo>
                    <a:cubicBezTo>
                      <a:pt x="1178" y="3800"/>
                      <a:pt x="1522" y="3455"/>
                      <a:pt x="1522" y="3034"/>
                    </a:cubicBezTo>
                    <a:lnTo>
                      <a:pt x="1522" y="1895"/>
                    </a:lnTo>
                    <a:lnTo>
                      <a:pt x="2470" y="0"/>
                    </a:lnTo>
                    <a:close/>
                  </a:path>
                </a:pathLst>
              </a:custGeom>
              <a:solidFill>
                <a:srgbClr val="CE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16" name="Google Shape;15690;p127">
                <a:extLst>
                  <a:ext uri="{FF2B5EF4-FFF2-40B4-BE49-F238E27FC236}">
                    <a16:creationId xmlns:a16="http://schemas.microsoft.com/office/drawing/2014/main" id="{C131118C-4E41-1347-37E6-B7CEA588E7FF}"/>
                  </a:ext>
                </a:extLst>
              </p:cNvPr>
              <p:cNvSpPr/>
              <p:nvPr/>
            </p:nvSpPr>
            <p:spPr>
              <a:xfrm>
                <a:off x="2788829" y="2102101"/>
                <a:ext cx="27415" cy="99788"/>
              </a:xfrm>
              <a:custGeom>
                <a:avLst/>
                <a:gdLst/>
                <a:ahLst/>
                <a:cxnLst/>
                <a:rect l="l" t="t" r="r" b="b"/>
                <a:pathLst>
                  <a:path w="1044" h="3800" extrusionOk="0">
                    <a:moveTo>
                      <a:pt x="527" y="0"/>
                    </a:moveTo>
                    <a:cubicBezTo>
                      <a:pt x="441" y="0"/>
                      <a:pt x="364" y="58"/>
                      <a:pt x="335" y="144"/>
                    </a:cubicBezTo>
                    <a:lnTo>
                      <a:pt x="0" y="1512"/>
                    </a:lnTo>
                    <a:lnTo>
                      <a:pt x="0" y="3034"/>
                    </a:lnTo>
                    <a:cubicBezTo>
                      <a:pt x="0" y="3455"/>
                      <a:pt x="335" y="3800"/>
                      <a:pt x="756" y="3800"/>
                    </a:cubicBezTo>
                    <a:cubicBezTo>
                      <a:pt x="852" y="3800"/>
                      <a:pt x="948" y="3781"/>
                      <a:pt x="1044" y="3742"/>
                    </a:cubicBezTo>
                    <a:cubicBezTo>
                      <a:pt x="756" y="3627"/>
                      <a:pt x="565" y="3350"/>
                      <a:pt x="565" y="3034"/>
                    </a:cubicBezTo>
                    <a:lnTo>
                      <a:pt x="565" y="1522"/>
                    </a:lnTo>
                    <a:lnTo>
                      <a:pt x="948" y="0"/>
                    </a:lnTo>
                    <a:close/>
                  </a:path>
                </a:pathLst>
              </a:custGeom>
              <a:solidFill>
                <a:srgbClr val="A9B4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grpSp>
      <p:grpSp>
        <p:nvGrpSpPr>
          <p:cNvPr id="117" name="Group 116">
            <a:extLst>
              <a:ext uri="{FF2B5EF4-FFF2-40B4-BE49-F238E27FC236}">
                <a16:creationId xmlns:a16="http://schemas.microsoft.com/office/drawing/2014/main" id="{B1E96A8E-C24B-ADFE-652B-875A58F944E3}"/>
              </a:ext>
            </a:extLst>
          </p:cNvPr>
          <p:cNvGrpSpPr/>
          <p:nvPr/>
        </p:nvGrpSpPr>
        <p:grpSpPr>
          <a:xfrm>
            <a:off x="8508707" y="2041472"/>
            <a:ext cx="572700" cy="572700"/>
            <a:chOff x="8330771" y="3496404"/>
            <a:chExt cx="572700" cy="572700"/>
          </a:xfrm>
        </p:grpSpPr>
        <p:sp>
          <p:nvSpPr>
            <p:cNvPr id="118" name="Google Shape;839;p61">
              <a:extLst>
                <a:ext uri="{FF2B5EF4-FFF2-40B4-BE49-F238E27FC236}">
                  <a16:creationId xmlns:a16="http://schemas.microsoft.com/office/drawing/2014/main" id="{083297DE-D209-39A6-5747-2BD9F08FC15B}"/>
                </a:ext>
              </a:extLst>
            </p:cNvPr>
            <p:cNvSpPr/>
            <p:nvPr/>
          </p:nvSpPr>
          <p:spPr>
            <a:xfrm>
              <a:off x="8330771" y="3496404"/>
              <a:ext cx="572700" cy="572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pic>
          <p:nvPicPr>
            <p:cNvPr id="119" name="Graphic 118" descr="Employee badge outline">
              <a:extLst>
                <a:ext uri="{FF2B5EF4-FFF2-40B4-BE49-F238E27FC236}">
                  <a16:creationId xmlns:a16="http://schemas.microsoft.com/office/drawing/2014/main" id="{7935BF25-68C6-8AB4-0A73-419E55C0980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422762" y="3588395"/>
              <a:ext cx="388717" cy="388717"/>
            </a:xfrm>
            <a:prstGeom prst="rect">
              <a:avLst/>
            </a:prstGeom>
          </p:spPr>
        </p:pic>
      </p:grpSp>
      <p:sp>
        <p:nvSpPr>
          <p:cNvPr id="120" name="TextBox 119">
            <a:extLst>
              <a:ext uri="{FF2B5EF4-FFF2-40B4-BE49-F238E27FC236}">
                <a16:creationId xmlns:a16="http://schemas.microsoft.com/office/drawing/2014/main" id="{DEC5219C-31CC-BBFE-4C28-999B6EA42705}"/>
              </a:ext>
            </a:extLst>
          </p:cNvPr>
          <p:cNvSpPr txBox="1"/>
          <p:nvPr/>
        </p:nvSpPr>
        <p:spPr>
          <a:xfrm>
            <a:off x="9247231" y="2109000"/>
            <a:ext cx="2147988" cy="553998"/>
          </a:xfrm>
          <a:prstGeom prst="rect">
            <a:avLst/>
          </a:prstGeom>
          <a:noFill/>
        </p:spPr>
        <p:txBody>
          <a:bodyPr wrap="square">
            <a:spAutoFit/>
          </a:bodyPr>
          <a:lstStyle/>
          <a:p>
            <a:r>
              <a:rPr lang="en-US" sz="1800" b="1">
                <a:solidFill>
                  <a:srgbClr val="1F4766"/>
                </a:solidFill>
                <a:latin typeface="Lato" panose="020F0502020204030203" pitchFamily="34" charset="0"/>
                <a:ea typeface="Lato" panose="020F0502020204030203" pitchFamily="34" charset="0"/>
                <a:cs typeface="Lato" panose="020F0502020204030203" pitchFamily="34" charset="0"/>
              </a:rPr>
              <a:t>Membership Fee</a:t>
            </a:r>
          </a:p>
          <a:p>
            <a:r>
              <a:rPr lang="en-US" sz="1200" b="1" i="1">
                <a:solidFill>
                  <a:srgbClr val="1F4766"/>
                </a:solidFill>
                <a:latin typeface="Lato" panose="020F0502020204030203" pitchFamily="34" charset="0"/>
                <a:ea typeface="Lato" panose="020F0502020204030203" pitchFamily="34" charset="0"/>
                <a:cs typeface="Lato" panose="020F0502020204030203" pitchFamily="34" charset="0"/>
              </a:rPr>
              <a:t>For new clients only</a:t>
            </a:r>
            <a:endParaRPr lang="en-PH" sz="1200" b="1" i="1">
              <a:solidFill>
                <a:srgbClr val="1F4766"/>
              </a:solidFill>
              <a:latin typeface="Lato" panose="020F0502020204030203" pitchFamily="34" charset="0"/>
              <a:ea typeface="Lato" panose="020F0502020204030203" pitchFamily="34" charset="0"/>
              <a:cs typeface="Lato" panose="020F0502020204030203" pitchFamily="34" charset="0"/>
            </a:endParaRPr>
          </a:p>
        </p:txBody>
      </p:sp>
      <p:sp>
        <p:nvSpPr>
          <p:cNvPr id="121" name="TextBox 120">
            <a:extLst>
              <a:ext uri="{FF2B5EF4-FFF2-40B4-BE49-F238E27FC236}">
                <a16:creationId xmlns:a16="http://schemas.microsoft.com/office/drawing/2014/main" id="{5CFE7765-2682-56CB-F4CE-F536C3C9784F}"/>
              </a:ext>
            </a:extLst>
          </p:cNvPr>
          <p:cNvSpPr txBox="1"/>
          <p:nvPr/>
        </p:nvSpPr>
        <p:spPr>
          <a:xfrm>
            <a:off x="9037649" y="2757777"/>
            <a:ext cx="2908862" cy="682093"/>
          </a:xfrm>
          <a:prstGeom prst="rect">
            <a:avLst/>
          </a:prstGeom>
        </p:spPr>
        <p:txBody>
          <a:bodyPr wrap="square" lIns="91440" tIns="45720" rIns="91440" bIns="45720" rtlCol="0" anchor="t">
            <a:noAutofit/>
          </a:bodyPr>
          <a:lstStyle/>
          <a:p>
            <a:pPr algn="l"/>
            <a:r>
              <a:rPr lang="en-US" sz="1400">
                <a:latin typeface="Lato" panose="020F0502020204030203" pitchFamily="34" charset="0"/>
                <a:ea typeface="Lato" panose="020F0502020204030203" pitchFamily="34" charset="0"/>
                <a:cs typeface="Lato" panose="020F0502020204030203" pitchFamily="34" charset="0"/>
                <a:sym typeface="Wingdings" panose="05000000000000000000" pitchFamily="2" charset="2"/>
              </a:rPr>
              <a:t> </a:t>
            </a:r>
            <a:r>
              <a:rPr lang="en-US" sz="1400" err="1">
                <a:latin typeface="Lato" panose="020F0502020204030203" pitchFamily="34" charset="0"/>
                <a:ea typeface="Lato" panose="020F0502020204030203" pitchFamily="34" charset="0"/>
                <a:cs typeface="Lato" panose="020F0502020204030203" pitchFamily="34" charset="0"/>
                <a:sym typeface="Wingdings" panose="05000000000000000000" pitchFamily="2" charset="2"/>
              </a:rPr>
              <a:t>Php</a:t>
            </a:r>
            <a:r>
              <a:rPr lang="en-US" sz="1400">
                <a:latin typeface="Lato" panose="020F0502020204030203" pitchFamily="34" charset="0"/>
                <a:ea typeface="Lato" panose="020F0502020204030203" pitchFamily="34" charset="0"/>
                <a:cs typeface="Lato" panose="020F0502020204030203" pitchFamily="34" charset="0"/>
                <a:sym typeface="Wingdings" panose="05000000000000000000" pitchFamily="2" charset="2"/>
              </a:rPr>
              <a:t> 50.00 membership fee is required upon first loan release, </a:t>
            </a:r>
          </a:p>
        </p:txBody>
      </p:sp>
      <p:graphicFrame>
        <p:nvGraphicFramePr>
          <p:cNvPr id="125" name="Table 124">
            <a:extLst>
              <a:ext uri="{FF2B5EF4-FFF2-40B4-BE49-F238E27FC236}">
                <a16:creationId xmlns:a16="http://schemas.microsoft.com/office/drawing/2014/main" id="{E844D99F-E0F2-C2E8-8B25-8F1EF0CFE3E3}"/>
              </a:ext>
            </a:extLst>
          </p:cNvPr>
          <p:cNvGraphicFramePr>
            <a:graphicFrameLocks noGrp="1"/>
          </p:cNvGraphicFramePr>
          <p:nvPr>
            <p:extLst>
              <p:ext uri="{D42A27DB-BD31-4B8C-83A1-F6EECF244321}">
                <p14:modId xmlns:p14="http://schemas.microsoft.com/office/powerpoint/2010/main" val="72320465"/>
              </p:ext>
            </p:extLst>
          </p:nvPr>
        </p:nvGraphicFramePr>
        <p:xfrm>
          <a:off x="5244287" y="209020"/>
          <a:ext cx="3287035" cy="1793701"/>
        </p:xfrm>
        <a:graphic>
          <a:graphicData uri="http://schemas.openxmlformats.org/drawingml/2006/table">
            <a:tbl>
              <a:tblPr firstRow="1" bandRow="1">
                <a:tableStyleId>{2D5ABB26-0587-4C30-8999-92F81FD0307C}</a:tableStyleId>
              </a:tblPr>
              <a:tblGrid>
                <a:gridCol w="3287035">
                  <a:extLst>
                    <a:ext uri="{9D8B030D-6E8A-4147-A177-3AD203B41FA5}">
                      <a16:colId xmlns:a16="http://schemas.microsoft.com/office/drawing/2014/main" val="2135852450"/>
                    </a:ext>
                  </a:extLst>
                </a:gridCol>
              </a:tblGrid>
              <a:tr h="3604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a:solidFill>
                            <a:srgbClr val="1F4766"/>
                          </a:solidFill>
                          <a:latin typeface="Lato"/>
                          <a:ea typeface="Lato"/>
                          <a:cs typeface="Lato"/>
                        </a:rPr>
                        <a:t>Loan Amount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41854611"/>
                  </a:ext>
                </a:extLst>
              </a:tr>
              <a:tr h="341487">
                <a:tc>
                  <a:txBody>
                    <a:bodyPr/>
                    <a:lstStyle/>
                    <a:p>
                      <a:pPr marL="0" indent="0">
                        <a:buFont typeface="Wingdings" panose="05000000000000000000" pitchFamily="2" charset="2"/>
                        <a:buNone/>
                      </a:pPr>
                      <a:r>
                        <a:rPr lang="en-US" sz="1400" i="1">
                          <a:latin typeface="Lato"/>
                          <a:ea typeface="Lato"/>
                          <a:cs typeface="Lato"/>
                        </a:rPr>
                        <a:t>5,000.00 to 50,000.00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87916352"/>
                  </a:ext>
                </a:extLst>
              </a:tr>
              <a:tr h="34148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a:solidFill>
                            <a:srgbClr val="1F4766"/>
                          </a:solidFill>
                          <a:latin typeface="Lato"/>
                          <a:ea typeface="Lato"/>
                          <a:cs typeface="Lato"/>
                        </a:rPr>
                        <a:t>Loan Term</a:t>
                      </a:r>
                      <a:endParaRPr lang="en-PH" sz="1600" b="1">
                        <a:solidFill>
                          <a:srgbClr val="1F4766"/>
                        </a:solidFill>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53513290"/>
                  </a:ext>
                </a:extLst>
              </a:tr>
              <a:tr h="750249">
                <a:tc>
                  <a:txBody>
                    <a:bodyPr/>
                    <a:lstStyle/>
                    <a:p>
                      <a:pPr marL="285750" marR="0" lvl="0" indent="-285750" algn="l" rtl="0" eaLnBrk="1" fontAlgn="auto" latinLnBrk="0" hangingPunct="1">
                        <a:lnSpc>
                          <a:spcPct val="100000"/>
                        </a:lnSpc>
                        <a:spcBef>
                          <a:spcPts val="0"/>
                        </a:spcBef>
                        <a:spcAft>
                          <a:spcPts val="0"/>
                        </a:spcAft>
                        <a:buClrTx/>
                        <a:buSzTx/>
                        <a:buFont typeface="Wingdings" panose="05000000000000000000" pitchFamily="2" charset="2"/>
                        <a:buChar char="ü"/>
                      </a:pPr>
                      <a:r>
                        <a:rPr lang="en-US" sz="1400" b="0" i="0" u="none" strike="noStrike">
                          <a:solidFill>
                            <a:srgbClr val="000000"/>
                          </a:solidFill>
                          <a:effectLst/>
                          <a:latin typeface="Lato"/>
                          <a:ea typeface="Lato"/>
                          <a:cs typeface="Lato"/>
                        </a:rPr>
                        <a:t>3, 6 and 9 months</a:t>
                      </a:r>
                    </a:p>
                    <a:p>
                      <a:pPr marL="0" marR="0" lvl="0" indent="0" algn="l" rtl="0" eaLnBrk="1" fontAlgn="auto" latinLnBrk="0" hangingPunct="1">
                        <a:lnSpc>
                          <a:spcPct val="100000"/>
                        </a:lnSpc>
                        <a:spcBef>
                          <a:spcPts val="0"/>
                        </a:spcBef>
                        <a:spcAft>
                          <a:spcPts val="0"/>
                        </a:spcAft>
                        <a:buClrTx/>
                        <a:buSzTx/>
                        <a:buFont typeface="Wingdings" panose="05000000000000000000" pitchFamily="2" charset="2"/>
                        <a:buNone/>
                      </a:pPr>
                      <a:r>
                        <a:rPr lang="en-US" sz="1200" b="0" i="1" u="none" strike="noStrike">
                          <a:solidFill>
                            <a:srgbClr val="000000"/>
                          </a:solidFill>
                          <a:effectLst/>
                          <a:latin typeface="Lato"/>
                          <a:ea typeface="Lato"/>
                          <a:cs typeface="Lato"/>
                        </a:rPr>
                        <a:t>(18 months for existing clients with loans amounting to P20,000 to 50,000)</a:t>
                      </a:r>
                      <a:endParaRPr lang="en-US" sz="1200" i="1">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05846203"/>
                  </a:ext>
                </a:extLst>
              </a:tr>
            </a:tbl>
          </a:graphicData>
        </a:graphic>
      </p:graphicFrame>
      <p:graphicFrame>
        <p:nvGraphicFramePr>
          <p:cNvPr id="126" name="Table 125">
            <a:extLst>
              <a:ext uri="{FF2B5EF4-FFF2-40B4-BE49-F238E27FC236}">
                <a16:creationId xmlns:a16="http://schemas.microsoft.com/office/drawing/2014/main" id="{90E0C00E-0B72-9782-6BE1-083EB5B3C679}"/>
              </a:ext>
            </a:extLst>
          </p:cNvPr>
          <p:cNvGraphicFramePr>
            <a:graphicFrameLocks noGrp="1"/>
          </p:cNvGraphicFramePr>
          <p:nvPr>
            <p:extLst>
              <p:ext uri="{D42A27DB-BD31-4B8C-83A1-F6EECF244321}">
                <p14:modId xmlns:p14="http://schemas.microsoft.com/office/powerpoint/2010/main" val="169506336"/>
              </p:ext>
            </p:extLst>
          </p:nvPr>
        </p:nvGraphicFramePr>
        <p:xfrm>
          <a:off x="5220293" y="2006542"/>
          <a:ext cx="3287035" cy="1249680"/>
        </p:xfrm>
        <a:graphic>
          <a:graphicData uri="http://schemas.openxmlformats.org/drawingml/2006/table">
            <a:tbl>
              <a:tblPr firstRow="1" bandRow="1">
                <a:tableStyleId>{2D5ABB26-0587-4C30-8999-92F81FD0307C}</a:tableStyleId>
              </a:tblPr>
              <a:tblGrid>
                <a:gridCol w="3287035">
                  <a:extLst>
                    <a:ext uri="{9D8B030D-6E8A-4147-A177-3AD203B41FA5}">
                      <a16:colId xmlns:a16="http://schemas.microsoft.com/office/drawing/2014/main" val="929578365"/>
                    </a:ext>
                  </a:extLst>
                </a:gridCol>
              </a:tblGrid>
              <a:tr h="292868">
                <a:tc>
                  <a:txBody>
                    <a:bodyPr/>
                    <a:lstStyle/>
                    <a:p>
                      <a:r>
                        <a:rPr lang="en-US" sz="1600" b="1">
                          <a:solidFill>
                            <a:srgbClr val="1F4766"/>
                          </a:solidFill>
                          <a:latin typeface="Lato"/>
                          <a:ea typeface="Lato"/>
                          <a:cs typeface="Lato"/>
                        </a:rPr>
                        <a:t>Repayment Frequency</a:t>
                      </a:r>
                      <a:endParaRPr lang="en-PH" sz="1600" b="1">
                        <a:solidFill>
                          <a:srgbClr val="1F4766"/>
                        </a:solidFill>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19458553"/>
                  </a:ext>
                </a:extLst>
              </a:tr>
              <a:tr h="319492">
                <a:tc>
                  <a:txBody>
                    <a:bodyPr/>
                    <a:lstStyle/>
                    <a:p>
                      <a:pPr marL="285750" indent="-285750">
                        <a:buFont typeface="Wingdings" panose="05000000000000000000" pitchFamily="2" charset="2"/>
                        <a:buChar char="ü"/>
                      </a:pPr>
                      <a:r>
                        <a:rPr lang="en-US" sz="1600" b="0" i="0" u="none" strike="noStrike" kern="1200">
                          <a:solidFill>
                            <a:schemeClr val="tx1"/>
                          </a:solidFill>
                          <a:effectLst/>
                          <a:latin typeface="Lato"/>
                          <a:ea typeface="Lato"/>
                          <a:cs typeface="Lato"/>
                        </a:rPr>
                        <a:t>Weekly</a:t>
                      </a:r>
                    </a:p>
                    <a:p>
                      <a:pPr marL="285750" lvl="0" indent="-285750">
                        <a:buFont typeface="Wingdings" panose="05000000000000000000" pitchFamily="2" charset="2"/>
                        <a:buChar char="ü"/>
                      </a:pPr>
                      <a:r>
                        <a:rPr lang="en-US" sz="1800" b="0" i="0" u="none" strike="noStrike" kern="1200">
                          <a:solidFill>
                            <a:schemeClr val="tx1"/>
                          </a:solidFill>
                          <a:effectLst/>
                          <a:latin typeface="Lato"/>
                          <a:ea typeface="Lato"/>
                          <a:cs typeface="Lato"/>
                        </a:rPr>
                        <a:t>Fortnightly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89402848"/>
                  </a:ext>
                </a:extLst>
              </a:tr>
              <a:tr h="269287">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400" b="1">
                          <a:solidFill>
                            <a:srgbClr val="1F4766"/>
                          </a:solidFill>
                          <a:latin typeface="Lato"/>
                          <a:ea typeface="Lato"/>
                          <a:cs typeface="Lato"/>
                        </a:rPr>
                        <a:t>Service Charge</a:t>
                      </a:r>
                      <a:endParaRPr lang="en-PH" sz="1400" b="1">
                        <a:solidFill>
                          <a:srgbClr val="1F4766"/>
                        </a:solidFill>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8044617"/>
                  </a:ext>
                </a:extLst>
              </a:tr>
            </a:tbl>
          </a:graphicData>
        </a:graphic>
      </p:graphicFrame>
      <p:sp>
        <p:nvSpPr>
          <p:cNvPr id="128" name="TextBox 127">
            <a:extLst>
              <a:ext uri="{FF2B5EF4-FFF2-40B4-BE49-F238E27FC236}">
                <a16:creationId xmlns:a16="http://schemas.microsoft.com/office/drawing/2014/main" id="{7A51798D-348D-29BD-25F1-E2306B982A0E}"/>
              </a:ext>
            </a:extLst>
          </p:cNvPr>
          <p:cNvSpPr txBox="1"/>
          <p:nvPr/>
        </p:nvSpPr>
        <p:spPr>
          <a:xfrm>
            <a:off x="5210856" y="3947798"/>
            <a:ext cx="3470212" cy="1046440"/>
          </a:xfrm>
          <a:prstGeom prst="rect">
            <a:avLst/>
          </a:prstGeom>
          <a:noFill/>
        </p:spPr>
        <p:txBody>
          <a:bodyPr wrap="square" lIns="91440" tIns="45720" rIns="91440" bIns="45720" anchor="t">
            <a:spAutoFit/>
          </a:bodyPr>
          <a:lstStyle/>
          <a:p>
            <a:pPr>
              <a:buFont typeface="Arial" panose="05000000000000000000" pitchFamily="2" charset="2"/>
              <a:buChar char="•"/>
            </a:pPr>
            <a:r>
              <a:rPr lang="en-US" sz="1200">
                <a:latin typeface="Wingdings"/>
                <a:ea typeface="Lato" panose="020F0502020204030203" pitchFamily="34" charset="0"/>
                <a:cs typeface="Lato" panose="020F0502020204030203" pitchFamily="34" charset="0"/>
                <a:sym typeface="Wingdings"/>
              </a:rPr>
              <a:t>ü</a:t>
            </a:r>
            <a:r>
              <a:rPr lang="en-US" sz="1200">
                <a:highlight>
                  <a:srgbClr val="00FF00"/>
                </a:highlight>
                <a:latin typeface="Lato" panose="020F0502020204030203" pitchFamily="34" charset="0"/>
                <a:ea typeface="Lato" panose="020F0502020204030203" pitchFamily="34" charset="0"/>
                <a:cs typeface="Lato" panose="020F0502020204030203" pitchFamily="34" charset="0"/>
              </a:rPr>
              <a:t>6.48% </a:t>
            </a:r>
            <a:r>
              <a:rPr lang="en-US" sz="1200">
                <a:latin typeface="Lato" panose="020F0502020204030203" pitchFamily="34" charset="0"/>
                <a:ea typeface="Lato" panose="020F0502020204030203" pitchFamily="34" charset="0"/>
                <a:cs typeface="Lato" panose="020F0502020204030203" pitchFamily="34" charset="0"/>
              </a:rPr>
              <a:t>per month, diminishing (3.33% per month, flat)</a:t>
            </a:r>
            <a:endParaRPr lang="en-US" sz="1400" dirty="0">
              <a:latin typeface="Lato" panose="020F0502020204030203" pitchFamily="34" charset="0"/>
              <a:ea typeface="Lato" panose="020F0502020204030203" pitchFamily="34" charset="0"/>
              <a:cs typeface="Lato" panose="020F0502020204030203" pitchFamily="34" charset="0"/>
            </a:endParaRPr>
          </a:p>
          <a:p>
            <a:pPr>
              <a:buFont typeface="Arial" panose="05000000000000000000" pitchFamily="2" charset="2"/>
              <a:buChar char="•"/>
            </a:pPr>
            <a:r>
              <a:rPr lang="en-US" sz="1200">
                <a:latin typeface="Wingdings"/>
                <a:ea typeface="Lato" panose="020F0502020204030203" pitchFamily="34" charset="0"/>
                <a:cs typeface="Lato" panose="020F0502020204030203" pitchFamily="34" charset="0"/>
                <a:sym typeface="Wingdings"/>
              </a:rPr>
              <a:t>ü</a:t>
            </a:r>
            <a:r>
              <a:rPr lang="en-US" sz="1200">
                <a:highlight>
                  <a:srgbClr val="00FF00"/>
                </a:highlight>
                <a:latin typeface="Lato" panose="020F0502020204030203" pitchFamily="34" charset="0"/>
                <a:ea typeface="Lato" panose="020F0502020204030203" pitchFamily="34" charset="0"/>
                <a:cs typeface="Lato" panose="020F0502020204030203" pitchFamily="34" charset="0"/>
              </a:rPr>
              <a:t>4.92724% </a:t>
            </a:r>
            <a:r>
              <a:rPr lang="en-US" sz="1200">
                <a:latin typeface="Lato" panose="020F0502020204030203" pitchFamily="34" charset="0"/>
                <a:ea typeface="Lato" panose="020F0502020204030203" pitchFamily="34" charset="0"/>
                <a:cs typeface="Lato" panose="020F0502020204030203" pitchFamily="34" charset="0"/>
              </a:rPr>
              <a:t>per month, diminishing (2.5% per month, flat) for Loan Cycles 3 and above   </a:t>
            </a:r>
            <a:endParaRPr lang="en-US"/>
          </a:p>
          <a:p>
            <a:pPr marL="285750" indent="-285750" algn="l">
              <a:buFont typeface="Wingdings" panose="05000000000000000000" pitchFamily="2" charset="2"/>
              <a:buChar char="ü"/>
            </a:pPr>
            <a:endParaRPr lang="en-US" sz="1400" b="0" dirty="0">
              <a:latin typeface="Lato" panose="020F0502020204030203" pitchFamily="34" charset="0"/>
              <a:ea typeface="Lato" panose="020F0502020204030203" pitchFamily="34" charset="0"/>
              <a:cs typeface="Lato" panose="020F0502020204030203" pitchFamily="34" charset="0"/>
            </a:endParaRPr>
          </a:p>
        </p:txBody>
      </p:sp>
      <p:graphicFrame>
        <p:nvGraphicFramePr>
          <p:cNvPr id="129" name="Table 128">
            <a:extLst>
              <a:ext uri="{FF2B5EF4-FFF2-40B4-BE49-F238E27FC236}">
                <a16:creationId xmlns:a16="http://schemas.microsoft.com/office/drawing/2014/main" id="{317013B9-CA49-6828-4D21-86A19E37DC10}"/>
              </a:ext>
            </a:extLst>
          </p:cNvPr>
          <p:cNvGraphicFramePr>
            <a:graphicFrameLocks noGrp="1"/>
          </p:cNvGraphicFramePr>
          <p:nvPr>
            <p:extLst>
              <p:ext uri="{D42A27DB-BD31-4B8C-83A1-F6EECF244321}">
                <p14:modId xmlns:p14="http://schemas.microsoft.com/office/powerpoint/2010/main" val="3104791809"/>
              </p:ext>
            </p:extLst>
          </p:nvPr>
        </p:nvGraphicFramePr>
        <p:xfrm>
          <a:off x="8988036" y="307746"/>
          <a:ext cx="4003293" cy="1676400"/>
        </p:xfrm>
        <a:graphic>
          <a:graphicData uri="http://schemas.openxmlformats.org/drawingml/2006/table">
            <a:tbl>
              <a:tblPr firstRow="1" bandRow="1">
                <a:tableStyleId>{2D5ABB26-0587-4C30-8999-92F81FD0307C}</a:tableStyleId>
              </a:tblPr>
              <a:tblGrid>
                <a:gridCol w="4003293">
                  <a:extLst>
                    <a:ext uri="{9D8B030D-6E8A-4147-A177-3AD203B41FA5}">
                      <a16:colId xmlns:a16="http://schemas.microsoft.com/office/drawing/2014/main" val="3431302025"/>
                    </a:ext>
                  </a:extLst>
                </a:gridCol>
              </a:tblGrid>
              <a:tr h="422526">
                <a:tc>
                  <a:txBody>
                    <a:bodyPr/>
                    <a:lstStyle/>
                    <a:p>
                      <a:r>
                        <a:rPr lang="en-US" sz="1600" b="1">
                          <a:solidFill>
                            <a:srgbClr val="1F4766"/>
                          </a:solidFill>
                          <a:latin typeface="Lato" panose="020F0502020204030203" pitchFamily="34" charset="0"/>
                          <a:ea typeface="Lato" panose="020F0502020204030203" pitchFamily="34" charset="0"/>
                          <a:cs typeface="Lato" panose="020F0502020204030203" pitchFamily="34" charset="0"/>
                        </a:rPr>
                        <a:t>Micro-Insurance </a:t>
                      </a:r>
                    </a:p>
                    <a:p>
                      <a:r>
                        <a:rPr lang="en-US" sz="1600" b="1">
                          <a:solidFill>
                            <a:srgbClr val="1F4766"/>
                          </a:solidFill>
                          <a:latin typeface="Lato" panose="020F0502020204030203" pitchFamily="34" charset="0"/>
                          <a:ea typeface="Lato" panose="020F0502020204030203" pitchFamily="34" charset="0"/>
                          <a:cs typeface="Lato" panose="020F0502020204030203" pitchFamily="34" charset="0"/>
                        </a:rPr>
                        <a:t>Product Bundle</a:t>
                      </a:r>
                      <a:endParaRPr lang="en-PH" sz="1600" b="1">
                        <a:solidFill>
                          <a:srgbClr val="1F4766"/>
                        </a:solidFill>
                        <a:latin typeface="Lato" panose="020F0502020204030203" pitchFamily="34" charset="0"/>
                        <a:ea typeface="Lato" panose="020F0502020204030203" pitchFamily="34" charset="0"/>
                        <a:cs typeface="Lato" panose="020F0502020204030203"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39677795"/>
                  </a:ext>
                </a:extLst>
              </a:tr>
              <a:tr h="800576">
                <a:tc>
                  <a:txBody>
                    <a:bodyPr/>
                    <a:lstStyle/>
                    <a:p>
                      <a:pPr marL="285750" indent="-285750" rtl="0" fontAlgn="base">
                        <a:buFont typeface="Wingdings" panose="05000000000000000000" pitchFamily="2" charset="2"/>
                        <a:buChar char="ü"/>
                      </a:pPr>
                      <a:r>
                        <a:rPr lang="en-US" sz="1400" b="0" i="0" u="none" strike="noStrike" kern="1200" err="1">
                          <a:solidFill>
                            <a:schemeClr val="tx1"/>
                          </a:solidFill>
                          <a:effectLst/>
                          <a:latin typeface="Lato" panose="020F0502020204030203" pitchFamily="34" charset="0"/>
                          <a:ea typeface="Lato" panose="020F0502020204030203" pitchFamily="34" charset="0"/>
                          <a:cs typeface="Lato" panose="020F0502020204030203" pitchFamily="34" charset="0"/>
                        </a:rPr>
                        <a:t>Kaagabay</a:t>
                      </a:r>
                      <a:r>
                        <a:rPr lang="en-US" sz="1400" b="0" i="0" u="none" strike="noStrike" kern="1200">
                          <a:solidFill>
                            <a:schemeClr val="tx1"/>
                          </a:solidFill>
                          <a:effectLst/>
                          <a:latin typeface="Lato" panose="020F0502020204030203" pitchFamily="34" charset="0"/>
                          <a:ea typeface="Lato" panose="020F0502020204030203" pitchFamily="34" charset="0"/>
                          <a:cs typeface="Lato" panose="020F0502020204030203" pitchFamily="34" charset="0"/>
                        </a:rPr>
                        <a:t> Insurance*</a:t>
                      </a:r>
                      <a:r>
                        <a:rPr lang="en-US" sz="1400" b="0" i="0" kern="1200">
                          <a:solidFill>
                            <a:schemeClr val="tx1"/>
                          </a:solidFill>
                          <a:effectLst/>
                          <a:latin typeface="Lato" panose="020F0502020204030203" pitchFamily="34" charset="0"/>
                          <a:ea typeface="Lato" panose="020F0502020204030203" pitchFamily="34" charset="0"/>
                          <a:cs typeface="Lato" panose="020F0502020204030203" pitchFamily="34" charset="0"/>
                        </a:rPr>
                        <a:t>​</a:t>
                      </a:r>
                    </a:p>
                    <a:p>
                      <a:pPr marL="285750" indent="-285750" rtl="0" fontAlgn="base">
                        <a:buFont typeface="Wingdings" panose="05000000000000000000" pitchFamily="2" charset="2"/>
                        <a:buChar char="ü"/>
                      </a:pPr>
                      <a:r>
                        <a:rPr lang="en-US" sz="1400" b="0" i="0" u="none" strike="noStrike" kern="1200">
                          <a:solidFill>
                            <a:schemeClr val="tx1"/>
                          </a:solidFill>
                          <a:effectLst/>
                          <a:latin typeface="Lato" panose="020F0502020204030203" pitchFamily="34" charset="0"/>
                          <a:ea typeface="Lato" panose="020F0502020204030203" pitchFamily="34" charset="0"/>
                          <a:cs typeface="Lato" panose="020F0502020204030203" pitchFamily="34" charset="0"/>
                        </a:rPr>
                        <a:t>Family Relief Plan**</a:t>
                      </a:r>
                      <a:r>
                        <a:rPr lang="en-US" sz="1400" b="0" i="0" kern="1200">
                          <a:solidFill>
                            <a:schemeClr val="tx1"/>
                          </a:solidFill>
                          <a:effectLst/>
                          <a:latin typeface="Lato" panose="020F0502020204030203" pitchFamily="34" charset="0"/>
                          <a:ea typeface="Lato" panose="020F0502020204030203" pitchFamily="34" charset="0"/>
                          <a:cs typeface="Lato" panose="020F0502020204030203" pitchFamily="34" charset="0"/>
                        </a:rPr>
                        <a:t>​</a:t>
                      </a:r>
                    </a:p>
                    <a:p>
                      <a:pPr marL="285750" indent="-285750" rtl="0" fontAlgn="base">
                        <a:buFont typeface="Wingdings" panose="05000000000000000000" pitchFamily="2" charset="2"/>
                        <a:buChar char="ü"/>
                      </a:pPr>
                      <a:r>
                        <a:rPr lang="en-US" sz="1400" b="0" i="0" u="none" strike="noStrike" kern="1200">
                          <a:solidFill>
                            <a:schemeClr val="tx1"/>
                          </a:solidFill>
                          <a:effectLst/>
                          <a:latin typeface="Lato" panose="020F0502020204030203" pitchFamily="34" charset="0"/>
                          <a:ea typeface="Lato" panose="020F0502020204030203" pitchFamily="34" charset="0"/>
                          <a:cs typeface="Lato" panose="020F0502020204030203" pitchFamily="34" charset="0"/>
                        </a:rPr>
                        <a:t>Loan Redemption Fun</a:t>
                      </a:r>
                      <a:r>
                        <a:rPr lang="en-US" sz="1600" b="0" i="0" u="none" strike="noStrike" kern="1200">
                          <a:solidFill>
                            <a:schemeClr val="tx1"/>
                          </a:solidFill>
                          <a:effectLst/>
                          <a:latin typeface="Lato" panose="020F0502020204030203" pitchFamily="34" charset="0"/>
                          <a:ea typeface="Lato" panose="020F0502020204030203" pitchFamily="34" charset="0"/>
                          <a:cs typeface="Lato" panose="020F0502020204030203" pitchFamily="34" charset="0"/>
                        </a:rPr>
                        <a:t>d*</a:t>
                      </a:r>
                      <a:r>
                        <a:rPr lang="en-US" sz="1600" b="0" i="0" kern="1200">
                          <a:solidFill>
                            <a:schemeClr val="tx1"/>
                          </a:solidFill>
                          <a:effectLst/>
                          <a:latin typeface="Lato" panose="020F0502020204030203" pitchFamily="34" charset="0"/>
                          <a:ea typeface="Lato" panose="020F0502020204030203" pitchFamily="34" charset="0"/>
                          <a:cs typeface="Lato" panose="020F0502020204030203" pitchFamily="34" charset="0"/>
                        </a:rPr>
                        <a:t>​</a:t>
                      </a:r>
                    </a:p>
                    <a:p>
                      <a:pPr rtl="0" fontAlgn="base"/>
                      <a:r>
                        <a:rPr lang="en-US" sz="1100" b="0" i="1" u="none" strike="noStrike" kern="1200">
                          <a:solidFill>
                            <a:schemeClr val="bg1"/>
                          </a:solidFill>
                          <a:effectLst/>
                          <a:latin typeface="Lato" panose="020F0502020204030203" pitchFamily="34" charset="0"/>
                          <a:ea typeface="Lato" panose="020F0502020204030203" pitchFamily="34" charset="0"/>
                          <a:cs typeface="Lato" panose="020F0502020204030203" pitchFamily="34" charset="0"/>
                        </a:rPr>
                        <a:t>** for RL accounts only</a:t>
                      </a:r>
                      <a:r>
                        <a:rPr lang="en-US" sz="1100" b="0" i="1" kern="1200">
                          <a:solidFill>
                            <a:schemeClr val="bg1"/>
                          </a:solidFill>
                          <a:effectLst/>
                          <a:latin typeface="Lato" panose="020F0502020204030203" pitchFamily="34" charset="0"/>
                          <a:ea typeface="Lato" panose="020F0502020204030203" pitchFamily="34" charset="0"/>
                          <a:cs typeface="Lato" panose="020F0502020204030203" pitchFamily="34" charset="0"/>
                        </a:rPr>
                        <a:t>​</a:t>
                      </a:r>
                    </a:p>
                    <a:p>
                      <a:pPr rtl="0" fontAlgn="base"/>
                      <a:r>
                        <a:rPr lang="en-US" sz="1100" b="0" i="1" u="none" strike="noStrike" kern="1200">
                          <a:solidFill>
                            <a:schemeClr val="bg1"/>
                          </a:solidFill>
                          <a:effectLst/>
                          <a:latin typeface="Lato" panose="020F0502020204030203" pitchFamily="34" charset="0"/>
                          <a:ea typeface="Lato" panose="020F0502020204030203" pitchFamily="34" charset="0"/>
                          <a:cs typeface="Lato" panose="020F0502020204030203" pitchFamily="34" charset="0"/>
                        </a:rPr>
                        <a:t>* applicable to all active borrowers</a:t>
                      </a:r>
                      <a:r>
                        <a:rPr lang="en-US" sz="1100" b="0" i="1" kern="1200">
                          <a:solidFill>
                            <a:schemeClr val="tx1"/>
                          </a:solidFill>
                          <a:effectLst/>
                          <a:latin typeface="Lato" panose="020F0502020204030203" pitchFamily="34" charset="0"/>
                          <a:ea typeface="Lato" panose="020F0502020204030203" pitchFamily="34" charset="0"/>
                          <a:cs typeface="Lato" panose="020F0502020204030203" pitchFamily="34" charset="0"/>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12564000"/>
                  </a:ext>
                </a:extLst>
              </a:tr>
            </a:tbl>
          </a:graphicData>
        </a:graphic>
      </p:graphicFrame>
      <p:sp>
        <p:nvSpPr>
          <p:cNvPr id="4" name="TextBox 3">
            <a:extLst>
              <a:ext uri="{FF2B5EF4-FFF2-40B4-BE49-F238E27FC236}">
                <a16:creationId xmlns:a16="http://schemas.microsoft.com/office/drawing/2014/main" id="{D56D78F0-6B45-9374-14A0-77B85D94885C}"/>
              </a:ext>
            </a:extLst>
          </p:cNvPr>
          <p:cNvSpPr txBox="1"/>
          <p:nvPr/>
        </p:nvSpPr>
        <p:spPr>
          <a:xfrm>
            <a:off x="5288214" y="3586013"/>
            <a:ext cx="1596213" cy="369332"/>
          </a:xfrm>
          <a:prstGeom prst="rect">
            <a:avLst/>
          </a:prstGeom>
          <a:noFill/>
        </p:spPr>
        <p:txBody>
          <a:bodyPr wrap="square" rtlCol="0">
            <a:spAutoFit/>
          </a:bodyPr>
          <a:lstStyle/>
          <a:p>
            <a:r>
              <a:rPr lang="en-US"/>
              <a:t>Interest</a:t>
            </a:r>
            <a:endParaRPr lang="en-PH"/>
          </a:p>
        </p:txBody>
      </p:sp>
      <p:sp>
        <p:nvSpPr>
          <p:cNvPr id="123" name="TextBox 122">
            <a:extLst>
              <a:ext uri="{FF2B5EF4-FFF2-40B4-BE49-F238E27FC236}">
                <a16:creationId xmlns:a16="http://schemas.microsoft.com/office/drawing/2014/main" id="{125388CB-17FE-2135-052C-CF6937719D87}"/>
              </a:ext>
            </a:extLst>
          </p:cNvPr>
          <p:cNvSpPr txBox="1"/>
          <p:nvPr/>
        </p:nvSpPr>
        <p:spPr>
          <a:xfrm>
            <a:off x="5131443" y="3303608"/>
            <a:ext cx="60960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3464" indent="-283464" algn="l" rtl="0">
              <a:buFont typeface="Wingdings"/>
              <a:buChar char="ü"/>
            </a:pPr>
            <a:r>
              <a:rPr lang="en-US" sz="1400" kern="1200">
                <a:solidFill>
                  <a:schemeClr val="tx1"/>
                </a:solidFill>
                <a:latin typeface="Lato"/>
                <a:ea typeface="Lato"/>
                <a:cs typeface="Lato"/>
              </a:rPr>
              <a:t>1% of the loan amount</a:t>
            </a:r>
          </a:p>
          <a:p>
            <a:pPr algn="ctr"/>
            <a:endParaRPr lang="en-US"/>
          </a:p>
        </p:txBody>
      </p:sp>
      <p:sp>
        <p:nvSpPr>
          <p:cNvPr id="124" name="TextBox 123">
            <a:extLst>
              <a:ext uri="{FF2B5EF4-FFF2-40B4-BE49-F238E27FC236}">
                <a16:creationId xmlns:a16="http://schemas.microsoft.com/office/drawing/2014/main" id="{4BE8CE56-6F6F-AAD6-C177-8AA3C69827D1}"/>
              </a:ext>
            </a:extLst>
          </p:cNvPr>
          <p:cNvSpPr txBox="1"/>
          <p:nvPr/>
        </p:nvSpPr>
        <p:spPr>
          <a:xfrm>
            <a:off x="9250102" y="3313253"/>
            <a:ext cx="381964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indent="0" algn="l" rtl="0"/>
            <a:r>
              <a:rPr lang="en-US" sz="1800" b="1">
                <a:solidFill>
                  <a:srgbClr val="1F4766"/>
                </a:solidFill>
                <a:latin typeface="Lato"/>
                <a:ea typeface="Lato"/>
                <a:cs typeface="Lato"/>
              </a:rPr>
              <a:t>Early Payment Reward</a:t>
            </a:r>
          </a:p>
          <a:p>
            <a:pPr algn="ctr"/>
            <a:endParaRPr lang="en-US"/>
          </a:p>
        </p:txBody>
      </p:sp>
      <p:pic>
        <p:nvPicPr>
          <p:cNvPr id="127" name="Picture 126" descr="A red and white tags with a percent sign&#10;&#10;AI-generated content may be incorrect.">
            <a:extLst>
              <a:ext uri="{FF2B5EF4-FFF2-40B4-BE49-F238E27FC236}">
                <a16:creationId xmlns:a16="http://schemas.microsoft.com/office/drawing/2014/main" id="{0163737B-5C42-4787-8828-B115D84C3372}"/>
              </a:ext>
            </a:extLst>
          </p:cNvPr>
          <p:cNvPicPr>
            <a:picLocks noChangeAspect="1"/>
          </p:cNvPicPr>
          <p:nvPr/>
        </p:nvPicPr>
        <p:blipFill>
          <a:blip r:embed="rId5"/>
          <a:stretch>
            <a:fillRect/>
          </a:stretch>
        </p:blipFill>
        <p:spPr>
          <a:xfrm>
            <a:off x="8733701" y="3318075"/>
            <a:ext cx="463712" cy="405117"/>
          </a:xfrm>
          <a:prstGeom prst="rect">
            <a:avLst/>
          </a:prstGeom>
        </p:spPr>
      </p:pic>
      <p:sp>
        <p:nvSpPr>
          <p:cNvPr id="131" name="TextBox 130">
            <a:extLst>
              <a:ext uri="{FF2B5EF4-FFF2-40B4-BE49-F238E27FC236}">
                <a16:creationId xmlns:a16="http://schemas.microsoft.com/office/drawing/2014/main" id="{A81F2F5E-334A-369F-15F4-0DAC0D5923B5}"/>
              </a:ext>
            </a:extLst>
          </p:cNvPr>
          <p:cNvSpPr txBox="1"/>
          <p:nvPr/>
        </p:nvSpPr>
        <p:spPr>
          <a:xfrm>
            <a:off x="8902860" y="3824468"/>
            <a:ext cx="6096000" cy="12926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3464" indent="-283464" algn="l" rtl="0">
              <a:buFont typeface="Wingdings"/>
              <a:buChar char="ü"/>
            </a:pPr>
            <a:r>
              <a:rPr lang="en-US" sz="1200" b="0" i="0" spc="0" baseline="0">
                <a:solidFill>
                  <a:schemeClr val="tx1"/>
                </a:solidFill>
                <a:latin typeface="Lato"/>
                <a:ea typeface="Lato"/>
                <a:cs typeface="Lato"/>
              </a:rPr>
              <a:t>All Production Loans, new and reloans</a:t>
            </a:r>
          </a:p>
          <a:p>
            <a:pPr marL="283464" indent="-283464" algn="l" rtl="0">
              <a:buFont typeface="Wingdings"/>
              <a:buChar char="ü"/>
            </a:pPr>
            <a:r>
              <a:rPr lang="en-US" sz="1200" b="0" i="0" spc="0" baseline="0">
                <a:solidFill>
                  <a:schemeClr val="tx1"/>
                </a:solidFill>
                <a:latin typeface="Lato"/>
                <a:ea typeface="Lato"/>
                <a:cs typeface="Lato"/>
              </a:rPr>
              <a:t>ZERO late payments in the current loan</a:t>
            </a:r>
          </a:p>
          <a:p>
            <a:pPr marL="283464" indent="-283464" algn="l" rtl="0">
              <a:buFont typeface="Wingdings"/>
              <a:buChar char="ü"/>
            </a:pPr>
            <a:r>
              <a:rPr lang="en-US" sz="1200" b="0" i="0" spc="0" baseline="0">
                <a:solidFill>
                  <a:schemeClr val="tx1"/>
                </a:solidFill>
                <a:latin typeface="Lato"/>
                <a:ea typeface="Lato"/>
                <a:cs typeface="Lato"/>
              </a:rPr>
              <a:t>Must reloan at the same amount or higher</a:t>
            </a:r>
          </a:p>
          <a:p>
            <a:pPr marL="283464" indent="-283464" algn="l" rtl="0">
              <a:buFont typeface="Wingdings"/>
              <a:buChar char="ü"/>
            </a:pPr>
            <a:r>
              <a:rPr lang="en-US" sz="1200" kern="1200">
                <a:solidFill>
                  <a:schemeClr val="tx1"/>
                </a:solidFill>
                <a:latin typeface="Lato"/>
                <a:ea typeface="Lato"/>
                <a:cs typeface="Lato"/>
              </a:rPr>
              <a:t>Early full payment of the current loan</a:t>
            </a:r>
          </a:p>
          <a:p>
            <a:pPr marL="283464" indent="-283464" algn="l" rtl="0">
              <a:buFont typeface="Wingdings"/>
              <a:buChar char="ü"/>
            </a:pPr>
            <a:r>
              <a:rPr lang="en-US" sz="1200" b="0" i="0" spc="0" baseline="0">
                <a:solidFill>
                  <a:schemeClr val="tx1"/>
                </a:solidFill>
                <a:latin typeface="Lato"/>
                <a:ea typeface="Lato"/>
                <a:cs typeface="Lato"/>
              </a:rPr>
              <a:t>Must reloan </a:t>
            </a:r>
            <a:r>
              <a:rPr lang="en-US" sz="1200">
                <a:solidFill>
                  <a:schemeClr val="tx1"/>
                </a:solidFill>
                <a:latin typeface="Lato"/>
                <a:ea typeface="Lato"/>
                <a:cs typeface="Lato"/>
              </a:rPr>
              <a:t>immediately</a:t>
            </a:r>
          </a:p>
          <a:p>
            <a:pPr algn="ctr"/>
            <a:endParaRPr lang="en-US"/>
          </a:p>
        </p:txBody>
      </p:sp>
    </p:spTree>
    <p:extLst>
      <p:ext uri="{BB962C8B-B14F-4D97-AF65-F5344CB8AC3E}">
        <p14:creationId xmlns:p14="http://schemas.microsoft.com/office/powerpoint/2010/main" val="29927035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9FBB3BC-02BB-25F9-3B8C-03F67A494E58}"/>
              </a:ext>
            </a:extLst>
          </p:cNvPr>
          <p:cNvSpPr>
            <a:spLocks noGrp="1"/>
          </p:cNvSpPr>
          <p:nvPr>
            <p:ph type="sldNum" sz="quarter" idx="12"/>
          </p:nvPr>
        </p:nvSpPr>
        <p:spPr/>
        <p:txBody>
          <a:bodyPr/>
          <a:lstStyle/>
          <a:p>
            <a:fld id="{36D53BC0-5915-4EE6-A8B4-385258777E7F}" type="slidenum">
              <a:rPr lang="en-PH" smtClean="0"/>
              <a:pPr/>
              <a:t>13</a:t>
            </a:fld>
            <a:endParaRPr lang="en-PH"/>
          </a:p>
        </p:txBody>
      </p:sp>
      <p:sp>
        <p:nvSpPr>
          <p:cNvPr id="5" name="Rectangle 4">
            <a:extLst>
              <a:ext uri="{FF2B5EF4-FFF2-40B4-BE49-F238E27FC236}">
                <a16:creationId xmlns:a16="http://schemas.microsoft.com/office/drawing/2014/main" id="{8DE5B3D9-F9AF-2923-9479-ECE66E5C9E56}"/>
              </a:ext>
            </a:extLst>
          </p:cNvPr>
          <p:cNvSpPr/>
          <p:nvPr/>
        </p:nvSpPr>
        <p:spPr>
          <a:xfrm>
            <a:off x="2671162" y="254089"/>
            <a:ext cx="7119257" cy="69924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PH" sz="4000">
                <a:highlight>
                  <a:srgbClr val="FFFF00"/>
                </a:highlight>
                <a:latin typeface="Lato" panose="020F0502020204030203" pitchFamily="34" charset="0"/>
                <a:ea typeface="Lato" panose="020F0502020204030203" pitchFamily="34" charset="0"/>
                <a:cs typeface="Lato" panose="020F0502020204030203" pitchFamily="34" charset="0"/>
              </a:rPr>
              <a:t>EARLY PAYMENT REWARD</a:t>
            </a:r>
          </a:p>
        </p:txBody>
      </p:sp>
      <p:sp>
        <p:nvSpPr>
          <p:cNvPr id="6" name="TextBox 5">
            <a:extLst>
              <a:ext uri="{FF2B5EF4-FFF2-40B4-BE49-F238E27FC236}">
                <a16:creationId xmlns:a16="http://schemas.microsoft.com/office/drawing/2014/main" id="{94E99B8C-BCA7-1BF5-7A4E-2EFAAB0DD49F}"/>
              </a:ext>
            </a:extLst>
          </p:cNvPr>
          <p:cNvSpPr txBox="1"/>
          <p:nvPr/>
        </p:nvSpPr>
        <p:spPr>
          <a:xfrm>
            <a:off x="4635393" y="2305209"/>
            <a:ext cx="5573485" cy="699247"/>
          </a:xfrm>
          <a:prstGeom prst="rect">
            <a:avLst/>
          </a:prstGeom>
        </p:spPr>
        <p:txBody>
          <a:bodyPr wrap="none" rtlCol="0">
            <a:noAutofit/>
          </a:bodyPr>
          <a:lstStyle/>
          <a:p>
            <a:pPr algn="l"/>
            <a:endParaRPr lang="en-PH"/>
          </a:p>
        </p:txBody>
      </p:sp>
      <p:sp>
        <p:nvSpPr>
          <p:cNvPr id="7" name="TextBox 6">
            <a:extLst>
              <a:ext uri="{FF2B5EF4-FFF2-40B4-BE49-F238E27FC236}">
                <a16:creationId xmlns:a16="http://schemas.microsoft.com/office/drawing/2014/main" id="{5BE39B8F-0C46-5CB3-625F-7A1BA0E9C0E6}"/>
              </a:ext>
            </a:extLst>
          </p:cNvPr>
          <p:cNvSpPr txBox="1"/>
          <p:nvPr/>
        </p:nvSpPr>
        <p:spPr>
          <a:xfrm>
            <a:off x="4635394" y="2037549"/>
            <a:ext cx="5758542" cy="1739794"/>
          </a:xfrm>
          <a:prstGeom prst="rect">
            <a:avLst/>
          </a:prstGeom>
        </p:spPr>
        <p:txBody>
          <a:bodyPr wrap="none" rtlCol="0">
            <a:noAutofit/>
          </a:bodyPr>
          <a:lstStyle/>
          <a:p>
            <a:pPr algn="l"/>
            <a:endParaRPr lang="en-PH"/>
          </a:p>
        </p:txBody>
      </p:sp>
      <p:pic>
        <p:nvPicPr>
          <p:cNvPr id="8" name="Picture 4">
            <a:extLst>
              <a:ext uri="{FF2B5EF4-FFF2-40B4-BE49-F238E27FC236}">
                <a16:creationId xmlns:a16="http://schemas.microsoft.com/office/drawing/2014/main" id="{BD8B13E1-D97D-E2FD-B634-855DBF30CE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6912" y="1336295"/>
            <a:ext cx="3138481" cy="58711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a:extLst>
              <a:ext uri="{FF2B5EF4-FFF2-40B4-BE49-F238E27FC236}">
                <a16:creationId xmlns:a16="http://schemas.microsoft.com/office/drawing/2014/main" id="{C0C00E2E-E58C-F61A-F177-93C7EF9826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38362" y="1160859"/>
            <a:ext cx="3750432" cy="101475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8">
            <a:extLst>
              <a:ext uri="{FF2B5EF4-FFF2-40B4-BE49-F238E27FC236}">
                <a16:creationId xmlns:a16="http://schemas.microsoft.com/office/drawing/2014/main" id="{E4426B3D-1049-0A7C-F3B8-2F716545AB4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38362" y="2313530"/>
            <a:ext cx="3750432" cy="220566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CAE37D33-8B49-48B6-3A56-C7AA55D69AF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94542" y="2447974"/>
            <a:ext cx="3752850" cy="100516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CD80331-FA39-4B31-55EB-D7E48FC766DE}"/>
              </a:ext>
            </a:extLst>
          </p:cNvPr>
          <p:cNvSpPr txBox="1"/>
          <p:nvPr/>
        </p:nvSpPr>
        <p:spPr>
          <a:xfrm>
            <a:off x="2547938" y="4702969"/>
            <a:ext cx="60960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PH" b="1">
                <a:latin typeface="Calibri"/>
              </a:rPr>
              <a:t>The early payment reward will be credited to the client’s savings upon loan release.</a:t>
            </a:r>
            <a:r>
              <a:rPr>
                <a:latin typeface="Calibri"/>
                <a:ea typeface="Calibri"/>
                <a:cs typeface="Calibri"/>
              </a:rPr>
              <a:t>​</a:t>
            </a:r>
            <a:br>
              <a:rPr>
                <a:latin typeface="Calibri"/>
                <a:ea typeface="Calibri"/>
                <a:cs typeface="Calibri"/>
              </a:rPr>
            </a:br>
            <a:r>
              <a:rPr>
                <a:latin typeface="Calibri"/>
                <a:ea typeface="Calibri"/>
                <a:cs typeface="Calibri"/>
              </a:rPr>
              <a:t>​</a:t>
            </a:r>
            <a:endParaRPr lang="en-US"/>
          </a:p>
          <a:p>
            <a:pPr algn="ctr"/>
            <a:endParaRPr lang="en-US"/>
          </a:p>
        </p:txBody>
      </p:sp>
    </p:spTree>
    <p:extLst>
      <p:ext uri="{BB962C8B-B14F-4D97-AF65-F5344CB8AC3E}">
        <p14:creationId xmlns:p14="http://schemas.microsoft.com/office/powerpoint/2010/main" val="21889476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C613A-C742-2C71-60A4-F41DAEF6DAC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6F87135-B4D1-07C5-ACEB-EBB07A4CD2EF}"/>
              </a:ext>
            </a:extLst>
          </p:cNvPr>
          <p:cNvSpPr>
            <a:spLocks noGrp="1"/>
          </p:cNvSpPr>
          <p:nvPr>
            <p:ph type="sldNum" sz="quarter" idx="12"/>
          </p:nvPr>
        </p:nvSpPr>
        <p:spPr/>
        <p:txBody>
          <a:bodyPr/>
          <a:lstStyle/>
          <a:p>
            <a:fld id="{36D53BC0-5915-4EE6-A8B4-385258777E7F}" type="slidenum">
              <a:rPr lang="en-PH" smtClean="0"/>
              <a:pPr/>
              <a:t>14</a:t>
            </a:fld>
            <a:endParaRPr lang="en-PH"/>
          </a:p>
        </p:txBody>
      </p:sp>
      <p:sp>
        <p:nvSpPr>
          <p:cNvPr id="6" name="TextBox 5">
            <a:extLst>
              <a:ext uri="{FF2B5EF4-FFF2-40B4-BE49-F238E27FC236}">
                <a16:creationId xmlns:a16="http://schemas.microsoft.com/office/drawing/2014/main" id="{4A153F57-BE8D-4E15-4926-9E17143B620E}"/>
              </a:ext>
            </a:extLst>
          </p:cNvPr>
          <p:cNvSpPr txBox="1"/>
          <p:nvPr/>
        </p:nvSpPr>
        <p:spPr>
          <a:xfrm>
            <a:off x="4635393" y="2305209"/>
            <a:ext cx="5573485" cy="699247"/>
          </a:xfrm>
          <a:prstGeom prst="rect">
            <a:avLst/>
          </a:prstGeom>
        </p:spPr>
        <p:txBody>
          <a:bodyPr wrap="none" rtlCol="0">
            <a:noAutofit/>
          </a:bodyPr>
          <a:lstStyle/>
          <a:p>
            <a:pPr algn="l"/>
            <a:endParaRPr lang="en-PH"/>
          </a:p>
        </p:txBody>
      </p:sp>
      <p:sp>
        <p:nvSpPr>
          <p:cNvPr id="7" name="TextBox 6">
            <a:extLst>
              <a:ext uri="{FF2B5EF4-FFF2-40B4-BE49-F238E27FC236}">
                <a16:creationId xmlns:a16="http://schemas.microsoft.com/office/drawing/2014/main" id="{9BF1E75C-2B3E-3CF8-3C30-09DB4EC85C98}"/>
              </a:ext>
            </a:extLst>
          </p:cNvPr>
          <p:cNvSpPr txBox="1"/>
          <p:nvPr/>
        </p:nvSpPr>
        <p:spPr>
          <a:xfrm>
            <a:off x="4635394" y="2037549"/>
            <a:ext cx="5758542" cy="1739794"/>
          </a:xfrm>
          <a:prstGeom prst="rect">
            <a:avLst/>
          </a:prstGeom>
        </p:spPr>
        <p:txBody>
          <a:bodyPr wrap="none" rtlCol="0">
            <a:noAutofit/>
          </a:bodyPr>
          <a:lstStyle/>
          <a:p>
            <a:pPr algn="l"/>
            <a:endParaRPr lang="en-PH"/>
          </a:p>
        </p:txBody>
      </p:sp>
      <p:sp>
        <p:nvSpPr>
          <p:cNvPr id="13" name="TextBox 6">
            <a:extLst>
              <a:ext uri="{FF2B5EF4-FFF2-40B4-BE49-F238E27FC236}">
                <a16:creationId xmlns:a16="http://schemas.microsoft.com/office/drawing/2014/main" id="{C3FDC78E-629F-1BB8-1F98-7548055D33F6}"/>
              </a:ext>
            </a:extLst>
          </p:cNvPr>
          <p:cNvSpPr txBox="1"/>
          <p:nvPr/>
        </p:nvSpPr>
        <p:spPr>
          <a:xfrm>
            <a:off x="514964" y="2211348"/>
            <a:ext cx="5508464" cy="1573251"/>
          </a:xfrm>
          <a:prstGeom prst="rect">
            <a:avLst/>
          </a:prstGeom>
        </p:spPr>
        <p:txBody>
          <a:bodyPr wrap="square" lIns="0" tIns="0" rIns="0" bIns="0" rtlCol="0" anchor="t">
            <a:spAutoFit/>
          </a:bodyPr>
          <a:lstStyle/>
          <a:p>
            <a:pPr marL="285750" indent="-285750" algn="just" fontAlgn="base">
              <a:lnSpc>
                <a:spcPct val="150000"/>
              </a:lnSpc>
              <a:buFont typeface="Arial" panose="020B0604020202020204" pitchFamily="34" charset="0"/>
              <a:buChar char="•"/>
            </a:pPr>
            <a:r>
              <a:rPr lang="en-US" sz="1400" b="0" i="0">
                <a:solidFill>
                  <a:srgbClr val="1F4766"/>
                </a:solidFill>
                <a:effectLst/>
                <a:latin typeface="Lato" panose="020F0502020204030203" pitchFamily="34" charset="0"/>
                <a:ea typeface="Lato" panose="020F0502020204030203" pitchFamily="34" charset="0"/>
                <a:cs typeface="Lato" panose="020F0502020204030203" pitchFamily="34" charset="0"/>
              </a:rPr>
              <a:t>Must be </a:t>
            </a:r>
            <a:r>
              <a:rPr lang="en-US" sz="1400">
                <a:solidFill>
                  <a:srgbClr val="1F4766"/>
                </a:solidFill>
                <a:latin typeface="Lato" panose="020F0502020204030203" pitchFamily="34" charset="0"/>
                <a:ea typeface="Lato" panose="020F0502020204030203" pitchFamily="34" charset="0"/>
                <a:cs typeface="Lato" panose="020F0502020204030203" pitchFamily="34" charset="0"/>
              </a:rPr>
              <a:t>18-64 </a:t>
            </a:r>
            <a:r>
              <a:rPr lang="en-US" sz="1400" b="0" i="0">
                <a:solidFill>
                  <a:srgbClr val="1F4766"/>
                </a:solidFill>
                <a:effectLst/>
                <a:latin typeface="Lato" panose="020F0502020204030203" pitchFamily="34" charset="0"/>
                <a:ea typeface="Lato" panose="020F0502020204030203" pitchFamily="34" charset="0"/>
                <a:cs typeface="Lato" panose="020F0502020204030203" pitchFamily="34" charset="0"/>
              </a:rPr>
              <a:t>years’ old </a:t>
            </a:r>
          </a:p>
          <a:p>
            <a:pPr marL="285750" indent="-285750" algn="just" rtl="0" fontAlgn="base">
              <a:lnSpc>
                <a:spcPct val="150000"/>
              </a:lnSpc>
              <a:buFont typeface="Arial" panose="020B0604020202020204" pitchFamily="34" charset="0"/>
              <a:buChar char="•"/>
            </a:pPr>
            <a:r>
              <a:rPr lang="en-US" sz="1400" b="0" i="0">
                <a:solidFill>
                  <a:srgbClr val="1F4766"/>
                </a:solidFill>
                <a:effectLst/>
                <a:latin typeface="Lato" panose="020F0502020204030203" pitchFamily="34" charset="0"/>
                <a:ea typeface="Lato" panose="020F0502020204030203" pitchFamily="34" charset="0"/>
                <a:cs typeface="Lato" panose="020F0502020204030203" pitchFamily="34" charset="0"/>
              </a:rPr>
              <a:t>Must have a business</a:t>
            </a:r>
          </a:p>
          <a:p>
            <a:pPr marL="285750" indent="-285750" algn="just" rtl="0" fontAlgn="base">
              <a:lnSpc>
                <a:spcPct val="150000"/>
              </a:lnSpc>
              <a:buFont typeface="Arial" panose="020B0604020202020204" pitchFamily="34" charset="0"/>
              <a:buChar char="•"/>
            </a:pPr>
            <a:r>
              <a:rPr lang="en-US" sz="1400" b="0" i="0">
                <a:solidFill>
                  <a:srgbClr val="1F4766"/>
                </a:solidFill>
                <a:effectLst/>
                <a:latin typeface="Lato" panose="020F0502020204030203" pitchFamily="34" charset="0"/>
                <a:ea typeface="Lato" panose="020F0502020204030203" pitchFamily="34" charset="0"/>
                <a:cs typeface="Lato" panose="020F0502020204030203" pitchFamily="34" charset="0"/>
              </a:rPr>
              <a:t>Must be a resident of at least 1 year on present address with no plans of transfer within the next 2 years </a:t>
            </a:r>
          </a:p>
          <a:p>
            <a:pPr marL="285750" indent="-285750" algn="just" rtl="0" fontAlgn="base">
              <a:lnSpc>
                <a:spcPct val="150000"/>
              </a:lnSpc>
              <a:buFont typeface="Arial" panose="020B0604020202020204" pitchFamily="34" charset="0"/>
              <a:buChar char="•"/>
            </a:pPr>
            <a:endParaRPr lang="en-US" sz="1400" b="0" i="0">
              <a:solidFill>
                <a:srgbClr val="1F4766"/>
              </a:solidFill>
              <a:effectLst/>
              <a:latin typeface="Lato" panose="020F0502020204030203" pitchFamily="34" charset="0"/>
              <a:ea typeface="Lato" panose="020F0502020204030203" pitchFamily="34" charset="0"/>
              <a:cs typeface="Lato" panose="020F0502020204030203" pitchFamily="34" charset="0"/>
            </a:endParaRPr>
          </a:p>
        </p:txBody>
      </p:sp>
      <p:grpSp>
        <p:nvGrpSpPr>
          <p:cNvPr id="14" name="Group 8">
            <a:extLst>
              <a:ext uri="{FF2B5EF4-FFF2-40B4-BE49-F238E27FC236}">
                <a16:creationId xmlns:a16="http://schemas.microsoft.com/office/drawing/2014/main" id="{5050FFD1-9F39-9F3D-C1B2-C1B64B371756}"/>
              </a:ext>
            </a:extLst>
          </p:cNvPr>
          <p:cNvGrpSpPr/>
          <p:nvPr/>
        </p:nvGrpSpPr>
        <p:grpSpPr>
          <a:xfrm>
            <a:off x="5271588" y="1281224"/>
            <a:ext cx="6920412" cy="2006411"/>
            <a:chOff x="-1784975" y="477217"/>
            <a:chExt cx="7648971" cy="3575247"/>
          </a:xfrm>
        </p:grpSpPr>
        <p:sp>
          <p:nvSpPr>
            <p:cNvPr id="15" name="TextBox 9">
              <a:extLst>
                <a:ext uri="{FF2B5EF4-FFF2-40B4-BE49-F238E27FC236}">
                  <a16:creationId xmlns:a16="http://schemas.microsoft.com/office/drawing/2014/main" id="{D90D70A7-9BC5-968F-F091-F200D217145B}"/>
                </a:ext>
              </a:extLst>
            </p:cNvPr>
            <p:cNvSpPr txBox="1"/>
            <p:nvPr/>
          </p:nvSpPr>
          <p:spPr>
            <a:xfrm>
              <a:off x="-1784975" y="477217"/>
              <a:ext cx="6657556" cy="714331"/>
            </a:xfrm>
            <a:prstGeom prst="rect">
              <a:avLst/>
            </a:prstGeom>
          </p:spPr>
          <p:txBody>
            <a:bodyPr lIns="0" tIns="0" rIns="0" bIns="0" rtlCol="0" anchor="t">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2000" b="1" i="0" u="none" strike="noStrike" kern="1200" cap="none" spc="0" normalizeH="0" baseline="0" noProof="0">
                  <a:ln>
                    <a:noFill/>
                  </a:ln>
                  <a:solidFill>
                    <a:srgbClr val="1F4766"/>
                  </a:solidFill>
                  <a:effectLst/>
                  <a:uLnTx/>
                  <a:uFillTx/>
                  <a:latin typeface="Lato" panose="020F0502020204030203" pitchFamily="34" charset="0"/>
                  <a:ea typeface="Lato" panose="020F0502020204030203" pitchFamily="34" charset="0"/>
                  <a:cs typeface="Lato" panose="020F0502020204030203" pitchFamily="34" charset="0"/>
                </a:rPr>
                <a:t>EXISTING CLIENT</a:t>
              </a:r>
            </a:p>
          </p:txBody>
        </p:sp>
        <p:sp>
          <p:nvSpPr>
            <p:cNvPr id="16" name="TextBox 15">
              <a:extLst>
                <a:ext uri="{FF2B5EF4-FFF2-40B4-BE49-F238E27FC236}">
                  <a16:creationId xmlns:a16="http://schemas.microsoft.com/office/drawing/2014/main" id="{07960F80-1753-793A-B83B-F75A8FC5D192}"/>
                </a:ext>
              </a:extLst>
            </p:cNvPr>
            <p:cNvSpPr txBox="1"/>
            <p:nvPr/>
          </p:nvSpPr>
          <p:spPr>
            <a:xfrm>
              <a:off x="-166983" y="1824921"/>
              <a:ext cx="6030979" cy="2227543"/>
            </a:xfrm>
            <a:prstGeom prst="rect">
              <a:avLst/>
            </a:prstGeom>
          </p:spPr>
          <p:txBody>
            <a:bodyPr wrap="square" lIns="0" tIns="0" rIns="0" bIns="0" rtlCol="0" anchor="t">
              <a:spAutoFit/>
            </a:bodyPr>
            <a:lstStyle/>
            <a:p>
              <a:pPr marL="285750" indent="-285750" algn="just" rtl="0" fontAlgn="base">
                <a:lnSpc>
                  <a:spcPct val="150000"/>
                </a:lnSpc>
                <a:buFont typeface="Arial" panose="020B0604020202020204" pitchFamily="34" charset="0"/>
                <a:buChar char="•"/>
              </a:pPr>
              <a:r>
                <a:rPr lang="en-US" sz="1400" b="0" i="0">
                  <a:solidFill>
                    <a:srgbClr val="1F4766"/>
                  </a:solidFill>
                  <a:effectLst/>
                  <a:latin typeface="Lato" panose="020F0502020204030203" pitchFamily="34" charset="0"/>
                  <a:ea typeface="Lato" panose="020F0502020204030203" pitchFamily="34" charset="0"/>
                  <a:cs typeface="Lato" panose="020F0502020204030203" pitchFamily="34" charset="0"/>
                </a:rPr>
                <a:t>Must be 18-75 years’ old </a:t>
              </a:r>
            </a:p>
            <a:p>
              <a:pPr marL="285750" indent="-285750" algn="just" rtl="0" fontAlgn="base">
                <a:lnSpc>
                  <a:spcPct val="150000"/>
                </a:lnSpc>
                <a:buFont typeface="Arial" panose="020B0604020202020204" pitchFamily="34" charset="0"/>
                <a:buChar char="•"/>
              </a:pPr>
              <a:r>
                <a:rPr lang="en-US" sz="1400" b="0" i="0">
                  <a:solidFill>
                    <a:srgbClr val="1F4766"/>
                  </a:solidFill>
                  <a:effectLst/>
                  <a:latin typeface="Lato" panose="020F0502020204030203" pitchFamily="34" charset="0"/>
                  <a:ea typeface="Lato" panose="020F0502020204030203" pitchFamily="34" charset="0"/>
                  <a:cs typeface="Lato" panose="020F0502020204030203" pitchFamily="34" charset="0"/>
                </a:rPr>
                <a:t>Must have 100% repayment from the previous loan</a:t>
              </a:r>
            </a:p>
            <a:p>
              <a:pPr marL="285750" indent="-285750" algn="just" rtl="0" fontAlgn="base">
                <a:lnSpc>
                  <a:spcPct val="150000"/>
                </a:lnSpc>
                <a:buFont typeface="Arial" panose="020B0604020202020204" pitchFamily="34" charset="0"/>
                <a:buChar char="•"/>
              </a:pPr>
              <a:r>
                <a:rPr lang="en-US" sz="1400" b="0" i="0">
                  <a:solidFill>
                    <a:srgbClr val="1F4766"/>
                  </a:solidFill>
                  <a:effectLst/>
                  <a:latin typeface="Lato" panose="020F0502020204030203" pitchFamily="34" charset="0"/>
                  <a:ea typeface="Lato" panose="020F0502020204030203" pitchFamily="34" charset="0"/>
                  <a:cs typeface="Lato" panose="020F0502020204030203" pitchFamily="34" charset="0"/>
                </a:rPr>
                <a:t>Must be a member of Group Center with at least 80% attendance </a:t>
              </a:r>
            </a:p>
            <a:p>
              <a:pPr marL="285750" indent="-285750" algn="just" rtl="0" fontAlgn="base">
                <a:lnSpc>
                  <a:spcPct val="150000"/>
                </a:lnSpc>
                <a:buFont typeface="Arial" panose="020B0604020202020204" pitchFamily="34" charset="0"/>
                <a:buChar char="•"/>
              </a:pPr>
              <a:r>
                <a:rPr lang="en-US" sz="1400" b="0" i="0">
                  <a:solidFill>
                    <a:srgbClr val="1F4766"/>
                  </a:solidFill>
                  <a:effectLst/>
                  <a:latin typeface="Lato" panose="020F0502020204030203" pitchFamily="34" charset="0"/>
                  <a:ea typeface="Lato" panose="020F0502020204030203" pitchFamily="34" charset="0"/>
                  <a:cs typeface="Lato" panose="020F0502020204030203" pitchFamily="34" charset="0"/>
                </a:rPr>
                <a:t>Must pass the LSV </a:t>
              </a:r>
            </a:p>
          </p:txBody>
        </p:sp>
      </p:grpSp>
      <p:sp>
        <p:nvSpPr>
          <p:cNvPr id="17" name="TextBox 16">
            <a:extLst>
              <a:ext uri="{FF2B5EF4-FFF2-40B4-BE49-F238E27FC236}">
                <a16:creationId xmlns:a16="http://schemas.microsoft.com/office/drawing/2014/main" id="{54A10785-7808-E0F4-E482-F3624AB2B39A}"/>
              </a:ext>
            </a:extLst>
          </p:cNvPr>
          <p:cNvSpPr txBox="1"/>
          <p:nvPr/>
        </p:nvSpPr>
        <p:spPr>
          <a:xfrm>
            <a:off x="0" y="173663"/>
            <a:ext cx="12046856" cy="506022"/>
          </a:xfrm>
          <a:prstGeom prst="rect">
            <a:avLst/>
          </a:prstGeom>
          <a:solidFill>
            <a:srgbClr val="1F4766"/>
          </a:solidFill>
        </p:spPr>
        <p:txBody>
          <a:bodyPr wrap="square" rtlCol="0" anchor="ctr">
            <a:noAutofit/>
          </a:bodyPr>
          <a:lstStyle/>
          <a:p>
            <a:pPr algn="ctr"/>
            <a:r>
              <a:rPr lang="en-PH" sz="2400" b="1">
                <a:solidFill>
                  <a:srgbClr val="FFC000"/>
                </a:solidFill>
                <a:latin typeface="Lato" panose="020F0502020204030203" pitchFamily="34" charset="0"/>
                <a:ea typeface="Lato" panose="020F0502020204030203" pitchFamily="34" charset="0"/>
                <a:cs typeface="Lato" panose="020F0502020204030203" pitchFamily="34" charset="0"/>
              </a:rPr>
              <a:t>Eligibility Criteria</a:t>
            </a:r>
          </a:p>
        </p:txBody>
      </p:sp>
      <p:sp>
        <p:nvSpPr>
          <p:cNvPr id="12" name="TextBox 11">
            <a:extLst>
              <a:ext uri="{FF2B5EF4-FFF2-40B4-BE49-F238E27FC236}">
                <a16:creationId xmlns:a16="http://schemas.microsoft.com/office/drawing/2014/main" id="{ECE0E8B3-4CDC-74E8-60F2-B8C576E84745}"/>
              </a:ext>
            </a:extLst>
          </p:cNvPr>
          <p:cNvSpPr txBox="1"/>
          <p:nvPr/>
        </p:nvSpPr>
        <p:spPr>
          <a:xfrm>
            <a:off x="1097280" y="1281224"/>
            <a:ext cx="2001520" cy="369332"/>
          </a:xfrm>
          <a:prstGeom prst="rect">
            <a:avLst/>
          </a:prstGeom>
          <a:noFill/>
        </p:spPr>
        <p:txBody>
          <a:bodyPr wrap="square" rtlCol="0">
            <a:spAutoFit/>
          </a:bodyPr>
          <a:lstStyle/>
          <a:p>
            <a:r>
              <a:rPr lang="en-US"/>
              <a:t>NEW CLIENT</a:t>
            </a:r>
            <a:endParaRPr lang="en-PH"/>
          </a:p>
        </p:txBody>
      </p:sp>
    </p:spTree>
    <p:extLst>
      <p:ext uri="{BB962C8B-B14F-4D97-AF65-F5344CB8AC3E}">
        <p14:creationId xmlns:p14="http://schemas.microsoft.com/office/powerpoint/2010/main" val="19836042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4B34329-F989-A8D8-2AFD-2FA3334EEEFF}"/>
              </a:ext>
            </a:extLst>
          </p:cNvPr>
          <p:cNvSpPr>
            <a:spLocks noGrp="1"/>
          </p:cNvSpPr>
          <p:nvPr>
            <p:ph type="sldNum" sz="quarter" idx="12"/>
          </p:nvPr>
        </p:nvSpPr>
        <p:spPr/>
        <p:txBody>
          <a:bodyPr/>
          <a:lstStyle/>
          <a:p>
            <a:fld id="{36D53BC0-5915-4EE6-A8B4-385258777E7F}" type="slidenum">
              <a:rPr lang="en-PH" smtClean="0"/>
              <a:pPr/>
              <a:t>15</a:t>
            </a:fld>
            <a:endParaRPr lang="en-PH"/>
          </a:p>
        </p:txBody>
      </p:sp>
      <p:graphicFrame>
        <p:nvGraphicFramePr>
          <p:cNvPr id="5" name="Table 4">
            <a:extLst>
              <a:ext uri="{FF2B5EF4-FFF2-40B4-BE49-F238E27FC236}">
                <a16:creationId xmlns:a16="http://schemas.microsoft.com/office/drawing/2014/main" id="{370EC6D6-BAC2-7152-895D-949A9E3A1859}"/>
              </a:ext>
            </a:extLst>
          </p:cNvPr>
          <p:cNvGraphicFramePr>
            <a:graphicFrameLocks noGrp="1"/>
          </p:cNvGraphicFramePr>
          <p:nvPr>
            <p:extLst>
              <p:ext uri="{D42A27DB-BD31-4B8C-83A1-F6EECF244321}">
                <p14:modId xmlns:p14="http://schemas.microsoft.com/office/powerpoint/2010/main" val="3273506500"/>
              </p:ext>
            </p:extLst>
          </p:nvPr>
        </p:nvGraphicFramePr>
        <p:xfrm>
          <a:off x="1189290" y="3222812"/>
          <a:ext cx="5714629" cy="1483359"/>
        </p:xfrm>
        <a:graphic>
          <a:graphicData uri="http://schemas.openxmlformats.org/drawingml/2006/table">
            <a:tbl>
              <a:tblPr firstRow="1" bandRow="1">
                <a:tableStyleId>{2D5ABB26-0587-4C30-8999-92F81FD0307C}</a:tableStyleId>
              </a:tblPr>
              <a:tblGrid>
                <a:gridCol w="5714629">
                  <a:extLst>
                    <a:ext uri="{9D8B030D-6E8A-4147-A177-3AD203B41FA5}">
                      <a16:colId xmlns:a16="http://schemas.microsoft.com/office/drawing/2014/main" val="3891547026"/>
                    </a:ext>
                  </a:extLst>
                </a:gridCol>
              </a:tblGrid>
              <a:tr h="370840">
                <a:tc>
                  <a:txBody>
                    <a:bodyPr/>
                    <a:lstStyle/>
                    <a:p>
                      <a:pPr marL="285750" indent="-285750">
                        <a:buFont typeface="Arial" panose="020B0604020202020204" pitchFamily="34" charset="0"/>
                        <a:buChar char="•"/>
                      </a:pPr>
                      <a:endParaRPr lang="en-US" sz="1800" b="0" i="0" u="none" strike="noStrike" kern="1200">
                        <a:solidFill>
                          <a:srgbClr val="1F4766"/>
                        </a:solidFill>
                        <a:effectLst/>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87856371"/>
                  </a:ext>
                </a:extLst>
              </a:tr>
              <a:tr h="370840">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800" b="0" i="0" u="none" strike="noStrike" kern="1200">
                        <a:solidFill>
                          <a:srgbClr val="1F4766"/>
                        </a:solidFill>
                        <a:effectLst/>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4543366"/>
                  </a:ext>
                </a:extLst>
              </a:tr>
              <a:tr h="370840">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800" b="0" i="0" u="none" strike="noStrike" kern="1200">
                        <a:solidFill>
                          <a:srgbClr val="1F4766"/>
                        </a:solidFill>
                        <a:effectLst/>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50379872"/>
                  </a:ext>
                </a:extLst>
              </a:tr>
              <a:tr h="370839">
                <a:tc>
                  <a:txBody>
                    <a:bodyPr/>
                    <a:lstStyle/>
                    <a:p>
                      <a:pPr marL="285750" lvl="0" indent="-285750" algn="l" defTabSz="914400">
                        <a:lnSpc>
                          <a:spcPct val="100000"/>
                        </a:lnSpc>
                        <a:spcBef>
                          <a:spcPts val="0"/>
                        </a:spcBef>
                        <a:spcAft>
                          <a:spcPts val="0"/>
                        </a:spcAft>
                        <a:buFont typeface="Arial"/>
                        <a:buChar char="•"/>
                        <a:tabLst/>
                        <a:defRPr/>
                      </a:pPr>
                      <a:endParaRPr lang="en-US" sz="1800" b="0" i="0" u="none" strike="noStrike" kern="1200" dirty="0">
                        <a:solidFill>
                          <a:srgbClr val="1F4766"/>
                        </a:solidFill>
                        <a:effectLst/>
                        <a:latin typeface="Lato"/>
                        <a:ea typeface="Lato"/>
                        <a:cs typeface="Lato"/>
                      </a:endParaRPr>
                    </a:p>
                  </a:txBody>
                  <a:tcPr>
                    <a:lnL w="0">
                      <a:noFill/>
                    </a:lnL>
                    <a:lnR w="0">
                      <a:noFill/>
                    </a:lnR>
                    <a:lnT w="0">
                      <a:noFill/>
                    </a:lnT>
                    <a:lnB w="0">
                      <a:noFill/>
                    </a:lnB>
                    <a:lnTlToBr w="0">
                      <a:noFill/>
                    </a:lnTlToBr>
                    <a:lnBlToTr w="0">
                      <a:noFill/>
                    </a:lnBlToTr>
                  </a:tcPr>
                </a:tc>
                <a:extLst>
                  <a:ext uri="{0D108BD9-81ED-4DB2-BD59-A6C34878D82A}">
                    <a16:rowId xmlns:a16="http://schemas.microsoft.com/office/drawing/2014/main" val="3181354991"/>
                  </a:ext>
                </a:extLst>
              </a:tr>
            </a:tbl>
          </a:graphicData>
        </a:graphic>
      </p:graphicFrame>
      <p:sp>
        <p:nvSpPr>
          <p:cNvPr id="6" name="Text Placeholder 2">
            <a:extLst>
              <a:ext uri="{FF2B5EF4-FFF2-40B4-BE49-F238E27FC236}">
                <a16:creationId xmlns:a16="http://schemas.microsoft.com/office/drawing/2014/main" id="{F447A7F1-95C6-7F7B-072E-48A53AAD259D}"/>
              </a:ext>
            </a:extLst>
          </p:cNvPr>
          <p:cNvSpPr txBox="1">
            <a:spLocks/>
          </p:cNvSpPr>
          <p:nvPr/>
        </p:nvSpPr>
        <p:spPr>
          <a:xfrm>
            <a:off x="394447" y="2796437"/>
            <a:ext cx="7347857" cy="738139"/>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tint val="75000"/>
                  </a:schemeClr>
                </a:solidFill>
                <a:latin typeface="Lato" panose="020F0502020204030203"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just">
              <a:lnSpc>
                <a:spcPct val="150000"/>
              </a:lnSpc>
            </a:pPr>
            <a:r>
              <a:rPr lang="en-US" sz="1600">
                <a:solidFill>
                  <a:schemeClr val="tx1"/>
                </a:solidFill>
                <a:ea typeface="Lato" panose="020F0502020204030203" pitchFamily="34" charset="0"/>
                <a:cs typeface="Lato" panose="020F0502020204030203" pitchFamily="34" charset="0"/>
              </a:rPr>
              <a:t>A special loan for hog raisers offered to new and existing clients with PPI score of 25 to 75, engaged in hog raising business with at least 5 hogs</a:t>
            </a:r>
            <a:endParaRPr lang="en-PH" sz="1600">
              <a:solidFill>
                <a:schemeClr val="tx1"/>
              </a:solidFill>
              <a:ea typeface="Lato" panose="020F0502020204030203" pitchFamily="34" charset="0"/>
              <a:cs typeface="Lato" panose="020F0502020204030203" pitchFamily="34" charset="0"/>
            </a:endParaRPr>
          </a:p>
        </p:txBody>
      </p:sp>
      <p:pic>
        <p:nvPicPr>
          <p:cNvPr id="7" name="Picture 6">
            <a:extLst>
              <a:ext uri="{FF2B5EF4-FFF2-40B4-BE49-F238E27FC236}">
                <a16:creationId xmlns:a16="http://schemas.microsoft.com/office/drawing/2014/main" id="{DAC97A69-6B41-EAAF-6E13-6C9C9E5595E3}"/>
              </a:ext>
            </a:extLst>
          </p:cNvPr>
          <p:cNvPicPr>
            <a:picLocks noChangeAspect="1"/>
          </p:cNvPicPr>
          <p:nvPr/>
        </p:nvPicPr>
        <p:blipFill rotWithShape="1">
          <a:blip r:embed="rId3"/>
          <a:srcRect l="5864" r="8717"/>
          <a:stretch/>
        </p:blipFill>
        <p:spPr>
          <a:xfrm>
            <a:off x="8388051" y="256629"/>
            <a:ext cx="3695700" cy="5670835"/>
          </a:xfrm>
          <a:prstGeom prst="rect">
            <a:avLst/>
          </a:prstGeom>
          <a:ln w="38100">
            <a:solidFill>
              <a:schemeClr val="bg1"/>
            </a:solidFill>
          </a:ln>
        </p:spPr>
      </p:pic>
      <p:sp>
        <p:nvSpPr>
          <p:cNvPr id="9" name="Arrow: Right 8">
            <a:extLst>
              <a:ext uri="{FF2B5EF4-FFF2-40B4-BE49-F238E27FC236}">
                <a16:creationId xmlns:a16="http://schemas.microsoft.com/office/drawing/2014/main" id="{B2A52EAF-1A1B-2968-26BA-007874096136}"/>
              </a:ext>
            </a:extLst>
          </p:cNvPr>
          <p:cNvSpPr/>
          <p:nvPr/>
        </p:nvSpPr>
        <p:spPr>
          <a:xfrm>
            <a:off x="341671" y="782135"/>
            <a:ext cx="7304314" cy="1626041"/>
          </a:xfrm>
          <a:prstGeom prst="rightArrow">
            <a:avLst/>
          </a:prstGeom>
          <a:solidFill>
            <a:srgbClr val="4C93D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2800" b="1">
                <a:solidFill>
                  <a:srgbClr val="1F4766"/>
                </a:solidFill>
                <a:latin typeface="Lato" panose="020F0502020204030203" pitchFamily="34" charset="0"/>
                <a:ea typeface="Lato" panose="020F0502020204030203" pitchFamily="34" charset="0"/>
                <a:cs typeface="Lato" panose="020F0502020204030203" pitchFamily="34" charset="0"/>
              </a:rPr>
              <a:t>             </a:t>
            </a:r>
            <a:r>
              <a:rPr lang="en-PH" sz="2800" b="1" i="1">
                <a:solidFill>
                  <a:schemeClr val="bg1"/>
                </a:solidFill>
                <a:latin typeface="Lato" panose="020F0502020204030203" pitchFamily="34" charset="0"/>
                <a:ea typeface="Lato" panose="020F0502020204030203" pitchFamily="34" charset="0"/>
                <a:cs typeface="Lato" panose="020F0502020204030203" pitchFamily="34" charset="0"/>
              </a:rPr>
              <a:t>Kabuhayan Hog Loan</a:t>
            </a:r>
          </a:p>
        </p:txBody>
      </p:sp>
      <p:pic>
        <p:nvPicPr>
          <p:cNvPr id="10" name="Picture 9">
            <a:extLst>
              <a:ext uri="{FF2B5EF4-FFF2-40B4-BE49-F238E27FC236}">
                <a16:creationId xmlns:a16="http://schemas.microsoft.com/office/drawing/2014/main" id="{3465D204-FACE-237C-8ADB-31E50D7ADE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685" y="1127229"/>
            <a:ext cx="1821977" cy="77329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4DD272D-9783-2421-BFC5-ECC8B54BC2E1}"/>
              </a:ext>
            </a:extLst>
          </p:cNvPr>
          <p:cNvSpPr txBox="1"/>
          <p:nvPr/>
        </p:nvSpPr>
        <p:spPr>
          <a:xfrm>
            <a:off x="798286" y="4723190"/>
            <a:ext cx="6096000"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76072" indent="-576072" algn="l" rtl="0"/>
            <a:r>
              <a:rPr lang="en-US" sz="1600" i="1" kern="1200">
                <a:solidFill>
                  <a:schemeClr val="tx1"/>
                </a:solidFill>
                <a:latin typeface="Lato"/>
                <a:ea typeface="Lato"/>
                <a:cs typeface="Lato"/>
              </a:rPr>
              <a:t>Note: Loan purposes for poultry (e.g., chickens) or any non–hog-raising purposes are NOT allowed.</a:t>
            </a:r>
          </a:p>
          <a:p>
            <a:pPr algn="ctr"/>
            <a:endParaRPr lang="en-US"/>
          </a:p>
        </p:txBody>
      </p:sp>
    </p:spTree>
    <p:extLst>
      <p:ext uri="{BB962C8B-B14F-4D97-AF65-F5344CB8AC3E}">
        <p14:creationId xmlns:p14="http://schemas.microsoft.com/office/powerpoint/2010/main" val="8766306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B0D8BA1-9A73-02C9-ECA9-82961F41AE56}"/>
              </a:ext>
            </a:extLst>
          </p:cNvPr>
          <p:cNvSpPr>
            <a:spLocks noGrp="1"/>
          </p:cNvSpPr>
          <p:nvPr>
            <p:ph type="sldNum" sz="quarter" idx="12"/>
          </p:nvPr>
        </p:nvSpPr>
        <p:spPr/>
        <p:txBody>
          <a:bodyPr/>
          <a:lstStyle/>
          <a:p>
            <a:fld id="{36D53BC0-5915-4EE6-A8B4-385258777E7F}" type="slidenum">
              <a:rPr lang="en-PH" smtClean="0"/>
              <a:pPr/>
              <a:t>16</a:t>
            </a:fld>
            <a:endParaRPr lang="en-PH"/>
          </a:p>
        </p:txBody>
      </p:sp>
      <p:sp>
        <p:nvSpPr>
          <p:cNvPr id="5" name="Rectangle 4">
            <a:extLst>
              <a:ext uri="{FF2B5EF4-FFF2-40B4-BE49-F238E27FC236}">
                <a16:creationId xmlns:a16="http://schemas.microsoft.com/office/drawing/2014/main" id="{C132B686-03CB-3DCF-041A-376A60F6ACD3}"/>
              </a:ext>
            </a:extLst>
          </p:cNvPr>
          <p:cNvSpPr/>
          <p:nvPr/>
        </p:nvSpPr>
        <p:spPr>
          <a:xfrm>
            <a:off x="330800" y="4326389"/>
            <a:ext cx="3455209" cy="108494"/>
          </a:xfrm>
          <a:prstGeom prst="rect">
            <a:avLst/>
          </a:prstGeom>
          <a:solidFill>
            <a:srgbClr val="FFC000"/>
          </a:solidFill>
          <a:ln>
            <a:solidFill>
              <a:srgbClr val="058DC3"/>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effectLst>
                <a:glow rad="101600">
                  <a:schemeClr val="accent5">
                    <a:satMod val="175000"/>
                    <a:alpha val="40000"/>
                  </a:schemeClr>
                </a:glow>
              </a:effectLst>
              <a:latin typeface="Lato" panose="020F0502020204030203" pitchFamily="34" charset="0"/>
              <a:ea typeface="Lato" panose="020F0502020204030203" pitchFamily="34" charset="0"/>
              <a:cs typeface="Lato" panose="020F0502020204030203" pitchFamily="34" charset="0"/>
            </a:endParaRPr>
          </a:p>
        </p:txBody>
      </p:sp>
      <p:sp>
        <p:nvSpPr>
          <p:cNvPr id="6" name="Rectangle 5">
            <a:extLst>
              <a:ext uri="{FF2B5EF4-FFF2-40B4-BE49-F238E27FC236}">
                <a16:creationId xmlns:a16="http://schemas.microsoft.com/office/drawing/2014/main" id="{0AB617C4-AF09-7244-BDD2-0287F83510F5}"/>
              </a:ext>
            </a:extLst>
          </p:cNvPr>
          <p:cNvSpPr/>
          <p:nvPr/>
        </p:nvSpPr>
        <p:spPr>
          <a:xfrm>
            <a:off x="367393" y="3060584"/>
            <a:ext cx="3455209" cy="108494"/>
          </a:xfrm>
          <a:prstGeom prst="rect">
            <a:avLst/>
          </a:prstGeom>
          <a:solidFill>
            <a:srgbClr val="FFC000"/>
          </a:solidFill>
          <a:ln>
            <a:solidFill>
              <a:srgbClr val="058DC3"/>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effectLst>
                <a:glow rad="101600">
                  <a:schemeClr val="accent5">
                    <a:satMod val="175000"/>
                    <a:alpha val="40000"/>
                  </a:schemeClr>
                </a:glow>
              </a:effectLst>
              <a:latin typeface="Lato" panose="020F0502020204030203" pitchFamily="34" charset="0"/>
              <a:ea typeface="Lato" panose="020F0502020204030203" pitchFamily="34" charset="0"/>
              <a:cs typeface="Lato" panose="020F0502020204030203" pitchFamily="34" charset="0"/>
            </a:endParaRPr>
          </a:p>
        </p:txBody>
      </p:sp>
      <p:sp>
        <p:nvSpPr>
          <p:cNvPr id="7" name="Title 1">
            <a:extLst>
              <a:ext uri="{FF2B5EF4-FFF2-40B4-BE49-F238E27FC236}">
                <a16:creationId xmlns:a16="http://schemas.microsoft.com/office/drawing/2014/main" id="{C51C72E8-8CC9-B9B2-CC0B-46A8E7B78696}"/>
              </a:ext>
            </a:extLst>
          </p:cNvPr>
          <p:cNvSpPr>
            <a:spLocks noGrp="1"/>
          </p:cNvSpPr>
          <p:nvPr>
            <p:ph type="title"/>
          </p:nvPr>
        </p:nvSpPr>
        <p:spPr>
          <a:xfrm>
            <a:off x="603315" y="610935"/>
            <a:ext cx="3712838" cy="984835"/>
          </a:xfrm>
        </p:spPr>
        <p:txBody>
          <a:bodyPr/>
          <a:lstStyle/>
          <a:p>
            <a:r>
              <a:rPr lang="en-US" sz="3200">
                <a:highlight>
                  <a:srgbClr val="FFFF00"/>
                </a:highlight>
                <a:ea typeface="Lato" panose="020F0502020204030203" pitchFamily="34" charset="0"/>
                <a:cs typeface="Lato" panose="020F0502020204030203" pitchFamily="34" charset="0"/>
              </a:rPr>
              <a:t>Product Features</a:t>
            </a:r>
          </a:p>
        </p:txBody>
      </p:sp>
      <p:sp>
        <p:nvSpPr>
          <p:cNvPr id="8" name="Arrow: Pentagon 7">
            <a:extLst>
              <a:ext uri="{FF2B5EF4-FFF2-40B4-BE49-F238E27FC236}">
                <a16:creationId xmlns:a16="http://schemas.microsoft.com/office/drawing/2014/main" id="{CFFFB337-7449-84F4-FAAB-F81D7F256BDF}"/>
              </a:ext>
            </a:extLst>
          </p:cNvPr>
          <p:cNvSpPr/>
          <p:nvPr/>
        </p:nvSpPr>
        <p:spPr>
          <a:xfrm rot="16200000">
            <a:off x="-786376" y="2929454"/>
            <a:ext cx="2500362" cy="479248"/>
          </a:xfrm>
          <a:prstGeom prst="homePlate">
            <a:avLst/>
          </a:prstGeom>
          <a:noFill/>
          <a:ln w="38100">
            <a:solidFill>
              <a:srgbClr val="FFC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Lato" panose="020F0502020204030203" pitchFamily="34" charset="0"/>
              <a:ea typeface="Lato" panose="020F0502020204030203" pitchFamily="34" charset="0"/>
              <a:cs typeface="Lato" panose="020F0502020204030203" pitchFamily="34" charset="0"/>
            </a:endParaRPr>
          </a:p>
        </p:txBody>
      </p:sp>
      <p:sp>
        <p:nvSpPr>
          <p:cNvPr id="9" name="Arrow: Pentagon 8">
            <a:extLst>
              <a:ext uri="{FF2B5EF4-FFF2-40B4-BE49-F238E27FC236}">
                <a16:creationId xmlns:a16="http://schemas.microsoft.com/office/drawing/2014/main" id="{0EC0DAE8-368C-5B81-9D99-95318A773ACC}"/>
              </a:ext>
            </a:extLst>
          </p:cNvPr>
          <p:cNvSpPr/>
          <p:nvPr/>
        </p:nvSpPr>
        <p:spPr>
          <a:xfrm rot="16200000">
            <a:off x="65976" y="2929455"/>
            <a:ext cx="2500360" cy="479248"/>
          </a:xfrm>
          <a:prstGeom prst="homePlate">
            <a:avLst/>
          </a:prstGeom>
          <a:noFill/>
          <a:ln w="38100">
            <a:solidFill>
              <a:srgbClr val="FFC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Lato" panose="020F0502020204030203" pitchFamily="34" charset="0"/>
              <a:ea typeface="Lato" panose="020F0502020204030203" pitchFamily="34" charset="0"/>
              <a:cs typeface="Lato" panose="020F0502020204030203" pitchFamily="34" charset="0"/>
            </a:endParaRPr>
          </a:p>
        </p:txBody>
      </p:sp>
      <p:sp>
        <p:nvSpPr>
          <p:cNvPr id="10" name="Arrow: Pentagon 9">
            <a:extLst>
              <a:ext uri="{FF2B5EF4-FFF2-40B4-BE49-F238E27FC236}">
                <a16:creationId xmlns:a16="http://schemas.microsoft.com/office/drawing/2014/main" id="{89A63952-E410-05C1-FD93-A334667308F5}"/>
              </a:ext>
            </a:extLst>
          </p:cNvPr>
          <p:cNvSpPr/>
          <p:nvPr/>
        </p:nvSpPr>
        <p:spPr>
          <a:xfrm rot="16200000">
            <a:off x="833559" y="2973619"/>
            <a:ext cx="2500361" cy="479248"/>
          </a:xfrm>
          <a:prstGeom prst="homePlate">
            <a:avLst/>
          </a:prstGeom>
          <a:noFill/>
          <a:ln w="38100">
            <a:solidFill>
              <a:srgbClr val="FFC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Lato" panose="020F0502020204030203" pitchFamily="34" charset="0"/>
              <a:ea typeface="Lato" panose="020F0502020204030203" pitchFamily="34" charset="0"/>
              <a:cs typeface="Lato" panose="020F0502020204030203" pitchFamily="34" charset="0"/>
            </a:endParaRPr>
          </a:p>
        </p:txBody>
      </p:sp>
      <p:sp>
        <p:nvSpPr>
          <p:cNvPr id="11" name="Arrow: Pentagon 10">
            <a:extLst>
              <a:ext uri="{FF2B5EF4-FFF2-40B4-BE49-F238E27FC236}">
                <a16:creationId xmlns:a16="http://schemas.microsoft.com/office/drawing/2014/main" id="{B0D6A68F-1436-C6A1-E434-F669A1AB9738}"/>
              </a:ext>
            </a:extLst>
          </p:cNvPr>
          <p:cNvSpPr/>
          <p:nvPr/>
        </p:nvSpPr>
        <p:spPr>
          <a:xfrm rot="16200000">
            <a:off x="1576308" y="2956012"/>
            <a:ext cx="2500362" cy="479248"/>
          </a:xfrm>
          <a:prstGeom prst="homePlate">
            <a:avLst/>
          </a:prstGeom>
          <a:noFill/>
          <a:ln w="38100">
            <a:solidFill>
              <a:srgbClr val="FFC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Lato" panose="020F0502020204030203" pitchFamily="34" charset="0"/>
              <a:ea typeface="Lato" panose="020F0502020204030203" pitchFamily="34" charset="0"/>
              <a:cs typeface="Lato" panose="020F0502020204030203" pitchFamily="34" charset="0"/>
            </a:endParaRPr>
          </a:p>
        </p:txBody>
      </p:sp>
      <p:sp>
        <p:nvSpPr>
          <p:cNvPr id="12" name="Arrow: Pentagon 11">
            <a:extLst>
              <a:ext uri="{FF2B5EF4-FFF2-40B4-BE49-F238E27FC236}">
                <a16:creationId xmlns:a16="http://schemas.microsoft.com/office/drawing/2014/main" id="{3F3DF74B-04EF-A659-174A-C79C36D823EA}"/>
              </a:ext>
            </a:extLst>
          </p:cNvPr>
          <p:cNvSpPr/>
          <p:nvPr/>
        </p:nvSpPr>
        <p:spPr>
          <a:xfrm rot="16200000">
            <a:off x="2332879" y="2973619"/>
            <a:ext cx="2500362" cy="479248"/>
          </a:xfrm>
          <a:prstGeom prst="homePlate">
            <a:avLst/>
          </a:prstGeom>
          <a:noFill/>
          <a:ln w="38100">
            <a:solidFill>
              <a:srgbClr val="FFC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Lato" panose="020F0502020204030203" pitchFamily="34" charset="0"/>
              <a:ea typeface="Lato" panose="020F0502020204030203" pitchFamily="34" charset="0"/>
              <a:cs typeface="Lato" panose="020F0502020204030203" pitchFamily="34" charset="0"/>
            </a:endParaRPr>
          </a:p>
        </p:txBody>
      </p:sp>
      <p:pic>
        <p:nvPicPr>
          <p:cNvPr id="13" name="Picture 12">
            <a:extLst>
              <a:ext uri="{FF2B5EF4-FFF2-40B4-BE49-F238E27FC236}">
                <a16:creationId xmlns:a16="http://schemas.microsoft.com/office/drawing/2014/main" id="{E9D2DCAA-D008-6227-89B7-F76A6836E2B6}"/>
              </a:ext>
            </a:extLst>
          </p:cNvPr>
          <p:cNvPicPr>
            <a:picLocks noChangeAspect="1"/>
          </p:cNvPicPr>
          <p:nvPr/>
        </p:nvPicPr>
        <p:blipFill>
          <a:blip r:embed="rId3"/>
          <a:stretch>
            <a:fillRect/>
          </a:stretch>
        </p:blipFill>
        <p:spPr>
          <a:xfrm>
            <a:off x="500574" y="2644821"/>
            <a:ext cx="2920180" cy="1197136"/>
          </a:xfrm>
          <a:prstGeom prst="rect">
            <a:avLst/>
          </a:prstGeom>
          <a:effectLst>
            <a:glow rad="228600">
              <a:schemeClr val="accent5">
                <a:satMod val="175000"/>
                <a:alpha val="40000"/>
              </a:schemeClr>
            </a:glow>
          </a:effectLst>
        </p:spPr>
      </p:pic>
      <p:graphicFrame>
        <p:nvGraphicFramePr>
          <p:cNvPr id="14" name="Table 27">
            <a:extLst>
              <a:ext uri="{FF2B5EF4-FFF2-40B4-BE49-F238E27FC236}">
                <a16:creationId xmlns:a16="http://schemas.microsoft.com/office/drawing/2014/main" id="{7A9CC1D5-9F98-AF4D-697A-39F490880FDF}"/>
              </a:ext>
            </a:extLst>
          </p:cNvPr>
          <p:cNvGraphicFramePr>
            <a:graphicFrameLocks noGrp="1"/>
          </p:cNvGraphicFramePr>
          <p:nvPr>
            <p:extLst>
              <p:ext uri="{D42A27DB-BD31-4B8C-83A1-F6EECF244321}">
                <p14:modId xmlns:p14="http://schemas.microsoft.com/office/powerpoint/2010/main" val="3010334620"/>
              </p:ext>
            </p:extLst>
          </p:nvPr>
        </p:nvGraphicFramePr>
        <p:xfrm>
          <a:off x="4622370" y="222175"/>
          <a:ext cx="3550327" cy="3914139"/>
        </p:xfrm>
        <a:graphic>
          <a:graphicData uri="http://schemas.openxmlformats.org/drawingml/2006/table">
            <a:tbl>
              <a:tblPr firstRow="1" bandRow="1">
                <a:tableStyleId>{2D5ABB26-0587-4C30-8999-92F81FD0307C}</a:tableStyleId>
              </a:tblPr>
              <a:tblGrid>
                <a:gridCol w="727739">
                  <a:extLst>
                    <a:ext uri="{9D8B030D-6E8A-4147-A177-3AD203B41FA5}">
                      <a16:colId xmlns:a16="http://schemas.microsoft.com/office/drawing/2014/main" val="1622108729"/>
                    </a:ext>
                  </a:extLst>
                </a:gridCol>
                <a:gridCol w="2822588">
                  <a:extLst>
                    <a:ext uri="{9D8B030D-6E8A-4147-A177-3AD203B41FA5}">
                      <a16:colId xmlns:a16="http://schemas.microsoft.com/office/drawing/2014/main" val="1450379266"/>
                    </a:ext>
                  </a:extLst>
                </a:gridCol>
              </a:tblGrid>
              <a:tr h="368870">
                <a:tc rowSpan="2">
                  <a:txBody>
                    <a:bodyPr/>
                    <a:lstStyle/>
                    <a:p>
                      <a:endParaRPr lang="en-PH" sz="14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a:solidFill>
                            <a:srgbClr val="1F4766"/>
                          </a:solidFill>
                          <a:latin typeface="Lato" panose="020F0502020204030203" pitchFamily="34" charset="0"/>
                          <a:ea typeface="Lato" panose="020F0502020204030203" pitchFamily="34" charset="0"/>
                          <a:cs typeface="Lato" panose="020F0502020204030203" pitchFamily="34" charset="0"/>
                        </a:rPr>
                        <a:t>Loan Amount</a:t>
                      </a:r>
                      <a:endParaRPr lang="en-PH" sz="1400" b="1">
                        <a:solidFill>
                          <a:srgbClr val="1F4766"/>
                        </a:solidFill>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0170993"/>
                  </a:ext>
                </a:extLst>
              </a:tr>
              <a:tr h="352244">
                <a:tc vMerge="1">
                  <a:txBody>
                    <a:bodyPr/>
                    <a:lstStyle/>
                    <a:p>
                      <a:endParaRPr lang="en-PH"/>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Wingdings" panose="05000000000000000000" pitchFamily="2" charset="2"/>
                        <a:buChar char="ü"/>
                      </a:pPr>
                      <a:r>
                        <a:rPr lang="en-US" sz="1400">
                          <a:latin typeface="Lato" panose="020F0502020204030203" pitchFamily="34" charset="0"/>
                          <a:ea typeface="Lato" panose="020F0502020204030203" pitchFamily="34" charset="0"/>
                          <a:cs typeface="Lato" panose="020F0502020204030203" pitchFamily="34" charset="0"/>
                        </a:rPr>
                        <a:t>P15,000-P150,000</a:t>
                      </a:r>
                      <a:endParaRPr lang="en-PH" sz="14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4695899"/>
                  </a:ext>
                </a:extLst>
              </a:tr>
              <a:tr h="447869">
                <a:tc rowSpan="2">
                  <a:txBody>
                    <a:bodyPr/>
                    <a:lstStyle/>
                    <a:p>
                      <a:endParaRPr lang="en-PH" sz="14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a:solidFill>
                            <a:srgbClr val="1F4766"/>
                          </a:solidFill>
                          <a:latin typeface="Lato" panose="020F0502020204030203" pitchFamily="34" charset="0"/>
                          <a:ea typeface="Lato" panose="020F0502020204030203" pitchFamily="34" charset="0"/>
                          <a:cs typeface="Lato" panose="020F0502020204030203" pitchFamily="34" charset="0"/>
                        </a:rPr>
                        <a:t>Loan Term</a:t>
                      </a:r>
                      <a:endParaRPr lang="en-PH" sz="1400" b="1">
                        <a:solidFill>
                          <a:srgbClr val="1F4766"/>
                        </a:solidFill>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88353520"/>
                  </a:ext>
                </a:extLst>
              </a:tr>
              <a:tr h="284797">
                <a:tc vMerge="1">
                  <a:txBody>
                    <a:bodyPr/>
                    <a:lstStyle/>
                    <a:p>
                      <a:endParaRPr lang="en-PH"/>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Wingdings" panose="05000000000000000000" pitchFamily="2" charset="2"/>
                        <a:buChar char="ü"/>
                      </a:pPr>
                      <a:r>
                        <a:rPr lang="en-US" sz="1400">
                          <a:latin typeface="Lato" panose="020F0502020204030203" pitchFamily="34" charset="0"/>
                          <a:ea typeface="Lato" panose="020F0502020204030203" pitchFamily="34" charset="0"/>
                          <a:cs typeface="Lato" panose="020F0502020204030203" pitchFamily="34" charset="0"/>
                        </a:rPr>
                        <a:t>5 months</a:t>
                      </a:r>
                      <a:endParaRPr lang="en-PH" sz="14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11574103"/>
                  </a:ext>
                </a:extLst>
              </a:tr>
              <a:tr h="284797">
                <a:tc rowSpan="2">
                  <a:txBody>
                    <a:bodyPr/>
                    <a:lstStyle/>
                    <a:p>
                      <a:endParaRPr lang="en-PH" sz="14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b="1">
                          <a:solidFill>
                            <a:srgbClr val="1F4766"/>
                          </a:solidFill>
                          <a:latin typeface="Lato" panose="020F0502020204030203" pitchFamily="34" charset="0"/>
                          <a:ea typeface="Lato" panose="020F0502020204030203" pitchFamily="34" charset="0"/>
                          <a:cs typeface="Lato" panose="020F0502020204030203" pitchFamily="34" charset="0"/>
                        </a:rPr>
                        <a:t>Repayment Frequency</a:t>
                      </a:r>
                      <a:endParaRPr lang="en-PH" sz="1400" b="1">
                        <a:solidFill>
                          <a:srgbClr val="1F4766"/>
                        </a:solidFill>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68837476"/>
                  </a:ext>
                </a:extLst>
              </a:tr>
              <a:tr h="484155">
                <a:tc vMerge="1">
                  <a:txBody>
                    <a:bodyPr/>
                    <a:lstStyle/>
                    <a:p>
                      <a:endParaRPr lang="en-PH"/>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Wingdings" panose="05000000000000000000" pitchFamily="2" charset="2"/>
                        <a:buChar char="ü"/>
                      </a:pPr>
                      <a:r>
                        <a:rPr lang="en-US" sz="1400">
                          <a:latin typeface="Lato" panose="020F0502020204030203" pitchFamily="34" charset="0"/>
                          <a:ea typeface="Lato" panose="020F0502020204030203" pitchFamily="34" charset="0"/>
                          <a:cs typeface="Lato" panose="020F0502020204030203" pitchFamily="34" charset="0"/>
                        </a:rPr>
                        <a:t>Weekly (interest)</a:t>
                      </a:r>
                    </a:p>
                    <a:p>
                      <a:pPr marL="285750" indent="-285750">
                        <a:buFont typeface="Wingdings" panose="05000000000000000000" pitchFamily="2" charset="2"/>
                        <a:buChar char="ü"/>
                      </a:pPr>
                      <a:r>
                        <a:rPr lang="en-US" sz="1400">
                          <a:latin typeface="Lato" panose="020F0502020204030203" pitchFamily="34" charset="0"/>
                          <a:ea typeface="Lato" panose="020F0502020204030203" pitchFamily="34" charset="0"/>
                          <a:cs typeface="Lato" panose="020F0502020204030203" pitchFamily="34" charset="0"/>
                        </a:rPr>
                        <a:t>Lump sum (principal)</a:t>
                      </a:r>
                      <a:endParaRPr lang="en-PH" sz="14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54832442"/>
                  </a:ext>
                </a:extLst>
              </a:tr>
              <a:tr h="284797">
                <a:tc>
                  <a:txBody>
                    <a:bodyPr/>
                    <a:lstStyle/>
                    <a:p>
                      <a:endParaRPr lang="en-PH" sz="14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400" b="1">
                          <a:solidFill>
                            <a:srgbClr val="1F4766"/>
                          </a:solidFill>
                          <a:latin typeface="Lato" panose="020F0502020204030203" pitchFamily="34" charset="0"/>
                          <a:ea typeface="Lato" panose="020F0502020204030203" pitchFamily="34" charset="0"/>
                          <a:cs typeface="Lato" panose="020F0502020204030203" pitchFamily="34" charset="0"/>
                        </a:rPr>
                        <a:t>Interest</a:t>
                      </a:r>
                      <a:endParaRPr lang="en-PH" sz="1400" b="1">
                        <a:solidFill>
                          <a:srgbClr val="1F4766"/>
                        </a:solidFill>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11210331"/>
                  </a:ext>
                </a:extLst>
              </a:tr>
              <a:tr h="620027">
                <a:tc>
                  <a:txBody>
                    <a:bodyPr/>
                    <a:lstStyle/>
                    <a:p>
                      <a:endParaRPr lang="en-PH" sz="14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400" b="0" i="0" u="none" strike="noStrike" kern="1200">
                          <a:solidFill>
                            <a:schemeClr val="tx1"/>
                          </a:solidFill>
                          <a:effectLst/>
                          <a:latin typeface="Lato" panose="020F0502020204030203" pitchFamily="34" charset="0"/>
                          <a:ea typeface="Lato" panose="020F0502020204030203" pitchFamily="34" charset="0"/>
                          <a:cs typeface="Lato" panose="020F0502020204030203" pitchFamily="34" charset="0"/>
                        </a:rPr>
                        <a:t>3% per month, based on diminishing</a:t>
                      </a:r>
                      <a:r>
                        <a:rPr lang="en-US" sz="1400" b="0" i="0" kern="1200">
                          <a:solidFill>
                            <a:schemeClr val="tx1"/>
                          </a:solidFill>
                          <a:effectLst/>
                          <a:latin typeface="Lato" panose="020F0502020204030203" pitchFamily="34" charset="0"/>
                          <a:ea typeface="Lato" panose="020F0502020204030203" pitchFamily="34" charset="0"/>
                          <a:cs typeface="Lato" panose="020F0502020204030203" pitchFamily="34" charset="0"/>
                        </a:rPr>
                        <a:t>​ rate</a:t>
                      </a:r>
                      <a:endParaRPr lang="en-PH" sz="14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48682455"/>
                  </a:ext>
                </a:extLst>
              </a:tr>
              <a:tr h="293912">
                <a:tc>
                  <a:txBody>
                    <a:bodyPr/>
                    <a:lstStyle/>
                    <a:p>
                      <a:endParaRPr lang="en-PH" sz="14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400" b="1">
                          <a:solidFill>
                            <a:srgbClr val="1F4766"/>
                          </a:solidFill>
                          <a:latin typeface="Lato" panose="020F0502020204030203" pitchFamily="34" charset="0"/>
                          <a:ea typeface="Lato" panose="020F0502020204030203" pitchFamily="34" charset="0"/>
                          <a:cs typeface="Lato" panose="020F0502020204030203" pitchFamily="34" charset="0"/>
                        </a:rPr>
                        <a:t>Service Charge</a:t>
                      </a:r>
                      <a:endParaRPr lang="en-PH" sz="1400" b="1">
                        <a:solidFill>
                          <a:srgbClr val="1F4766"/>
                        </a:solidFill>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05285463"/>
                  </a:ext>
                </a:extLst>
              </a:tr>
              <a:tr h="387769">
                <a:tc>
                  <a:txBody>
                    <a:bodyPr/>
                    <a:lstStyle/>
                    <a:p>
                      <a:endParaRPr lang="en-PH" sz="14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400">
                          <a:latin typeface="Lato" panose="020F0502020204030203" pitchFamily="34" charset="0"/>
                          <a:ea typeface="Lato" panose="020F0502020204030203" pitchFamily="34" charset="0"/>
                          <a:cs typeface="Lato" panose="020F0502020204030203" pitchFamily="34" charset="0"/>
                        </a:rPr>
                        <a:t>0%</a:t>
                      </a:r>
                      <a:endParaRPr lang="en-PH" sz="14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29638911"/>
                  </a:ext>
                </a:extLst>
              </a:tr>
            </a:tbl>
          </a:graphicData>
        </a:graphic>
      </p:graphicFrame>
      <p:pic>
        <p:nvPicPr>
          <p:cNvPr id="15" name="Picture 14">
            <a:extLst>
              <a:ext uri="{FF2B5EF4-FFF2-40B4-BE49-F238E27FC236}">
                <a16:creationId xmlns:a16="http://schemas.microsoft.com/office/drawing/2014/main" id="{ED894AB1-DF41-13FE-937F-78B8032E2DA2}"/>
              </a:ext>
            </a:extLst>
          </p:cNvPr>
          <p:cNvPicPr>
            <a:picLocks noChangeAspect="1"/>
          </p:cNvPicPr>
          <p:nvPr/>
        </p:nvPicPr>
        <p:blipFill>
          <a:blip r:embed="rId4"/>
          <a:stretch>
            <a:fillRect/>
          </a:stretch>
        </p:blipFill>
        <p:spPr>
          <a:xfrm>
            <a:off x="4623168" y="391809"/>
            <a:ext cx="573074" cy="566977"/>
          </a:xfrm>
          <a:prstGeom prst="rect">
            <a:avLst/>
          </a:prstGeom>
        </p:spPr>
      </p:pic>
      <p:pic>
        <p:nvPicPr>
          <p:cNvPr id="16" name="Picture 15">
            <a:extLst>
              <a:ext uri="{FF2B5EF4-FFF2-40B4-BE49-F238E27FC236}">
                <a16:creationId xmlns:a16="http://schemas.microsoft.com/office/drawing/2014/main" id="{191ACEA6-C4E1-1A19-6607-A5BBDCDBD2F3}"/>
              </a:ext>
            </a:extLst>
          </p:cNvPr>
          <p:cNvPicPr>
            <a:picLocks noChangeAspect="1"/>
          </p:cNvPicPr>
          <p:nvPr/>
        </p:nvPicPr>
        <p:blipFill>
          <a:blip r:embed="rId5"/>
          <a:stretch>
            <a:fillRect/>
          </a:stretch>
        </p:blipFill>
        <p:spPr>
          <a:xfrm>
            <a:off x="4622370" y="1123396"/>
            <a:ext cx="573074" cy="573074"/>
          </a:xfrm>
          <a:prstGeom prst="rect">
            <a:avLst/>
          </a:prstGeom>
        </p:spPr>
      </p:pic>
      <p:pic>
        <p:nvPicPr>
          <p:cNvPr id="17" name="Picture 16">
            <a:extLst>
              <a:ext uri="{FF2B5EF4-FFF2-40B4-BE49-F238E27FC236}">
                <a16:creationId xmlns:a16="http://schemas.microsoft.com/office/drawing/2014/main" id="{B5F5B9D3-2D4D-47D1-D0DC-229A31A17687}"/>
              </a:ext>
            </a:extLst>
          </p:cNvPr>
          <p:cNvPicPr>
            <a:picLocks noChangeAspect="1"/>
          </p:cNvPicPr>
          <p:nvPr/>
        </p:nvPicPr>
        <p:blipFill>
          <a:blip r:embed="rId6"/>
          <a:stretch>
            <a:fillRect/>
          </a:stretch>
        </p:blipFill>
        <p:spPr>
          <a:xfrm>
            <a:off x="4619241" y="1880955"/>
            <a:ext cx="573074" cy="573074"/>
          </a:xfrm>
          <a:prstGeom prst="rect">
            <a:avLst/>
          </a:prstGeom>
        </p:spPr>
      </p:pic>
      <p:graphicFrame>
        <p:nvGraphicFramePr>
          <p:cNvPr id="18" name="Table 27">
            <a:extLst>
              <a:ext uri="{FF2B5EF4-FFF2-40B4-BE49-F238E27FC236}">
                <a16:creationId xmlns:a16="http://schemas.microsoft.com/office/drawing/2014/main" id="{189CDDE8-B8C3-6D2D-BDDF-79A87D549F01}"/>
              </a:ext>
            </a:extLst>
          </p:cNvPr>
          <p:cNvGraphicFramePr>
            <a:graphicFrameLocks noGrp="1"/>
          </p:cNvGraphicFramePr>
          <p:nvPr>
            <p:extLst>
              <p:ext uri="{D42A27DB-BD31-4B8C-83A1-F6EECF244321}">
                <p14:modId xmlns:p14="http://schemas.microsoft.com/office/powerpoint/2010/main" val="502336056"/>
              </p:ext>
            </p:extLst>
          </p:nvPr>
        </p:nvGraphicFramePr>
        <p:xfrm>
          <a:off x="8293425" y="403420"/>
          <a:ext cx="3739190" cy="3119286"/>
        </p:xfrm>
        <a:graphic>
          <a:graphicData uri="http://schemas.openxmlformats.org/drawingml/2006/table">
            <a:tbl>
              <a:tblPr firstRow="1" bandRow="1">
                <a:tableStyleId>{2D5ABB26-0587-4C30-8999-92F81FD0307C}</a:tableStyleId>
              </a:tblPr>
              <a:tblGrid>
                <a:gridCol w="589590">
                  <a:extLst>
                    <a:ext uri="{9D8B030D-6E8A-4147-A177-3AD203B41FA5}">
                      <a16:colId xmlns:a16="http://schemas.microsoft.com/office/drawing/2014/main" val="1622108729"/>
                    </a:ext>
                  </a:extLst>
                </a:gridCol>
                <a:gridCol w="3149600">
                  <a:extLst>
                    <a:ext uri="{9D8B030D-6E8A-4147-A177-3AD203B41FA5}">
                      <a16:colId xmlns:a16="http://schemas.microsoft.com/office/drawing/2014/main" val="1450379266"/>
                    </a:ext>
                  </a:extLst>
                </a:gridCol>
              </a:tblGrid>
              <a:tr h="670123">
                <a:tc rowSpan="2">
                  <a:txBody>
                    <a:bodyPr/>
                    <a:lstStyle/>
                    <a:p>
                      <a:endParaRPr lang="en-PH" sz="14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b="1">
                          <a:solidFill>
                            <a:srgbClr val="1F4766"/>
                          </a:solidFill>
                          <a:latin typeface="Lato"/>
                          <a:ea typeface="Lato"/>
                          <a:cs typeface="Lato"/>
                        </a:rPr>
                        <a:t>Micro-Insurance </a:t>
                      </a:r>
                    </a:p>
                    <a:p>
                      <a:r>
                        <a:rPr lang="en-US" sz="1400" b="1">
                          <a:solidFill>
                            <a:srgbClr val="1F4766"/>
                          </a:solidFill>
                          <a:latin typeface="Lato"/>
                          <a:ea typeface="Lato"/>
                          <a:cs typeface="Lato"/>
                        </a:rPr>
                        <a:t>Product Bundle</a:t>
                      </a:r>
                      <a:endParaRPr lang="en-PH" sz="1400" b="1">
                        <a:solidFill>
                          <a:srgbClr val="1F4766"/>
                        </a:solidFill>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68837476"/>
                  </a:ext>
                </a:extLst>
              </a:tr>
              <a:tr h="1399876">
                <a:tc vMerge="1">
                  <a:txBody>
                    <a:bodyPr/>
                    <a:lstStyle/>
                    <a:p>
                      <a:endParaRPr lang="en-PH"/>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rtl="0" fontAlgn="base">
                        <a:buFont typeface="Wingdings" panose="05000000000000000000" pitchFamily="2" charset="2"/>
                        <a:buChar char="ü"/>
                      </a:pPr>
                      <a:r>
                        <a:rPr lang="en-US" sz="1400" b="0" i="0" u="none" strike="noStrike" kern="1200" err="1">
                          <a:solidFill>
                            <a:schemeClr val="tx1"/>
                          </a:solidFill>
                          <a:effectLst/>
                          <a:latin typeface="Lato"/>
                          <a:ea typeface="Lato"/>
                          <a:cs typeface="Lato"/>
                        </a:rPr>
                        <a:t>Kaagabay</a:t>
                      </a:r>
                      <a:r>
                        <a:rPr lang="en-US" sz="1400" b="0" i="0" u="none" strike="noStrike" kern="1200">
                          <a:solidFill>
                            <a:schemeClr val="tx1"/>
                          </a:solidFill>
                          <a:effectLst/>
                          <a:latin typeface="Lato"/>
                          <a:ea typeface="Lato"/>
                          <a:cs typeface="Lato"/>
                        </a:rPr>
                        <a:t> Insurance*</a:t>
                      </a:r>
                      <a:r>
                        <a:rPr lang="en-US" sz="1400" b="0" i="0" kern="1200">
                          <a:solidFill>
                            <a:schemeClr val="tx1"/>
                          </a:solidFill>
                          <a:effectLst/>
                          <a:latin typeface="Lato"/>
                          <a:ea typeface="Lato"/>
                          <a:cs typeface="Lato"/>
                        </a:rPr>
                        <a:t>​</a:t>
                      </a:r>
                    </a:p>
                    <a:p>
                      <a:pPr marL="285750" indent="-285750" rtl="0" fontAlgn="base">
                        <a:buFont typeface="Wingdings" panose="05000000000000000000" pitchFamily="2" charset="2"/>
                        <a:buChar char="ü"/>
                      </a:pPr>
                      <a:r>
                        <a:rPr lang="en-US" sz="1400" b="0" i="0" u="none" strike="noStrike" kern="1200">
                          <a:solidFill>
                            <a:schemeClr val="tx1"/>
                          </a:solidFill>
                          <a:effectLst/>
                          <a:latin typeface="Lato"/>
                          <a:ea typeface="Lato"/>
                          <a:cs typeface="Lato"/>
                        </a:rPr>
                        <a:t>Family Relief Plan**</a:t>
                      </a:r>
                      <a:r>
                        <a:rPr lang="en-US" sz="1400" b="0" i="0" kern="1200">
                          <a:solidFill>
                            <a:schemeClr val="tx1"/>
                          </a:solidFill>
                          <a:effectLst/>
                          <a:latin typeface="Lato"/>
                          <a:ea typeface="Lato"/>
                          <a:cs typeface="Lato"/>
                        </a:rPr>
                        <a:t>​</a:t>
                      </a:r>
                    </a:p>
                    <a:p>
                      <a:pPr marL="285750" indent="-285750" rtl="0" fontAlgn="base">
                        <a:buFont typeface="Wingdings" panose="05000000000000000000" pitchFamily="2" charset="2"/>
                        <a:buChar char="ü"/>
                      </a:pPr>
                      <a:r>
                        <a:rPr lang="en-US" sz="1400" b="0" i="0" u="none" strike="noStrike" kern="1200">
                          <a:solidFill>
                            <a:schemeClr val="tx1"/>
                          </a:solidFill>
                          <a:effectLst/>
                          <a:latin typeface="Lato"/>
                          <a:ea typeface="Lato"/>
                          <a:cs typeface="Lato"/>
                        </a:rPr>
                        <a:t>Loan Redemption Fund*</a:t>
                      </a:r>
                      <a:r>
                        <a:rPr lang="en-US" sz="1400" b="0" i="0" kern="1200">
                          <a:solidFill>
                            <a:schemeClr val="tx1"/>
                          </a:solidFill>
                          <a:effectLst/>
                          <a:latin typeface="Lato"/>
                          <a:ea typeface="Lato"/>
                          <a:cs typeface="Lato"/>
                        </a:rPr>
                        <a:t>​</a:t>
                      </a:r>
                    </a:p>
                    <a:p>
                      <a:pPr rtl="0" fontAlgn="base"/>
                      <a:r>
                        <a:rPr lang="en-US" sz="1400" b="0" i="1" u="none" strike="noStrike" kern="1200">
                          <a:solidFill>
                            <a:schemeClr val="tx1"/>
                          </a:solidFill>
                          <a:effectLst/>
                          <a:latin typeface="Lato"/>
                          <a:ea typeface="Lato"/>
                          <a:cs typeface="Lato"/>
                        </a:rPr>
                        <a:t>** for RL accounts only</a:t>
                      </a:r>
                      <a:r>
                        <a:rPr lang="en-US" sz="1400" b="0" i="1" kern="1200">
                          <a:solidFill>
                            <a:schemeClr val="tx1"/>
                          </a:solidFill>
                          <a:effectLst/>
                          <a:latin typeface="Lato"/>
                          <a:ea typeface="Lato"/>
                          <a:cs typeface="Lato"/>
                        </a:rPr>
                        <a:t>​</a:t>
                      </a:r>
                    </a:p>
                    <a:p>
                      <a:pPr rtl="0" fontAlgn="base"/>
                      <a:r>
                        <a:rPr lang="en-US" sz="1400" b="0" i="1" u="none" strike="noStrike" kern="1200">
                          <a:solidFill>
                            <a:schemeClr val="tx1"/>
                          </a:solidFill>
                          <a:effectLst/>
                          <a:latin typeface="Lato"/>
                          <a:ea typeface="Lato"/>
                          <a:cs typeface="Lato"/>
                        </a:rPr>
                        <a:t>* applicable to all active borrowers</a:t>
                      </a:r>
                      <a:r>
                        <a:rPr lang="en-US" sz="1400" b="0" i="1" kern="1200">
                          <a:solidFill>
                            <a:schemeClr val="tx1"/>
                          </a:solidFill>
                          <a:effectLst/>
                          <a:latin typeface="Lato"/>
                          <a:ea typeface="Lato"/>
                          <a:cs typeface="Lato"/>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54832442"/>
                  </a:ext>
                </a:extLst>
              </a:tr>
              <a:tr h="379164">
                <a:tc>
                  <a:txBody>
                    <a:bodyPr/>
                    <a:lstStyle/>
                    <a:p>
                      <a:endParaRPr lang="en-PH" sz="14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endParaRPr lang="en-PH" sz="1400" b="1">
                        <a:solidFill>
                          <a:srgbClr val="1F4766"/>
                        </a:solidFill>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82482184"/>
                  </a:ext>
                </a:extLst>
              </a:tr>
              <a:tr h="670123">
                <a:tc>
                  <a:txBody>
                    <a:bodyPr/>
                    <a:lstStyle/>
                    <a:p>
                      <a:endParaRPr lang="en-PH" sz="14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rtl="0" fontAlgn="base"/>
                      <a:endParaRPr lang="en-US" sz="1400" b="0" i="1" kern="1200">
                        <a:solidFill>
                          <a:schemeClr val="tx1"/>
                        </a:solidFill>
                        <a:effectLst/>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16864549"/>
                  </a:ext>
                </a:extLst>
              </a:tr>
            </a:tbl>
          </a:graphicData>
        </a:graphic>
      </p:graphicFrame>
      <p:pic>
        <p:nvPicPr>
          <p:cNvPr id="19" name="Picture 18">
            <a:extLst>
              <a:ext uri="{FF2B5EF4-FFF2-40B4-BE49-F238E27FC236}">
                <a16:creationId xmlns:a16="http://schemas.microsoft.com/office/drawing/2014/main" id="{DA898376-E12F-85A8-8D29-BBEDDEA238EF}"/>
              </a:ext>
            </a:extLst>
          </p:cNvPr>
          <p:cNvPicPr>
            <a:picLocks noChangeAspect="1"/>
          </p:cNvPicPr>
          <p:nvPr/>
        </p:nvPicPr>
        <p:blipFill>
          <a:blip r:embed="rId7"/>
          <a:stretch>
            <a:fillRect/>
          </a:stretch>
        </p:blipFill>
        <p:spPr>
          <a:xfrm>
            <a:off x="4618121" y="2646298"/>
            <a:ext cx="573074" cy="573074"/>
          </a:xfrm>
          <a:prstGeom prst="rect">
            <a:avLst/>
          </a:prstGeom>
        </p:spPr>
      </p:pic>
      <p:pic>
        <p:nvPicPr>
          <p:cNvPr id="20" name="Picture 19">
            <a:extLst>
              <a:ext uri="{FF2B5EF4-FFF2-40B4-BE49-F238E27FC236}">
                <a16:creationId xmlns:a16="http://schemas.microsoft.com/office/drawing/2014/main" id="{1CA5CEE7-A200-C4B3-D619-5C43848D43A1}"/>
              </a:ext>
            </a:extLst>
          </p:cNvPr>
          <p:cNvPicPr>
            <a:picLocks noChangeAspect="1"/>
          </p:cNvPicPr>
          <p:nvPr/>
        </p:nvPicPr>
        <p:blipFill>
          <a:blip r:embed="rId8"/>
          <a:stretch>
            <a:fillRect/>
          </a:stretch>
        </p:blipFill>
        <p:spPr>
          <a:xfrm>
            <a:off x="4697701" y="3393353"/>
            <a:ext cx="573074" cy="573074"/>
          </a:xfrm>
          <a:prstGeom prst="rect">
            <a:avLst/>
          </a:prstGeom>
        </p:spPr>
      </p:pic>
      <p:pic>
        <p:nvPicPr>
          <p:cNvPr id="21" name="Picture 20">
            <a:extLst>
              <a:ext uri="{FF2B5EF4-FFF2-40B4-BE49-F238E27FC236}">
                <a16:creationId xmlns:a16="http://schemas.microsoft.com/office/drawing/2014/main" id="{C7516FAC-E5E0-12B1-82B2-5E5B8EEBDEE5}"/>
              </a:ext>
            </a:extLst>
          </p:cNvPr>
          <p:cNvPicPr>
            <a:picLocks noChangeAspect="1"/>
          </p:cNvPicPr>
          <p:nvPr/>
        </p:nvPicPr>
        <p:blipFill>
          <a:blip r:embed="rId9"/>
          <a:stretch>
            <a:fillRect/>
          </a:stretch>
        </p:blipFill>
        <p:spPr>
          <a:xfrm>
            <a:off x="8293425" y="395050"/>
            <a:ext cx="573074" cy="573074"/>
          </a:xfrm>
          <a:prstGeom prst="rect">
            <a:avLst/>
          </a:prstGeom>
        </p:spPr>
      </p:pic>
      <p:grpSp>
        <p:nvGrpSpPr>
          <p:cNvPr id="23" name="Group 22">
            <a:extLst>
              <a:ext uri="{FF2B5EF4-FFF2-40B4-BE49-F238E27FC236}">
                <a16:creationId xmlns:a16="http://schemas.microsoft.com/office/drawing/2014/main" id="{1C3C62EA-8421-A4BC-CD1C-36CC64FE9F52}"/>
              </a:ext>
            </a:extLst>
          </p:cNvPr>
          <p:cNvGrpSpPr/>
          <p:nvPr/>
        </p:nvGrpSpPr>
        <p:grpSpPr>
          <a:xfrm>
            <a:off x="4697701" y="4058591"/>
            <a:ext cx="3635085" cy="2590013"/>
            <a:chOff x="5297257" y="4293962"/>
            <a:chExt cx="3635085" cy="2590013"/>
          </a:xfrm>
        </p:grpSpPr>
        <p:grpSp>
          <p:nvGrpSpPr>
            <p:cNvPr id="24" name="Group 23">
              <a:extLst>
                <a:ext uri="{FF2B5EF4-FFF2-40B4-BE49-F238E27FC236}">
                  <a16:creationId xmlns:a16="http://schemas.microsoft.com/office/drawing/2014/main" id="{62A3CA4B-2DC1-C48B-4F57-032CB688E96E}"/>
                </a:ext>
              </a:extLst>
            </p:cNvPr>
            <p:cNvGrpSpPr/>
            <p:nvPr/>
          </p:nvGrpSpPr>
          <p:grpSpPr>
            <a:xfrm>
              <a:off x="5297257" y="4293962"/>
              <a:ext cx="572700" cy="572700"/>
              <a:chOff x="8252115" y="3496404"/>
              <a:chExt cx="572700" cy="572700"/>
            </a:xfrm>
          </p:grpSpPr>
          <p:sp>
            <p:nvSpPr>
              <p:cNvPr id="27" name="Google Shape;839;p61">
                <a:extLst>
                  <a:ext uri="{FF2B5EF4-FFF2-40B4-BE49-F238E27FC236}">
                    <a16:creationId xmlns:a16="http://schemas.microsoft.com/office/drawing/2014/main" id="{958DD769-26BB-5AAF-4C87-98DC9792644D}"/>
                  </a:ext>
                </a:extLst>
              </p:cNvPr>
              <p:cNvSpPr/>
              <p:nvPr/>
            </p:nvSpPr>
            <p:spPr>
              <a:xfrm>
                <a:off x="8252115" y="3496404"/>
                <a:ext cx="572700" cy="572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Lato" panose="020F0502020204030203" pitchFamily="34" charset="0"/>
                  <a:ea typeface="Lato" panose="020F0502020204030203" pitchFamily="34" charset="0"/>
                  <a:cs typeface="Lato" panose="020F0502020204030203" pitchFamily="34" charset="0"/>
                </a:endParaRPr>
              </a:p>
            </p:txBody>
          </p:sp>
          <p:pic>
            <p:nvPicPr>
              <p:cNvPr id="28" name="Graphic 27" descr="Employee badge outline">
                <a:extLst>
                  <a:ext uri="{FF2B5EF4-FFF2-40B4-BE49-F238E27FC236}">
                    <a16:creationId xmlns:a16="http://schemas.microsoft.com/office/drawing/2014/main" id="{61687FB3-0636-D233-01EE-FDC1E49821B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344106" y="3588395"/>
                <a:ext cx="388717" cy="388717"/>
              </a:xfrm>
              <a:prstGeom prst="rect">
                <a:avLst/>
              </a:prstGeom>
            </p:spPr>
          </p:pic>
        </p:grpSp>
        <p:sp>
          <p:nvSpPr>
            <p:cNvPr id="25" name="TextBox 24">
              <a:extLst>
                <a:ext uri="{FF2B5EF4-FFF2-40B4-BE49-F238E27FC236}">
                  <a16:creationId xmlns:a16="http://schemas.microsoft.com/office/drawing/2014/main" id="{79BD9CFB-5D58-84A8-ECBF-8140E08FC8EB}"/>
                </a:ext>
              </a:extLst>
            </p:cNvPr>
            <p:cNvSpPr txBox="1"/>
            <p:nvPr/>
          </p:nvSpPr>
          <p:spPr>
            <a:xfrm>
              <a:off x="5948612" y="4321348"/>
              <a:ext cx="2147988" cy="477054"/>
            </a:xfrm>
            <a:prstGeom prst="rect">
              <a:avLst/>
            </a:prstGeom>
            <a:noFill/>
          </p:spPr>
          <p:txBody>
            <a:bodyPr wrap="square">
              <a:spAutoFit/>
            </a:bodyPr>
            <a:lstStyle/>
            <a:p>
              <a:r>
                <a:rPr lang="en-US" sz="1400" b="1">
                  <a:solidFill>
                    <a:srgbClr val="1F4766"/>
                  </a:solidFill>
                  <a:latin typeface="Lato" panose="020F0502020204030203" pitchFamily="34" charset="0"/>
                  <a:ea typeface="Lato" panose="020F0502020204030203" pitchFamily="34" charset="0"/>
                  <a:cs typeface="Lato" panose="020F0502020204030203" pitchFamily="34" charset="0"/>
                </a:rPr>
                <a:t>Membership Fee</a:t>
              </a:r>
            </a:p>
            <a:p>
              <a:r>
                <a:rPr lang="en-US" sz="1100" b="1" i="1">
                  <a:solidFill>
                    <a:srgbClr val="1F4766"/>
                  </a:solidFill>
                  <a:latin typeface="Lato" panose="020F0502020204030203" pitchFamily="34" charset="0"/>
                  <a:ea typeface="Lato" panose="020F0502020204030203" pitchFamily="34" charset="0"/>
                  <a:cs typeface="Lato" panose="020F0502020204030203" pitchFamily="34" charset="0"/>
                </a:rPr>
                <a:t>For new clients only</a:t>
              </a:r>
              <a:endParaRPr lang="en-PH" sz="1100" b="1" i="1">
                <a:solidFill>
                  <a:srgbClr val="1F4766"/>
                </a:solidFill>
                <a:latin typeface="Lato" panose="020F0502020204030203" pitchFamily="34" charset="0"/>
                <a:ea typeface="Lato" panose="020F0502020204030203" pitchFamily="34" charset="0"/>
                <a:cs typeface="Lato" panose="020F0502020204030203" pitchFamily="34" charset="0"/>
              </a:endParaRPr>
            </a:p>
          </p:txBody>
        </p:sp>
        <p:sp>
          <p:nvSpPr>
            <p:cNvPr id="26" name="TextBox 25">
              <a:extLst>
                <a:ext uri="{FF2B5EF4-FFF2-40B4-BE49-F238E27FC236}">
                  <a16:creationId xmlns:a16="http://schemas.microsoft.com/office/drawing/2014/main" id="{BA69FFAE-ACC1-D469-D1FC-8E00276DA118}"/>
                </a:ext>
              </a:extLst>
            </p:cNvPr>
            <p:cNvSpPr txBox="1"/>
            <p:nvPr/>
          </p:nvSpPr>
          <p:spPr>
            <a:xfrm>
              <a:off x="6023480" y="4768676"/>
              <a:ext cx="2908862" cy="2115299"/>
            </a:xfrm>
            <a:prstGeom prst="rect">
              <a:avLst/>
            </a:prstGeom>
          </p:spPr>
          <p:txBody>
            <a:bodyPr wrap="square" rtlCol="0">
              <a:noAutofit/>
            </a:bodyPr>
            <a:lstStyle/>
            <a:p>
              <a:pPr algn="l"/>
              <a:r>
                <a:rPr lang="en-US" sz="1400">
                  <a:latin typeface="Lato" panose="020F0502020204030203" pitchFamily="34" charset="0"/>
                  <a:ea typeface="Lato" panose="020F0502020204030203" pitchFamily="34" charset="0"/>
                  <a:cs typeface="Lato" panose="020F0502020204030203" pitchFamily="34" charset="0"/>
                  <a:sym typeface="Wingdings" panose="05000000000000000000" pitchFamily="2" charset="2"/>
                </a:rPr>
                <a:t></a:t>
              </a:r>
              <a:r>
                <a:rPr lang="en-US" sz="1400" err="1">
                  <a:latin typeface="Lato" panose="020F0502020204030203" pitchFamily="34" charset="0"/>
                  <a:ea typeface="Lato" panose="020F0502020204030203" pitchFamily="34" charset="0"/>
                  <a:cs typeface="Lato" panose="020F0502020204030203" pitchFamily="34" charset="0"/>
                  <a:sym typeface="Wingdings" panose="05000000000000000000" pitchFamily="2" charset="2"/>
                </a:rPr>
                <a:t>Php</a:t>
              </a:r>
              <a:r>
                <a:rPr lang="en-US" sz="1400">
                  <a:latin typeface="Lato" panose="020F0502020204030203" pitchFamily="34" charset="0"/>
                  <a:ea typeface="Lato" panose="020F0502020204030203" pitchFamily="34" charset="0"/>
                  <a:cs typeface="Lato" panose="020F0502020204030203" pitchFamily="34" charset="0"/>
                  <a:sym typeface="Wingdings" panose="05000000000000000000" pitchFamily="2" charset="2"/>
                </a:rPr>
                <a:t> 50.00 membership fee</a:t>
              </a:r>
            </a:p>
          </p:txBody>
        </p:sp>
      </p:grpSp>
      <p:graphicFrame>
        <p:nvGraphicFramePr>
          <p:cNvPr id="4" name="Table 3">
            <a:extLst>
              <a:ext uri="{FF2B5EF4-FFF2-40B4-BE49-F238E27FC236}">
                <a16:creationId xmlns:a16="http://schemas.microsoft.com/office/drawing/2014/main" id="{DC44F6D3-14C5-1F02-E6DB-BEE83E0985EC}"/>
              </a:ext>
            </a:extLst>
          </p:cNvPr>
          <p:cNvGraphicFramePr>
            <a:graphicFrameLocks noGrp="1"/>
          </p:cNvGraphicFramePr>
          <p:nvPr>
            <p:extLst>
              <p:ext uri="{D42A27DB-BD31-4B8C-83A1-F6EECF244321}">
                <p14:modId xmlns:p14="http://schemas.microsoft.com/office/powerpoint/2010/main" val="281724876"/>
              </p:ext>
            </p:extLst>
          </p:nvPr>
        </p:nvGraphicFramePr>
        <p:xfrm>
          <a:off x="9081293" y="3056795"/>
          <a:ext cx="3149600" cy="1244473"/>
        </p:xfrm>
        <a:graphic>
          <a:graphicData uri="http://schemas.openxmlformats.org/drawingml/2006/table">
            <a:tbl>
              <a:tblPr firstRow="1" bandRow="1">
                <a:tableStyleId>{5C22544A-7EE6-4342-B048-85BDC9FD1C3A}</a:tableStyleId>
              </a:tblPr>
              <a:tblGrid>
                <a:gridCol w="3149600">
                  <a:extLst>
                    <a:ext uri="{9D8B030D-6E8A-4147-A177-3AD203B41FA5}">
                      <a16:colId xmlns:a16="http://schemas.microsoft.com/office/drawing/2014/main" val="2219622391"/>
                    </a:ext>
                  </a:extLst>
                </a:gridCol>
              </a:tblGrid>
              <a:tr h="347218">
                <a:tc>
                  <a:txBody>
                    <a:bodyPr/>
                    <a:lstStyle/>
                    <a:p>
                      <a:pPr marL="0" indent="0" algn="l" rtl="0" eaLnBrk="1" latinLnBrk="0" hangingPunct="1">
                        <a:buNone/>
                      </a:pPr>
                      <a:r>
                        <a:rPr lang="en-US" sz="1200" b="1" kern="1200">
                          <a:solidFill>
                            <a:srgbClr val="1F4766"/>
                          </a:solidFill>
                          <a:effectLst/>
                          <a:latin typeface="Lato" panose="020F0502020204030203" pitchFamily="34" charset="0"/>
                          <a:ea typeface="Lato" panose="020F0502020204030203" pitchFamily="34" charset="0"/>
                          <a:cs typeface="Lato" panose="020F0502020204030203" pitchFamily="34" charset="0"/>
                        </a:rPr>
                        <a:t>Loan Capping per Branch</a:t>
                      </a:r>
                      <a:endParaRPr lang="en-US">
                        <a:effectLst/>
                      </a:endParaRPr>
                    </a:p>
                  </a:txBody>
                  <a:tcPr marL="0" marR="0" marT="0" marB="0" anchor="ctr">
                    <a:lnL>
                      <a:noFill/>
                    </a:lnL>
                    <a:lnR>
                      <a:noFill/>
                    </a:lnR>
                    <a:lnT>
                      <a:noFill/>
                    </a:lnT>
                    <a:lnB>
                      <a:noFill/>
                    </a:lnB>
                    <a:noFill/>
                  </a:tcPr>
                </a:tc>
                <a:extLst>
                  <a:ext uri="{0D108BD9-81ED-4DB2-BD59-A6C34878D82A}">
                    <a16:rowId xmlns:a16="http://schemas.microsoft.com/office/drawing/2014/main" val="3812244263"/>
                  </a:ext>
                </a:extLst>
              </a:tr>
              <a:tr h="897255">
                <a:tc>
                  <a:txBody>
                    <a:bodyPr/>
                    <a:lstStyle/>
                    <a:p>
                      <a:pPr marL="283464" indent="-283464" algn="l" rtl="0" eaLnBrk="1" latinLnBrk="0" hangingPunct="1">
                        <a:buClrTx/>
                        <a:buSzPts val="1200"/>
                        <a:buFont typeface="Wingdings" panose="05000000000000000000" pitchFamily="2" charset="2"/>
                        <a:buChar char="ü"/>
                      </a:pPr>
                      <a:r>
                        <a:rPr lang="en-US" sz="1200" kern="1200">
                          <a:solidFill>
                            <a:srgbClr val="000000"/>
                          </a:solidFill>
                          <a:effectLst/>
                          <a:latin typeface="Lato" panose="020F0502020204030203" pitchFamily="34" charset="0"/>
                          <a:ea typeface="Lato" panose="020F0502020204030203" pitchFamily="34" charset="0"/>
                          <a:cs typeface="Lato" panose="020F0502020204030203" pitchFamily="34" charset="0"/>
                        </a:rPr>
                        <a:t>10% loan cap for Kabuhayan Hog Loan releases against the total branch loan portfolio</a:t>
                      </a:r>
                      <a:endParaRPr lang="en-US" sz="1200">
                        <a:effectLst/>
                      </a:endParaRPr>
                    </a:p>
                  </a:txBody>
                  <a:tcPr marL="0" marR="0" marT="0" marB="0" anchor="ctr">
                    <a:lnL>
                      <a:noFill/>
                    </a:lnL>
                    <a:lnR>
                      <a:noFill/>
                    </a:lnR>
                    <a:lnT>
                      <a:noFill/>
                    </a:lnT>
                    <a:lnB>
                      <a:noFill/>
                    </a:lnB>
                    <a:noFill/>
                  </a:tcPr>
                </a:tc>
                <a:extLst>
                  <a:ext uri="{0D108BD9-81ED-4DB2-BD59-A6C34878D82A}">
                    <a16:rowId xmlns:a16="http://schemas.microsoft.com/office/drawing/2014/main" val="1427434612"/>
                  </a:ext>
                </a:extLst>
              </a:tr>
            </a:tbl>
          </a:graphicData>
        </a:graphic>
      </p:graphicFrame>
      <p:pic>
        <p:nvPicPr>
          <p:cNvPr id="22" name="Picture 21" descr="A circular image of hands holding a coin&#10;&#10;AI-generated content may be incorrect.">
            <a:extLst>
              <a:ext uri="{FF2B5EF4-FFF2-40B4-BE49-F238E27FC236}">
                <a16:creationId xmlns:a16="http://schemas.microsoft.com/office/drawing/2014/main" id="{5DD49B99-9E84-CF28-8047-03D8FD89168B}"/>
              </a:ext>
            </a:extLst>
          </p:cNvPr>
          <p:cNvPicPr>
            <a:picLocks noChangeAspect="1"/>
          </p:cNvPicPr>
          <p:nvPr/>
        </p:nvPicPr>
        <p:blipFill>
          <a:blip r:embed="rId11"/>
          <a:stretch>
            <a:fillRect/>
          </a:stretch>
        </p:blipFill>
        <p:spPr>
          <a:xfrm>
            <a:off x="8517730" y="2952750"/>
            <a:ext cx="550069" cy="595313"/>
          </a:xfrm>
          <a:prstGeom prst="rect">
            <a:avLst/>
          </a:prstGeom>
        </p:spPr>
      </p:pic>
    </p:spTree>
    <p:extLst>
      <p:ext uri="{BB962C8B-B14F-4D97-AF65-F5344CB8AC3E}">
        <p14:creationId xmlns:p14="http://schemas.microsoft.com/office/powerpoint/2010/main" val="39946255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687E304-D885-B7A2-D80A-8988C7612F60}"/>
              </a:ext>
            </a:extLst>
          </p:cNvPr>
          <p:cNvSpPr>
            <a:spLocks noGrp="1"/>
          </p:cNvSpPr>
          <p:nvPr>
            <p:ph type="sldNum" sz="quarter" idx="12"/>
          </p:nvPr>
        </p:nvSpPr>
        <p:spPr/>
        <p:txBody>
          <a:bodyPr/>
          <a:lstStyle/>
          <a:p>
            <a:fld id="{36D53BC0-5915-4EE6-A8B4-385258777E7F}" type="slidenum">
              <a:rPr lang="en-PH" smtClean="0"/>
              <a:pPr/>
              <a:t>17</a:t>
            </a:fld>
            <a:endParaRPr lang="en-PH"/>
          </a:p>
        </p:txBody>
      </p:sp>
      <p:sp>
        <p:nvSpPr>
          <p:cNvPr id="5" name="Title 12">
            <a:extLst>
              <a:ext uri="{FF2B5EF4-FFF2-40B4-BE49-F238E27FC236}">
                <a16:creationId xmlns:a16="http://schemas.microsoft.com/office/drawing/2014/main" id="{60F5B950-FADC-4BA8-49ED-36AC99C4F054}"/>
              </a:ext>
            </a:extLst>
          </p:cNvPr>
          <p:cNvSpPr>
            <a:spLocks noGrp="1"/>
          </p:cNvSpPr>
          <p:nvPr>
            <p:ph type="title"/>
          </p:nvPr>
        </p:nvSpPr>
        <p:spPr>
          <a:xfrm>
            <a:off x="838200" y="234420"/>
            <a:ext cx="10515600" cy="859448"/>
          </a:xfrm>
        </p:spPr>
        <p:txBody>
          <a:bodyPr/>
          <a:lstStyle/>
          <a:p>
            <a:pPr algn="ctr"/>
            <a:r>
              <a:rPr lang="en-PH" sz="3600">
                <a:highlight>
                  <a:srgbClr val="FFFF00"/>
                </a:highlight>
                <a:ea typeface="Lato" panose="020F0502020204030203" pitchFamily="34" charset="0"/>
                <a:cs typeface="Lato" panose="020F0502020204030203" pitchFamily="34" charset="0"/>
              </a:rPr>
              <a:t>RAFI MFI Financial Products and Services</a:t>
            </a:r>
          </a:p>
        </p:txBody>
      </p:sp>
      <p:graphicFrame>
        <p:nvGraphicFramePr>
          <p:cNvPr id="6" name="Diagram 5">
            <a:extLst>
              <a:ext uri="{FF2B5EF4-FFF2-40B4-BE49-F238E27FC236}">
                <a16:creationId xmlns:a16="http://schemas.microsoft.com/office/drawing/2014/main" id="{C07D6FCA-9C66-EA52-16CC-E7A4311B844A}"/>
              </a:ext>
            </a:extLst>
          </p:cNvPr>
          <p:cNvGraphicFramePr/>
          <p:nvPr>
            <p:extLst>
              <p:ext uri="{D42A27DB-BD31-4B8C-83A1-F6EECF244321}">
                <p14:modId xmlns:p14="http://schemas.microsoft.com/office/powerpoint/2010/main" val="3945934440"/>
              </p:ext>
            </p:extLst>
          </p:nvPr>
        </p:nvGraphicFramePr>
        <p:xfrm>
          <a:off x="634071" y="2898143"/>
          <a:ext cx="10877209" cy="28828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7" name="Group 6">
            <a:extLst>
              <a:ext uri="{FF2B5EF4-FFF2-40B4-BE49-F238E27FC236}">
                <a16:creationId xmlns:a16="http://schemas.microsoft.com/office/drawing/2014/main" id="{E40AC0B5-3794-579A-5DB7-96CC2BF67B8D}"/>
              </a:ext>
            </a:extLst>
          </p:cNvPr>
          <p:cNvGrpSpPr/>
          <p:nvPr/>
        </p:nvGrpSpPr>
        <p:grpSpPr>
          <a:xfrm>
            <a:off x="1086673" y="1369324"/>
            <a:ext cx="1440000" cy="1440000"/>
            <a:chOff x="1077686" y="1404627"/>
            <a:chExt cx="1440000" cy="1440000"/>
          </a:xfrm>
        </p:grpSpPr>
        <p:pic>
          <p:nvPicPr>
            <p:cNvPr id="8" name="Graphic 7" descr="Business Growth with solid fill">
              <a:extLst>
                <a:ext uri="{FF2B5EF4-FFF2-40B4-BE49-F238E27FC236}">
                  <a16:creationId xmlns:a16="http://schemas.microsoft.com/office/drawing/2014/main" id="{E043275E-06BE-B4E1-FDB7-B517D796B50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407511" y="1711836"/>
              <a:ext cx="914400" cy="914400"/>
            </a:xfrm>
            <a:prstGeom prst="rect">
              <a:avLst/>
            </a:prstGeom>
          </p:spPr>
        </p:pic>
        <p:sp>
          <p:nvSpPr>
            <p:cNvPr id="9" name="Oval 8">
              <a:extLst>
                <a:ext uri="{FF2B5EF4-FFF2-40B4-BE49-F238E27FC236}">
                  <a16:creationId xmlns:a16="http://schemas.microsoft.com/office/drawing/2014/main" id="{2F5A9059-3346-503D-29C8-A64EF375519C}"/>
                </a:ext>
              </a:extLst>
            </p:cNvPr>
            <p:cNvSpPr/>
            <p:nvPr/>
          </p:nvSpPr>
          <p:spPr>
            <a:xfrm>
              <a:off x="1077686" y="1404627"/>
              <a:ext cx="1440000" cy="1440000"/>
            </a:xfrm>
            <a:prstGeom prst="ellipse">
              <a:avLst/>
            </a:prstGeom>
            <a:noFill/>
            <a:ln w="57150">
              <a:solidFill>
                <a:srgbClr val="4C93D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Lato" panose="020F0502020204030203" pitchFamily="34" charset="0"/>
                <a:ea typeface="Lato" panose="020F0502020204030203" pitchFamily="34" charset="0"/>
                <a:cs typeface="Lato" panose="020F0502020204030203" pitchFamily="34" charset="0"/>
              </a:endParaRPr>
            </a:p>
          </p:txBody>
        </p:sp>
      </p:grpSp>
      <p:grpSp>
        <p:nvGrpSpPr>
          <p:cNvPr id="10" name="Group 9">
            <a:extLst>
              <a:ext uri="{FF2B5EF4-FFF2-40B4-BE49-F238E27FC236}">
                <a16:creationId xmlns:a16="http://schemas.microsoft.com/office/drawing/2014/main" id="{2612ED41-529D-0BF8-124F-D1CF66B9AE3F}"/>
              </a:ext>
            </a:extLst>
          </p:cNvPr>
          <p:cNvGrpSpPr/>
          <p:nvPr/>
        </p:nvGrpSpPr>
        <p:grpSpPr>
          <a:xfrm>
            <a:off x="3957977" y="1369324"/>
            <a:ext cx="1440000" cy="1440000"/>
            <a:chOff x="3189850" y="1404627"/>
            <a:chExt cx="1440000" cy="1440000"/>
          </a:xfrm>
        </p:grpSpPr>
        <p:pic>
          <p:nvPicPr>
            <p:cNvPr id="11" name="Graphic 10" descr="Suburban scene with solid fill">
              <a:extLst>
                <a:ext uri="{FF2B5EF4-FFF2-40B4-BE49-F238E27FC236}">
                  <a16:creationId xmlns:a16="http://schemas.microsoft.com/office/drawing/2014/main" id="{ABF816EE-19B4-7CB6-7404-6397D620E1B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452650" y="1667427"/>
              <a:ext cx="914400" cy="914400"/>
            </a:xfrm>
            <a:prstGeom prst="rect">
              <a:avLst/>
            </a:prstGeom>
          </p:spPr>
        </p:pic>
        <p:sp>
          <p:nvSpPr>
            <p:cNvPr id="12" name="Oval 11">
              <a:extLst>
                <a:ext uri="{FF2B5EF4-FFF2-40B4-BE49-F238E27FC236}">
                  <a16:creationId xmlns:a16="http://schemas.microsoft.com/office/drawing/2014/main" id="{3ED0820C-68B0-1092-3337-B9A9017BBA25}"/>
                </a:ext>
              </a:extLst>
            </p:cNvPr>
            <p:cNvSpPr/>
            <p:nvPr/>
          </p:nvSpPr>
          <p:spPr>
            <a:xfrm>
              <a:off x="3189850" y="1404627"/>
              <a:ext cx="1440000" cy="1440000"/>
            </a:xfrm>
            <a:prstGeom prst="ellipse">
              <a:avLst/>
            </a:prstGeom>
            <a:noFill/>
            <a:ln w="57150">
              <a:solidFill>
                <a:srgbClr val="5ED3D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Lato" panose="020F0502020204030203" pitchFamily="34" charset="0"/>
                <a:ea typeface="Lato" panose="020F0502020204030203" pitchFamily="34" charset="0"/>
                <a:cs typeface="Lato" panose="020F0502020204030203" pitchFamily="34" charset="0"/>
              </a:endParaRPr>
            </a:p>
          </p:txBody>
        </p:sp>
      </p:grpSp>
      <p:grpSp>
        <p:nvGrpSpPr>
          <p:cNvPr id="13" name="Group 12">
            <a:extLst>
              <a:ext uri="{FF2B5EF4-FFF2-40B4-BE49-F238E27FC236}">
                <a16:creationId xmlns:a16="http://schemas.microsoft.com/office/drawing/2014/main" id="{59FFF87F-1E26-EAAF-7394-A0DEBDDD76CD}"/>
              </a:ext>
            </a:extLst>
          </p:cNvPr>
          <p:cNvGrpSpPr/>
          <p:nvPr/>
        </p:nvGrpSpPr>
        <p:grpSpPr>
          <a:xfrm>
            <a:off x="6767391" y="1344995"/>
            <a:ext cx="1440000" cy="1440000"/>
            <a:chOff x="5375999" y="1452098"/>
            <a:chExt cx="1440000" cy="1440000"/>
          </a:xfrm>
        </p:grpSpPr>
        <p:pic>
          <p:nvPicPr>
            <p:cNvPr id="14" name="Graphic 13" descr="Medical with solid fill">
              <a:extLst>
                <a:ext uri="{FF2B5EF4-FFF2-40B4-BE49-F238E27FC236}">
                  <a16:creationId xmlns:a16="http://schemas.microsoft.com/office/drawing/2014/main" id="{EDA602C5-550C-4D63-EF5A-E832766BD48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650082" y="1714898"/>
              <a:ext cx="914400" cy="914400"/>
            </a:xfrm>
            <a:prstGeom prst="rect">
              <a:avLst/>
            </a:prstGeom>
          </p:spPr>
        </p:pic>
        <p:sp>
          <p:nvSpPr>
            <p:cNvPr id="15" name="Oval 14">
              <a:extLst>
                <a:ext uri="{FF2B5EF4-FFF2-40B4-BE49-F238E27FC236}">
                  <a16:creationId xmlns:a16="http://schemas.microsoft.com/office/drawing/2014/main" id="{C37138C9-05B5-340F-F811-7D160CAC4681}"/>
                </a:ext>
              </a:extLst>
            </p:cNvPr>
            <p:cNvSpPr/>
            <p:nvPr/>
          </p:nvSpPr>
          <p:spPr>
            <a:xfrm>
              <a:off x="5375999" y="1452098"/>
              <a:ext cx="1440000" cy="1440000"/>
            </a:xfrm>
            <a:prstGeom prst="ellipse">
              <a:avLst/>
            </a:prstGeom>
            <a:noFill/>
            <a:ln w="57150">
              <a:solidFill>
                <a:srgbClr val="3FC28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Lato" panose="020F0502020204030203" pitchFamily="34" charset="0"/>
                <a:ea typeface="Lato" panose="020F0502020204030203" pitchFamily="34" charset="0"/>
                <a:cs typeface="Lato" panose="020F0502020204030203" pitchFamily="34" charset="0"/>
              </a:endParaRPr>
            </a:p>
          </p:txBody>
        </p:sp>
      </p:grpSp>
      <p:grpSp>
        <p:nvGrpSpPr>
          <p:cNvPr id="16" name="Group 15">
            <a:extLst>
              <a:ext uri="{FF2B5EF4-FFF2-40B4-BE49-F238E27FC236}">
                <a16:creationId xmlns:a16="http://schemas.microsoft.com/office/drawing/2014/main" id="{295D7C1C-5D8C-74E8-41FA-05E36B59BF81}"/>
              </a:ext>
            </a:extLst>
          </p:cNvPr>
          <p:cNvGrpSpPr/>
          <p:nvPr/>
        </p:nvGrpSpPr>
        <p:grpSpPr>
          <a:xfrm>
            <a:off x="9576805" y="1369324"/>
            <a:ext cx="1440000" cy="1440000"/>
            <a:chOff x="9521872" y="1281794"/>
            <a:chExt cx="1440000" cy="1440000"/>
          </a:xfrm>
        </p:grpSpPr>
        <p:pic>
          <p:nvPicPr>
            <p:cNvPr id="17" name="Graphic 16" descr="Piggy Bank with solid fill">
              <a:extLst>
                <a:ext uri="{FF2B5EF4-FFF2-40B4-BE49-F238E27FC236}">
                  <a16:creationId xmlns:a16="http://schemas.microsoft.com/office/drawing/2014/main" id="{8F36CAC6-D782-EDA6-36FA-D3BAC893D63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867021" y="1545458"/>
              <a:ext cx="914400" cy="914400"/>
            </a:xfrm>
            <a:prstGeom prst="rect">
              <a:avLst/>
            </a:prstGeom>
          </p:spPr>
        </p:pic>
        <p:sp>
          <p:nvSpPr>
            <p:cNvPr id="18" name="Oval 17">
              <a:extLst>
                <a:ext uri="{FF2B5EF4-FFF2-40B4-BE49-F238E27FC236}">
                  <a16:creationId xmlns:a16="http://schemas.microsoft.com/office/drawing/2014/main" id="{13CC7B25-208F-889E-D497-2FD8F3A7BBC5}"/>
                </a:ext>
              </a:extLst>
            </p:cNvPr>
            <p:cNvSpPr/>
            <p:nvPr/>
          </p:nvSpPr>
          <p:spPr>
            <a:xfrm>
              <a:off x="9521872" y="1281794"/>
              <a:ext cx="1440000" cy="1440000"/>
            </a:xfrm>
            <a:prstGeom prst="ellipse">
              <a:avLst/>
            </a:prstGeom>
            <a:noFill/>
            <a:ln w="57150">
              <a:solidFill>
                <a:srgbClr val="7AB654"/>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Lato" panose="020F0502020204030203" pitchFamily="34" charset="0"/>
                <a:ea typeface="Lato" panose="020F0502020204030203" pitchFamily="34" charset="0"/>
                <a:cs typeface="Lato" panose="020F0502020204030203" pitchFamily="34" charset="0"/>
              </a:endParaRPr>
            </a:p>
          </p:txBody>
        </p:sp>
      </p:grpSp>
      <p:sp>
        <p:nvSpPr>
          <p:cNvPr id="23" name="Rectangle 22">
            <a:extLst>
              <a:ext uri="{FF2B5EF4-FFF2-40B4-BE49-F238E27FC236}">
                <a16:creationId xmlns:a16="http://schemas.microsoft.com/office/drawing/2014/main" id="{20ED125B-3B72-6503-D749-81FD59FEE108}"/>
              </a:ext>
            </a:extLst>
          </p:cNvPr>
          <p:cNvSpPr/>
          <p:nvPr/>
        </p:nvSpPr>
        <p:spPr>
          <a:xfrm>
            <a:off x="3229838" y="1207015"/>
            <a:ext cx="2900299" cy="450290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13038487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6EAF6-8AF5-A472-3324-0FA1660A808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44CFEB-9ACA-B084-DF2B-FB183C37FC4E}"/>
              </a:ext>
            </a:extLst>
          </p:cNvPr>
          <p:cNvSpPr>
            <a:spLocks noGrp="1"/>
          </p:cNvSpPr>
          <p:nvPr>
            <p:ph type="sldNum" sz="quarter" idx="12"/>
          </p:nvPr>
        </p:nvSpPr>
        <p:spPr/>
        <p:txBody>
          <a:bodyPr/>
          <a:lstStyle/>
          <a:p>
            <a:fld id="{36D53BC0-5915-4EE6-A8B4-385258777E7F}" type="slidenum">
              <a:rPr lang="en-PH" smtClean="0"/>
              <a:pPr/>
              <a:t>18</a:t>
            </a:fld>
            <a:endParaRPr lang="en-PH"/>
          </a:p>
        </p:txBody>
      </p:sp>
      <p:sp>
        <p:nvSpPr>
          <p:cNvPr id="5" name="Text Placeholder 2">
            <a:extLst>
              <a:ext uri="{FF2B5EF4-FFF2-40B4-BE49-F238E27FC236}">
                <a16:creationId xmlns:a16="http://schemas.microsoft.com/office/drawing/2014/main" id="{0E2A313D-912E-3C18-7E60-B881F9610C49}"/>
              </a:ext>
            </a:extLst>
          </p:cNvPr>
          <p:cNvSpPr txBox="1">
            <a:spLocks/>
          </p:cNvSpPr>
          <p:nvPr/>
        </p:nvSpPr>
        <p:spPr>
          <a:xfrm>
            <a:off x="299238" y="2230262"/>
            <a:ext cx="7819490" cy="1197758"/>
          </a:xfrm>
          <a:prstGeom prst="rect">
            <a:avLst/>
          </a:prstGeom>
        </p:spPr>
        <p:txBody>
          <a:bodyPr lIns="91440" tIns="45720" rIns="91440" bIns="45720" anchor="t">
            <a:no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tint val="75000"/>
                  </a:schemeClr>
                </a:solidFill>
                <a:latin typeface="Lato" panose="020F0502020204030203"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US" sz="1600" dirty="0">
                <a:solidFill>
                  <a:srgbClr val="09427D"/>
                </a:solidFill>
                <a:latin typeface="Lato"/>
                <a:ea typeface="+mn-lt"/>
                <a:cs typeface="+mn-lt"/>
              </a:rPr>
              <a:t>This supplemental loan aims to assists members, and their families have a comfortable living through house improvement and dignified access to safe water and sanitary toilet facilities. The loan purpose is to support either one of the following</a:t>
            </a:r>
            <a:br>
              <a:rPr lang="en-US" sz="1600" dirty="0">
                <a:solidFill>
                  <a:srgbClr val="09427D"/>
                </a:solidFill>
                <a:latin typeface="Lato"/>
                <a:ea typeface="+mn-lt"/>
                <a:cs typeface="+mn-lt"/>
              </a:rPr>
            </a:br>
            <a:br>
              <a:rPr lang="en-US" sz="1600" dirty="0">
                <a:solidFill>
                  <a:srgbClr val="09427D"/>
                </a:solidFill>
                <a:latin typeface="Lato"/>
                <a:ea typeface="+mn-lt"/>
                <a:cs typeface="+mn-lt"/>
              </a:rPr>
            </a:br>
            <a:r>
              <a:rPr lang="en-US" sz="1400" dirty="0">
                <a:latin typeface="Arial"/>
                <a:ea typeface="Lato"/>
                <a:cs typeface="Arial"/>
              </a:rPr>
              <a:t>•</a:t>
            </a:r>
            <a:r>
              <a:rPr lang="en-US" sz="1400" dirty="0">
                <a:solidFill>
                  <a:srgbClr val="09427D"/>
                </a:solidFill>
                <a:latin typeface="Lato"/>
                <a:ea typeface="Lato"/>
                <a:cs typeface="Lato"/>
              </a:rPr>
              <a:t>HIL – Housing improvement</a:t>
            </a:r>
            <a:endParaRPr lang="en-US" sz="1600" dirty="0">
              <a:solidFill>
                <a:schemeClr val="tx1"/>
              </a:solidFill>
              <a:ea typeface="Lato"/>
              <a:cs typeface="Lato"/>
            </a:endParaRPr>
          </a:p>
          <a:p>
            <a:r>
              <a:rPr lang="en-US" sz="1400">
                <a:latin typeface="Arial"/>
                <a:ea typeface="Lato" panose="020F0502020204030203" pitchFamily="34" charset="0"/>
                <a:cs typeface="Arial"/>
              </a:rPr>
              <a:t>•</a:t>
            </a:r>
            <a:r>
              <a:rPr lang="en-US" sz="1400">
                <a:solidFill>
                  <a:srgbClr val="09427D"/>
                </a:solidFill>
                <a:latin typeface="Lato"/>
                <a:ea typeface="Lato" panose="020F0502020204030203" pitchFamily="34" charset="0"/>
                <a:cs typeface="Lato" panose="020F0502020204030203" pitchFamily="34" charset="0"/>
              </a:rPr>
              <a:t>HIL - WASH Water</a:t>
            </a:r>
            <a:endParaRPr lang="en-US"/>
          </a:p>
          <a:p>
            <a:r>
              <a:rPr lang="en-US" sz="1400">
                <a:latin typeface="Arial"/>
                <a:ea typeface="Lato" panose="020F0502020204030203" pitchFamily="34" charset="0"/>
                <a:cs typeface="Arial"/>
              </a:rPr>
              <a:t>•</a:t>
            </a:r>
            <a:r>
              <a:rPr lang="en-US" sz="1400">
                <a:solidFill>
                  <a:srgbClr val="09427D"/>
                </a:solidFill>
                <a:latin typeface="Lato"/>
                <a:ea typeface="Lato" panose="020F0502020204030203" pitchFamily="34" charset="0"/>
                <a:cs typeface="Lato" panose="020F0502020204030203" pitchFamily="34" charset="0"/>
              </a:rPr>
              <a:t>HIL – WASH Sanitation &amp; Hygiene</a:t>
            </a:r>
            <a:endParaRPr lang="en-US"/>
          </a:p>
          <a:p>
            <a:r>
              <a:rPr lang="en-US" sz="1400">
                <a:latin typeface="Arial"/>
                <a:ea typeface="Lato" panose="020F0502020204030203" pitchFamily="34" charset="0"/>
                <a:cs typeface="Arial"/>
              </a:rPr>
              <a:t>•</a:t>
            </a:r>
            <a:r>
              <a:rPr lang="en-US" sz="1400">
                <a:solidFill>
                  <a:srgbClr val="09427D"/>
                </a:solidFill>
                <a:latin typeface="Lato"/>
                <a:ea typeface="Lato" panose="020F0502020204030203" pitchFamily="34" charset="0"/>
                <a:cs typeface="Lato" panose="020F0502020204030203" pitchFamily="34" charset="0"/>
              </a:rPr>
              <a:t>HIL – Green Microfinance</a:t>
            </a:r>
            <a:endParaRPr lang="en-US"/>
          </a:p>
          <a:p>
            <a:pPr algn="just">
              <a:lnSpc>
                <a:spcPct val="150000"/>
              </a:lnSpc>
            </a:pPr>
            <a:endParaRPr lang="en-US" sz="1600" dirty="0">
              <a:latin typeface="+mn-lt"/>
              <a:ea typeface="+mn-lt"/>
              <a:cs typeface="+mn-lt"/>
            </a:endParaRPr>
          </a:p>
        </p:txBody>
      </p:sp>
      <p:pic>
        <p:nvPicPr>
          <p:cNvPr id="6" name="Picture 5">
            <a:extLst>
              <a:ext uri="{FF2B5EF4-FFF2-40B4-BE49-F238E27FC236}">
                <a16:creationId xmlns:a16="http://schemas.microsoft.com/office/drawing/2014/main" id="{038D753E-2233-FE6F-5EDB-BD1DCD2F5A9D}"/>
              </a:ext>
            </a:extLst>
          </p:cNvPr>
          <p:cNvPicPr>
            <a:picLocks noChangeAspect="1"/>
          </p:cNvPicPr>
          <p:nvPr/>
        </p:nvPicPr>
        <p:blipFill>
          <a:blip r:embed="rId3"/>
          <a:stretch>
            <a:fillRect/>
          </a:stretch>
        </p:blipFill>
        <p:spPr>
          <a:xfrm>
            <a:off x="8364147" y="276982"/>
            <a:ext cx="3758088" cy="5709974"/>
          </a:xfrm>
          <a:prstGeom prst="rect">
            <a:avLst/>
          </a:prstGeom>
          <a:ln>
            <a:solidFill>
              <a:schemeClr val="bg1"/>
            </a:solidFill>
          </a:ln>
        </p:spPr>
      </p:pic>
      <p:sp>
        <p:nvSpPr>
          <p:cNvPr id="7" name="Arrow: Right 6">
            <a:extLst>
              <a:ext uri="{FF2B5EF4-FFF2-40B4-BE49-F238E27FC236}">
                <a16:creationId xmlns:a16="http://schemas.microsoft.com/office/drawing/2014/main" id="{DE798BE5-21E0-1BB8-5427-11731AD026F2}"/>
              </a:ext>
            </a:extLst>
          </p:cNvPr>
          <p:cNvSpPr/>
          <p:nvPr/>
        </p:nvSpPr>
        <p:spPr>
          <a:xfrm>
            <a:off x="685517" y="493510"/>
            <a:ext cx="7667170" cy="1626041"/>
          </a:xfrm>
          <a:prstGeom prst="rightArrow">
            <a:avLst/>
          </a:prstGeom>
          <a:solidFill>
            <a:srgbClr val="FFD92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2800" b="1">
                <a:solidFill>
                  <a:srgbClr val="1F4766"/>
                </a:solidFill>
                <a:latin typeface="Lato" panose="020F0502020204030203" pitchFamily="34" charset="0"/>
                <a:ea typeface="Lato" panose="020F0502020204030203" pitchFamily="34" charset="0"/>
                <a:cs typeface="Lato" panose="020F0502020204030203" pitchFamily="34" charset="0"/>
              </a:rPr>
              <a:t>                   </a:t>
            </a:r>
            <a:r>
              <a:rPr lang="en-PH" sz="2800" b="1" i="1">
                <a:solidFill>
                  <a:srgbClr val="1F4766"/>
                </a:solidFill>
                <a:latin typeface="Lato" panose="020F0502020204030203" pitchFamily="34" charset="0"/>
                <a:ea typeface="Lato" panose="020F0502020204030203" pitchFamily="34" charset="0"/>
                <a:cs typeface="Lato" panose="020F0502020204030203" pitchFamily="34" charset="0"/>
              </a:rPr>
              <a:t>Housing Improvement Loan</a:t>
            </a:r>
          </a:p>
        </p:txBody>
      </p:sp>
      <p:pic>
        <p:nvPicPr>
          <p:cNvPr id="8" name="Picture 7" descr="Graphical user interface&#10;&#10;Description automatically generated">
            <a:extLst>
              <a:ext uri="{FF2B5EF4-FFF2-40B4-BE49-F238E27FC236}">
                <a16:creationId xmlns:a16="http://schemas.microsoft.com/office/drawing/2014/main" id="{C04F20EC-0CFC-D8E3-B1CD-9AB7A6B3A54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0998" y="999798"/>
            <a:ext cx="1703755" cy="613467"/>
          </a:xfrm>
          <a:prstGeom prst="rect">
            <a:avLst/>
          </a:prstGeom>
        </p:spPr>
      </p:pic>
    </p:spTree>
    <p:extLst>
      <p:ext uri="{BB962C8B-B14F-4D97-AF65-F5344CB8AC3E}">
        <p14:creationId xmlns:p14="http://schemas.microsoft.com/office/powerpoint/2010/main" val="13292850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FEB8B-BEC4-C724-741E-D06A7E67F33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F6ABBB5-4D66-4773-535B-C02B628F42B5}"/>
              </a:ext>
            </a:extLst>
          </p:cNvPr>
          <p:cNvSpPr>
            <a:spLocks noGrp="1"/>
          </p:cNvSpPr>
          <p:nvPr>
            <p:ph type="sldNum" sz="quarter" idx="12"/>
          </p:nvPr>
        </p:nvSpPr>
        <p:spPr/>
        <p:txBody>
          <a:bodyPr/>
          <a:lstStyle/>
          <a:p>
            <a:fld id="{36D53BC0-5915-4EE6-A8B4-385258777E7F}" type="slidenum">
              <a:rPr lang="en-PH" smtClean="0"/>
              <a:pPr/>
              <a:t>19</a:t>
            </a:fld>
            <a:endParaRPr lang="en-PH"/>
          </a:p>
        </p:txBody>
      </p:sp>
      <p:sp>
        <p:nvSpPr>
          <p:cNvPr id="5" name="Text Placeholder 2">
            <a:extLst>
              <a:ext uri="{FF2B5EF4-FFF2-40B4-BE49-F238E27FC236}">
                <a16:creationId xmlns:a16="http://schemas.microsoft.com/office/drawing/2014/main" id="{F9D6B70A-71D4-67AD-753F-D52C1CABAB72}"/>
              </a:ext>
            </a:extLst>
          </p:cNvPr>
          <p:cNvSpPr txBox="1">
            <a:spLocks/>
          </p:cNvSpPr>
          <p:nvPr/>
        </p:nvSpPr>
        <p:spPr>
          <a:xfrm>
            <a:off x="275047" y="2605214"/>
            <a:ext cx="7819490" cy="738139"/>
          </a:xfrm>
          <a:prstGeom prst="rect">
            <a:avLst/>
          </a:prstGeom>
        </p:spPr>
        <p:txBody>
          <a:bodyPr lIns="91440" tIns="45720" rIns="91440" bIns="45720" anchor="t">
            <a:no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tint val="75000"/>
                  </a:schemeClr>
                </a:solidFill>
                <a:latin typeface="Lato" panose="020F0502020204030203"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just">
              <a:lnSpc>
                <a:spcPct val="150000"/>
              </a:lnSpc>
            </a:pPr>
            <a:r>
              <a:rPr lang="en-US" sz="1600">
                <a:solidFill>
                  <a:srgbClr val="09427D"/>
                </a:solidFill>
                <a:latin typeface="Lato"/>
                <a:ea typeface="+mn-lt"/>
                <a:cs typeface="+mn-lt"/>
              </a:rPr>
              <a:t>This supplemental loan aims to assists members, and their families have a comfortable living through house improvement and dignified access to safe water and sanitary toilet facilities. The loan purpose is to support either one of the following:</a:t>
            </a:r>
            <a:endParaRPr lang="en-US" sz="1600">
              <a:solidFill>
                <a:schemeClr val="tx1"/>
              </a:solidFill>
              <a:latin typeface="Lato"/>
              <a:ea typeface="Lato" panose="020F0502020204030203" pitchFamily="34" charset="0"/>
              <a:cs typeface="Lato" panose="020F0502020204030203" pitchFamily="34" charset="0"/>
            </a:endParaRPr>
          </a:p>
        </p:txBody>
      </p:sp>
      <p:pic>
        <p:nvPicPr>
          <p:cNvPr id="6" name="Picture 5">
            <a:extLst>
              <a:ext uri="{FF2B5EF4-FFF2-40B4-BE49-F238E27FC236}">
                <a16:creationId xmlns:a16="http://schemas.microsoft.com/office/drawing/2014/main" id="{00A6B92B-CB0B-0ECD-852B-A3BC211A5E0A}"/>
              </a:ext>
            </a:extLst>
          </p:cNvPr>
          <p:cNvPicPr>
            <a:picLocks noChangeAspect="1"/>
          </p:cNvPicPr>
          <p:nvPr/>
        </p:nvPicPr>
        <p:blipFill>
          <a:blip r:embed="rId3"/>
          <a:stretch>
            <a:fillRect/>
          </a:stretch>
        </p:blipFill>
        <p:spPr>
          <a:xfrm>
            <a:off x="8364147" y="276982"/>
            <a:ext cx="3758088" cy="5709974"/>
          </a:xfrm>
          <a:prstGeom prst="rect">
            <a:avLst/>
          </a:prstGeom>
          <a:ln>
            <a:solidFill>
              <a:schemeClr val="bg1"/>
            </a:solidFill>
          </a:ln>
        </p:spPr>
      </p:pic>
      <p:sp>
        <p:nvSpPr>
          <p:cNvPr id="7" name="Arrow: Right 6">
            <a:extLst>
              <a:ext uri="{FF2B5EF4-FFF2-40B4-BE49-F238E27FC236}">
                <a16:creationId xmlns:a16="http://schemas.microsoft.com/office/drawing/2014/main" id="{FD8F0E33-A145-840A-2F42-EAF7C0886523}"/>
              </a:ext>
            </a:extLst>
          </p:cNvPr>
          <p:cNvSpPr/>
          <p:nvPr/>
        </p:nvSpPr>
        <p:spPr>
          <a:xfrm>
            <a:off x="685517" y="493510"/>
            <a:ext cx="7667170" cy="1626041"/>
          </a:xfrm>
          <a:prstGeom prst="rightArrow">
            <a:avLst/>
          </a:prstGeom>
          <a:solidFill>
            <a:srgbClr val="FFD928"/>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PH" sz="2800" b="1">
                <a:solidFill>
                  <a:srgbClr val="1F4766"/>
                </a:solidFill>
                <a:latin typeface="Lato"/>
                <a:ea typeface="Lato"/>
                <a:cs typeface="Lato"/>
              </a:rPr>
              <a:t>                   </a:t>
            </a:r>
            <a:r>
              <a:rPr lang="en-PH" sz="2800" b="1" i="1">
                <a:solidFill>
                  <a:srgbClr val="1F4766"/>
                </a:solidFill>
                <a:latin typeface="Lato"/>
                <a:ea typeface="Lato"/>
                <a:cs typeface="Lato"/>
              </a:rPr>
              <a:t>Housing Improvement Loan</a:t>
            </a:r>
          </a:p>
        </p:txBody>
      </p:sp>
      <p:pic>
        <p:nvPicPr>
          <p:cNvPr id="8" name="Picture 7" descr="Graphical user interface&#10;&#10;Description automatically generated">
            <a:extLst>
              <a:ext uri="{FF2B5EF4-FFF2-40B4-BE49-F238E27FC236}">
                <a16:creationId xmlns:a16="http://schemas.microsoft.com/office/drawing/2014/main" id="{28B53AA6-8814-ED51-64DE-ABDC96AD06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0998" y="999798"/>
            <a:ext cx="1703755" cy="613467"/>
          </a:xfrm>
          <a:prstGeom prst="rect">
            <a:avLst/>
          </a:prstGeom>
        </p:spPr>
      </p:pic>
      <p:pic>
        <p:nvPicPr>
          <p:cNvPr id="9" name="Picture 8" descr="A close-up of a product&#10;&#10;AI-generated content may be incorrect.">
            <a:extLst>
              <a:ext uri="{FF2B5EF4-FFF2-40B4-BE49-F238E27FC236}">
                <a16:creationId xmlns:a16="http://schemas.microsoft.com/office/drawing/2014/main" id="{BB33312B-AE78-3A29-6DAD-13022AA3BF70}"/>
              </a:ext>
            </a:extLst>
          </p:cNvPr>
          <p:cNvPicPr>
            <a:picLocks noChangeAspect="1"/>
          </p:cNvPicPr>
          <p:nvPr/>
        </p:nvPicPr>
        <p:blipFill>
          <a:blip r:embed="rId5"/>
          <a:stretch>
            <a:fillRect/>
          </a:stretch>
        </p:blipFill>
        <p:spPr>
          <a:xfrm>
            <a:off x="147457" y="275622"/>
            <a:ext cx="8212478" cy="5843769"/>
          </a:xfrm>
          <a:prstGeom prst="rect">
            <a:avLst/>
          </a:prstGeom>
        </p:spPr>
      </p:pic>
    </p:spTree>
    <p:extLst>
      <p:ext uri="{BB962C8B-B14F-4D97-AF65-F5344CB8AC3E}">
        <p14:creationId xmlns:p14="http://schemas.microsoft.com/office/powerpoint/2010/main" val="9065799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06FC7-AB7A-0881-FD88-3E4BA8FF3B2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9160E0D-2E81-253F-6784-9AD754517A5C}"/>
              </a:ext>
            </a:extLst>
          </p:cNvPr>
          <p:cNvSpPr>
            <a:spLocks noGrp="1"/>
          </p:cNvSpPr>
          <p:nvPr>
            <p:ph type="sldNum" sz="quarter" idx="12"/>
          </p:nvPr>
        </p:nvSpPr>
        <p:spPr/>
        <p:txBody>
          <a:bodyPr/>
          <a:lstStyle/>
          <a:p>
            <a:fld id="{36D53BC0-5915-4EE6-A8B4-385258777E7F}" type="slidenum">
              <a:rPr lang="en-PH" smtClean="0"/>
              <a:pPr/>
              <a:t>20</a:t>
            </a:fld>
            <a:endParaRPr lang="en-PH"/>
          </a:p>
        </p:txBody>
      </p:sp>
      <p:sp>
        <p:nvSpPr>
          <p:cNvPr id="458" name="TextBox 457">
            <a:extLst>
              <a:ext uri="{FF2B5EF4-FFF2-40B4-BE49-F238E27FC236}">
                <a16:creationId xmlns:a16="http://schemas.microsoft.com/office/drawing/2014/main" id="{F20E9963-8F74-1520-1E83-AB7BC9242DF1}"/>
              </a:ext>
            </a:extLst>
          </p:cNvPr>
          <p:cNvSpPr txBox="1"/>
          <p:nvPr/>
        </p:nvSpPr>
        <p:spPr>
          <a:xfrm>
            <a:off x="3728248" y="133988"/>
            <a:ext cx="6060558" cy="616688"/>
          </a:xfrm>
          <a:prstGeom prst="rect">
            <a:avLst/>
          </a:prstGeom>
          <a:solidFill>
            <a:srgbClr val="1F4766"/>
          </a:solidFill>
        </p:spPr>
        <p:txBody>
          <a:bodyPr wrap="square" lIns="91440" tIns="45720" rIns="91440" bIns="45720" rtlCol="0" anchor="ctr">
            <a:noAutofit/>
          </a:bodyPr>
          <a:lstStyle/>
          <a:p>
            <a:r>
              <a:rPr lang="en-US" sz="2800" b="1">
                <a:solidFill>
                  <a:srgbClr val="FFD928"/>
                </a:solidFill>
                <a:latin typeface="Lato"/>
                <a:ea typeface="Lato"/>
                <a:cs typeface="Lato"/>
              </a:rPr>
              <a:t>Product Features</a:t>
            </a:r>
            <a:endParaRPr lang="en-PH" sz="2800">
              <a:solidFill>
                <a:srgbClr val="FFC000"/>
              </a:solidFill>
              <a:latin typeface="Lato"/>
              <a:ea typeface="Lato"/>
              <a:cs typeface="Lato"/>
            </a:endParaRPr>
          </a:p>
        </p:txBody>
      </p:sp>
      <p:graphicFrame>
        <p:nvGraphicFramePr>
          <p:cNvPr id="460" name="Table 27">
            <a:extLst>
              <a:ext uri="{FF2B5EF4-FFF2-40B4-BE49-F238E27FC236}">
                <a16:creationId xmlns:a16="http://schemas.microsoft.com/office/drawing/2014/main" id="{BFE89AC2-A1AB-35A4-EFF6-63220DCBE28E}"/>
              </a:ext>
            </a:extLst>
          </p:cNvPr>
          <p:cNvGraphicFramePr>
            <a:graphicFrameLocks noGrp="1"/>
          </p:cNvGraphicFramePr>
          <p:nvPr/>
        </p:nvGraphicFramePr>
        <p:xfrm>
          <a:off x="463749" y="223624"/>
          <a:ext cx="2877633" cy="6113199"/>
        </p:xfrm>
        <a:graphic>
          <a:graphicData uri="http://schemas.openxmlformats.org/drawingml/2006/table">
            <a:tbl>
              <a:tblPr firstRow="1" bandRow="1">
                <a:tableStyleId>{2D5ABB26-0587-4C30-8999-92F81FD0307C}</a:tableStyleId>
              </a:tblPr>
              <a:tblGrid>
                <a:gridCol w="589851">
                  <a:extLst>
                    <a:ext uri="{9D8B030D-6E8A-4147-A177-3AD203B41FA5}">
                      <a16:colId xmlns:a16="http://schemas.microsoft.com/office/drawing/2014/main" val="1622108729"/>
                    </a:ext>
                  </a:extLst>
                </a:gridCol>
                <a:gridCol w="2287782">
                  <a:extLst>
                    <a:ext uri="{9D8B030D-6E8A-4147-A177-3AD203B41FA5}">
                      <a16:colId xmlns:a16="http://schemas.microsoft.com/office/drawing/2014/main" val="1450379266"/>
                    </a:ext>
                  </a:extLst>
                </a:gridCol>
              </a:tblGrid>
              <a:tr h="431750">
                <a:tc rowSpan="2">
                  <a:txBody>
                    <a:bodyPr/>
                    <a:lstStyle/>
                    <a:p>
                      <a:endParaRPr lang="en-PH" sz="1600">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a:solidFill>
                            <a:srgbClr val="1F4766"/>
                          </a:solidFill>
                          <a:latin typeface="Lato"/>
                          <a:ea typeface="Lato"/>
                          <a:cs typeface="Lato"/>
                        </a:rPr>
                        <a:t>Loan Amount</a:t>
                      </a:r>
                      <a:endParaRPr lang="en-PH" sz="1600" b="1">
                        <a:solidFill>
                          <a:srgbClr val="1F4766"/>
                        </a:solidFill>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0170993"/>
                  </a:ext>
                </a:extLst>
              </a:tr>
              <a:tr h="636625">
                <a:tc vMerge="1">
                  <a:txBody>
                    <a:bodyPr/>
                    <a:lstStyle/>
                    <a:p>
                      <a:endParaRPr lang="en-PH"/>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Wingdings" panose="05000000000000000000" pitchFamily="2" charset="2"/>
                        <a:buChar char="ü"/>
                      </a:pPr>
                      <a:r>
                        <a:rPr lang="en-US" sz="1600">
                          <a:solidFill>
                            <a:srgbClr val="000000"/>
                          </a:solidFill>
                          <a:latin typeface="Lato"/>
                          <a:ea typeface="Lato"/>
                          <a:cs typeface="Lato"/>
                        </a:rPr>
                        <a:t>P3,000 – P50,000</a:t>
                      </a:r>
                    </a:p>
                    <a:p>
                      <a:pPr marL="0" indent="0">
                        <a:buFont typeface="Wingdings" panose="05000000000000000000" pitchFamily="2" charset="2"/>
                        <a:buNone/>
                      </a:pPr>
                      <a:endParaRPr lang="en-US" sz="600">
                        <a:solidFill>
                          <a:srgbClr val="000000"/>
                        </a:solidFill>
                        <a:latin typeface="Lato"/>
                        <a:ea typeface="Lato"/>
                        <a:cs typeface="Lato"/>
                      </a:endParaRPr>
                    </a:p>
                    <a:p>
                      <a:pPr lvl="0" algn="l">
                        <a:lnSpc>
                          <a:spcPct val="100000"/>
                        </a:lnSpc>
                        <a:spcBef>
                          <a:spcPts val="0"/>
                        </a:spcBef>
                        <a:spcAft>
                          <a:spcPts val="0"/>
                        </a:spcAft>
                        <a:buNone/>
                      </a:pPr>
                      <a:r>
                        <a:rPr lang="en-US" sz="1200" b="0" i="1" u="none" strike="noStrike" noProof="0">
                          <a:solidFill>
                            <a:srgbClr val="000000"/>
                          </a:solidFill>
                          <a:effectLst/>
                          <a:latin typeface="Lato"/>
                        </a:rPr>
                        <a:t>should be less than or equal to the amount of production loan but not to exceed P50,000.00)</a:t>
                      </a:r>
                      <a:endParaRPr lang="en-US"/>
                    </a:p>
                    <a:p>
                      <a:pPr lvl="0" algn="l">
                        <a:lnSpc>
                          <a:spcPct val="100000"/>
                        </a:lnSpc>
                        <a:spcBef>
                          <a:spcPts val="0"/>
                        </a:spcBef>
                        <a:spcAft>
                          <a:spcPts val="0"/>
                        </a:spcAft>
                        <a:buNone/>
                      </a:pPr>
                      <a:r>
                        <a:rPr lang="en-US" sz="1200" b="0" i="1" u="none" strike="noStrike" noProof="0">
                          <a:solidFill>
                            <a:srgbClr val="000000"/>
                          </a:solidFill>
                          <a:effectLst/>
                          <a:latin typeface="Lato"/>
                        </a:rPr>
                        <a:t>-</a:t>
                      </a:r>
                      <a:r>
                        <a:rPr lang="en-US" sz="1200" b="0" i="1" u="none" strike="noStrike" noProof="0">
                          <a:solidFill>
                            <a:srgbClr val="000000"/>
                          </a:solidFill>
                          <a:effectLst/>
                          <a:latin typeface="Calibri"/>
                        </a:rPr>
                        <a:t>HIL-W-6M has a ₱2,000 loan amount to cater to solar products priced at ₱2,000 to ₱3,000 (valid until May 17, 2026 only</a:t>
                      </a:r>
                      <a:r>
                        <a:rPr lang="en-US" sz="1200" b="0" i="1" u="none" strike="noStrike" noProof="0">
                          <a:solidFill>
                            <a:srgbClr val="000000"/>
                          </a:solidFill>
                          <a:effectLst/>
                          <a:latin typeface="Lato"/>
                        </a:rPr>
                        <a:t>).</a:t>
                      </a:r>
                      <a:endParaRPr lang="en-US"/>
                    </a:p>
                    <a:p>
                      <a:pPr marL="264795" marR="0" lvl="0" indent="0" algn="l" defTabSz="914400">
                        <a:lnSpc>
                          <a:spcPct val="100000"/>
                        </a:lnSpc>
                        <a:spcBef>
                          <a:spcPts val="0"/>
                        </a:spcBef>
                        <a:spcAft>
                          <a:spcPts val="0"/>
                        </a:spcAft>
                        <a:buClrTx/>
                        <a:buSzTx/>
                        <a:buFont typeface="Wingdings" panose="05000000000000000000" pitchFamily="2" charset="2"/>
                        <a:buNone/>
                        <a:tabLst/>
                        <a:defRPr/>
                      </a:pPr>
                      <a:endParaRPr lang="en-US" sz="1100" b="0" i="1" u="none" strike="noStrike">
                        <a:effectLst/>
                        <a:latin typeface="Lato"/>
                        <a:ea typeface="Lato"/>
                        <a:cs typeface="Lato"/>
                      </a:endParaRPr>
                    </a:p>
                    <a:p>
                      <a:pPr marL="285750" indent="-285750">
                        <a:buFont typeface="Wingdings" panose="05000000000000000000" pitchFamily="2" charset="2"/>
                        <a:buChar char="ü"/>
                      </a:pPr>
                      <a:endParaRPr lang="en-US" sz="1600">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4695899"/>
                  </a:ext>
                </a:extLst>
              </a:tr>
              <a:tr h="241219">
                <a:tc>
                  <a:txBody>
                    <a:bodyPr/>
                    <a:lstStyle/>
                    <a:p>
                      <a:endParaRPr lang="en-PH" sz="1600">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PH" sz="1600">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97469117"/>
                  </a:ext>
                </a:extLst>
              </a:tr>
              <a:tr h="418857">
                <a:tc rowSpan="2">
                  <a:txBody>
                    <a:bodyPr/>
                    <a:lstStyle/>
                    <a:p>
                      <a:endParaRPr lang="en-PH" sz="1600">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a:solidFill>
                            <a:srgbClr val="1F4766"/>
                          </a:solidFill>
                          <a:latin typeface="Lato"/>
                          <a:ea typeface="Lato"/>
                          <a:cs typeface="Lato"/>
                        </a:rPr>
                        <a:t>Loan Term</a:t>
                      </a:r>
                      <a:endParaRPr lang="en-PH" sz="1600" b="1">
                        <a:solidFill>
                          <a:srgbClr val="1F4766"/>
                        </a:solidFill>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88353520"/>
                  </a:ext>
                </a:extLst>
              </a:tr>
              <a:tr h="396106">
                <a:tc vMerge="1">
                  <a:txBody>
                    <a:bodyPr/>
                    <a:lstStyle/>
                    <a:p>
                      <a:endParaRPr lang="en-PH"/>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marR="0" lvl="0" indent="-285750" algn="l" rtl="0" eaLnBrk="1" fontAlgn="auto" latinLnBrk="0" hangingPunct="1">
                        <a:lnSpc>
                          <a:spcPct val="100000"/>
                        </a:lnSpc>
                        <a:spcBef>
                          <a:spcPts val="0"/>
                        </a:spcBef>
                        <a:spcAft>
                          <a:spcPts val="0"/>
                        </a:spcAft>
                        <a:buClrTx/>
                        <a:buSzTx/>
                        <a:buFont typeface="Wingdings" panose="05000000000000000000" pitchFamily="2" charset="2"/>
                        <a:buChar char="ü"/>
                      </a:pPr>
                      <a:r>
                        <a:rPr lang="en-US" sz="1600">
                          <a:solidFill>
                            <a:srgbClr val="000000"/>
                          </a:solidFill>
                          <a:latin typeface="Lato"/>
                          <a:ea typeface="Lato"/>
                          <a:cs typeface="Lato"/>
                        </a:rPr>
                        <a:t>6,  12 or 18 months</a:t>
                      </a:r>
                      <a:r>
                        <a:rPr lang="en-PH" sz="1600" b="0" i="0" kern="1200">
                          <a:solidFill>
                            <a:schemeClr val="tx1"/>
                          </a:solidFill>
                          <a:effectLst/>
                          <a:latin typeface="Lato"/>
                          <a:ea typeface="Lato"/>
                          <a:cs typeface="Lato"/>
                        </a:rPr>
                        <a: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endParaRPr lang="en-PH" sz="600" b="0" i="0" kern="1200">
                        <a:solidFill>
                          <a:schemeClr val="tx1"/>
                        </a:solidFill>
                        <a:effectLst/>
                        <a:latin typeface="Lato"/>
                        <a:ea typeface="Lato"/>
                        <a:cs typeface="Lato"/>
                      </a:endParaRPr>
                    </a:p>
                    <a:p>
                      <a:pPr marL="264795"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100" b="0" i="1" kern="1200">
                          <a:solidFill>
                            <a:schemeClr val="tx1"/>
                          </a:solidFill>
                          <a:effectLst/>
                          <a:latin typeface="Lato"/>
                          <a:ea typeface="Lato"/>
                          <a:cs typeface="Lato"/>
                        </a:rPr>
                        <a:t>With grace period (principal only) of a maximum of 8 weeks (available for re-loan arrangement to clients)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11574103"/>
                  </a:ext>
                </a:extLst>
              </a:tr>
              <a:tr h="484977">
                <a:tc>
                  <a:txBody>
                    <a:bodyPr/>
                    <a:lstStyle/>
                    <a:p>
                      <a:endParaRPr lang="en-PH" sz="1600">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PH" sz="1600">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18413338"/>
                  </a:ext>
                </a:extLst>
              </a:tr>
              <a:tr h="500974">
                <a:tc rowSpan="2">
                  <a:txBody>
                    <a:bodyPr/>
                    <a:lstStyle/>
                    <a:p>
                      <a:endParaRPr lang="en-PH" sz="1600">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b="1">
                          <a:solidFill>
                            <a:srgbClr val="1F4766"/>
                          </a:solidFill>
                          <a:latin typeface="Lato"/>
                          <a:ea typeface="Lato"/>
                          <a:cs typeface="Lato"/>
                        </a:rPr>
                        <a:t>Repayment Frequency</a:t>
                      </a:r>
                      <a:endParaRPr lang="en-PH" sz="1600" b="1">
                        <a:solidFill>
                          <a:srgbClr val="1F4766"/>
                        </a:solidFill>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68837476"/>
                  </a:ext>
                </a:extLst>
              </a:tr>
              <a:tr h="725721">
                <a:tc vMerge="1">
                  <a:txBody>
                    <a:bodyPr/>
                    <a:lstStyle/>
                    <a:p>
                      <a:endParaRPr lang="en-PH"/>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600">
                          <a:solidFill>
                            <a:srgbClr val="000000"/>
                          </a:solidFill>
                          <a:latin typeface="Lato"/>
                          <a:ea typeface="Lato"/>
                          <a:cs typeface="Lato"/>
                        </a:rPr>
                        <a:t>Attached to Production Loan</a:t>
                      </a:r>
                      <a:r>
                        <a:rPr lang="en-US" sz="1600">
                          <a:latin typeface="Lato"/>
                          <a:ea typeface="Lato"/>
                          <a:cs typeface="Lato"/>
                        </a:rPr>
                        <a:t> </a:t>
                      </a:r>
                      <a:endParaRPr lang="en-PH" sz="1600">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54832442"/>
                  </a:ext>
                </a:extLst>
              </a:tr>
            </a:tbl>
          </a:graphicData>
        </a:graphic>
      </p:graphicFrame>
      <p:grpSp>
        <p:nvGrpSpPr>
          <p:cNvPr id="461" name="Group 460">
            <a:extLst>
              <a:ext uri="{FF2B5EF4-FFF2-40B4-BE49-F238E27FC236}">
                <a16:creationId xmlns:a16="http://schemas.microsoft.com/office/drawing/2014/main" id="{248B864B-DEA4-170E-E920-D3E03459374D}"/>
              </a:ext>
            </a:extLst>
          </p:cNvPr>
          <p:cNvGrpSpPr/>
          <p:nvPr/>
        </p:nvGrpSpPr>
        <p:grpSpPr>
          <a:xfrm>
            <a:off x="462549" y="755416"/>
            <a:ext cx="572700" cy="572700"/>
            <a:chOff x="771614" y="1895768"/>
            <a:chExt cx="572700" cy="572700"/>
          </a:xfrm>
        </p:grpSpPr>
        <p:sp>
          <p:nvSpPr>
            <p:cNvPr id="462" name="Google Shape;839;p61">
              <a:extLst>
                <a:ext uri="{FF2B5EF4-FFF2-40B4-BE49-F238E27FC236}">
                  <a16:creationId xmlns:a16="http://schemas.microsoft.com/office/drawing/2014/main" id="{E5FBBE7A-F3C0-ABDD-A2D1-7F3A5B696378}"/>
                </a:ext>
              </a:extLst>
            </p:cNvPr>
            <p:cNvSpPr/>
            <p:nvPr/>
          </p:nvSpPr>
          <p:spPr>
            <a:xfrm>
              <a:off x="771614" y="1895768"/>
              <a:ext cx="572700" cy="572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nvGrpSpPr>
            <p:cNvPr id="463" name="Google Shape;17106;p127">
              <a:extLst>
                <a:ext uri="{FF2B5EF4-FFF2-40B4-BE49-F238E27FC236}">
                  <a16:creationId xmlns:a16="http://schemas.microsoft.com/office/drawing/2014/main" id="{1FB138AE-42A2-3872-4B1C-7CBEDB94FEB7}"/>
                </a:ext>
              </a:extLst>
            </p:cNvPr>
            <p:cNvGrpSpPr/>
            <p:nvPr/>
          </p:nvGrpSpPr>
          <p:grpSpPr>
            <a:xfrm>
              <a:off x="843708" y="1973049"/>
              <a:ext cx="428511" cy="383186"/>
              <a:chOff x="5744051" y="3766250"/>
              <a:chExt cx="428511" cy="383186"/>
            </a:xfrm>
          </p:grpSpPr>
          <p:sp>
            <p:nvSpPr>
              <p:cNvPr id="464" name="Google Shape;17107;p127">
                <a:extLst>
                  <a:ext uri="{FF2B5EF4-FFF2-40B4-BE49-F238E27FC236}">
                    <a16:creationId xmlns:a16="http://schemas.microsoft.com/office/drawing/2014/main" id="{F03D9B27-7229-61F1-3F2A-9444DD2C622D}"/>
                  </a:ext>
                </a:extLst>
              </p:cNvPr>
              <p:cNvSpPr/>
              <p:nvPr/>
            </p:nvSpPr>
            <p:spPr>
              <a:xfrm>
                <a:off x="5872489" y="3804510"/>
                <a:ext cx="130696" cy="130460"/>
              </a:xfrm>
              <a:custGeom>
                <a:avLst/>
                <a:gdLst/>
                <a:ahLst/>
                <a:cxnLst/>
                <a:rect l="l" t="t" r="r" b="b"/>
                <a:pathLst>
                  <a:path w="4977" h="4968" extrusionOk="0">
                    <a:moveTo>
                      <a:pt x="2480" y="0"/>
                    </a:moveTo>
                    <a:cubicBezTo>
                      <a:pt x="1110" y="0"/>
                      <a:pt x="0" y="1107"/>
                      <a:pt x="0" y="2479"/>
                    </a:cubicBezTo>
                    <a:cubicBezTo>
                      <a:pt x="0" y="3847"/>
                      <a:pt x="1110" y="4967"/>
                      <a:pt x="2479" y="4967"/>
                    </a:cubicBezTo>
                    <a:cubicBezTo>
                      <a:pt x="2485" y="4967"/>
                      <a:pt x="2491" y="4967"/>
                      <a:pt x="2496" y="4967"/>
                    </a:cubicBezTo>
                    <a:cubicBezTo>
                      <a:pt x="3866" y="4967"/>
                      <a:pt x="4967" y="3861"/>
                      <a:pt x="4977" y="2488"/>
                    </a:cubicBezTo>
                    <a:cubicBezTo>
                      <a:pt x="4977" y="1120"/>
                      <a:pt x="3866" y="0"/>
                      <a:pt x="2498" y="0"/>
                    </a:cubicBezTo>
                    <a:cubicBezTo>
                      <a:pt x="2492" y="0"/>
                      <a:pt x="2486" y="0"/>
                      <a:pt x="2480" y="0"/>
                    </a:cubicBezTo>
                    <a:close/>
                  </a:path>
                </a:pathLst>
              </a:custGeom>
              <a:solidFill>
                <a:srgbClr val="ACBDC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65" name="Google Shape;17108;p127">
                <a:extLst>
                  <a:ext uri="{FF2B5EF4-FFF2-40B4-BE49-F238E27FC236}">
                    <a16:creationId xmlns:a16="http://schemas.microsoft.com/office/drawing/2014/main" id="{30110F70-8CA5-19F0-1B8A-9AFF309804C8}"/>
                  </a:ext>
                </a:extLst>
              </p:cNvPr>
              <p:cNvSpPr/>
              <p:nvPr/>
            </p:nvSpPr>
            <p:spPr>
              <a:xfrm>
                <a:off x="5871963" y="3804169"/>
                <a:ext cx="74185" cy="130775"/>
              </a:xfrm>
              <a:custGeom>
                <a:avLst/>
                <a:gdLst/>
                <a:ahLst/>
                <a:cxnLst/>
                <a:rect l="l" t="t" r="r" b="b"/>
                <a:pathLst>
                  <a:path w="2825" h="4980" extrusionOk="0">
                    <a:moveTo>
                      <a:pt x="2487" y="0"/>
                    </a:moveTo>
                    <a:cubicBezTo>
                      <a:pt x="1138" y="0"/>
                      <a:pt x="10" y="1094"/>
                      <a:pt x="1" y="2482"/>
                    </a:cubicBezTo>
                    <a:cubicBezTo>
                      <a:pt x="1" y="3880"/>
                      <a:pt x="1144" y="4980"/>
                      <a:pt x="2498" y="4980"/>
                    </a:cubicBezTo>
                    <a:cubicBezTo>
                      <a:pt x="2599" y="4980"/>
                      <a:pt x="2702" y="4974"/>
                      <a:pt x="2805" y="4961"/>
                    </a:cubicBezTo>
                    <a:cubicBezTo>
                      <a:pt x="1570" y="4789"/>
                      <a:pt x="642" y="3736"/>
                      <a:pt x="642" y="2482"/>
                    </a:cubicBezTo>
                    <a:cubicBezTo>
                      <a:pt x="652" y="1238"/>
                      <a:pt x="1580" y="185"/>
                      <a:pt x="2824" y="23"/>
                    </a:cubicBezTo>
                    <a:cubicBezTo>
                      <a:pt x="2710" y="8"/>
                      <a:pt x="2598" y="0"/>
                      <a:pt x="2487" y="0"/>
                    </a:cubicBezTo>
                    <a:close/>
                  </a:path>
                </a:pathLst>
              </a:custGeom>
              <a:solidFill>
                <a:srgbClr val="96AB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66" name="Google Shape;17109;p127">
                <a:extLst>
                  <a:ext uri="{FF2B5EF4-FFF2-40B4-BE49-F238E27FC236}">
                    <a16:creationId xmlns:a16="http://schemas.microsoft.com/office/drawing/2014/main" id="{E44CD2F3-0EF9-044D-DA47-21914395864F}"/>
                  </a:ext>
                </a:extLst>
              </p:cNvPr>
              <p:cNvSpPr/>
              <p:nvPr/>
            </p:nvSpPr>
            <p:spPr>
              <a:xfrm>
                <a:off x="5893339" y="3825361"/>
                <a:ext cx="88995" cy="88733"/>
              </a:xfrm>
              <a:custGeom>
                <a:avLst/>
                <a:gdLst/>
                <a:ahLst/>
                <a:cxnLst/>
                <a:rect l="l" t="t" r="r" b="b"/>
                <a:pathLst>
                  <a:path w="3389" h="3379" extrusionOk="0">
                    <a:moveTo>
                      <a:pt x="1677" y="0"/>
                    </a:moveTo>
                    <a:cubicBezTo>
                      <a:pt x="756" y="0"/>
                      <a:pt x="0" y="753"/>
                      <a:pt x="0" y="1685"/>
                    </a:cubicBezTo>
                    <a:cubicBezTo>
                      <a:pt x="0" y="2623"/>
                      <a:pt x="756" y="3379"/>
                      <a:pt x="1685" y="3379"/>
                    </a:cubicBezTo>
                    <a:cubicBezTo>
                      <a:pt x="1691" y="3379"/>
                      <a:pt x="1696" y="3379"/>
                      <a:pt x="1702" y="3379"/>
                    </a:cubicBezTo>
                    <a:cubicBezTo>
                      <a:pt x="2632" y="3379"/>
                      <a:pt x="3379" y="2627"/>
                      <a:pt x="3388" y="1694"/>
                    </a:cubicBezTo>
                    <a:cubicBezTo>
                      <a:pt x="3388" y="757"/>
                      <a:pt x="2632" y="1"/>
                      <a:pt x="1694" y="1"/>
                    </a:cubicBezTo>
                    <a:cubicBezTo>
                      <a:pt x="1688" y="1"/>
                      <a:pt x="1683" y="0"/>
                      <a:pt x="1677" y="0"/>
                    </a:cubicBezTo>
                    <a:close/>
                  </a:path>
                </a:pathLst>
              </a:custGeom>
              <a:solidFill>
                <a:srgbClr val="D2DB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67" name="Google Shape;17110;p127">
                <a:extLst>
                  <a:ext uri="{FF2B5EF4-FFF2-40B4-BE49-F238E27FC236}">
                    <a16:creationId xmlns:a16="http://schemas.microsoft.com/office/drawing/2014/main" id="{34B5746F-A81E-A0A8-14C6-5BE3A5355F6A}"/>
                  </a:ext>
                </a:extLst>
              </p:cNvPr>
              <p:cNvSpPr/>
              <p:nvPr/>
            </p:nvSpPr>
            <p:spPr>
              <a:xfrm>
                <a:off x="5892840" y="3824993"/>
                <a:ext cx="53308" cy="88995"/>
              </a:xfrm>
              <a:custGeom>
                <a:avLst/>
                <a:gdLst/>
                <a:ahLst/>
                <a:cxnLst/>
                <a:rect l="l" t="t" r="r" b="b"/>
                <a:pathLst>
                  <a:path w="2030" h="3389" extrusionOk="0">
                    <a:moveTo>
                      <a:pt x="1694" y="0"/>
                    </a:moveTo>
                    <a:cubicBezTo>
                      <a:pt x="786" y="0"/>
                      <a:pt x="9" y="742"/>
                      <a:pt x="0" y="1689"/>
                    </a:cubicBezTo>
                    <a:cubicBezTo>
                      <a:pt x="0" y="2645"/>
                      <a:pt x="777" y="3388"/>
                      <a:pt x="1685" y="3388"/>
                    </a:cubicBezTo>
                    <a:cubicBezTo>
                      <a:pt x="1795" y="3388"/>
                      <a:pt x="1907" y="3377"/>
                      <a:pt x="2020" y="3355"/>
                    </a:cubicBezTo>
                    <a:cubicBezTo>
                      <a:pt x="1225" y="3201"/>
                      <a:pt x="661" y="2503"/>
                      <a:pt x="661" y="1689"/>
                    </a:cubicBezTo>
                    <a:cubicBezTo>
                      <a:pt x="661" y="885"/>
                      <a:pt x="1235" y="187"/>
                      <a:pt x="2029" y="34"/>
                    </a:cubicBezTo>
                    <a:cubicBezTo>
                      <a:pt x="1916" y="11"/>
                      <a:pt x="1804" y="0"/>
                      <a:pt x="1694" y="0"/>
                    </a:cubicBezTo>
                    <a:close/>
                  </a:path>
                </a:pathLst>
              </a:custGeom>
              <a:solidFill>
                <a:srgbClr val="C1CE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68" name="Google Shape;17111;p127">
                <a:extLst>
                  <a:ext uri="{FF2B5EF4-FFF2-40B4-BE49-F238E27FC236}">
                    <a16:creationId xmlns:a16="http://schemas.microsoft.com/office/drawing/2014/main" id="{E97B4D77-0D5B-D8DB-FCD8-57DAC3A36B09}"/>
                  </a:ext>
                </a:extLst>
              </p:cNvPr>
              <p:cNvSpPr/>
              <p:nvPr/>
            </p:nvSpPr>
            <p:spPr>
              <a:xfrm>
                <a:off x="5919231" y="3839436"/>
                <a:ext cx="35714" cy="61107"/>
              </a:xfrm>
              <a:custGeom>
                <a:avLst/>
                <a:gdLst/>
                <a:ahLst/>
                <a:cxnLst/>
                <a:rect l="l" t="t" r="r" b="b"/>
                <a:pathLst>
                  <a:path w="1360" h="2327" extrusionOk="0">
                    <a:moveTo>
                      <a:pt x="651" y="469"/>
                    </a:moveTo>
                    <a:lnTo>
                      <a:pt x="651" y="900"/>
                    </a:lnTo>
                    <a:cubicBezTo>
                      <a:pt x="469" y="833"/>
                      <a:pt x="421" y="776"/>
                      <a:pt x="421" y="670"/>
                    </a:cubicBezTo>
                    <a:cubicBezTo>
                      <a:pt x="421" y="546"/>
                      <a:pt x="526" y="489"/>
                      <a:pt x="651" y="469"/>
                    </a:cubicBezTo>
                    <a:close/>
                    <a:moveTo>
                      <a:pt x="794" y="1350"/>
                    </a:moveTo>
                    <a:cubicBezTo>
                      <a:pt x="967" y="1426"/>
                      <a:pt x="1005" y="1503"/>
                      <a:pt x="1005" y="1608"/>
                    </a:cubicBezTo>
                    <a:cubicBezTo>
                      <a:pt x="1005" y="1723"/>
                      <a:pt x="909" y="1828"/>
                      <a:pt x="794" y="1838"/>
                    </a:cubicBezTo>
                    <a:lnTo>
                      <a:pt x="794" y="1350"/>
                    </a:lnTo>
                    <a:close/>
                    <a:moveTo>
                      <a:pt x="718" y="0"/>
                    </a:moveTo>
                    <a:cubicBezTo>
                      <a:pt x="670" y="0"/>
                      <a:pt x="622" y="29"/>
                      <a:pt x="622" y="77"/>
                    </a:cubicBezTo>
                    <a:lnTo>
                      <a:pt x="622" y="154"/>
                    </a:lnTo>
                    <a:cubicBezTo>
                      <a:pt x="287" y="192"/>
                      <a:pt x="67" y="374"/>
                      <a:pt x="67" y="709"/>
                    </a:cubicBezTo>
                    <a:cubicBezTo>
                      <a:pt x="67" y="1063"/>
                      <a:pt x="345" y="1168"/>
                      <a:pt x="613" y="1273"/>
                    </a:cubicBezTo>
                    <a:lnTo>
                      <a:pt x="613" y="1838"/>
                    </a:lnTo>
                    <a:cubicBezTo>
                      <a:pt x="479" y="1819"/>
                      <a:pt x="354" y="1752"/>
                      <a:pt x="258" y="1656"/>
                    </a:cubicBezTo>
                    <a:cubicBezTo>
                      <a:pt x="236" y="1633"/>
                      <a:pt x="206" y="1623"/>
                      <a:pt x="176" y="1623"/>
                    </a:cubicBezTo>
                    <a:cubicBezTo>
                      <a:pt x="130" y="1623"/>
                      <a:pt x="84" y="1648"/>
                      <a:pt x="67" y="1694"/>
                    </a:cubicBezTo>
                    <a:cubicBezTo>
                      <a:pt x="0" y="1771"/>
                      <a:pt x="0" y="1876"/>
                      <a:pt x="67" y="1943"/>
                    </a:cubicBezTo>
                    <a:cubicBezTo>
                      <a:pt x="203" y="2089"/>
                      <a:pt x="392" y="2174"/>
                      <a:pt x="590" y="2174"/>
                    </a:cubicBezTo>
                    <a:cubicBezTo>
                      <a:pt x="601" y="2174"/>
                      <a:pt x="612" y="2173"/>
                      <a:pt x="622" y="2173"/>
                    </a:cubicBezTo>
                    <a:lnTo>
                      <a:pt x="622" y="2173"/>
                    </a:lnTo>
                    <a:lnTo>
                      <a:pt x="613" y="2183"/>
                    </a:lnTo>
                    <a:lnTo>
                      <a:pt x="613" y="2259"/>
                    </a:lnTo>
                    <a:cubicBezTo>
                      <a:pt x="613" y="2297"/>
                      <a:pt x="670" y="2326"/>
                      <a:pt x="708" y="2326"/>
                    </a:cubicBezTo>
                    <a:cubicBezTo>
                      <a:pt x="756" y="2326"/>
                      <a:pt x="804" y="2297"/>
                      <a:pt x="804" y="2259"/>
                    </a:cubicBezTo>
                    <a:lnTo>
                      <a:pt x="804" y="2173"/>
                    </a:lnTo>
                    <a:cubicBezTo>
                      <a:pt x="1120" y="2154"/>
                      <a:pt x="1359" y="1886"/>
                      <a:pt x="1340" y="1570"/>
                    </a:cubicBezTo>
                    <a:cubicBezTo>
                      <a:pt x="1340" y="1235"/>
                      <a:pt x="1129" y="1082"/>
                      <a:pt x="814" y="967"/>
                    </a:cubicBezTo>
                    <a:lnTo>
                      <a:pt x="814" y="469"/>
                    </a:lnTo>
                    <a:cubicBezTo>
                      <a:pt x="909" y="479"/>
                      <a:pt x="1005" y="508"/>
                      <a:pt x="1082" y="556"/>
                    </a:cubicBezTo>
                    <a:cubicBezTo>
                      <a:pt x="1102" y="567"/>
                      <a:pt x="1123" y="573"/>
                      <a:pt x="1144" y="573"/>
                    </a:cubicBezTo>
                    <a:cubicBezTo>
                      <a:pt x="1191" y="573"/>
                      <a:pt x="1234" y="545"/>
                      <a:pt x="1254" y="498"/>
                    </a:cubicBezTo>
                    <a:cubicBezTo>
                      <a:pt x="1311" y="431"/>
                      <a:pt x="1302" y="335"/>
                      <a:pt x="1244" y="278"/>
                    </a:cubicBezTo>
                    <a:cubicBezTo>
                      <a:pt x="1130" y="199"/>
                      <a:pt x="992" y="152"/>
                      <a:pt x="852" y="152"/>
                    </a:cubicBezTo>
                    <a:cubicBezTo>
                      <a:pt x="839" y="152"/>
                      <a:pt x="827" y="153"/>
                      <a:pt x="814" y="154"/>
                    </a:cubicBezTo>
                    <a:lnTo>
                      <a:pt x="814" y="77"/>
                    </a:lnTo>
                    <a:cubicBezTo>
                      <a:pt x="814" y="39"/>
                      <a:pt x="766" y="0"/>
                      <a:pt x="718" y="0"/>
                    </a:cubicBezTo>
                    <a:close/>
                  </a:path>
                </a:pathLst>
              </a:custGeom>
              <a:solidFill>
                <a:srgbClr val="E6EB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69" name="Google Shape;17112;p127">
                <a:extLst>
                  <a:ext uri="{FF2B5EF4-FFF2-40B4-BE49-F238E27FC236}">
                    <a16:creationId xmlns:a16="http://schemas.microsoft.com/office/drawing/2014/main" id="{00F6A9F2-AA22-DD7D-2DB0-59F24A495910}"/>
                  </a:ext>
                </a:extLst>
              </p:cNvPr>
              <p:cNvSpPr/>
              <p:nvPr/>
            </p:nvSpPr>
            <p:spPr>
              <a:xfrm>
                <a:off x="5973747" y="3766565"/>
                <a:ext cx="130959" cy="130460"/>
              </a:xfrm>
              <a:custGeom>
                <a:avLst/>
                <a:gdLst/>
                <a:ahLst/>
                <a:cxnLst/>
                <a:rect l="l" t="t" r="r" b="b"/>
                <a:pathLst>
                  <a:path w="4987" h="4968" extrusionOk="0">
                    <a:moveTo>
                      <a:pt x="2481" y="0"/>
                    </a:moveTo>
                    <a:cubicBezTo>
                      <a:pt x="1121" y="0"/>
                      <a:pt x="10" y="1107"/>
                      <a:pt x="1" y="2479"/>
                    </a:cubicBezTo>
                    <a:cubicBezTo>
                      <a:pt x="1" y="3847"/>
                      <a:pt x="1111" y="4967"/>
                      <a:pt x="2489" y="4967"/>
                    </a:cubicBezTo>
                    <a:cubicBezTo>
                      <a:pt x="2495" y="4967"/>
                      <a:pt x="2501" y="4967"/>
                      <a:pt x="2507" y="4967"/>
                    </a:cubicBezTo>
                    <a:cubicBezTo>
                      <a:pt x="3867" y="4967"/>
                      <a:pt x="4977" y="3861"/>
                      <a:pt x="4977" y="2488"/>
                    </a:cubicBezTo>
                    <a:cubicBezTo>
                      <a:pt x="4987" y="1120"/>
                      <a:pt x="3877" y="0"/>
                      <a:pt x="2499" y="0"/>
                    </a:cubicBezTo>
                    <a:cubicBezTo>
                      <a:pt x="2493" y="0"/>
                      <a:pt x="2487" y="0"/>
                      <a:pt x="2481" y="0"/>
                    </a:cubicBezTo>
                    <a:close/>
                  </a:path>
                </a:pathLst>
              </a:custGeom>
              <a:solidFill>
                <a:srgbClr val="ACBDC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70" name="Google Shape;17113;p127">
                <a:extLst>
                  <a:ext uri="{FF2B5EF4-FFF2-40B4-BE49-F238E27FC236}">
                    <a16:creationId xmlns:a16="http://schemas.microsoft.com/office/drawing/2014/main" id="{05C8D3F1-5A8D-D7CE-6742-F9DF8437ADB5}"/>
                  </a:ext>
                </a:extLst>
              </p:cNvPr>
              <p:cNvSpPr/>
              <p:nvPr/>
            </p:nvSpPr>
            <p:spPr>
              <a:xfrm>
                <a:off x="5973274" y="3766250"/>
                <a:ext cx="74132" cy="130801"/>
              </a:xfrm>
              <a:custGeom>
                <a:avLst/>
                <a:gdLst/>
                <a:ahLst/>
                <a:cxnLst/>
                <a:rect l="l" t="t" r="r" b="b"/>
                <a:pathLst>
                  <a:path w="2823" h="4981" extrusionOk="0">
                    <a:moveTo>
                      <a:pt x="2497" y="1"/>
                    </a:moveTo>
                    <a:cubicBezTo>
                      <a:pt x="1143" y="1"/>
                      <a:pt x="9" y="1089"/>
                      <a:pt x="9" y="2481"/>
                    </a:cubicBezTo>
                    <a:cubicBezTo>
                      <a:pt x="0" y="3875"/>
                      <a:pt x="1136" y="4981"/>
                      <a:pt x="2492" y="4981"/>
                    </a:cubicBezTo>
                    <a:cubicBezTo>
                      <a:pt x="2598" y="4981"/>
                      <a:pt x="2705" y="4974"/>
                      <a:pt x="2813" y="4960"/>
                    </a:cubicBezTo>
                    <a:cubicBezTo>
                      <a:pt x="1569" y="4797"/>
                      <a:pt x="641" y="3735"/>
                      <a:pt x="650" y="2481"/>
                    </a:cubicBezTo>
                    <a:cubicBezTo>
                      <a:pt x="650" y="1237"/>
                      <a:pt x="1579" y="184"/>
                      <a:pt x="2823" y="22"/>
                    </a:cubicBezTo>
                    <a:cubicBezTo>
                      <a:pt x="2713" y="8"/>
                      <a:pt x="2605" y="1"/>
                      <a:pt x="2497" y="1"/>
                    </a:cubicBezTo>
                    <a:close/>
                  </a:path>
                </a:pathLst>
              </a:custGeom>
              <a:solidFill>
                <a:srgbClr val="96AB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71" name="Google Shape;17114;p127">
                <a:extLst>
                  <a:ext uri="{FF2B5EF4-FFF2-40B4-BE49-F238E27FC236}">
                    <a16:creationId xmlns:a16="http://schemas.microsoft.com/office/drawing/2014/main" id="{AD94071E-D0A2-68FE-50C8-2342E1D9A8FB}"/>
                  </a:ext>
                </a:extLst>
              </p:cNvPr>
              <p:cNvSpPr/>
              <p:nvPr/>
            </p:nvSpPr>
            <p:spPr>
              <a:xfrm>
                <a:off x="5994624" y="3787415"/>
                <a:ext cx="89231" cy="88733"/>
              </a:xfrm>
              <a:custGeom>
                <a:avLst/>
                <a:gdLst/>
                <a:ahLst/>
                <a:cxnLst/>
                <a:rect l="l" t="t" r="r" b="b"/>
                <a:pathLst>
                  <a:path w="3398" h="3379" extrusionOk="0">
                    <a:moveTo>
                      <a:pt x="1686" y="0"/>
                    </a:moveTo>
                    <a:cubicBezTo>
                      <a:pt x="756" y="0"/>
                      <a:pt x="10" y="753"/>
                      <a:pt x="0" y="1685"/>
                    </a:cubicBezTo>
                    <a:cubicBezTo>
                      <a:pt x="0" y="2623"/>
                      <a:pt x="756" y="3379"/>
                      <a:pt x="1694" y="3379"/>
                    </a:cubicBezTo>
                    <a:cubicBezTo>
                      <a:pt x="1700" y="3379"/>
                      <a:pt x="1706" y="3379"/>
                      <a:pt x="1712" y="3379"/>
                    </a:cubicBezTo>
                    <a:cubicBezTo>
                      <a:pt x="2641" y="3379"/>
                      <a:pt x="3388" y="2626"/>
                      <a:pt x="3388" y="1694"/>
                    </a:cubicBezTo>
                    <a:cubicBezTo>
                      <a:pt x="3398" y="757"/>
                      <a:pt x="2642" y="0"/>
                      <a:pt x="1704" y="0"/>
                    </a:cubicBezTo>
                    <a:cubicBezTo>
                      <a:pt x="1698" y="0"/>
                      <a:pt x="1692" y="0"/>
                      <a:pt x="1686" y="0"/>
                    </a:cubicBezTo>
                    <a:close/>
                  </a:path>
                </a:pathLst>
              </a:custGeom>
              <a:solidFill>
                <a:srgbClr val="D2DB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72" name="Google Shape;17115;p127">
                <a:extLst>
                  <a:ext uri="{FF2B5EF4-FFF2-40B4-BE49-F238E27FC236}">
                    <a16:creationId xmlns:a16="http://schemas.microsoft.com/office/drawing/2014/main" id="{78113512-5649-5FA7-0BEF-A12F13453BF6}"/>
                  </a:ext>
                </a:extLst>
              </p:cNvPr>
              <p:cNvSpPr/>
              <p:nvPr/>
            </p:nvSpPr>
            <p:spPr>
              <a:xfrm>
                <a:off x="5994361" y="3787284"/>
                <a:ext cx="53308" cy="88916"/>
              </a:xfrm>
              <a:custGeom>
                <a:avLst/>
                <a:gdLst/>
                <a:ahLst/>
                <a:cxnLst/>
                <a:rect l="l" t="t" r="r" b="b"/>
                <a:pathLst>
                  <a:path w="2030" h="3386" extrusionOk="0">
                    <a:moveTo>
                      <a:pt x="1689" y="0"/>
                    </a:moveTo>
                    <a:cubicBezTo>
                      <a:pt x="775" y="0"/>
                      <a:pt x="1" y="734"/>
                      <a:pt x="1" y="1680"/>
                    </a:cubicBezTo>
                    <a:cubicBezTo>
                      <a:pt x="1" y="2641"/>
                      <a:pt x="777" y="3386"/>
                      <a:pt x="1695" y="3386"/>
                    </a:cubicBezTo>
                    <a:cubicBezTo>
                      <a:pt x="1802" y="3386"/>
                      <a:pt x="1910" y="3376"/>
                      <a:pt x="2020" y="3355"/>
                    </a:cubicBezTo>
                    <a:cubicBezTo>
                      <a:pt x="1226" y="3192"/>
                      <a:pt x="651" y="2494"/>
                      <a:pt x="661" y="1690"/>
                    </a:cubicBezTo>
                    <a:cubicBezTo>
                      <a:pt x="661" y="876"/>
                      <a:pt x="1235" y="187"/>
                      <a:pt x="2030" y="34"/>
                    </a:cubicBezTo>
                    <a:cubicBezTo>
                      <a:pt x="1915" y="11"/>
                      <a:pt x="1801" y="0"/>
                      <a:pt x="1689" y="0"/>
                    </a:cubicBezTo>
                    <a:close/>
                  </a:path>
                </a:pathLst>
              </a:custGeom>
              <a:solidFill>
                <a:srgbClr val="C1CE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73" name="Google Shape;17116;p127">
                <a:extLst>
                  <a:ext uri="{FF2B5EF4-FFF2-40B4-BE49-F238E27FC236}">
                    <a16:creationId xmlns:a16="http://schemas.microsoft.com/office/drawing/2014/main" id="{E1E540E5-5758-E2D6-8D7C-988951610590}"/>
                  </a:ext>
                </a:extLst>
              </p:cNvPr>
              <p:cNvSpPr/>
              <p:nvPr/>
            </p:nvSpPr>
            <p:spPr>
              <a:xfrm>
                <a:off x="6020753" y="3801727"/>
                <a:ext cx="35451" cy="60844"/>
              </a:xfrm>
              <a:custGeom>
                <a:avLst/>
                <a:gdLst/>
                <a:ahLst/>
                <a:cxnLst/>
                <a:rect l="l" t="t" r="r" b="b"/>
                <a:pathLst>
                  <a:path w="1350" h="2317" extrusionOk="0">
                    <a:moveTo>
                      <a:pt x="642" y="470"/>
                    </a:moveTo>
                    <a:lnTo>
                      <a:pt x="642" y="891"/>
                    </a:lnTo>
                    <a:cubicBezTo>
                      <a:pt x="460" y="824"/>
                      <a:pt x="412" y="767"/>
                      <a:pt x="412" y="661"/>
                    </a:cubicBezTo>
                    <a:cubicBezTo>
                      <a:pt x="412" y="537"/>
                      <a:pt x="517" y="489"/>
                      <a:pt x="642" y="470"/>
                    </a:cubicBezTo>
                    <a:close/>
                    <a:moveTo>
                      <a:pt x="785" y="1341"/>
                    </a:moveTo>
                    <a:cubicBezTo>
                      <a:pt x="967" y="1417"/>
                      <a:pt x="996" y="1503"/>
                      <a:pt x="996" y="1599"/>
                    </a:cubicBezTo>
                    <a:cubicBezTo>
                      <a:pt x="996" y="1724"/>
                      <a:pt x="910" y="1819"/>
                      <a:pt x="785" y="1829"/>
                    </a:cubicBezTo>
                    <a:lnTo>
                      <a:pt x="785" y="1341"/>
                    </a:lnTo>
                    <a:close/>
                    <a:moveTo>
                      <a:pt x="709" y="1"/>
                    </a:moveTo>
                    <a:cubicBezTo>
                      <a:pt x="661" y="1"/>
                      <a:pt x="613" y="30"/>
                      <a:pt x="613" y="68"/>
                    </a:cubicBezTo>
                    <a:lnTo>
                      <a:pt x="613" y="145"/>
                    </a:lnTo>
                    <a:cubicBezTo>
                      <a:pt x="278" y="192"/>
                      <a:pt x="67" y="365"/>
                      <a:pt x="67" y="700"/>
                    </a:cubicBezTo>
                    <a:cubicBezTo>
                      <a:pt x="58" y="1054"/>
                      <a:pt x="335" y="1169"/>
                      <a:pt x="613" y="1274"/>
                    </a:cubicBezTo>
                    <a:lnTo>
                      <a:pt x="613" y="1829"/>
                    </a:lnTo>
                    <a:cubicBezTo>
                      <a:pt x="479" y="1810"/>
                      <a:pt x="355" y="1743"/>
                      <a:pt x="249" y="1647"/>
                    </a:cubicBezTo>
                    <a:cubicBezTo>
                      <a:pt x="227" y="1624"/>
                      <a:pt x="198" y="1614"/>
                      <a:pt x="169" y="1614"/>
                    </a:cubicBezTo>
                    <a:cubicBezTo>
                      <a:pt x="125" y="1614"/>
                      <a:pt x="81" y="1639"/>
                      <a:pt x="58" y="1685"/>
                    </a:cubicBezTo>
                    <a:cubicBezTo>
                      <a:pt x="0" y="1762"/>
                      <a:pt x="0" y="1867"/>
                      <a:pt x="58" y="1944"/>
                    </a:cubicBezTo>
                    <a:cubicBezTo>
                      <a:pt x="201" y="2097"/>
                      <a:pt x="402" y="2173"/>
                      <a:pt x="613" y="2173"/>
                    </a:cubicBezTo>
                    <a:lnTo>
                      <a:pt x="603" y="2250"/>
                    </a:lnTo>
                    <a:cubicBezTo>
                      <a:pt x="603" y="2288"/>
                      <a:pt x="661" y="2317"/>
                      <a:pt x="699" y="2317"/>
                    </a:cubicBezTo>
                    <a:cubicBezTo>
                      <a:pt x="747" y="2317"/>
                      <a:pt x="804" y="2288"/>
                      <a:pt x="804" y="2250"/>
                    </a:cubicBezTo>
                    <a:lnTo>
                      <a:pt x="804" y="2164"/>
                    </a:lnTo>
                    <a:cubicBezTo>
                      <a:pt x="1111" y="2145"/>
                      <a:pt x="1350" y="1877"/>
                      <a:pt x="1340" y="1561"/>
                    </a:cubicBezTo>
                    <a:cubicBezTo>
                      <a:pt x="1340" y="1207"/>
                      <a:pt x="1101" y="1063"/>
                      <a:pt x="804" y="958"/>
                    </a:cubicBezTo>
                    <a:lnTo>
                      <a:pt x="804" y="460"/>
                    </a:lnTo>
                    <a:cubicBezTo>
                      <a:pt x="996" y="470"/>
                      <a:pt x="1063" y="566"/>
                      <a:pt x="1139" y="566"/>
                    </a:cubicBezTo>
                    <a:cubicBezTo>
                      <a:pt x="1216" y="566"/>
                      <a:pt x="1264" y="489"/>
                      <a:pt x="1283" y="422"/>
                    </a:cubicBezTo>
                    <a:cubicBezTo>
                      <a:pt x="1312" y="298"/>
                      <a:pt x="1235" y="240"/>
                      <a:pt x="1120" y="192"/>
                    </a:cubicBezTo>
                    <a:cubicBezTo>
                      <a:pt x="1015" y="164"/>
                      <a:pt x="910" y="145"/>
                      <a:pt x="804" y="145"/>
                    </a:cubicBezTo>
                    <a:lnTo>
                      <a:pt x="804" y="68"/>
                    </a:lnTo>
                    <a:cubicBezTo>
                      <a:pt x="804" y="30"/>
                      <a:pt x="757" y="1"/>
                      <a:pt x="709" y="1"/>
                    </a:cubicBezTo>
                    <a:close/>
                  </a:path>
                </a:pathLst>
              </a:custGeom>
              <a:solidFill>
                <a:srgbClr val="E6EB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74" name="Google Shape;17117;p127">
                <a:extLst>
                  <a:ext uri="{FF2B5EF4-FFF2-40B4-BE49-F238E27FC236}">
                    <a16:creationId xmlns:a16="http://schemas.microsoft.com/office/drawing/2014/main" id="{9CA7A5F3-3BA0-795E-AC7B-3B587C23EEA4}"/>
                  </a:ext>
                </a:extLst>
              </p:cNvPr>
              <p:cNvSpPr/>
              <p:nvPr/>
            </p:nvSpPr>
            <p:spPr>
              <a:xfrm>
                <a:off x="5744051" y="3983945"/>
                <a:ext cx="147056" cy="165491"/>
              </a:xfrm>
              <a:custGeom>
                <a:avLst/>
                <a:gdLst/>
                <a:ahLst/>
                <a:cxnLst/>
                <a:rect l="l" t="t" r="r" b="b"/>
                <a:pathLst>
                  <a:path w="5600" h="6302" extrusionOk="0">
                    <a:moveTo>
                      <a:pt x="3733" y="0"/>
                    </a:moveTo>
                    <a:lnTo>
                      <a:pt x="269" y="1292"/>
                    </a:lnTo>
                    <a:cubicBezTo>
                      <a:pt x="96" y="1359"/>
                      <a:pt x="1" y="1560"/>
                      <a:pt x="68" y="1733"/>
                    </a:cubicBezTo>
                    <a:lnTo>
                      <a:pt x="1695" y="6078"/>
                    </a:lnTo>
                    <a:cubicBezTo>
                      <a:pt x="1746" y="6218"/>
                      <a:pt x="1872" y="6301"/>
                      <a:pt x="2010" y="6301"/>
                    </a:cubicBezTo>
                    <a:cubicBezTo>
                      <a:pt x="2051" y="6301"/>
                      <a:pt x="2093" y="6294"/>
                      <a:pt x="2135" y="6278"/>
                    </a:cubicBezTo>
                    <a:lnTo>
                      <a:pt x="5599" y="4986"/>
                    </a:lnTo>
                    <a:lnTo>
                      <a:pt x="37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75" name="Google Shape;17118;p127">
                <a:extLst>
                  <a:ext uri="{FF2B5EF4-FFF2-40B4-BE49-F238E27FC236}">
                    <a16:creationId xmlns:a16="http://schemas.microsoft.com/office/drawing/2014/main" id="{4A12C9CF-3A86-1F56-A871-E58F286E222C}"/>
                  </a:ext>
                </a:extLst>
              </p:cNvPr>
              <p:cNvSpPr/>
              <p:nvPr/>
            </p:nvSpPr>
            <p:spPr>
              <a:xfrm>
                <a:off x="5784754" y="4095786"/>
                <a:ext cx="106353" cy="53597"/>
              </a:xfrm>
              <a:custGeom>
                <a:avLst/>
                <a:gdLst/>
                <a:ahLst/>
                <a:cxnLst/>
                <a:rect l="l" t="t" r="r" b="b"/>
                <a:pathLst>
                  <a:path w="4050" h="2041" extrusionOk="0">
                    <a:moveTo>
                      <a:pt x="3781" y="0"/>
                    </a:moveTo>
                    <a:lnTo>
                      <a:pt x="3714" y="29"/>
                    </a:lnTo>
                    <a:lnTo>
                      <a:pt x="1" y="1417"/>
                    </a:lnTo>
                    <a:lnTo>
                      <a:pt x="145" y="1819"/>
                    </a:lnTo>
                    <a:cubicBezTo>
                      <a:pt x="197" y="1953"/>
                      <a:pt x="331" y="2041"/>
                      <a:pt x="469" y="2041"/>
                    </a:cubicBezTo>
                    <a:cubicBezTo>
                      <a:pt x="508" y="2041"/>
                      <a:pt x="547" y="2034"/>
                      <a:pt x="585" y="2019"/>
                    </a:cubicBezTo>
                    <a:lnTo>
                      <a:pt x="4049" y="727"/>
                    </a:lnTo>
                    <a:lnTo>
                      <a:pt x="3781" y="0"/>
                    </a:lnTo>
                    <a:close/>
                  </a:path>
                </a:pathLst>
              </a:custGeom>
              <a:solidFill>
                <a:srgbClr val="6E82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76" name="Google Shape;17119;p127">
                <a:extLst>
                  <a:ext uri="{FF2B5EF4-FFF2-40B4-BE49-F238E27FC236}">
                    <a16:creationId xmlns:a16="http://schemas.microsoft.com/office/drawing/2014/main" id="{43FEB8C7-386F-FB6B-DB43-B05018A06C64}"/>
                  </a:ext>
                </a:extLst>
              </p:cNvPr>
              <p:cNvSpPr/>
              <p:nvPr/>
            </p:nvSpPr>
            <p:spPr>
              <a:xfrm>
                <a:off x="5886538" y="3909550"/>
                <a:ext cx="286024" cy="176441"/>
              </a:xfrm>
              <a:custGeom>
                <a:avLst/>
                <a:gdLst/>
                <a:ahLst/>
                <a:cxnLst/>
                <a:rect l="l" t="t" r="r" b="b"/>
                <a:pathLst>
                  <a:path w="10892" h="6719" extrusionOk="0">
                    <a:moveTo>
                      <a:pt x="9693" y="1"/>
                    </a:moveTo>
                    <a:cubicBezTo>
                      <a:pt x="9260" y="1"/>
                      <a:pt x="8912" y="344"/>
                      <a:pt x="8873" y="383"/>
                    </a:cubicBezTo>
                    <a:lnTo>
                      <a:pt x="6002" y="2747"/>
                    </a:lnTo>
                    <a:cubicBezTo>
                      <a:pt x="6002" y="2747"/>
                      <a:pt x="5963" y="1934"/>
                      <a:pt x="5111" y="1934"/>
                    </a:cubicBezTo>
                    <a:cubicBezTo>
                      <a:pt x="4317" y="1931"/>
                      <a:pt x="3755" y="1924"/>
                      <a:pt x="3338" y="1924"/>
                    </a:cubicBezTo>
                    <a:cubicBezTo>
                      <a:pt x="2505" y="1924"/>
                      <a:pt x="2256" y="1950"/>
                      <a:pt x="1905" y="2077"/>
                    </a:cubicBezTo>
                    <a:lnTo>
                      <a:pt x="1" y="2862"/>
                    </a:lnTo>
                    <a:lnTo>
                      <a:pt x="1436" y="6719"/>
                    </a:lnTo>
                    <a:cubicBezTo>
                      <a:pt x="2585" y="6243"/>
                      <a:pt x="2514" y="6187"/>
                      <a:pt x="3650" y="6187"/>
                    </a:cubicBezTo>
                    <a:cubicBezTo>
                      <a:pt x="3999" y="6187"/>
                      <a:pt x="4463" y="6193"/>
                      <a:pt x="5111" y="6193"/>
                    </a:cubicBezTo>
                    <a:cubicBezTo>
                      <a:pt x="5724" y="6173"/>
                      <a:pt x="6308" y="5905"/>
                      <a:pt x="6719" y="5446"/>
                    </a:cubicBezTo>
                    <a:lnTo>
                      <a:pt x="10251" y="1675"/>
                    </a:lnTo>
                    <a:cubicBezTo>
                      <a:pt x="10356" y="1551"/>
                      <a:pt x="10892" y="843"/>
                      <a:pt x="10299" y="259"/>
                    </a:cubicBezTo>
                    <a:cubicBezTo>
                      <a:pt x="10093" y="68"/>
                      <a:pt x="9884" y="1"/>
                      <a:pt x="96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77" name="Google Shape;17120;p127">
                <a:extLst>
                  <a:ext uri="{FF2B5EF4-FFF2-40B4-BE49-F238E27FC236}">
                    <a16:creationId xmlns:a16="http://schemas.microsoft.com/office/drawing/2014/main" id="{38753935-E348-DD2D-F903-C88B6225EDF9}"/>
                  </a:ext>
                </a:extLst>
              </p:cNvPr>
              <p:cNvSpPr/>
              <p:nvPr/>
            </p:nvSpPr>
            <p:spPr>
              <a:xfrm>
                <a:off x="5886538" y="3976408"/>
                <a:ext cx="57851" cy="109347"/>
              </a:xfrm>
              <a:custGeom>
                <a:avLst/>
                <a:gdLst/>
                <a:ahLst/>
                <a:cxnLst/>
                <a:rect l="l" t="t" r="r" b="b"/>
                <a:pathLst>
                  <a:path w="2203" h="4164" extrusionOk="0">
                    <a:moveTo>
                      <a:pt x="767" y="0"/>
                    </a:moveTo>
                    <a:lnTo>
                      <a:pt x="1" y="307"/>
                    </a:lnTo>
                    <a:lnTo>
                      <a:pt x="1446" y="4163"/>
                    </a:lnTo>
                    <a:lnTo>
                      <a:pt x="2202" y="3848"/>
                    </a:lnTo>
                    <a:lnTo>
                      <a:pt x="767" y="0"/>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78" name="Google Shape;17121;p127">
                <a:extLst>
                  <a:ext uri="{FF2B5EF4-FFF2-40B4-BE49-F238E27FC236}">
                    <a16:creationId xmlns:a16="http://schemas.microsoft.com/office/drawing/2014/main" id="{F3B557C0-3619-F1DB-086D-65F4FE9050FC}"/>
                  </a:ext>
                </a:extLst>
              </p:cNvPr>
              <p:cNvSpPr/>
              <p:nvPr/>
            </p:nvSpPr>
            <p:spPr>
              <a:xfrm>
                <a:off x="5961956" y="3961335"/>
                <a:ext cx="82456" cy="52467"/>
              </a:xfrm>
              <a:custGeom>
                <a:avLst/>
                <a:gdLst/>
                <a:ahLst/>
                <a:cxnLst/>
                <a:rect l="l" t="t" r="r" b="b"/>
                <a:pathLst>
                  <a:path w="3140" h="1998" extrusionOk="0">
                    <a:moveTo>
                      <a:pt x="2565" y="0"/>
                    </a:moveTo>
                    <a:lnTo>
                      <a:pt x="2565" y="0"/>
                    </a:lnTo>
                    <a:cubicBezTo>
                      <a:pt x="2641" y="345"/>
                      <a:pt x="2708" y="948"/>
                      <a:pt x="2488" y="1263"/>
                    </a:cubicBezTo>
                    <a:cubicBezTo>
                      <a:pt x="2355" y="1454"/>
                      <a:pt x="2176" y="1495"/>
                      <a:pt x="1704" y="1495"/>
                    </a:cubicBezTo>
                    <a:cubicBezTo>
                      <a:pt x="1396" y="1495"/>
                      <a:pt x="962" y="1478"/>
                      <a:pt x="335" y="1474"/>
                    </a:cubicBezTo>
                    <a:cubicBezTo>
                      <a:pt x="0" y="1474"/>
                      <a:pt x="0" y="1981"/>
                      <a:pt x="335" y="1981"/>
                    </a:cubicBezTo>
                    <a:cubicBezTo>
                      <a:pt x="868" y="1981"/>
                      <a:pt x="1286" y="1997"/>
                      <a:pt x="1621" y="1997"/>
                    </a:cubicBezTo>
                    <a:cubicBezTo>
                      <a:pt x="2292" y="1997"/>
                      <a:pt x="2632" y="1933"/>
                      <a:pt x="2900" y="1550"/>
                    </a:cubicBezTo>
                    <a:cubicBezTo>
                      <a:pt x="3053" y="1311"/>
                      <a:pt x="3130" y="1034"/>
                      <a:pt x="3139" y="756"/>
                    </a:cubicBezTo>
                    <a:cubicBezTo>
                      <a:pt x="3130" y="651"/>
                      <a:pt x="3053" y="153"/>
                      <a:pt x="256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79" name="Google Shape;17122;p127">
                <a:extLst>
                  <a:ext uri="{FF2B5EF4-FFF2-40B4-BE49-F238E27FC236}">
                    <a16:creationId xmlns:a16="http://schemas.microsoft.com/office/drawing/2014/main" id="{3A8A3DFD-6117-FF34-A3B2-AFD21C292DBC}"/>
                  </a:ext>
                </a:extLst>
              </p:cNvPr>
              <p:cNvSpPr/>
              <p:nvPr/>
            </p:nvSpPr>
            <p:spPr>
              <a:xfrm>
                <a:off x="5840556" y="3971235"/>
                <a:ext cx="89258" cy="144167"/>
              </a:xfrm>
              <a:custGeom>
                <a:avLst/>
                <a:gdLst/>
                <a:ahLst/>
                <a:cxnLst/>
                <a:rect l="l" t="t" r="r" b="b"/>
                <a:pathLst>
                  <a:path w="3399" h="5490" extrusionOk="0">
                    <a:moveTo>
                      <a:pt x="1413" y="1"/>
                    </a:moveTo>
                    <a:cubicBezTo>
                      <a:pt x="1374" y="1"/>
                      <a:pt x="1333" y="8"/>
                      <a:pt x="1293" y="25"/>
                    </a:cubicBezTo>
                    <a:lnTo>
                      <a:pt x="1" y="504"/>
                    </a:lnTo>
                    <a:lnTo>
                      <a:pt x="1867" y="5490"/>
                    </a:lnTo>
                    <a:lnTo>
                      <a:pt x="3159" y="5002"/>
                    </a:lnTo>
                    <a:cubicBezTo>
                      <a:pt x="3312" y="4944"/>
                      <a:pt x="3398" y="4772"/>
                      <a:pt x="3341" y="4619"/>
                    </a:cubicBezTo>
                    <a:lnTo>
                      <a:pt x="1685" y="188"/>
                    </a:lnTo>
                    <a:cubicBezTo>
                      <a:pt x="1642" y="73"/>
                      <a:pt x="1534" y="1"/>
                      <a:pt x="1413" y="1"/>
                    </a:cubicBezTo>
                    <a:close/>
                  </a:path>
                </a:pathLst>
              </a:custGeom>
              <a:solidFill>
                <a:srgbClr val="E6EB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80" name="Google Shape;17123;p127">
                <a:extLst>
                  <a:ext uri="{FF2B5EF4-FFF2-40B4-BE49-F238E27FC236}">
                    <a16:creationId xmlns:a16="http://schemas.microsoft.com/office/drawing/2014/main" id="{3DA50179-9AEA-E139-51DA-2489E3A5E739}"/>
                  </a:ext>
                </a:extLst>
              </p:cNvPr>
              <p:cNvSpPr/>
              <p:nvPr/>
            </p:nvSpPr>
            <p:spPr>
              <a:xfrm>
                <a:off x="5882284" y="4079689"/>
                <a:ext cx="47531" cy="35714"/>
              </a:xfrm>
              <a:custGeom>
                <a:avLst/>
                <a:gdLst/>
                <a:ahLst/>
                <a:cxnLst/>
                <a:rect l="l" t="t" r="r" b="b"/>
                <a:pathLst>
                  <a:path w="1810" h="1360" extrusionOk="0">
                    <a:moveTo>
                      <a:pt x="1570" y="1"/>
                    </a:moveTo>
                    <a:cubicBezTo>
                      <a:pt x="1532" y="49"/>
                      <a:pt x="1484" y="87"/>
                      <a:pt x="1426" y="106"/>
                    </a:cubicBezTo>
                    <a:lnTo>
                      <a:pt x="0" y="632"/>
                    </a:lnTo>
                    <a:lnTo>
                      <a:pt x="268" y="1360"/>
                    </a:lnTo>
                    <a:lnTo>
                      <a:pt x="1570" y="881"/>
                    </a:lnTo>
                    <a:cubicBezTo>
                      <a:pt x="1723" y="814"/>
                      <a:pt x="1809" y="642"/>
                      <a:pt x="1752" y="489"/>
                    </a:cubicBezTo>
                    <a:lnTo>
                      <a:pt x="1570"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grpSp>
      <p:grpSp>
        <p:nvGrpSpPr>
          <p:cNvPr id="481" name="Group 480">
            <a:extLst>
              <a:ext uri="{FF2B5EF4-FFF2-40B4-BE49-F238E27FC236}">
                <a16:creationId xmlns:a16="http://schemas.microsoft.com/office/drawing/2014/main" id="{AD1967B3-D764-5270-B418-2103FE585749}"/>
              </a:ext>
            </a:extLst>
          </p:cNvPr>
          <p:cNvGrpSpPr/>
          <p:nvPr/>
        </p:nvGrpSpPr>
        <p:grpSpPr>
          <a:xfrm>
            <a:off x="462549" y="2976303"/>
            <a:ext cx="572700" cy="572700"/>
            <a:chOff x="648098" y="2998277"/>
            <a:chExt cx="572700" cy="572700"/>
          </a:xfrm>
        </p:grpSpPr>
        <p:sp>
          <p:nvSpPr>
            <p:cNvPr id="482" name="Google Shape;839;p61">
              <a:extLst>
                <a:ext uri="{FF2B5EF4-FFF2-40B4-BE49-F238E27FC236}">
                  <a16:creationId xmlns:a16="http://schemas.microsoft.com/office/drawing/2014/main" id="{6E18613C-788E-8AB4-4E15-C8A77B1BF7F0}"/>
                </a:ext>
              </a:extLst>
            </p:cNvPr>
            <p:cNvSpPr/>
            <p:nvPr/>
          </p:nvSpPr>
          <p:spPr>
            <a:xfrm>
              <a:off x="648098" y="2998277"/>
              <a:ext cx="572700" cy="572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nvGrpSpPr>
            <p:cNvPr id="483" name="Google Shape;15501;p127">
              <a:extLst>
                <a:ext uri="{FF2B5EF4-FFF2-40B4-BE49-F238E27FC236}">
                  <a16:creationId xmlns:a16="http://schemas.microsoft.com/office/drawing/2014/main" id="{64A45336-4602-C296-66D6-5CB389B2D6CB}"/>
                </a:ext>
              </a:extLst>
            </p:cNvPr>
            <p:cNvGrpSpPr/>
            <p:nvPr/>
          </p:nvGrpSpPr>
          <p:grpSpPr>
            <a:xfrm>
              <a:off x="772614" y="3097170"/>
              <a:ext cx="362677" cy="362677"/>
              <a:chOff x="1751901" y="1502716"/>
              <a:chExt cx="362677" cy="362677"/>
            </a:xfrm>
          </p:grpSpPr>
          <p:sp>
            <p:nvSpPr>
              <p:cNvPr id="484" name="Google Shape;15502;p127">
                <a:extLst>
                  <a:ext uri="{FF2B5EF4-FFF2-40B4-BE49-F238E27FC236}">
                    <a16:creationId xmlns:a16="http://schemas.microsoft.com/office/drawing/2014/main" id="{A756F54D-6629-B69A-DA75-3141D7ABCAA1}"/>
                  </a:ext>
                </a:extLst>
              </p:cNvPr>
              <p:cNvSpPr/>
              <p:nvPr/>
            </p:nvSpPr>
            <p:spPr>
              <a:xfrm>
                <a:off x="1751901" y="1502716"/>
                <a:ext cx="362677" cy="362677"/>
              </a:xfrm>
              <a:custGeom>
                <a:avLst/>
                <a:gdLst/>
                <a:ahLst/>
                <a:cxnLst/>
                <a:rect l="l" t="t" r="r" b="b"/>
                <a:pathLst>
                  <a:path w="13811" h="13811" extrusionOk="0">
                    <a:moveTo>
                      <a:pt x="6901" y="0"/>
                    </a:moveTo>
                    <a:cubicBezTo>
                      <a:pt x="3092" y="0"/>
                      <a:pt x="0" y="3091"/>
                      <a:pt x="0" y="6900"/>
                    </a:cubicBezTo>
                    <a:cubicBezTo>
                      <a:pt x="0" y="10719"/>
                      <a:pt x="3092" y="13810"/>
                      <a:pt x="6901" y="13810"/>
                    </a:cubicBezTo>
                    <a:cubicBezTo>
                      <a:pt x="10719" y="13810"/>
                      <a:pt x="13810" y="10719"/>
                      <a:pt x="13810" y="6900"/>
                    </a:cubicBezTo>
                    <a:cubicBezTo>
                      <a:pt x="13810" y="3091"/>
                      <a:pt x="10719" y="0"/>
                      <a:pt x="6901" y="0"/>
                    </a:cubicBezTo>
                    <a:close/>
                  </a:path>
                </a:pathLst>
              </a:custGeom>
              <a:solidFill>
                <a:srgbClr val="C3CD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85" name="Google Shape;15503;p127">
                <a:extLst>
                  <a:ext uri="{FF2B5EF4-FFF2-40B4-BE49-F238E27FC236}">
                    <a16:creationId xmlns:a16="http://schemas.microsoft.com/office/drawing/2014/main" id="{A99FEE55-4939-2151-2081-40D8941C2F3E}"/>
                  </a:ext>
                </a:extLst>
              </p:cNvPr>
              <p:cNvSpPr/>
              <p:nvPr/>
            </p:nvSpPr>
            <p:spPr>
              <a:xfrm>
                <a:off x="1780937" y="1524056"/>
                <a:ext cx="308397" cy="308397"/>
              </a:xfrm>
              <a:custGeom>
                <a:avLst/>
                <a:gdLst/>
                <a:ahLst/>
                <a:cxnLst/>
                <a:rect l="l" t="t" r="r" b="b"/>
                <a:pathLst>
                  <a:path w="11744" h="11744" extrusionOk="0">
                    <a:moveTo>
                      <a:pt x="5868" y="1"/>
                    </a:moveTo>
                    <a:cubicBezTo>
                      <a:pt x="2633" y="1"/>
                      <a:pt x="1" y="2633"/>
                      <a:pt x="1" y="5867"/>
                    </a:cubicBezTo>
                    <a:cubicBezTo>
                      <a:pt x="1" y="9112"/>
                      <a:pt x="2633" y="11744"/>
                      <a:pt x="5868" y="11744"/>
                    </a:cubicBezTo>
                    <a:cubicBezTo>
                      <a:pt x="9112" y="11744"/>
                      <a:pt x="11744" y="9112"/>
                      <a:pt x="11744" y="5867"/>
                    </a:cubicBezTo>
                    <a:cubicBezTo>
                      <a:pt x="11744" y="2633"/>
                      <a:pt x="9112" y="1"/>
                      <a:pt x="5868" y="1"/>
                    </a:cubicBez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86" name="Google Shape;15504;p127">
                <a:extLst>
                  <a:ext uri="{FF2B5EF4-FFF2-40B4-BE49-F238E27FC236}">
                    <a16:creationId xmlns:a16="http://schemas.microsoft.com/office/drawing/2014/main" id="{6032E2AB-8EAD-C756-FA1E-1CECF344FDFF}"/>
                  </a:ext>
                </a:extLst>
              </p:cNvPr>
              <p:cNvSpPr/>
              <p:nvPr/>
            </p:nvSpPr>
            <p:spPr>
              <a:xfrm>
                <a:off x="1927816" y="1551035"/>
                <a:ext cx="10845" cy="138416"/>
              </a:xfrm>
              <a:custGeom>
                <a:avLst/>
                <a:gdLst/>
                <a:ahLst/>
                <a:cxnLst/>
                <a:rect l="l" t="t" r="r" b="b"/>
                <a:pathLst>
                  <a:path w="413" h="5271" extrusionOk="0">
                    <a:moveTo>
                      <a:pt x="206" y="0"/>
                    </a:moveTo>
                    <a:cubicBezTo>
                      <a:pt x="103" y="0"/>
                      <a:pt x="1" y="70"/>
                      <a:pt x="1" y="208"/>
                    </a:cubicBezTo>
                    <a:lnTo>
                      <a:pt x="1" y="5060"/>
                    </a:lnTo>
                    <a:cubicBezTo>
                      <a:pt x="1" y="5175"/>
                      <a:pt x="87" y="5271"/>
                      <a:pt x="202" y="5271"/>
                    </a:cubicBezTo>
                    <a:cubicBezTo>
                      <a:pt x="316" y="5271"/>
                      <a:pt x="412" y="5175"/>
                      <a:pt x="412" y="5060"/>
                    </a:cubicBezTo>
                    <a:lnTo>
                      <a:pt x="412" y="208"/>
                    </a:lnTo>
                    <a:cubicBezTo>
                      <a:pt x="412" y="70"/>
                      <a:pt x="309" y="0"/>
                      <a:pt x="206" y="0"/>
                    </a:cubicBezTo>
                    <a:close/>
                  </a:path>
                </a:pathLst>
              </a:custGeom>
              <a:solidFill>
                <a:srgbClr val="65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87" name="Google Shape;15505;p127">
                <a:extLst>
                  <a:ext uri="{FF2B5EF4-FFF2-40B4-BE49-F238E27FC236}">
                    <a16:creationId xmlns:a16="http://schemas.microsoft.com/office/drawing/2014/main" id="{368A44D4-0668-9E29-B9F4-8AAB314E9A32}"/>
                  </a:ext>
                </a:extLst>
              </p:cNvPr>
              <p:cNvSpPr/>
              <p:nvPr/>
            </p:nvSpPr>
            <p:spPr>
              <a:xfrm>
                <a:off x="1925821" y="1678632"/>
                <a:ext cx="142014" cy="10819"/>
              </a:xfrm>
              <a:custGeom>
                <a:avLst/>
                <a:gdLst/>
                <a:ahLst/>
                <a:cxnLst/>
                <a:rect l="l" t="t" r="r" b="b"/>
                <a:pathLst>
                  <a:path w="5408" h="412" extrusionOk="0">
                    <a:moveTo>
                      <a:pt x="278" y="0"/>
                    </a:moveTo>
                    <a:cubicBezTo>
                      <a:pt x="0" y="0"/>
                      <a:pt x="0" y="412"/>
                      <a:pt x="278" y="412"/>
                    </a:cubicBezTo>
                    <a:lnTo>
                      <a:pt x="5130" y="412"/>
                    </a:lnTo>
                    <a:cubicBezTo>
                      <a:pt x="5407" y="412"/>
                      <a:pt x="5407" y="0"/>
                      <a:pt x="5130" y="0"/>
                    </a:cubicBezTo>
                    <a:close/>
                  </a:path>
                </a:pathLst>
              </a:custGeom>
              <a:solidFill>
                <a:srgbClr val="65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88" name="Google Shape;15506;p127">
                <a:extLst>
                  <a:ext uri="{FF2B5EF4-FFF2-40B4-BE49-F238E27FC236}">
                    <a16:creationId xmlns:a16="http://schemas.microsoft.com/office/drawing/2014/main" id="{2FAE706F-8541-1FFA-677E-4DC5D0A470A6}"/>
                  </a:ext>
                </a:extLst>
              </p:cNvPr>
              <p:cNvSpPr/>
              <p:nvPr/>
            </p:nvSpPr>
            <p:spPr>
              <a:xfrm>
                <a:off x="1816999" y="1567789"/>
                <a:ext cx="288020" cy="270215"/>
              </a:xfrm>
              <a:custGeom>
                <a:avLst/>
                <a:gdLst/>
                <a:ahLst/>
                <a:cxnLst/>
                <a:rect l="l" t="t" r="r" b="b"/>
                <a:pathLst>
                  <a:path w="10968" h="10290" extrusionOk="0">
                    <a:moveTo>
                      <a:pt x="8278" y="1"/>
                    </a:moveTo>
                    <a:lnTo>
                      <a:pt x="8278" y="1"/>
                    </a:lnTo>
                    <a:cubicBezTo>
                      <a:pt x="10317" y="2327"/>
                      <a:pt x="10192" y="5829"/>
                      <a:pt x="8010" y="8011"/>
                    </a:cubicBezTo>
                    <a:cubicBezTo>
                      <a:pt x="6869" y="9153"/>
                      <a:pt x="5365" y="9731"/>
                      <a:pt x="3858" y="9731"/>
                    </a:cubicBezTo>
                    <a:cubicBezTo>
                      <a:pt x="2485" y="9731"/>
                      <a:pt x="1109" y="9251"/>
                      <a:pt x="0" y="8279"/>
                    </a:cubicBezTo>
                    <a:lnTo>
                      <a:pt x="0" y="8279"/>
                    </a:lnTo>
                    <a:cubicBezTo>
                      <a:pt x="1167" y="9616"/>
                      <a:pt x="2795" y="10290"/>
                      <a:pt x="4426" y="10290"/>
                    </a:cubicBezTo>
                    <a:cubicBezTo>
                      <a:pt x="5924" y="10290"/>
                      <a:pt x="7425" y="9721"/>
                      <a:pt x="8575" y="8576"/>
                    </a:cubicBezTo>
                    <a:cubicBezTo>
                      <a:pt x="10968" y="6174"/>
                      <a:pt x="10843" y="2240"/>
                      <a:pt x="8278" y="1"/>
                    </a:cubicBezTo>
                    <a:close/>
                  </a:path>
                </a:pathLst>
              </a:custGeom>
              <a:solidFill>
                <a:srgbClr val="EBEF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89" name="Google Shape;15507;p127">
                <a:extLst>
                  <a:ext uri="{FF2B5EF4-FFF2-40B4-BE49-F238E27FC236}">
                    <a16:creationId xmlns:a16="http://schemas.microsoft.com/office/drawing/2014/main" id="{E6DBEA43-93ED-7170-494F-116F431CCF1E}"/>
                  </a:ext>
                </a:extLst>
              </p:cNvPr>
              <p:cNvSpPr/>
              <p:nvPr/>
            </p:nvSpPr>
            <p:spPr>
              <a:xfrm>
                <a:off x="1798644" y="1678632"/>
                <a:ext cx="22400" cy="10819"/>
              </a:xfrm>
              <a:custGeom>
                <a:avLst/>
                <a:gdLst/>
                <a:ahLst/>
                <a:cxnLst/>
                <a:rect l="l" t="t" r="r" b="b"/>
                <a:pathLst>
                  <a:path w="853" h="412" extrusionOk="0">
                    <a:moveTo>
                      <a:pt x="278" y="0"/>
                    </a:moveTo>
                    <a:cubicBezTo>
                      <a:pt x="0" y="0"/>
                      <a:pt x="0" y="412"/>
                      <a:pt x="278" y="412"/>
                    </a:cubicBezTo>
                    <a:lnTo>
                      <a:pt x="575" y="412"/>
                    </a:lnTo>
                    <a:cubicBezTo>
                      <a:pt x="852" y="412"/>
                      <a:pt x="852" y="0"/>
                      <a:pt x="575" y="0"/>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90" name="Google Shape;15508;p127">
                <a:extLst>
                  <a:ext uri="{FF2B5EF4-FFF2-40B4-BE49-F238E27FC236}">
                    <a16:creationId xmlns:a16="http://schemas.microsoft.com/office/drawing/2014/main" id="{160F7E0C-2D3F-FE92-2E37-444716596691}"/>
                  </a:ext>
                </a:extLst>
              </p:cNvPr>
              <p:cNvSpPr/>
              <p:nvPr/>
            </p:nvSpPr>
            <p:spPr>
              <a:xfrm>
                <a:off x="1927816" y="1798063"/>
                <a:ext cx="10845" cy="18828"/>
              </a:xfrm>
              <a:custGeom>
                <a:avLst/>
                <a:gdLst/>
                <a:ahLst/>
                <a:cxnLst/>
                <a:rect l="l" t="t" r="r" b="b"/>
                <a:pathLst>
                  <a:path w="413" h="717" extrusionOk="0">
                    <a:moveTo>
                      <a:pt x="206" y="1"/>
                    </a:moveTo>
                    <a:cubicBezTo>
                      <a:pt x="103" y="1"/>
                      <a:pt x="1" y="70"/>
                      <a:pt x="1" y="209"/>
                    </a:cubicBezTo>
                    <a:lnTo>
                      <a:pt x="1" y="506"/>
                    </a:lnTo>
                    <a:cubicBezTo>
                      <a:pt x="1" y="620"/>
                      <a:pt x="87" y="716"/>
                      <a:pt x="202" y="716"/>
                    </a:cubicBezTo>
                    <a:cubicBezTo>
                      <a:pt x="316" y="716"/>
                      <a:pt x="412" y="620"/>
                      <a:pt x="412" y="506"/>
                    </a:cubicBezTo>
                    <a:lnTo>
                      <a:pt x="412" y="209"/>
                    </a:lnTo>
                    <a:cubicBezTo>
                      <a:pt x="412" y="70"/>
                      <a:pt x="309" y="1"/>
                      <a:pt x="206" y="1"/>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91" name="Google Shape;15509;p127">
                <a:extLst>
                  <a:ext uri="{FF2B5EF4-FFF2-40B4-BE49-F238E27FC236}">
                    <a16:creationId xmlns:a16="http://schemas.microsoft.com/office/drawing/2014/main" id="{4EDB4B6C-E1AC-A637-102E-D5F5C43EE2F9}"/>
                  </a:ext>
                </a:extLst>
              </p:cNvPr>
              <p:cNvSpPr/>
              <p:nvPr/>
            </p:nvSpPr>
            <p:spPr>
              <a:xfrm>
                <a:off x="1835486" y="1588508"/>
                <a:ext cx="20667" cy="16518"/>
              </a:xfrm>
              <a:custGeom>
                <a:avLst/>
                <a:gdLst/>
                <a:ahLst/>
                <a:cxnLst/>
                <a:rect l="l" t="t" r="r" b="b"/>
                <a:pathLst>
                  <a:path w="787" h="629" extrusionOk="0">
                    <a:moveTo>
                      <a:pt x="293" y="1"/>
                    </a:moveTo>
                    <a:cubicBezTo>
                      <a:pt x="136" y="1"/>
                      <a:pt x="1" y="204"/>
                      <a:pt x="148" y="351"/>
                    </a:cubicBezTo>
                    <a:lnTo>
                      <a:pt x="358" y="571"/>
                    </a:lnTo>
                    <a:cubicBezTo>
                      <a:pt x="397" y="609"/>
                      <a:pt x="445" y="628"/>
                      <a:pt x="502" y="628"/>
                    </a:cubicBezTo>
                    <a:cubicBezTo>
                      <a:pt x="506" y="629"/>
                      <a:pt x="509" y="629"/>
                      <a:pt x="513" y="629"/>
                    </a:cubicBezTo>
                    <a:cubicBezTo>
                      <a:pt x="697" y="629"/>
                      <a:pt x="786" y="396"/>
                      <a:pt x="645" y="274"/>
                    </a:cubicBezTo>
                    <a:lnTo>
                      <a:pt x="435" y="64"/>
                    </a:lnTo>
                    <a:cubicBezTo>
                      <a:pt x="390" y="19"/>
                      <a:pt x="341" y="1"/>
                      <a:pt x="293" y="1"/>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92" name="Google Shape;15510;p127">
                <a:extLst>
                  <a:ext uri="{FF2B5EF4-FFF2-40B4-BE49-F238E27FC236}">
                    <a16:creationId xmlns:a16="http://schemas.microsoft.com/office/drawing/2014/main" id="{6030258C-9908-AAD0-C624-27C6FC83BDC1}"/>
                  </a:ext>
                </a:extLst>
              </p:cNvPr>
              <p:cNvSpPr/>
              <p:nvPr/>
            </p:nvSpPr>
            <p:spPr>
              <a:xfrm>
                <a:off x="2009958" y="1763189"/>
                <a:ext cx="20667" cy="16491"/>
              </a:xfrm>
              <a:custGeom>
                <a:avLst/>
                <a:gdLst/>
                <a:ahLst/>
                <a:cxnLst/>
                <a:rect l="l" t="t" r="r" b="b"/>
                <a:pathLst>
                  <a:path w="787" h="628" extrusionOk="0">
                    <a:moveTo>
                      <a:pt x="332" y="1"/>
                    </a:moveTo>
                    <a:cubicBezTo>
                      <a:pt x="177" y="1"/>
                      <a:pt x="1" y="236"/>
                      <a:pt x="146" y="350"/>
                    </a:cubicBezTo>
                    <a:lnTo>
                      <a:pt x="356" y="561"/>
                    </a:lnTo>
                    <a:cubicBezTo>
                      <a:pt x="394" y="599"/>
                      <a:pt x="452" y="618"/>
                      <a:pt x="509" y="628"/>
                    </a:cubicBezTo>
                    <a:cubicBezTo>
                      <a:pt x="701" y="628"/>
                      <a:pt x="787" y="398"/>
                      <a:pt x="653" y="264"/>
                    </a:cubicBezTo>
                    <a:lnTo>
                      <a:pt x="442" y="53"/>
                    </a:lnTo>
                    <a:cubicBezTo>
                      <a:pt x="411" y="16"/>
                      <a:pt x="372" y="1"/>
                      <a:pt x="332" y="1"/>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93" name="Google Shape;15511;p127">
                <a:extLst>
                  <a:ext uri="{FF2B5EF4-FFF2-40B4-BE49-F238E27FC236}">
                    <a16:creationId xmlns:a16="http://schemas.microsoft.com/office/drawing/2014/main" id="{2C30903F-225B-1168-A638-80041AD3B250}"/>
                  </a:ext>
                </a:extLst>
              </p:cNvPr>
              <p:cNvSpPr/>
              <p:nvPr/>
            </p:nvSpPr>
            <p:spPr>
              <a:xfrm>
                <a:off x="2010247" y="1588193"/>
                <a:ext cx="21113" cy="16833"/>
              </a:xfrm>
              <a:custGeom>
                <a:avLst/>
                <a:gdLst/>
                <a:ahLst/>
                <a:cxnLst/>
                <a:rect l="l" t="t" r="r" b="b"/>
                <a:pathLst>
                  <a:path w="804" h="641" extrusionOk="0">
                    <a:moveTo>
                      <a:pt x="493" y="0"/>
                    </a:moveTo>
                    <a:cubicBezTo>
                      <a:pt x="444" y="0"/>
                      <a:pt x="392" y="20"/>
                      <a:pt x="345" y="66"/>
                    </a:cubicBezTo>
                    <a:lnTo>
                      <a:pt x="135" y="277"/>
                    </a:lnTo>
                    <a:cubicBezTo>
                      <a:pt x="1" y="411"/>
                      <a:pt x="96" y="640"/>
                      <a:pt x="288" y="640"/>
                    </a:cubicBezTo>
                    <a:cubicBezTo>
                      <a:pt x="336" y="640"/>
                      <a:pt x="393" y="612"/>
                      <a:pt x="431" y="583"/>
                    </a:cubicBezTo>
                    <a:lnTo>
                      <a:pt x="642" y="363"/>
                    </a:lnTo>
                    <a:cubicBezTo>
                      <a:pt x="804" y="216"/>
                      <a:pt x="660" y="0"/>
                      <a:pt x="493" y="0"/>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94" name="Google Shape;15512;p127">
                <a:extLst>
                  <a:ext uri="{FF2B5EF4-FFF2-40B4-BE49-F238E27FC236}">
                    <a16:creationId xmlns:a16="http://schemas.microsoft.com/office/drawing/2014/main" id="{9389087A-1B88-3C6D-B1BB-9A6578ACA351}"/>
                  </a:ext>
                </a:extLst>
              </p:cNvPr>
              <p:cNvSpPr/>
              <p:nvPr/>
            </p:nvSpPr>
            <p:spPr>
              <a:xfrm>
                <a:off x="1835591" y="1762927"/>
                <a:ext cx="20719" cy="16754"/>
              </a:xfrm>
              <a:custGeom>
                <a:avLst/>
                <a:gdLst/>
                <a:ahLst/>
                <a:cxnLst/>
                <a:rect l="l" t="t" r="r" b="b"/>
                <a:pathLst>
                  <a:path w="789" h="638" extrusionOk="0">
                    <a:moveTo>
                      <a:pt x="496" y="0"/>
                    </a:moveTo>
                    <a:cubicBezTo>
                      <a:pt x="448" y="0"/>
                      <a:pt x="399" y="19"/>
                      <a:pt x="354" y="63"/>
                    </a:cubicBezTo>
                    <a:lnTo>
                      <a:pt x="144" y="274"/>
                    </a:lnTo>
                    <a:cubicBezTo>
                      <a:pt x="0" y="408"/>
                      <a:pt x="96" y="638"/>
                      <a:pt x="287" y="638"/>
                    </a:cubicBezTo>
                    <a:cubicBezTo>
                      <a:pt x="345" y="628"/>
                      <a:pt x="393" y="609"/>
                      <a:pt x="431" y="571"/>
                    </a:cubicBezTo>
                    <a:lnTo>
                      <a:pt x="641" y="360"/>
                    </a:lnTo>
                    <a:cubicBezTo>
                      <a:pt x="789" y="206"/>
                      <a:pt x="653" y="0"/>
                      <a:pt x="496" y="0"/>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95" name="Google Shape;15513;p127">
                <a:extLst>
                  <a:ext uri="{FF2B5EF4-FFF2-40B4-BE49-F238E27FC236}">
                    <a16:creationId xmlns:a16="http://schemas.microsoft.com/office/drawing/2014/main" id="{29081E12-0E8F-E183-3305-BFF17004BBDE}"/>
                  </a:ext>
                </a:extLst>
              </p:cNvPr>
              <p:cNvSpPr/>
              <p:nvPr/>
            </p:nvSpPr>
            <p:spPr>
              <a:xfrm>
                <a:off x="1808018" y="1628581"/>
                <a:ext cx="22820" cy="14128"/>
              </a:xfrm>
              <a:custGeom>
                <a:avLst/>
                <a:gdLst/>
                <a:ahLst/>
                <a:cxnLst/>
                <a:rect l="l" t="t" r="r" b="b"/>
                <a:pathLst>
                  <a:path w="869" h="538" extrusionOk="0">
                    <a:moveTo>
                      <a:pt x="291" y="0"/>
                    </a:moveTo>
                    <a:cubicBezTo>
                      <a:pt x="97" y="0"/>
                      <a:pt x="0" y="312"/>
                      <a:pt x="218" y="404"/>
                    </a:cubicBezTo>
                    <a:lnTo>
                      <a:pt x="495" y="519"/>
                    </a:lnTo>
                    <a:cubicBezTo>
                      <a:pt x="524" y="538"/>
                      <a:pt x="553" y="538"/>
                      <a:pt x="581" y="538"/>
                    </a:cubicBezTo>
                    <a:cubicBezTo>
                      <a:pt x="811" y="538"/>
                      <a:pt x="868" y="222"/>
                      <a:pt x="658" y="136"/>
                    </a:cubicBezTo>
                    <a:lnTo>
                      <a:pt x="380" y="21"/>
                    </a:lnTo>
                    <a:cubicBezTo>
                      <a:pt x="349" y="7"/>
                      <a:pt x="319" y="0"/>
                      <a:pt x="291" y="0"/>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96" name="Google Shape;15514;p127">
                <a:extLst>
                  <a:ext uri="{FF2B5EF4-FFF2-40B4-BE49-F238E27FC236}">
                    <a16:creationId xmlns:a16="http://schemas.microsoft.com/office/drawing/2014/main" id="{A2829907-8353-D5B2-33D0-7FE359B13D56}"/>
                  </a:ext>
                </a:extLst>
              </p:cNvPr>
              <p:cNvSpPr/>
              <p:nvPr/>
            </p:nvSpPr>
            <p:spPr>
              <a:xfrm>
                <a:off x="2035194" y="1725139"/>
                <a:ext cx="23004" cy="14102"/>
              </a:xfrm>
              <a:custGeom>
                <a:avLst/>
                <a:gdLst/>
                <a:ahLst/>
                <a:cxnLst/>
                <a:rect l="l" t="t" r="r" b="b"/>
                <a:pathLst>
                  <a:path w="876" h="537" extrusionOk="0">
                    <a:moveTo>
                      <a:pt x="303" y="1"/>
                    </a:moveTo>
                    <a:cubicBezTo>
                      <a:pt x="99" y="1"/>
                      <a:pt x="0" y="309"/>
                      <a:pt x="228" y="402"/>
                    </a:cubicBezTo>
                    <a:lnTo>
                      <a:pt x="496" y="526"/>
                    </a:lnTo>
                    <a:cubicBezTo>
                      <a:pt x="524" y="536"/>
                      <a:pt x="553" y="536"/>
                      <a:pt x="582" y="536"/>
                    </a:cubicBezTo>
                    <a:cubicBezTo>
                      <a:pt x="585" y="536"/>
                      <a:pt x="589" y="536"/>
                      <a:pt x="592" y="536"/>
                    </a:cubicBezTo>
                    <a:cubicBezTo>
                      <a:pt x="814" y="536"/>
                      <a:pt x="875" y="228"/>
                      <a:pt x="658" y="144"/>
                    </a:cubicBezTo>
                    <a:lnTo>
                      <a:pt x="390" y="19"/>
                    </a:lnTo>
                    <a:cubicBezTo>
                      <a:pt x="360" y="7"/>
                      <a:pt x="330" y="1"/>
                      <a:pt x="303" y="1"/>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97" name="Google Shape;15515;p127">
                <a:extLst>
                  <a:ext uri="{FF2B5EF4-FFF2-40B4-BE49-F238E27FC236}">
                    <a16:creationId xmlns:a16="http://schemas.microsoft.com/office/drawing/2014/main" id="{92E1C081-9A47-406D-8D77-315A03FFB972}"/>
                  </a:ext>
                </a:extLst>
              </p:cNvPr>
              <p:cNvSpPr/>
              <p:nvPr/>
            </p:nvSpPr>
            <p:spPr>
              <a:xfrm>
                <a:off x="1973299" y="1561276"/>
                <a:ext cx="16649" cy="18119"/>
              </a:xfrm>
              <a:custGeom>
                <a:avLst/>
                <a:gdLst/>
                <a:ahLst/>
                <a:cxnLst/>
                <a:rect l="l" t="t" r="r" b="b"/>
                <a:pathLst>
                  <a:path w="634" h="690" extrusionOk="0">
                    <a:moveTo>
                      <a:pt x="363" y="1"/>
                    </a:moveTo>
                    <a:cubicBezTo>
                      <a:pt x="291" y="1"/>
                      <a:pt x="220" y="37"/>
                      <a:pt x="183" y="125"/>
                    </a:cubicBezTo>
                    <a:lnTo>
                      <a:pt x="58" y="402"/>
                    </a:lnTo>
                    <a:cubicBezTo>
                      <a:pt x="1" y="536"/>
                      <a:pt x="106" y="689"/>
                      <a:pt x="250" y="689"/>
                    </a:cubicBezTo>
                    <a:cubicBezTo>
                      <a:pt x="336" y="689"/>
                      <a:pt x="412" y="641"/>
                      <a:pt x="451" y="565"/>
                    </a:cubicBezTo>
                    <a:lnTo>
                      <a:pt x="565" y="287"/>
                    </a:lnTo>
                    <a:cubicBezTo>
                      <a:pt x="634" y="126"/>
                      <a:pt x="497" y="1"/>
                      <a:pt x="363" y="1"/>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98" name="Google Shape;15516;p127">
                <a:extLst>
                  <a:ext uri="{FF2B5EF4-FFF2-40B4-BE49-F238E27FC236}">
                    <a16:creationId xmlns:a16="http://schemas.microsoft.com/office/drawing/2014/main" id="{468417C7-73A4-903C-CA5B-A4D03ED64BE5}"/>
                  </a:ext>
                </a:extLst>
              </p:cNvPr>
              <p:cNvSpPr/>
              <p:nvPr/>
            </p:nvSpPr>
            <p:spPr>
              <a:xfrm>
                <a:off x="1876557" y="1788557"/>
                <a:ext cx="16623" cy="18277"/>
              </a:xfrm>
              <a:custGeom>
                <a:avLst/>
                <a:gdLst/>
                <a:ahLst/>
                <a:cxnLst/>
                <a:rect l="l" t="t" r="r" b="b"/>
                <a:pathLst>
                  <a:path w="633" h="696" extrusionOk="0">
                    <a:moveTo>
                      <a:pt x="365" y="0"/>
                    </a:moveTo>
                    <a:cubicBezTo>
                      <a:pt x="292" y="0"/>
                      <a:pt x="220" y="39"/>
                      <a:pt x="182" y="131"/>
                    </a:cubicBezTo>
                    <a:lnTo>
                      <a:pt x="58" y="399"/>
                    </a:lnTo>
                    <a:cubicBezTo>
                      <a:pt x="0" y="542"/>
                      <a:pt x="106" y="695"/>
                      <a:pt x="259" y="695"/>
                    </a:cubicBezTo>
                    <a:cubicBezTo>
                      <a:pt x="335" y="695"/>
                      <a:pt x="412" y="638"/>
                      <a:pt x="450" y="561"/>
                    </a:cubicBezTo>
                    <a:lnTo>
                      <a:pt x="565" y="293"/>
                    </a:lnTo>
                    <a:cubicBezTo>
                      <a:pt x="633" y="127"/>
                      <a:pt x="498" y="0"/>
                      <a:pt x="365" y="0"/>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99" name="Google Shape;15517;p127">
                <a:extLst>
                  <a:ext uri="{FF2B5EF4-FFF2-40B4-BE49-F238E27FC236}">
                    <a16:creationId xmlns:a16="http://schemas.microsoft.com/office/drawing/2014/main" id="{DD96A3BA-D5E1-3CF4-ADB2-251D1D93E54C}"/>
                  </a:ext>
                </a:extLst>
              </p:cNvPr>
              <p:cNvSpPr/>
              <p:nvPr/>
            </p:nvSpPr>
            <p:spPr>
              <a:xfrm>
                <a:off x="1878710" y="1560541"/>
                <a:ext cx="15966" cy="18093"/>
              </a:xfrm>
              <a:custGeom>
                <a:avLst/>
                <a:gdLst/>
                <a:ahLst/>
                <a:cxnLst/>
                <a:rect l="l" t="t" r="r" b="b"/>
                <a:pathLst>
                  <a:path w="608" h="689" extrusionOk="0">
                    <a:moveTo>
                      <a:pt x="266" y="0"/>
                    </a:moveTo>
                    <a:cubicBezTo>
                      <a:pt x="134" y="0"/>
                      <a:pt x="1" y="122"/>
                      <a:pt x="62" y="287"/>
                    </a:cubicBezTo>
                    <a:lnTo>
                      <a:pt x="177" y="564"/>
                    </a:lnTo>
                    <a:cubicBezTo>
                      <a:pt x="215" y="641"/>
                      <a:pt x="291" y="688"/>
                      <a:pt x="368" y="688"/>
                    </a:cubicBezTo>
                    <a:cubicBezTo>
                      <a:pt x="512" y="679"/>
                      <a:pt x="607" y="545"/>
                      <a:pt x="569" y="411"/>
                    </a:cubicBezTo>
                    <a:lnTo>
                      <a:pt x="454" y="133"/>
                    </a:lnTo>
                    <a:cubicBezTo>
                      <a:pt x="416" y="40"/>
                      <a:pt x="341" y="0"/>
                      <a:pt x="266" y="0"/>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00" name="Google Shape;15518;p127">
                <a:extLst>
                  <a:ext uri="{FF2B5EF4-FFF2-40B4-BE49-F238E27FC236}">
                    <a16:creationId xmlns:a16="http://schemas.microsoft.com/office/drawing/2014/main" id="{2377A376-C3E0-7589-3119-EC389A0B7830}"/>
                  </a:ext>
                </a:extLst>
              </p:cNvPr>
              <p:cNvSpPr/>
              <p:nvPr/>
            </p:nvSpPr>
            <p:spPr>
              <a:xfrm>
                <a:off x="1971014" y="1789292"/>
                <a:ext cx="16386" cy="18277"/>
              </a:xfrm>
              <a:custGeom>
                <a:avLst/>
                <a:gdLst/>
                <a:ahLst/>
                <a:cxnLst/>
                <a:rect l="l" t="t" r="r" b="b"/>
                <a:pathLst>
                  <a:path w="624" h="696" extrusionOk="0">
                    <a:moveTo>
                      <a:pt x="272" y="1"/>
                    </a:moveTo>
                    <a:cubicBezTo>
                      <a:pt x="140" y="1"/>
                      <a:pt x="1" y="128"/>
                      <a:pt x="69" y="294"/>
                    </a:cubicBezTo>
                    <a:lnTo>
                      <a:pt x="184" y="572"/>
                    </a:lnTo>
                    <a:cubicBezTo>
                      <a:pt x="212" y="648"/>
                      <a:pt x="289" y="696"/>
                      <a:pt x="375" y="696"/>
                    </a:cubicBezTo>
                    <a:cubicBezTo>
                      <a:pt x="518" y="696"/>
                      <a:pt x="624" y="552"/>
                      <a:pt x="566" y="409"/>
                    </a:cubicBezTo>
                    <a:lnTo>
                      <a:pt x="451" y="131"/>
                    </a:lnTo>
                    <a:cubicBezTo>
                      <a:pt x="417" y="39"/>
                      <a:pt x="346" y="1"/>
                      <a:pt x="272" y="1"/>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01" name="Google Shape;15519;p127">
                <a:extLst>
                  <a:ext uri="{FF2B5EF4-FFF2-40B4-BE49-F238E27FC236}">
                    <a16:creationId xmlns:a16="http://schemas.microsoft.com/office/drawing/2014/main" id="{E2E544F3-520F-6274-90DF-A23BFA9BDF3F}"/>
                  </a:ext>
                </a:extLst>
              </p:cNvPr>
              <p:cNvSpPr/>
              <p:nvPr/>
            </p:nvSpPr>
            <p:spPr>
              <a:xfrm>
                <a:off x="2036375" y="1630734"/>
                <a:ext cx="22951" cy="13997"/>
              </a:xfrm>
              <a:custGeom>
                <a:avLst/>
                <a:gdLst/>
                <a:ahLst/>
                <a:cxnLst/>
                <a:rect l="l" t="t" r="r" b="b"/>
                <a:pathLst>
                  <a:path w="874" h="533" extrusionOk="0">
                    <a:moveTo>
                      <a:pt x="570" y="0"/>
                    </a:moveTo>
                    <a:cubicBezTo>
                      <a:pt x="544" y="0"/>
                      <a:pt x="517" y="5"/>
                      <a:pt x="489" y="16"/>
                    </a:cubicBezTo>
                    <a:lnTo>
                      <a:pt x="212" y="131"/>
                    </a:lnTo>
                    <a:cubicBezTo>
                      <a:pt x="1" y="217"/>
                      <a:pt x="58" y="532"/>
                      <a:pt x="288" y="532"/>
                    </a:cubicBezTo>
                    <a:cubicBezTo>
                      <a:pt x="317" y="532"/>
                      <a:pt x="345" y="532"/>
                      <a:pt x="374" y="523"/>
                    </a:cubicBezTo>
                    <a:lnTo>
                      <a:pt x="652" y="408"/>
                    </a:lnTo>
                    <a:cubicBezTo>
                      <a:pt x="873" y="314"/>
                      <a:pt x="776" y="0"/>
                      <a:pt x="570" y="0"/>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02" name="Google Shape;15520;p127">
                <a:extLst>
                  <a:ext uri="{FF2B5EF4-FFF2-40B4-BE49-F238E27FC236}">
                    <a16:creationId xmlns:a16="http://schemas.microsoft.com/office/drawing/2014/main" id="{BE8D05F3-CEE8-87D4-8818-7D9B01F80194}"/>
                  </a:ext>
                </a:extLst>
              </p:cNvPr>
              <p:cNvSpPr/>
              <p:nvPr/>
            </p:nvSpPr>
            <p:spPr>
              <a:xfrm>
                <a:off x="1807441" y="1723143"/>
                <a:ext cx="22846" cy="14075"/>
              </a:xfrm>
              <a:custGeom>
                <a:avLst/>
                <a:gdLst/>
                <a:ahLst/>
                <a:cxnLst/>
                <a:rect l="l" t="t" r="r" b="b"/>
                <a:pathLst>
                  <a:path w="870" h="536" extrusionOk="0">
                    <a:moveTo>
                      <a:pt x="574" y="1"/>
                    </a:moveTo>
                    <a:cubicBezTo>
                      <a:pt x="547" y="1"/>
                      <a:pt x="519" y="6"/>
                      <a:pt x="488" y="19"/>
                    </a:cubicBezTo>
                    <a:lnTo>
                      <a:pt x="211" y="133"/>
                    </a:lnTo>
                    <a:cubicBezTo>
                      <a:pt x="0" y="220"/>
                      <a:pt x="58" y="535"/>
                      <a:pt x="288" y="535"/>
                    </a:cubicBezTo>
                    <a:cubicBezTo>
                      <a:pt x="316" y="535"/>
                      <a:pt x="345" y="526"/>
                      <a:pt x="364" y="516"/>
                    </a:cubicBezTo>
                    <a:lnTo>
                      <a:pt x="642" y="401"/>
                    </a:lnTo>
                    <a:cubicBezTo>
                      <a:pt x="870" y="317"/>
                      <a:pt x="777" y="1"/>
                      <a:pt x="574" y="1"/>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grpSp>
      <p:grpSp>
        <p:nvGrpSpPr>
          <p:cNvPr id="503" name="Group 502">
            <a:extLst>
              <a:ext uri="{FF2B5EF4-FFF2-40B4-BE49-F238E27FC236}">
                <a16:creationId xmlns:a16="http://schemas.microsoft.com/office/drawing/2014/main" id="{C41A52B4-D278-F9E8-F455-E85A3E95968C}"/>
              </a:ext>
            </a:extLst>
          </p:cNvPr>
          <p:cNvGrpSpPr/>
          <p:nvPr/>
        </p:nvGrpSpPr>
        <p:grpSpPr>
          <a:xfrm>
            <a:off x="459027" y="4980668"/>
            <a:ext cx="572700" cy="572700"/>
            <a:chOff x="941935" y="4454968"/>
            <a:chExt cx="572700" cy="572700"/>
          </a:xfrm>
        </p:grpSpPr>
        <p:sp>
          <p:nvSpPr>
            <p:cNvPr id="504" name="Google Shape;839;p61">
              <a:extLst>
                <a:ext uri="{FF2B5EF4-FFF2-40B4-BE49-F238E27FC236}">
                  <a16:creationId xmlns:a16="http://schemas.microsoft.com/office/drawing/2014/main" id="{5AA20EFE-7B08-396B-3F59-3A175D53CEF3}"/>
                </a:ext>
              </a:extLst>
            </p:cNvPr>
            <p:cNvSpPr/>
            <p:nvPr/>
          </p:nvSpPr>
          <p:spPr>
            <a:xfrm>
              <a:off x="941935" y="4454968"/>
              <a:ext cx="572700" cy="572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nvGrpSpPr>
            <p:cNvPr id="505" name="Google Shape;16037;p127">
              <a:extLst>
                <a:ext uri="{FF2B5EF4-FFF2-40B4-BE49-F238E27FC236}">
                  <a16:creationId xmlns:a16="http://schemas.microsoft.com/office/drawing/2014/main" id="{9F27DA34-ACED-1085-CFBB-A37C46324B07}"/>
                </a:ext>
              </a:extLst>
            </p:cNvPr>
            <p:cNvGrpSpPr/>
            <p:nvPr/>
          </p:nvGrpSpPr>
          <p:grpSpPr>
            <a:xfrm>
              <a:off x="1079143" y="4545575"/>
              <a:ext cx="341065" cy="341065"/>
              <a:chOff x="3117788" y="3812546"/>
              <a:chExt cx="341065" cy="341065"/>
            </a:xfrm>
          </p:grpSpPr>
          <p:sp>
            <p:nvSpPr>
              <p:cNvPr id="506" name="Google Shape;16038;p127">
                <a:extLst>
                  <a:ext uri="{FF2B5EF4-FFF2-40B4-BE49-F238E27FC236}">
                    <a16:creationId xmlns:a16="http://schemas.microsoft.com/office/drawing/2014/main" id="{7F58CBCA-790B-8F1C-C093-FE7F9F15544D}"/>
                  </a:ext>
                </a:extLst>
              </p:cNvPr>
              <p:cNvSpPr/>
              <p:nvPr/>
            </p:nvSpPr>
            <p:spPr>
              <a:xfrm>
                <a:off x="3117788" y="3812546"/>
                <a:ext cx="259396" cy="259370"/>
              </a:xfrm>
              <a:custGeom>
                <a:avLst/>
                <a:gdLst/>
                <a:ahLst/>
                <a:cxnLst/>
                <a:rect l="l" t="t" r="r" b="b"/>
                <a:pathLst>
                  <a:path w="9878" h="9877" extrusionOk="0">
                    <a:moveTo>
                      <a:pt x="4633" y="0"/>
                    </a:moveTo>
                    <a:cubicBezTo>
                      <a:pt x="4422" y="0"/>
                      <a:pt x="4231" y="154"/>
                      <a:pt x="4193" y="355"/>
                    </a:cubicBezTo>
                    <a:lnTo>
                      <a:pt x="3963" y="1474"/>
                    </a:lnTo>
                    <a:cubicBezTo>
                      <a:pt x="3695" y="1560"/>
                      <a:pt x="3427" y="1666"/>
                      <a:pt x="3178" y="1809"/>
                    </a:cubicBezTo>
                    <a:lnTo>
                      <a:pt x="2221" y="1168"/>
                    </a:lnTo>
                    <a:cubicBezTo>
                      <a:pt x="2149" y="1120"/>
                      <a:pt x="2066" y="1097"/>
                      <a:pt x="1982" y="1097"/>
                    </a:cubicBezTo>
                    <a:cubicBezTo>
                      <a:pt x="1864" y="1097"/>
                      <a:pt x="1746" y="1142"/>
                      <a:pt x="1657" y="1225"/>
                    </a:cubicBezTo>
                    <a:lnTo>
                      <a:pt x="1226" y="1666"/>
                    </a:lnTo>
                    <a:cubicBezTo>
                      <a:pt x="1073" y="1809"/>
                      <a:pt x="1054" y="2049"/>
                      <a:pt x="1169" y="2230"/>
                    </a:cubicBezTo>
                    <a:lnTo>
                      <a:pt x="1800" y="3178"/>
                    </a:lnTo>
                    <a:cubicBezTo>
                      <a:pt x="1666" y="3427"/>
                      <a:pt x="1551" y="3695"/>
                      <a:pt x="1475" y="3972"/>
                    </a:cubicBezTo>
                    <a:lnTo>
                      <a:pt x="355" y="4192"/>
                    </a:lnTo>
                    <a:cubicBezTo>
                      <a:pt x="145" y="4240"/>
                      <a:pt x="1" y="4422"/>
                      <a:pt x="1" y="4632"/>
                    </a:cubicBezTo>
                    <a:lnTo>
                      <a:pt x="1" y="5245"/>
                    </a:lnTo>
                    <a:cubicBezTo>
                      <a:pt x="1" y="5456"/>
                      <a:pt x="145" y="5637"/>
                      <a:pt x="355" y="5685"/>
                    </a:cubicBezTo>
                    <a:lnTo>
                      <a:pt x="1475" y="5905"/>
                    </a:lnTo>
                    <a:cubicBezTo>
                      <a:pt x="1551" y="6183"/>
                      <a:pt x="1666" y="6451"/>
                      <a:pt x="1800" y="6700"/>
                    </a:cubicBezTo>
                    <a:lnTo>
                      <a:pt x="1169" y="7647"/>
                    </a:lnTo>
                    <a:cubicBezTo>
                      <a:pt x="1054" y="7829"/>
                      <a:pt x="1073" y="8068"/>
                      <a:pt x="1226" y="8221"/>
                    </a:cubicBezTo>
                    <a:lnTo>
                      <a:pt x="1657" y="8652"/>
                    </a:lnTo>
                    <a:cubicBezTo>
                      <a:pt x="1744" y="8739"/>
                      <a:pt x="1860" y="8783"/>
                      <a:pt x="1975" y="8783"/>
                    </a:cubicBezTo>
                    <a:cubicBezTo>
                      <a:pt x="2061" y="8783"/>
                      <a:pt x="2147" y="8759"/>
                      <a:pt x="2221" y="8709"/>
                    </a:cubicBezTo>
                    <a:lnTo>
                      <a:pt x="3178" y="8068"/>
                    </a:lnTo>
                    <a:cubicBezTo>
                      <a:pt x="3427" y="8212"/>
                      <a:pt x="3695" y="8327"/>
                      <a:pt x="3963" y="8403"/>
                    </a:cubicBezTo>
                    <a:lnTo>
                      <a:pt x="4193" y="9523"/>
                    </a:lnTo>
                    <a:cubicBezTo>
                      <a:pt x="4231" y="9724"/>
                      <a:pt x="4422" y="9877"/>
                      <a:pt x="4633" y="9877"/>
                    </a:cubicBezTo>
                    <a:lnTo>
                      <a:pt x="5245" y="9877"/>
                    </a:lnTo>
                    <a:cubicBezTo>
                      <a:pt x="5456" y="9877"/>
                      <a:pt x="5638" y="9724"/>
                      <a:pt x="5686" y="9523"/>
                    </a:cubicBezTo>
                    <a:lnTo>
                      <a:pt x="5906" y="8403"/>
                    </a:lnTo>
                    <a:cubicBezTo>
                      <a:pt x="6183" y="8327"/>
                      <a:pt x="6451" y="8212"/>
                      <a:pt x="6700" y="8068"/>
                    </a:cubicBezTo>
                    <a:lnTo>
                      <a:pt x="7648" y="8709"/>
                    </a:lnTo>
                    <a:cubicBezTo>
                      <a:pt x="7726" y="8759"/>
                      <a:pt x="7814" y="8783"/>
                      <a:pt x="7901" y="8783"/>
                    </a:cubicBezTo>
                    <a:cubicBezTo>
                      <a:pt x="8017" y="8783"/>
                      <a:pt x="8130" y="8739"/>
                      <a:pt x="8212" y="8652"/>
                    </a:cubicBezTo>
                    <a:lnTo>
                      <a:pt x="8643" y="8221"/>
                    </a:lnTo>
                    <a:cubicBezTo>
                      <a:pt x="8796" y="8068"/>
                      <a:pt x="8825" y="7829"/>
                      <a:pt x="8700" y="7647"/>
                    </a:cubicBezTo>
                    <a:lnTo>
                      <a:pt x="8069" y="6700"/>
                    </a:lnTo>
                    <a:cubicBezTo>
                      <a:pt x="8212" y="6451"/>
                      <a:pt x="8318" y="6183"/>
                      <a:pt x="8394" y="5905"/>
                    </a:cubicBezTo>
                    <a:lnTo>
                      <a:pt x="9514" y="5685"/>
                    </a:lnTo>
                    <a:cubicBezTo>
                      <a:pt x="9724" y="5637"/>
                      <a:pt x="9878" y="5456"/>
                      <a:pt x="9878" y="5245"/>
                    </a:cubicBezTo>
                    <a:lnTo>
                      <a:pt x="9878" y="4632"/>
                    </a:lnTo>
                    <a:cubicBezTo>
                      <a:pt x="9878" y="4422"/>
                      <a:pt x="9724" y="4240"/>
                      <a:pt x="9514" y="4192"/>
                    </a:cubicBezTo>
                    <a:lnTo>
                      <a:pt x="8394" y="3972"/>
                    </a:lnTo>
                    <a:cubicBezTo>
                      <a:pt x="8318" y="3695"/>
                      <a:pt x="8212" y="3427"/>
                      <a:pt x="8069" y="3178"/>
                    </a:cubicBezTo>
                    <a:lnTo>
                      <a:pt x="8700" y="2230"/>
                    </a:lnTo>
                    <a:cubicBezTo>
                      <a:pt x="8825" y="2049"/>
                      <a:pt x="8796" y="1809"/>
                      <a:pt x="8643" y="1666"/>
                    </a:cubicBezTo>
                    <a:lnTo>
                      <a:pt x="8212" y="1225"/>
                    </a:lnTo>
                    <a:cubicBezTo>
                      <a:pt x="8129" y="1142"/>
                      <a:pt x="8013" y="1097"/>
                      <a:pt x="7894" y="1097"/>
                    </a:cubicBezTo>
                    <a:cubicBezTo>
                      <a:pt x="7809" y="1097"/>
                      <a:pt x="7724" y="1120"/>
                      <a:pt x="7648" y="1168"/>
                    </a:cubicBezTo>
                    <a:lnTo>
                      <a:pt x="6700" y="1809"/>
                    </a:lnTo>
                    <a:cubicBezTo>
                      <a:pt x="6451" y="1666"/>
                      <a:pt x="6183" y="1560"/>
                      <a:pt x="5906" y="1474"/>
                    </a:cubicBezTo>
                    <a:lnTo>
                      <a:pt x="5686" y="355"/>
                    </a:lnTo>
                    <a:cubicBezTo>
                      <a:pt x="5638" y="154"/>
                      <a:pt x="5456" y="0"/>
                      <a:pt x="5245" y="0"/>
                    </a:cubicBezTo>
                    <a:close/>
                  </a:path>
                </a:pathLst>
              </a:custGeom>
              <a:solidFill>
                <a:srgbClr val="00B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07" name="Google Shape;16039;p127">
                <a:extLst>
                  <a:ext uri="{FF2B5EF4-FFF2-40B4-BE49-F238E27FC236}">
                    <a16:creationId xmlns:a16="http://schemas.microsoft.com/office/drawing/2014/main" id="{66448069-4682-ED6B-9113-970E9A352A2F}"/>
                  </a:ext>
                </a:extLst>
              </p:cNvPr>
              <p:cNvSpPr/>
              <p:nvPr/>
            </p:nvSpPr>
            <p:spPr>
              <a:xfrm>
                <a:off x="3171332" y="3885181"/>
                <a:ext cx="132981" cy="114126"/>
              </a:xfrm>
              <a:custGeom>
                <a:avLst/>
                <a:gdLst/>
                <a:ahLst/>
                <a:cxnLst/>
                <a:rect l="l" t="t" r="r" b="b"/>
                <a:pathLst>
                  <a:path w="5064" h="4346" extrusionOk="0">
                    <a:moveTo>
                      <a:pt x="2900" y="0"/>
                    </a:moveTo>
                    <a:cubicBezTo>
                      <a:pt x="967" y="0"/>
                      <a:pt x="0" y="2335"/>
                      <a:pt x="1359" y="3704"/>
                    </a:cubicBezTo>
                    <a:cubicBezTo>
                      <a:pt x="1802" y="4147"/>
                      <a:pt x="2347" y="4345"/>
                      <a:pt x="2880" y="4345"/>
                    </a:cubicBezTo>
                    <a:cubicBezTo>
                      <a:pt x="3995" y="4345"/>
                      <a:pt x="5063" y="3480"/>
                      <a:pt x="5063" y="2173"/>
                    </a:cubicBezTo>
                    <a:cubicBezTo>
                      <a:pt x="5063" y="976"/>
                      <a:pt x="4097" y="0"/>
                      <a:pt x="2900" y="0"/>
                    </a:cubicBezTo>
                    <a:close/>
                  </a:path>
                </a:pathLst>
              </a:custGeom>
              <a:solidFill>
                <a:srgbClr val="E3E8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08" name="Google Shape;16040;p127">
                <a:extLst>
                  <a:ext uri="{FF2B5EF4-FFF2-40B4-BE49-F238E27FC236}">
                    <a16:creationId xmlns:a16="http://schemas.microsoft.com/office/drawing/2014/main" id="{46E9C38D-FF52-9221-30CD-56BC9461D78A}"/>
                  </a:ext>
                </a:extLst>
              </p:cNvPr>
              <p:cNvSpPr/>
              <p:nvPr/>
            </p:nvSpPr>
            <p:spPr>
              <a:xfrm>
                <a:off x="3209541" y="3914067"/>
                <a:ext cx="66123" cy="56485"/>
              </a:xfrm>
              <a:custGeom>
                <a:avLst/>
                <a:gdLst/>
                <a:ahLst/>
                <a:cxnLst/>
                <a:rect l="l" t="t" r="r" b="b"/>
                <a:pathLst>
                  <a:path w="2518" h="2151" extrusionOk="0">
                    <a:moveTo>
                      <a:pt x="1445" y="1"/>
                    </a:moveTo>
                    <a:cubicBezTo>
                      <a:pt x="479" y="1"/>
                      <a:pt x="0" y="1159"/>
                      <a:pt x="680" y="1838"/>
                    </a:cubicBezTo>
                    <a:cubicBezTo>
                      <a:pt x="898" y="2054"/>
                      <a:pt x="1167" y="2151"/>
                      <a:pt x="1430" y="2151"/>
                    </a:cubicBezTo>
                    <a:cubicBezTo>
                      <a:pt x="1985" y="2151"/>
                      <a:pt x="2517" y="1722"/>
                      <a:pt x="2517" y="1073"/>
                    </a:cubicBezTo>
                    <a:cubicBezTo>
                      <a:pt x="2517" y="479"/>
                      <a:pt x="2039" y="1"/>
                      <a:pt x="1445" y="1"/>
                    </a:cubicBezTo>
                    <a:close/>
                  </a:path>
                </a:pathLst>
              </a:custGeom>
              <a:solidFill>
                <a:srgbClr val="364F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09" name="Google Shape;16041;p127">
                <a:extLst>
                  <a:ext uri="{FF2B5EF4-FFF2-40B4-BE49-F238E27FC236}">
                    <a16:creationId xmlns:a16="http://schemas.microsoft.com/office/drawing/2014/main" id="{8A8F8C9C-29D9-5427-C5F6-7340A3A6EAF6}"/>
                  </a:ext>
                </a:extLst>
              </p:cNvPr>
              <p:cNvSpPr/>
              <p:nvPr/>
            </p:nvSpPr>
            <p:spPr>
              <a:xfrm>
                <a:off x="3288189" y="3982947"/>
                <a:ext cx="170664" cy="170664"/>
              </a:xfrm>
              <a:custGeom>
                <a:avLst/>
                <a:gdLst/>
                <a:ahLst/>
                <a:cxnLst/>
                <a:rect l="l" t="t" r="r" b="b"/>
                <a:pathLst>
                  <a:path w="6499" h="6499" extrusionOk="0">
                    <a:moveTo>
                      <a:pt x="3044" y="0"/>
                    </a:moveTo>
                    <a:cubicBezTo>
                      <a:pt x="2900" y="0"/>
                      <a:pt x="2786" y="105"/>
                      <a:pt x="2757" y="239"/>
                    </a:cubicBezTo>
                    <a:lnTo>
                      <a:pt x="2613" y="976"/>
                    </a:lnTo>
                    <a:cubicBezTo>
                      <a:pt x="2431" y="1034"/>
                      <a:pt x="2250" y="1101"/>
                      <a:pt x="2087" y="1196"/>
                    </a:cubicBezTo>
                    <a:lnTo>
                      <a:pt x="1465" y="775"/>
                    </a:lnTo>
                    <a:cubicBezTo>
                      <a:pt x="1417" y="743"/>
                      <a:pt x="1362" y="728"/>
                      <a:pt x="1307" y="728"/>
                    </a:cubicBezTo>
                    <a:cubicBezTo>
                      <a:pt x="1231" y="728"/>
                      <a:pt x="1153" y="758"/>
                      <a:pt x="1092" y="814"/>
                    </a:cubicBezTo>
                    <a:lnTo>
                      <a:pt x="814" y="1101"/>
                    </a:lnTo>
                    <a:cubicBezTo>
                      <a:pt x="709" y="1196"/>
                      <a:pt x="699" y="1350"/>
                      <a:pt x="776" y="1474"/>
                    </a:cubicBezTo>
                    <a:lnTo>
                      <a:pt x="1187" y="2096"/>
                    </a:lnTo>
                    <a:cubicBezTo>
                      <a:pt x="1092" y="2259"/>
                      <a:pt x="1025" y="2431"/>
                      <a:pt x="977" y="2613"/>
                    </a:cubicBezTo>
                    <a:lnTo>
                      <a:pt x="240" y="2766"/>
                    </a:lnTo>
                    <a:cubicBezTo>
                      <a:pt x="96" y="2785"/>
                      <a:pt x="1" y="2909"/>
                      <a:pt x="1" y="3053"/>
                    </a:cubicBezTo>
                    <a:lnTo>
                      <a:pt x="1" y="3455"/>
                    </a:lnTo>
                    <a:cubicBezTo>
                      <a:pt x="1" y="3599"/>
                      <a:pt x="96" y="3713"/>
                      <a:pt x="240" y="3742"/>
                    </a:cubicBezTo>
                    <a:lnTo>
                      <a:pt x="977" y="3886"/>
                    </a:lnTo>
                    <a:cubicBezTo>
                      <a:pt x="1025" y="4067"/>
                      <a:pt x="1092" y="4249"/>
                      <a:pt x="1187" y="4412"/>
                    </a:cubicBezTo>
                    <a:lnTo>
                      <a:pt x="776" y="5034"/>
                    </a:lnTo>
                    <a:cubicBezTo>
                      <a:pt x="699" y="5149"/>
                      <a:pt x="709" y="5302"/>
                      <a:pt x="814" y="5407"/>
                    </a:cubicBezTo>
                    <a:lnTo>
                      <a:pt x="1092" y="5685"/>
                    </a:lnTo>
                    <a:cubicBezTo>
                      <a:pt x="1146" y="5744"/>
                      <a:pt x="1218" y="5773"/>
                      <a:pt x="1294" y="5773"/>
                    </a:cubicBezTo>
                    <a:cubicBezTo>
                      <a:pt x="1351" y="5773"/>
                      <a:pt x="1411" y="5756"/>
                      <a:pt x="1465" y="5723"/>
                    </a:cubicBezTo>
                    <a:lnTo>
                      <a:pt x="2087" y="5312"/>
                    </a:lnTo>
                    <a:cubicBezTo>
                      <a:pt x="2250" y="5398"/>
                      <a:pt x="2422" y="5474"/>
                      <a:pt x="2604" y="5522"/>
                    </a:cubicBezTo>
                    <a:lnTo>
                      <a:pt x="2747" y="6259"/>
                    </a:lnTo>
                    <a:cubicBezTo>
                      <a:pt x="2776" y="6403"/>
                      <a:pt x="2900" y="6498"/>
                      <a:pt x="3044" y="6498"/>
                    </a:cubicBezTo>
                    <a:lnTo>
                      <a:pt x="3446" y="6498"/>
                    </a:lnTo>
                    <a:cubicBezTo>
                      <a:pt x="3580" y="6498"/>
                      <a:pt x="3704" y="6403"/>
                      <a:pt x="3733" y="6259"/>
                    </a:cubicBezTo>
                    <a:lnTo>
                      <a:pt x="3877" y="5522"/>
                    </a:lnTo>
                    <a:cubicBezTo>
                      <a:pt x="4058" y="5474"/>
                      <a:pt x="4231" y="5398"/>
                      <a:pt x="4403" y="5312"/>
                    </a:cubicBezTo>
                    <a:lnTo>
                      <a:pt x="5025" y="5733"/>
                    </a:lnTo>
                    <a:cubicBezTo>
                      <a:pt x="5077" y="5765"/>
                      <a:pt x="5134" y="5780"/>
                      <a:pt x="5190" y="5780"/>
                    </a:cubicBezTo>
                    <a:cubicBezTo>
                      <a:pt x="5267" y="5780"/>
                      <a:pt x="5343" y="5750"/>
                      <a:pt x="5398" y="5694"/>
                    </a:cubicBezTo>
                    <a:lnTo>
                      <a:pt x="5685" y="5407"/>
                    </a:lnTo>
                    <a:cubicBezTo>
                      <a:pt x="5781" y="5302"/>
                      <a:pt x="5800" y="5149"/>
                      <a:pt x="5724" y="5034"/>
                    </a:cubicBezTo>
                    <a:lnTo>
                      <a:pt x="5303" y="4412"/>
                    </a:lnTo>
                    <a:cubicBezTo>
                      <a:pt x="5398" y="4240"/>
                      <a:pt x="5465" y="4067"/>
                      <a:pt x="5523" y="3886"/>
                    </a:cubicBezTo>
                    <a:lnTo>
                      <a:pt x="6260" y="3742"/>
                    </a:lnTo>
                    <a:cubicBezTo>
                      <a:pt x="6394" y="3713"/>
                      <a:pt x="6489" y="3589"/>
                      <a:pt x="6499" y="3455"/>
                    </a:cubicBezTo>
                    <a:lnTo>
                      <a:pt x="6499" y="3053"/>
                    </a:lnTo>
                    <a:cubicBezTo>
                      <a:pt x="6489" y="2909"/>
                      <a:pt x="6394" y="2785"/>
                      <a:pt x="6250" y="2766"/>
                    </a:cubicBezTo>
                    <a:lnTo>
                      <a:pt x="5513" y="2613"/>
                    </a:lnTo>
                    <a:cubicBezTo>
                      <a:pt x="5465" y="2431"/>
                      <a:pt x="5389" y="2259"/>
                      <a:pt x="5303" y="2096"/>
                    </a:cubicBezTo>
                    <a:lnTo>
                      <a:pt x="5714" y="1474"/>
                    </a:lnTo>
                    <a:cubicBezTo>
                      <a:pt x="5791" y="1350"/>
                      <a:pt x="5772" y="1196"/>
                      <a:pt x="5676" y="1101"/>
                    </a:cubicBezTo>
                    <a:lnTo>
                      <a:pt x="5398" y="814"/>
                    </a:lnTo>
                    <a:cubicBezTo>
                      <a:pt x="5337" y="758"/>
                      <a:pt x="5259" y="728"/>
                      <a:pt x="5183" y="728"/>
                    </a:cubicBezTo>
                    <a:cubicBezTo>
                      <a:pt x="5128" y="728"/>
                      <a:pt x="5073" y="743"/>
                      <a:pt x="5025" y="775"/>
                    </a:cubicBezTo>
                    <a:lnTo>
                      <a:pt x="4393" y="1196"/>
                    </a:lnTo>
                    <a:cubicBezTo>
                      <a:pt x="4231" y="1101"/>
                      <a:pt x="4058" y="1034"/>
                      <a:pt x="3877" y="976"/>
                    </a:cubicBezTo>
                    <a:lnTo>
                      <a:pt x="3733" y="239"/>
                    </a:lnTo>
                    <a:cubicBezTo>
                      <a:pt x="3704" y="105"/>
                      <a:pt x="3580" y="0"/>
                      <a:pt x="3446" y="0"/>
                    </a:cubicBezTo>
                    <a:close/>
                  </a:path>
                </a:pathLst>
              </a:custGeom>
              <a:solidFill>
                <a:srgbClr val="00B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10" name="Google Shape;16042;p127">
                <a:extLst>
                  <a:ext uri="{FF2B5EF4-FFF2-40B4-BE49-F238E27FC236}">
                    <a16:creationId xmlns:a16="http://schemas.microsoft.com/office/drawing/2014/main" id="{298B6D2C-7781-1F68-4A86-07A0A69F0327}"/>
                  </a:ext>
                </a:extLst>
              </p:cNvPr>
              <p:cNvSpPr/>
              <p:nvPr/>
            </p:nvSpPr>
            <p:spPr>
              <a:xfrm>
                <a:off x="3316340" y="4025672"/>
                <a:ext cx="99788" cy="85371"/>
              </a:xfrm>
              <a:custGeom>
                <a:avLst/>
                <a:gdLst/>
                <a:ahLst/>
                <a:cxnLst/>
                <a:rect l="l" t="t" r="r" b="b"/>
                <a:pathLst>
                  <a:path w="3800" h="3251" extrusionOk="0">
                    <a:moveTo>
                      <a:pt x="2173" y="0"/>
                    </a:moveTo>
                    <a:cubicBezTo>
                      <a:pt x="728" y="0"/>
                      <a:pt x="0" y="1751"/>
                      <a:pt x="1025" y="2775"/>
                    </a:cubicBezTo>
                    <a:cubicBezTo>
                      <a:pt x="1355" y="3103"/>
                      <a:pt x="1762" y="3250"/>
                      <a:pt x="2161" y="3250"/>
                    </a:cubicBezTo>
                    <a:cubicBezTo>
                      <a:pt x="2997" y="3250"/>
                      <a:pt x="3800" y="2605"/>
                      <a:pt x="3800" y="1627"/>
                    </a:cubicBezTo>
                    <a:cubicBezTo>
                      <a:pt x="3800" y="727"/>
                      <a:pt x="3073" y="0"/>
                      <a:pt x="2173" y="0"/>
                    </a:cubicBezTo>
                    <a:close/>
                  </a:path>
                </a:pathLst>
              </a:custGeom>
              <a:solidFill>
                <a:srgbClr val="C6CF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11" name="Google Shape;16043;p127">
                <a:extLst>
                  <a:ext uri="{FF2B5EF4-FFF2-40B4-BE49-F238E27FC236}">
                    <a16:creationId xmlns:a16="http://schemas.microsoft.com/office/drawing/2014/main" id="{49F54642-2950-2ED5-883F-D225B308D743}"/>
                  </a:ext>
                </a:extLst>
              </p:cNvPr>
              <p:cNvSpPr/>
              <p:nvPr/>
            </p:nvSpPr>
            <p:spPr>
              <a:xfrm>
                <a:off x="3339213" y="4042741"/>
                <a:ext cx="59847" cy="51260"/>
              </a:xfrm>
              <a:custGeom>
                <a:avLst/>
                <a:gdLst/>
                <a:ahLst/>
                <a:cxnLst/>
                <a:rect l="l" t="t" r="r" b="b"/>
                <a:pathLst>
                  <a:path w="2279" h="1952" extrusionOk="0">
                    <a:moveTo>
                      <a:pt x="1302" y="1"/>
                    </a:moveTo>
                    <a:cubicBezTo>
                      <a:pt x="431" y="1"/>
                      <a:pt x="0" y="1044"/>
                      <a:pt x="613" y="1666"/>
                    </a:cubicBezTo>
                    <a:cubicBezTo>
                      <a:pt x="810" y="1863"/>
                      <a:pt x="1053" y="1951"/>
                      <a:pt x="1292" y="1951"/>
                    </a:cubicBezTo>
                    <a:cubicBezTo>
                      <a:pt x="1794" y="1951"/>
                      <a:pt x="2278" y="1561"/>
                      <a:pt x="2278" y="977"/>
                    </a:cubicBezTo>
                    <a:cubicBezTo>
                      <a:pt x="2278" y="431"/>
                      <a:pt x="1838" y="1"/>
                      <a:pt x="1302" y="1"/>
                    </a:cubicBezTo>
                    <a:close/>
                  </a:path>
                </a:pathLst>
              </a:custGeom>
              <a:solidFill>
                <a:srgbClr val="4B63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grpSp>
      <p:grpSp>
        <p:nvGrpSpPr>
          <p:cNvPr id="512" name="Group 511">
            <a:extLst>
              <a:ext uri="{FF2B5EF4-FFF2-40B4-BE49-F238E27FC236}">
                <a16:creationId xmlns:a16="http://schemas.microsoft.com/office/drawing/2014/main" id="{4379BFBC-BB38-6966-74C6-179959444859}"/>
              </a:ext>
            </a:extLst>
          </p:cNvPr>
          <p:cNvGrpSpPr/>
          <p:nvPr/>
        </p:nvGrpSpPr>
        <p:grpSpPr>
          <a:xfrm>
            <a:off x="6367739" y="916300"/>
            <a:ext cx="572700" cy="572700"/>
            <a:chOff x="6233774" y="1425062"/>
            <a:chExt cx="572700" cy="572700"/>
          </a:xfrm>
        </p:grpSpPr>
        <p:sp>
          <p:nvSpPr>
            <p:cNvPr id="513" name="Google Shape;839;p61">
              <a:extLst>
                <a:ext uri="{FF2B5EF4-FFF2-40B4-BE49-F238E27FC236}">
                  <a16:creationId xmlns:a16="http://schemas.microsoft.com/office/drawing/2014/main" id="{3B5896DF-6C8A-EB74-D8D1-E83843821A67}"/>
                </a:ext>
              </a:extLst>
            </p:cNvPr>
            <p:cNvSpPr/>
            <p:nvPr/>
          </p:nvSpPr>
          <p:spPr>
            <a:xfrm>
              <a:off x="6233774" y="1425062"/>
              <a:ext cx="572700" cy="572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nvGrpSpPr>
            <p:cNvPr id="514" name="Google Shape;16450;p127">
              <a:extLst>
                <a:ext uri="{FF2B5EF4-FFF2-40B4-BE49-F238E27FC236}">
                  <a16:creationId xmlns:a16="http://schemas.microsoft.com/office/drawing/2014/main" id="{C843413A-CC1F-41E1-D4AF-55A8F61BA6D5}"/>
                </a:ext>
              </a:extLst>
            </p:cNvPr>
            <p:cNvGrpSpPr/>
            <p:nvPr/>
          </p:nvGrpSpPr>
          <p:grpSpPr>
            <a:xfrm>
              <a:off x="6348052" y="1531964"/>
              <a:ext cx="342824" cy="351228"/>
              <a:chOff x="870773" y="3357985"/>
              <a:chExt cx="342824" cy="351228"/>
            </a:xfrm>
          </p:grpSpPr>
          <p:sp>
            <p:nvSpPr>
              <p:cNvPr id="515" name="Google Shape;16451;p127">
                <a:extLst>
                  <a:ext uri="{FF2B5EF4-FFF2-40B4-BE49-F238E27FC236}">
                    <a16:creationId xmlns:a16="http://schemas.microsoft.com/office/drawing/2014/main" id="{E7B892E7-5557-E779-8768-3EA67C8D4B03}"/>
                  </a:ext>
                </a:extLst>
              </p:cNvPr>
              <p:cNvSpPr/>
              <p:nvPr/>
            </p:nvSpPr>
            <p:spPr>
              <a:xfrm>
                <a:off x="870773" y="3357985"/>
                <a:ext cx="342824" cy="351228"/>
              </a:xfrm>
              <a:custGeom>
                <a:avLst/>
                <a:gdLst/>
                <a:ahLst/>
                <a:cxnLst/>
                <a:rect l="l" t="t" r="r" b="b"/>
                <a:pathLst>
                  <a:path w="13055" h="13375" extrusionOk="0">
                    <a:moveTo>
                      <a:pt x="6523" y="0"/>
                    </a:moveTo>
                    <a:cubicBezTo>
                      <a:pt x="6339" y="0"/>
                      <a:pt x="6155" y="89"/>
                      <a:pt x="6049" y="266"/>
                    </a:cubicBezTo>
                    <a:lnTo>
                      <a:pt x="5255" y="1606"/>
                    </a:lnTo>
                    <a:cubicBezTo>
                      <a:pt x="5152" y="1777"/>
                      <a:pt x="4972" y="1874"/>
                      <a:pt x="4786" y="1874"/>
                    </a:cubicBezTo>
                    <a:cubicBezTo>
                      <a:pt x="4712" y="1874"/>
                      <a:pt x="4637" y="1859"/>
                      <a:pt x="4566" y="1826"/>
                    </a:cubicBezTo>
                    <a:lnTo>
                      <a:pt x="3130" y="1213"/>
                    </a:lnTo>
                    <a:cubicBezTo>
                      <a:pt x="3059" y="1183"/>
                      <a:pt x="2986" y="1169"/>
                      <a:pt x="2915" y="1169"/>
                    </a:cubicBezTo>
                    <a:cubicBezTo>
                      <a:pt x="2606" y="1169"/>
                      <a:pt x="2334" y="1434"/>
                      <a:pt x="2365" y="1768"/>
                    </a:cubicBezTo>
                    <a:lnTo>
                      <a:pt x="2508" y="3328"/>
                    </a:lnTo>
                    <a:cubicBezTo>
                      <a:pt x="2527" y="3606"/>
                      <a:pt x="2346" y="3855"/>
                      <a:pt x="2078" y="3912"/>
                    </a:cubicBezTo>
                    <a:lnTo>
                      <a:pt x="566" y="4257"/>
                    </a:lnTo>
                    <a:cubicBezTo>
                      <a:pt x="154" y="4343"/>
                      <a:pt x="1" y="4840"/>
                      <a:pt x="278" y="5156"/>
                    </a:cubicBezTo>
                    <a:lnTo>
                      <a:pt x="1302" y="6324"/>
                    </a:lnTo>
                    <a:cubicBezTo>
                      <a:pt x="1484" y="6534"/>
                      <a:pt x="1484" y="6841"/>
                      <a:pt x="1302" y="7051"/>
                    </a:cubicBezTo>
                    <a:lnTo>
                      <a:pt x="278" y="8219"/>
                    </a:lnTo>
                    <a:cubicBezTo>
                      <a:pt x="1" y="8535"/>
                      <a:pt x="154" y="9023"/>
                      <a:pt x="566" y="9118"/>
                    </a:cubicBezTo>
                    <a:lnTo>
                      <a:pt x="2078" y="9463"/>
                    </a:lnTo>
                    <a:cubicBezTo>
                      <a:pt x="2355" y="9520"/>
                      <a:pt x="2537" y="9779"/>
                      <a:pt x="2508" y="10047"/>
                    </a:cubicBezTo>
                    <a:lnTo>
                      <a:pt x="2365" y="11607"/>
                    </a:lnTo>
                    <a:cubicBezTo>
                      <a:pt x="2334" y="11941"/>
                      <a:pt x="2606" y="12206"/>
                      <a:pt x="2915" y="12206"/>
                    </a:cubicBezTo>
                    <a:cubicBezTo>
                      <a:pt x="2986" y="12206"/>
                      <a:pt x="3059" y="12192"/>
                      <a:pt x="3130" y="12162"/>
                    </a:cubicBezTo>
                    <a:lnTo>
                      <a:pt x="4566" y="11549"/>
                    </a:lnTo>
                    <a:cubicBezTo>
                      <a:pt x="4637" y="11520"/>
                      <a:pt x="4711" y="11507"/>
                      <a:pt x="4783" y="11507"/>
                    </a:cubicBezTo>
                    <a:cubicBezTo>
                      <a:pt x="4975" y="11507"/>
                      <a:pt x="5158" y="11603"/>
                      <a:pt x="5255" y="11769"/>
                    </a:cubicBezTo>
                    <a:lnTo>
                      <a:pt x="6049" y="13109"/>
                    </a:lnTo>
                    <a:cubicBezTo>
                      <a:pt x="6155" y="13286"/>
                      <a:pt x="6339" y="13375"/>
                      <a:pt x="6523" y="13375"/>
                    </a:cubicBezTo>
                    <a:cubicBezTo>
                      <a:pt x="6707" y="13375"/>
                      <a:pt x="6892" y="13286"/>
                      <a:pt x="6997" y="13109"/>
                    </a:cubicBezTo>
                    <a:lnTo>
                      <a:pt x="7791" y="11769"/>
                    </a:lnTo>
                    <a:cubicBezTo>
                      <a:pt x="7894" y="11598"/>
                      <a:pt x="8076" y="11505"/>
                      <a:pt x="8262" y="11505"/>
                    </a:cubicBezTo>
                    <a:cubicBezTo>
                      <a:pt x="8336" y="11505"/>
                      <a:pt x="8410" y="11519"/>
                      <a:pt x="8480" y="11549"/>
                    </a:cubicBezTo>
                    <a:lnTo>
                      <a:pt x="9916" y="12162"/>
                    </a:lnTo>
                    <a:cubicBezTo>
                      <a:pt x="9987" y="12192"/>
                      <a:pt x="10060" y="12206"/>
                      <a:pt x="10131" y="12206"/>
                    </a:cubicBezTo>
                    <a:cubicBezTo>
                      <a:pt x="10440" y="12206"/>
                      <a:pt x="10712" y="11941"/>
                      <a:pt x="10681" y="11607"/>
                    </a:cubicBezTo>
                    <a:lnTo>
                      <a:pt x="10547" y="10056"/>
                    </a:lnTo>
                    <a:cubicBezTo>
                      <a:pt x="10519" y="9779"/>
                      <a:pt x="10701" y="9520"/>
                      <a:pt x="10968" y="9463"/>
                    </a:cubicBezTo>
                    <a:lnTo>
                      <a:pt x="12490" y="9118"/>
                    </a:lnTo>
                    <a:cubicBezTo>
                      <a:pt x="12892" y="9023"/>
                      <a:pt x="13055" y="8535"/>
                      <a:pt x="12777" y="8219"/>
                    </a:cubicBezTo>
                    <a:lnTo>
                      <a:pt x="11753" y="7051"/>
                    </a:lnTo>
                    <a:cubicBezTo>
                      <a:pt x="11571" y="6841"/>
                      <a:pt x="11571" y="6534"/>
                      <a:pt x="11753" y="6324"/>
                    </a:cubicBezTo>
                    <a:lnTo>
                      <a:pt x="12777" y="5156"/>
                    </a:lnTo>
                    <a:cubicBezTo>
                      <a:pt x="13055" y="4840"/>
                      <a:pt x="12892" y="4343"/>
                      <a:pt x="12481" y="4257"/>
                    </a:cubicBezTo>
                    <a:lnTo>
                      <a:pt x="10968" y="3912"/>
                    </a:lnTo>
                    <a:cubicBezTo>
                      <a:pt x="10701" y="3845"/>
                      <a:pt x="10519" y="3596"/>
                      <a:pt x="10538" y="3319"/>
                    </a:cubicBezTo>
                    <a:lnTo>
                      <a:pt x="10681" y="1768"/>
                    </a:lnTo>
                    <a:cubicBezTo>
                      <a:pt x="10712" y="1429"/>
                      <a:pt x="10445" y="1164"/>
                      <a:pt x="10140" y="1164"/>
                    </a:cubicBezTo>
                    <a:cubicBezTo>
                      <a:pt x="10066" y="1164"/>
                      <a:pt x="9990" y="1180"/>
                      <a:pt x="9916" y="1213"/>
                    </a:cubicBezTo>
                    <a:lnTo>
                      <a:pt x="8480" y="1826"/>
                    </a:lnTo>
                    <a:cubicBezTo>
                      <a:pt x="8410" y="1854"/>
                      <a:pt x="8337" y="1868"/>
                      <a:pt x="8264" y="1868"/>
                    </a:cubicBezTo>
                    <a:cubicBezTo>
                      <a:pt x="8072" y="1868"/>
                      <a:pt x="7889" y="1770"/>
                      <a:pt x="7791" y="1596"/>
                    </a:cubicBezTo>
                    <a:lnTo>
                      <a:pt x="6997" y="266"/>
                    </a:lnTo>
                    <a:cubicBezTo>
                      <a:pt x="6892" y="89"/>
                      <a:pt x="6707" y="0"/>
                      <a:pt x="6523" y="0"/>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16" name="Google Shape;16452;p127">
                <a:extLst>
                  <a:ext uri="{FF2B5EF4-FFF2-40B4-BE49-F238E27FC236}">
                    <a16:creationId xmlns:a16="http://schemas.microsoft.com/office/drawing/2014/main" id="{74366C27-A36A-ABB9-AC6A-92D7743727E3}"/>
                  </a:ext>
                </a:extLst>
              </p:cNvPr>
              <p:cNvSpPr/>
              <p:nvPr/>
            </p:nvSpPr>
            <p:spPr>
              <a:xfrm>
                <a:off x="1024577" y="3357985"/>
                <a:ext cx="50288" cy="49238"/>
              </a:xfrm>
              <a:custGeom>
                <a:avLst/>
                <a:gdLst/>
                <a:ahLst/>
                <a:cxnLst/>
                <a:rect l="l" t="t" r="r" b="b"/>
                <a:pathLst>
                  <a:path w="1915" h="1875" extrusionOk="0">
                    <a:moveTo>
                      <a:pt x="666" y="0"/>
                    </a:moveTo>
                    <a:cubicBezTo>
                      <a:pt x="482" y="0"/>
                      <a:pt x="298" y="89"/>
                      <a:pt x="192" y="266"/>
                    </a:cubicBezTo>
                    <a:lnTo>
                      <a:pt x="1" y="591"/>
                    </a:lnTo>
                    <a:lnTo>
                      <a:pt x="604" y="1606"/>
                    </a:lnTo>
                    <a:cubicBezTo>
                      <a:pt x="706" y="1777"/>
                      <a:pt x="887" y="1874"/>
                      <a:pt x="1073" y="1874"/>
                    </a:cubicBezTo>
                    <a:cubicBezTo>
                      <a:pt x="1147" y="1874"/>
                      <a:pt x="1222" y="1859"/>
                      <a:pt x="1293" y="1826"/>
                    </a:cubicBezTo>
                    <a:lnTo>
                      <a:pt x="1915" y="1567"/>
                    </a:lnTo>
                    <a:lnTo>
                      <a:pt x="1140" y="266"/>
                    </a:lnTo>
                    <a:cubicBezTo>
                      <a:pt x="1035" y="89"/>
                      <a:pt x="850" y="0"/>
                      <a:pt x="666" y="0"/>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17" name="Google Shape;16453;p127">
                <a:extLst>
                  <a:ext uri="{FF2B5EF4-FFF2-40B4-BE49-F238E27FC236}">
                    <a16:creationId xmlns:a16="http://schemas.microsoft.com/office/drawing/2014/main" id="{C07BDF6C-E0F5-5650-5009-2D91FDE84C48}"/>
                  </a:ext>
                </a:extLst>
              </p:cNvPr>
              <p:cNvSpPr/>
              <p:nvPr/>
            </p:nvSpPr>
            <p:spPr>
              <a:xfrm>
                <a:off x="1111787" y="3388552"/>
                <a:ext cx="101810" cy="289832"/>
              </a:xfrm>
              <a:custGeom>
                <a:avLst/>
                <a:gdLst/>
                <a:ahLst/>
                <a:cxnLst/>
                <a:rect l="l" t="t" r="r" b="b"/>
                <a:pathLst>
                  <a:path w="3877" h="11037" extrusionOk="0">
                    <a:moveTo>
                      <a:pt x="962" y="0"/>
                    </a:moveTo>
                    <a:cubicBezTo>
                      <a:pt x="888" y="0"/>
                      <a:pt x="812" y="16"/>
                      <a:pt x="738" y="49"/>
                    </a:cubicBezTo>
                    <a:lnTo>
                      <a:pt x="116" y="308"/>
                    </a:lnTo>
                    <a:cubicBezTo>
                      <a:pt x="164" y="403"/>
                      <a:pt x="183" y="499"/>
                      <a:pt x="173" y="604"/>
                    </a:cubicBezTo>
                    <a:lnTo>
                      <a:pt x="30" y="2155"/>
                    </a:lnTo>
                    <a:cubicBezTo>
                      <a:pt x="1" y="2432"/>
                      <a:pt x="183" y="2681"/>
                      <a:pt x="460" y="2748"/>
                    </a:cubicBezTo>
                    <a:lnTo>
                      <a:pt x="1972" y="3093"/>
                    </a:lnTo>
                    <a:cubicBezTo>
                      <a:pt x="2384" y="3179"/>
                      <a:pt x="2537" y="3676"/>
                      <a:pt x="2269" y="3992"/>
                    </a:cubicBezTo>
                    <a:lnTo>
                      <a:pt x="1245" y="5160"/>
                    </a:lnTo>
                    <a:cubicBezTo>
                      <a:pt x="1054" y="5361"/>
                      <a:pt x="1054" y="5677"/>
                      <a:pt x="1245" y="5887"/>
                    </a:cubicBezTo>
                    <a:lnTo>
                      <a:pt x="2269" y="7055"/>
                    </a:lnTo>
                    <a:cubicBezTo>
                      <a:pt x="2537" y="7371"/>
                      <a:pt x="2384" y="7859"/>
                      <a:pt x="1972" y="7954"/>
                    </a:cubicBezTo>
                    <a:lnTo>
                      <a:pt x="460" y="8299"/>
                    </a:lnTo>
                    <a:cubicBezTo>
                      <a:pt x="183" y="8356"/>
                      <a:pt x="1" y="8615"/>
                      <a:pt x="30" y="8883"/>
                    </a:cubicBezTo>
                    <a:lnTo>
                      <a:pt x="173" y="10433"/>
                    </a:lnTo>
                    <a:cubicBezTo>
                      <a:pt x="183" y="10538"/>
                      <a:pt x="164" y="10634"/>
                      <a:pt x="116" y="10730"/>
                    </a:cubicBezTo>
                    <a:lnTo>
                      <a:pt x="738" y="10988"/>
                    </a:lnTo>
                    <a:cubicBezTo>
                      <a:pt x="812" y="11022"/>
                      <a:pt x="888" y="11037"/>
                      <a:pt x="962" y="11037"/>
                    </a:cubicBezTo>
                    <a:cubicBezTo>
                      <a:pt x="1267" y="11037"/>
                      <a:pt x="1534" y="10772"/>
                      <a:pt x="1503" y="10433"/>
                    </a:cubicBezTo>
                    <a:lnTo>
                      <a:pt x="1360" y="8892"/>
                    </a:lnTo>
                    <a:cubicBezTo>
                      <a:pt x="1331" y="8615"/>
                      <a:pt x="1513" y="8356"/>
                      <a:pt x="1790" y="8299"/>
                    </a:cubicBezTo>
                    <a:lnTo>
                      <a:pt x="3303" y="7954"/>
                    </a:lnTo>
                    <a:cubicBezTo>
                      <a:pt x="3714" y="7859"/>
                      <a:pt x="3867" y="7371"/>
                      <a:pt x="3599" y="7055"/>
                    </a:cubicBezTo>
                    <a:lnTo>
                      <a:pt x="2575" y="5887"/>
                    </a:lnTo>
                    <a:cubicBezTo>
                      <a:pt x="2393" y="5677"/>
                      <a:pt x="2393" y="5370"/>
                      <a:pt x="2575" y="5160"/>
                    </a:cubicBezTo>
                    <a:lnTo>
                      <a:pt x="3599" y="3992"/>
                    </a:lnTo>
                    <a:cubicBezTo>
                      <a:pt x="3877" y="3676"/>
                      <a:pt x="3714" y="3179"/>
                      <a:pt x="3303" y="3093"/>
                    </a:cubicBezTo>
                    <a:lnTo>
                      <a:pt x="1790" y="2748"/>
                    </a:lnTo>
                    <a:cubicBezTo>
                      <a:pt x="1523" y="2681"/>
                      <a:pt x="1341" y="2432"/>
                      <a:pt x="1360" y="2155"/>
                    </a:cubicBezTo>
                    <a:lnTo>
                      <a:pt x="1503" y="604"/>
                    </a:lnTo>
                    <a:cubicBezTo>
                      <a:pt x="1534" y="265"/>
                      <a:pt x="1267" y="0"/>
                      <a:pt x="962" y="0"/>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18" name="Google Shape;16454;p127">
                <a:extLst>
                  <a:ext uri="{FF2B5EF4-FFF2-40B4-BE49-F238E27FC236}">
                    <a16:creationId xmlns:a16="http://schemas.microsoft.com/office/drawing/2014/main" id="{11FBBCF7-3D1D-32A3-A80E-6722B56D4BC9}"/>
                  </a:ext>
                </a:extLst>
              </p:cNvPr>
              <p:cNvSpPr/>
              <p:nvPr/>
            </p:nvSpPr>
            <p:spPr>
              <a:xfrm>
                <a:off x="1024840" y="3660133"/>
                <a:ext cx="50025" cy="49080"/>
              </a:xfrm>
              <a:custGeom>
                <a:avLst/>
                <a:gdLst/>
                <a:ahLst/>
                <a:cxnLst/>
                <a:rect l="l" t="t" r="r" b="b"/>
                <a:pathLst>
                  <a:path w="1905" h="1869" extrusionOk="0">
                    <a:moveTo>
                      <a:pt x="1071" y="1"/>
                    </a:moveTo>
                    <a:cubicBezTo>
                      <a:pt x="883" y="1"/>
                      <a:pt x="698" y="97"/>
                      <a:pt x="594" y="263"/>
                    </a:cubicBezTo>
                    <a:lnTo>
                      <a:pt x="0" y="1278"/>
                    </a:lnTo>
                    <a:lnTo>
                      <a:pt x="192" y="1603"/>
                    </a:lnTo>
                    <a:cubicBezTo>
                      <a:pt x="297" y="1780"/>
                      <a:pt x="479" y="1869"/>
                      <a:pt x="662" y="1869"/>
                    </a:cubicBezTo>
                    <a:cubicBezTo>
                      <a:pt x="845" y="1869"/>
                      <a:pt x="1029" y="1780"/>
                      <a:pt x="1139" y="1603"/>
                    </a:cubicBezTo>
                    <a:lnTo>
                      <a:pt x="1905" y="311"/>
                    </a:lnTo>
                    <a:lnTo>
                      <a:pt x="1283" y="43"/>
                    </a:lnTo>
                    <a:cubicBezTo>
                      <a:pt x="1215" y="14"/>
                      <a:pt x="1143" y="1"/>
                      <a:pt x="1071" y="1"/>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19" name="Google Shape;16455;p127">
                <a:extLst>
                  <a:ext uri="{FF2B5EF4-FFF2-40B4-BE49-F238E27FC236}">
                    <a16:creationId xmlns:a16="http://schemas.microsoft.com/office/drawing/2014/main" id="{39A8DEBE-72D9-1225-275F-F63C22062C36}"/>
                  </a:ext>
                </a:extLst>
              </p:cNvPr>
              <p:cNvSpPr/>
              <p:nvPr/>
            </p:nvSpPr>
            <p:spPr>
              <a:xfrm>
                <a:off x="939390" y="3431067"/>
                <a:ext cx="211892" cy="205222"/>
              </a:xfrm>
              <a:custGeom>
                <a:avLst/>
                <a:gdLst/>
                <a:ahLst/>
                <a:cxnLst/>
                <a:rect l="l" t="t" r="r" b="b"/>
                <a:pathLst>
                  <a:path w="8069" h="7815" extrusionOk="0">
                    <a:moveTo>
                      <a:pt x="3916" y="0"/>
                    </a:moveTo>
                    <a:cubicBezTo>
                      <a:pt x="1659" y="0"/>
                      <a:pt x="1" y="1823"/>
                      <a:pt x="1" y="3895"/>
                    </a:cubicBezTo>
                    <a:cubicBezTo>
                      <a:pt x="1" y="6224"/>
                      <a:pt x="1910" y="7814"/>
                      <a:pt x="3928" y="7814"/>
                    </a:cubicBezTo>
                    <a:cubicBezTo>
                      <a:pt x="4771" y="7814"/>
                      <a:pt x="5634" y="7537"/>
                      <a:pt x="6384" y="6919"/>
                    </a:cubicBezTo>
                    <a:cubicBezTo>
                      <a:pt x="7561" y="5962"/>
                      <a:pt x="8068" y="4421"/>
                      <a:pt x="7695" y="2947"/>
                    </a:cubicBezTo>
                    <a:cubicBezTo>
                      <a:pt x="7331" y="1483"/>
                      <a:pt x="6154" y="363"/>
                      <a:pt x="4671" y="67"/>
                    </a:cubicBezTo>
                    <a:cubicBezTo>
                      <a:pt x="4413" y="22"/>
                      <a:pt x="4161" y="0"/>
                      <a:pt x="3916" y="0"/>
                    </a:cubicBezTo>
                    <a:close/>
                  </a:path>
                </a:pathLst>
              </a:custGeom>
              <a:solidFill>
                <a:srgbClr val="C1C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20" name="Google Shape;16456;p127">
                <a:extLst>
                  <a:ext uri="{FF2B5EF4-FFF2-40B4-BE49-F238E27FC236}">
                    <a16:creationId xmlns:a16="http://schemas.microsoft.com/office/drawing/2014/main" id="{BDFAAE6C-FF5B-AB30-0623-170F368F9A9E}"/>
                  </a:ext>
                </a:extLst>
              </p:cNvPr>
              <p:cNvSpPr/>
              <p:nvPr/>
            </p:nvSpPr>
            <p:spPr>
              <a:xfrm>
                <a:off x="970561" y="3470641"/>
                <a:ext cx="60345" cy="51653"/>
              </a:xfrm>
              <a:custGeom>
                <a:avLst/>
                <a:gdLst/>
                <a:ahLst/>
                <a:cxnLst/>
                <a:rect l="l" t="t" r="r" b="b"/>
                <a:pathLst>
                  <a:path w="2298" h="1967" extrusionOk="0">
                    <a:moveTo>
                      <a:pt x="1315" y="409"/>
                    </a:moveTo>
                    <a:cubicBezTo>
                      <a:pt x="1456" y="409"/>
                      <a:pt x="1599" y="461"/>
                      <a:pt x="1713" y="579"/>
                    </a:cubicBezTo>
                    <a:cubicBezTo>
                      <a:pt x="2077" y="943"/>
                      <a:pt x="1819" y="1555"/>
                      <a:pt x="1311" y="1555"/>
                    </a:cubicBezTo>
                    <a:cubicBezTo>
                      <a:pt x="996" y="1555"/>
                      <a:pt x="737" y="1297"/>
                      <a:pt x="737" y="981"/>
                    </a:cubicBezTo>
                    <a:cubicBezTo>
                      <a:pt x="737" y="638"/>
                      <a:pt x="1022" y="409"/>
                      <a:pt x="1315" y="409"/>
                    </a:cubicBezTo>
                    <a:close/>
                    <a:moveTo>
                      <a:pt x="1308" y="0"/>
                    </a:moveTo>
                    <a:cubicBezTo>
                      <a:pt x="1067" y="0"/>
                      <a:pt x="821" y="90"/>
                      <a:pt x="622" y="292"/>
                    </a:cubicBezTo>
                    <a:cubicBezTo>
                      <a:pt x="0" y="905"/>
                      <a:pt x="441" y="1967"/>
                      <a:pt x="1311" y="1967"/>
                    </a:cubicBezTo>
                    <a:cubicBezTo>
                      <a:pt x="1857" y="1967"/>
                      <a:pt x="2288" y="1527"/>
                      <a:pt x="2297" y="981"/>
                    </a:cubicBezTo>
                    <a:cubicBezTo>
                      <a:pt x="2297" y="392"/>
                      <a:pt x="1812" y="0"/>
                      <a:pt x="1308" y="0"/>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21" name="Google Shape;16457;p127">
                <a:extLst>
                  <a:ext uri="{FF2B5EF4-FFF2-40B4-BE49-F238E27FC236}">
                    <a16:creationId xmlns:a16="http://schemas.microsoft.com/office/drawing/2014/main" id="{D7AC2254-7122-0593-5548-A93CF73194C8}"/>
                  </a:ext>
                </a:extLst>
              </p:cNvPr>
              <p:cNvSpPr/>
              <p:nvPr/>
            </p:nvSpPr>
            <p:spPr>
              <a:xfrm>
                <a:off x="1053332" y="3545140"/>
                <a:ext cx="60188" cy="51417"/>
              </a:xfrm>
              <a:custGeom>
                <a:avLst/>
                <a:gdLst/>
                <a:ahLst/>
                <a:cxnLst/>
                <a:rect l="l" t="t" r="r" b="b"/>
                <a:pathLst>
                  <a:path w="2292" h="1958" extrusionOk="0">
                    <a:moveTo>
                      <a:pt x="983" y="393"/>
                    </a:moveTo>
                    <a:cubicBezTo>
                      <a:pt x="1299" y="403"/>
                      <a:pt x="1557" y="652"/>
                      <a:pt x="1557" y="967"/>
                    </a:cubicBezTo>
                    <a:cubicBezTo>
                      <a:pt x="1557" y="1317"/>
                      <a:pt x="1276" y="1549"/>
                      <a:pt x="982" y="1549"/>
                    </a:cubicBezTo>
                    <a:cubicBezTo>
                      <a:pt x="841" y="1549"/>
                      <a:pt x="698" y="1496"/>
                      <a:pt x="581" y="1379"/>
                    </a:cubicBezTo>
                    <a:cubicBezTo>
                      <a:pt x="217" y="1015"/>
                      <a:pt x="475" y="393"/>
                      <a:pt x="983" y="393"/>
                    </a:cubicBezTo>
                    <a:close/>
                    <a:moveTo>
                      <a:pt x="994" y="1"/>
                    </a:moveTo>
                    <a:cubicBezTo>
                      <a:pt x="991" y="1"/>
                      <a:pt x="987" y="1"/>
                      <a:pt x="983" y="1"/>
                    </a:cubicBezTo>
                    <a:cubicBezTo>
                      <a:pt x="437" y="1"/>
                      <a:pt x="7" y="431"/>
                      <a:pt x="7" y="967"/>
                    </a:cubicBezTo>
                    <a:cubicBezTo>
                      <a:pt x="0" y="1563"/>
                      <a:pt x="484" y="1957"/>
                      <a:pt x="991" y="1957"/>
                    </a:cubicBezTo>
                    <a:cubicBezTo>
                      <a:pt x="1233" y="1957"/>
                      <a:pt x="1480" y="1867"/>
                      <a:pt x="1681" y="1666"/>
                    </a:cubicBezTo>
                    <a:cubicBezTo>
                      <a:pt x="2291" y="1047"/>
                      <a:pt x="1858" y="1"/>
                      <a:pt x="994" y="1"/>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22" name="Google Shape;16458;p127">
                <a:extLst>
                  <a:ext uri="{FF2B5EF4-FFF2-40B4-BE49-F238E27FC236}">
                    <a16:creationId xmlns:a16="http://schemas.microsoft.com/office/drawing/2014/main" id="{FB7CD4A1-4809-CE2E-21F1-898497A81B69}"/>
                  </a:ext>
                </a:extLst>
              </p:cNvPr>
              <p:cNvSpPr/>
              <p:nvPr/>
            </p:nvSpPr>
            <p:spPr>
              <a:xfrm>
                <a:off x="992330" y="3479595"/>
                <a:ext cx="106090" cy="101836"/>
              </a:xfrm>
              <a:custGeom>
                <a:avLst/>
                <a:gdLst/>
                <a:ahLst/>
                <a:cxnLst/>
                <a:rect l="l" t="t" r="r" b="b"/>
                <a:pathLst>
                  <a:path w="4040" h="3878" extrusionOk="0">
                    <a:moveTo>
                      <a:pt x="3742" y="0"/>
                    </a:moveTo>
                    <a:cubicBezTo>
                      <a:pt x="3692" y="0"/>
                      <a:pt x="3639" y="22"/>
                      <a:pt x="3593" y="75"/>
                    </a:cubicBezTo>
                    <a:lnTo>
                      <a:pt x="128" y="3540"/>
                    </a:lnTo>
                    <a:cubicBezTo>
                      <a:pt x="1" y="3682"/>
                      <a:pt x="132" y="3877"/>
                      <a:pt x="286" y="3877"/>
                    </a:cubicBezTo>
                    <a:cubicBezTo>
                      <a:pt x="329" y="3877"/>
                      <a:pt x="374" y="3862"/>
                      <a:pt x="415" y="3827"/>
                    </a:cubicBezTo>
                    <a:lnTo>
                      <a:pt x="3880" y="363"/>
                    </a:lnTo>
                    <a:cubicBezTo>
                      <a:pt x="4040" y="217"/>
                      <a:pt x="3902" y="0"/>
                      <a:pt x="3742" y="0"/>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grpSp>
      <p:graphicFrame>
        <p:nvGraphicFramePr>
          <p:cNvPr id="523" name="Table 27">
            <a:extLst>
              <a:ext uri="{FF2B5EF4-FFF2-40B4-BE49-F238E27FC236}">
                <a16:creationId xmlns:a16="http://schemas.microsoft.com/office/drawing/2014/main" id="{4E74211E-8594-3872-03AB-FDEB90617477}"/>
              </a:ext>
            </a:extLst>
          </p:cNvPr>
          <p:cNvGraphicFramePr>
            <a:graphicFrameLocks noGrp="1"/>
          </p:cNvGraphicFramePr>
          <p:nvPr/>
        </p:nvGraphicFramePr>
        <p:xfrm>
          <a:off x="7256101" y="879618"/>
          <a:ext cx="2778201" cy="5014416"/>
        </p:xfrm>
        <a:graphic>
          <a:graphicData uri="http://schemas.openxmlformats.org/drawingml/2006/table">
            <a:tbl>
              <a:tblPr firstRow="1" bandRow="1">
                <a:tableStyleId>{2D5ABB26-0587-4C30-8999-92F81FD0307C}</a:tableStyleId>
              </a:tblPr>
              <a:tblGrid>
                <a:gridCol w="228918">
                  <a:extLst>
                    <a:ext uri="{9D8B030D-6E8A-4147-A177-3AD203B41FA5}">
                      <a16:colId xmlns:a16="http://schemas.microsoft.com/office/drawing/2014/main" val="1622108729"/>
                    </a:ext>
                  </a:extLst>
                </a:gridCol>
                <a:gridCol w="2549283">
                  <a:extLst>
                    <a:ext uri="{9D8B030D-6E8A-4147-A177-3AD203B41FA5}">
                      <a16:colId xmlns:a16="http://schemas.microsoft.com/office/drawing/2014/main" val="1450379266"/>
                    </a:ext>
                  </a:extLst>
                </a:gridCol>
              </a:tblGrid>
              <a:tr h="398673">
                <a:tc rowSpan="2">
                  <a:txBody>
                    <a:bodyPr/>
                    <a:lstStyle/>
                    <a:p>
                      <a:endParaRPr lang="en-PH" sz="1400">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a:solidFill>
                            <a:srgbClr val="1F4766"/>
                          </a:solidFill>
                          <a:latin typeface="Lato"/>
                          <a:ea typeface="Lato"/>
                          <a:cs typeface="Lato"/>
                        </a:rPr>
                        <a:t>Interest</a:t>
                      </a:r>
                      <a:endParaRPr lang="en-PH" sz="1400" b="1">
                        <a:solidFill>
                          <a:srgbClr val="1F4766"/>
                        </a:solidFill>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0170993"/>
                  </a:ext>
                </a:extLst>
              </a:tr>
              <a:tr h="587853">
                <a:tc vMerge="1">
                  <a:txBody>
                    <a:bodyPr/>
                    <a:lstStyle/>
                    <a:p>
                      <a:endParaRPr lang="en-PH"/>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Wingdings" panose="05000000000000000000" pitchFamily="2" charset="2"/>
                        <a:buChar char="ü"/>
                      </a:pPr>
                      <a:r>
                        <a:rPr lang="en-US" sz="1400">
                          <a:latin typeface="Lato"/>
                          <a:ea typeface="Lato"/>
                          <a:cs typeface="Lato"/>
                        </a:rPr>
                        <a:t>2% per month, based on diminishing rate</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4695899"/>
                  </a:ext>
                </a:extLst>
              </a:tr>
              <a:tr h="988189">
                <a:tc>
                  <a:txBody>
                    <a:bodyPr/>
                    <a:lstStyle/>
                    <a:p>
                      <a:endParaRPr lang="en-PH" sz="1400">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PH" sz="1400">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97469117"/>
                  </a:ext>
                </a:extLst>
              </a:tr>
              <a:tr h="424868">
                <a:tc rowSpan="2">
                  <a:txBody>
                    <a:bodyPr/>
                    <a:lstStyle/>
                    <a:p>
                      <a:endParaRPr lang="en-PH" sz="1400">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a:solidFill>
                            <a:srgbClr val="1F4766"/>
                          </a:solidFill>
                          <a:latin typeface="Lato"/>
                          <a:ea typeface="Lato"/>
                          <a:cs typeface="Lato"/>
                        </a:rPr>
                        <a:t>Service Charge</a:t>
                      </a:r>
                      <a:endParaRPr lang="en-PH" sz="1400" b="1">
                        <a:solidFill>
                          <a:srgbClr val="1F4766"/>
                        </a:solidFill>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88353520"/>
                  </a:ext>
                </a:extLst>
              </a:tr>
              <a:tr h="587853">
                <a:tc vMerge="1">
                  <a:txBody>
                    <a:bodyPr/>
                    <a:lstStyle/>
                    <a:p>
                      <a:endParaRPr lang="en-PH"/>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400">
                          <a:solidFill>
                            <a:srgbClr val="000000"/>
                          </a:solidFill>
                          <a:latin typeface="Lato"/>
                          <a:ea typeface="Lato"/>
                          <a:cs typeface="Lato"/>
                        </a:rPr>
                        <a:t>1% of loan amount, pre-deducted</a:t>
                      </a:r>
                      <a:endParaRPr lang="en-US" sz="1400">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11574103"/>
                  </a:ext>
                </a:extLst>
              </a:tr>
              <a:tr h="686734">
                <a:tc>
                  <a:txBody>
                    <a:bodyPr/>
                    <a:lstStyle/>
                    <a:p>
                      <a:endParaRPr lang="en-PH" sz="1400">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PH" sz="1400">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18413338"/>
                  </a:ext>
                </a:extLst>
              </a:tr>
              <a:tr h="670123">
                <a:tc rowSpan="2">
                  <a:txBody>
                    <a:bodyPr/>
                    <a:lstStyle/>
                    <a:p>
                      <a:endParaRPr lang="en-PH" sz="1400">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b="1">
                          <a:solidFill>
                            <a:srgbClr val="1F4766"/>
                          </a:solidFill>
                          <a:latin typeface="Lato"/>
                          <a:ea typeface="Lato"/>
                          <a:cs typeface="Lato"/>
                        </a:rPr>
                        <a:t>Micro-Insurance </a:t>
                      </a:r>
                    </a:p>
                    <a:p>
                      <a:r>
                        <a:rPr lang="en-US" sz="1400" b="1">
                          <a:solidFill>
                            <a:srgbClr val="1F4766"/>
                          </a:solidFill>
                          <a:latin typeface="Lato"/>
                          <a:ea typeface="Lato"/>
                          <a:cs typeface="Lato"/>
                        </a:rPr>
                        <a:t>Product Bundle</a:t>
                      </a:r>
                      <a:endParaRPr lang="en-PH" sz="1400" b="1">
                        <a:solidFill>
                          <a:srgbClr val="1F4766"/>
                        </a:solidFill>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68837476"/>
                  </a:ext>
                </a:extLst>
              </a:tr>
              <a:tr h="670123">
                <a:tc vMerge="1">
                  <a:txBody>
                    <a:bodyPr/>
                    <a:lstStyle/>
                    <a:p>
                      <a:endParaRPr lang="en-PH"/>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gn="just">
                        <a:buFont typeface="Wingdings" panose="05000000000000000000" pitchFamily="2" charset="2"/>
                        <a:buChar char="ü"/>
                      </a:pPr>
                      <a:r>
                        <a:rPr lang="en-US" sz="1400">
                          <a:latin typeface="Lato"/>
                          <a:ea typeface="Lato"/>
                          <a:cs typeface="Lato"/>
                        </a:rPr>
                        <a:t>Loan Redemption Fund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54832442"/>
                  </a:ext>
                </a:extLst>
              </a:tr>
            </a:tbl>
          </a:graphicData>
        </a:graphic>
      </p:graphicFrame>
      <p:grpSp>
        <p:nvGrpSpPr>
          <p:cNvPr id="524" name="Group 523">
            <a:extLst>
              <a:ext uri="{FF2B5EF4-FFF2-40B4-BE49-F238E27FC236}">
                <a16:creationId xmlns:a16="http://schemas.microsoft.com/office/drawing/2014/main" id="{42532D18-F5FB-5058-151E-D2E7E3AED806}"/>
              </a:ext>
            </a:extLst>
          </p:cNvPr>
          <p:cNvGrpSpPr/>
          <p:nvPr/>
        </p:nvGrpSpPr>
        <p:grpSpPr>
          <a:xfrm>
            <a:off x="6452109" y="3105059"/>
            <a:ext cx="572700" cy="572700"/>
            <a:chOff x="6292023" y="2842332"/>
            <a:chExt cx="572700" cy="572700"/>
          </a:xfrm>
        </p:grpSpPr>
        <p:sp>
          <p:nvSpPr>
            <p:cNvPr id="525" name="Google Shape;839;p61">
              <a:extLst>
                <a:ext uri="{FF2B5EF4-FFF2-40B4-BE49-F238E27FC236}">
                  <a16:creationId xmlns:a16="http://schemas.microsoft.com/office/drawing/2014/main" id="{EAB111F9-F0C4-1F2E-3FAB-BA96DBAA50FB}"/>
                </a:ext>
              </a:extLst>
            </p:cNvPr>
            <p:cNvSpPr/>
            <p:nvPr/>
          </p:nvSpPr>
          <p:spPr>
            <a:xfrm>
              <a:off x="6292023" y="2842332"/>
              <a:ext cx="572700" cy="572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nvGrpSpPr>
            <p:cNvPr id="526" name="Google Shape;15664;p127">
              <a:extLst>
                <a:ext uri="{FF2B5EF4-FFF2-40B4-BE49-F238E27FC236}">
                  <a16:creationId xmlns:a16="http://schemas.microsoft.com/office/drawing/2014/main" id="{E99C6E4F-01D2-6E74-3D08-E9B13AC60DEA}"/>
                </a:ext>
              </a:extLst>
            </p:cNvPr>
            <p:cNvGrpSpPr/>
            <p:nvPr/>
          </p:nvGrpSpPr>
          <p:grpSpPr>
            <a:xfrm>
              <a:off x="6401110" y="2988677"/>
              <a:ext cx="319191" cy="271240"/>
              <a:chOff x="2659157" y="2017412"/>
              <a:chExt cx="319191" cy="271240"/>
            </a:xfrm>
          </p:grpSpPr>
          <p:sp>
            <p:nvSpPr>
              <p:cNvPr id="527" name="Google Shape;15665;p127">
                <a:extLst>
                  <a:ext uri="{FF2B5EF4-FFF2-40B4-BE49-F238E27FC236}">
                    <a16:creationId xmlns:a16="http://schemas.microsoft.com/office/drawing/2014/main" id="{B1AD9E77-3E78-BA98-5A59-33FDF756BD3E}"/>
                  </a:ext>
                </a:extLst>
              </p:cNvPr>
              <p:cNvSpPr/>
              <p:nvPr/>
            </p:nvSpPr>
            <p:spPr>
              <a:xfrm>
                <a:off x="2808183" y="2086765"/>
                <a:ext cx="164125" cy="149314"/>
              </a:xfrm>
              <a:custGeom>
                <a:avLst/>
                <a:gdLst/>
                <a:ahLst/>
                <a:cxnLst/>
                <a:rect l="l" t="t" r="r" b="b"/>
                <a:pathLst>
                  <a:path w="6250" h="5686" extrusionOk="0">
                    <a:moveTo>
                      <a:pt x="3934" y="1"/>
                    </a:moveTo>
                    <a:lnTo>
                      <a:pt x="2728" y="919"/>
                    </a:lnTo>
                    <a:lnTo>
                      <a:pt x="1733" y="584"/>
                    </a:lnTo>
                    <a:lnTo>
                      <a:pt x="0" y="1991"/>
                    </a:lnTo>
                    <a:lnTo>
                      <a:pt x="2670" y="5685"/>
                    </a:lnTo>
                    <a:lnTo>
                      <a:pt x="6250" y="3140"/>
                    </a:lnTo>
                    <a:lnTo>
                      <a:pt x="3934" y="1"/>
                    </a:lnTo>
                    <a:close/>
                  </a:path>
                </a:pathLst>
              </a:custGeom>
              <a:solidFill>
                <a:srgbClr val="CE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28" name="Google Shape;15666;p127">
                <a:extLst>
                  <a:ext uri="{FF2B5EF4-FFF2-40B4-BE49-F238E27FC236}">
                    <a16:creationId xmlns:a16="http://schemas.microsoft.com/office/drawing/2014/main" id="{22A670F0-1E60-4A71-A29C-9FFC9FDE9ED8}"/>
                  </a:ext>
                </a:extLst>
              </p:cNvPr>
              <p:cNvSpPr/>
              <p:nvPr/>
            </p:nvSpPr>
            <p:spPr>
              <a:xfrm>
                <a:off x="2881816" y="2017412"/>
                <a:ext cx="96532" cy="177334"/>
              </a:xfrm>
              <a:custGeom>
                <a:avLst/>
                <a:gdLst/>
                <a:ahLst/>
                <a:cxnLst/>
                <a:rect l="l" t="t" r="r" b="b"/>
                <a:pathLst>
                  <a:path w="3676" h="6753" extrusionOk="0">
                    <a:moveTo>
                      <a:pt x="3675" y="0"/>
                    </a:moveTo>
                    <a:lnTo>
                      <a:pt x="106" y="2536"/>
                    </a:lnTo>
                    <a:cubicBezTo>
                      <a:pt x="10" y="2594"/>
                      <a:pt x="0" y="2718"/>
                      <a:pt x="58" y="2804"/>
                    </a:cubicBezTo>
                    <a:lnTo>
                      <a:pt x="3063" y="6680"/>
                    </a:lnTo>
                    <a:cubicBezTo>
                      <a:pt x="3101" y="6729"/>
                      <a:pt x="3153" y="6753"/>
                      <a:pt x="3208" y="6753"/>
                    </a:cubicBezTo>
                    <a:cubicBezTo>
                      <a:pt x="3250" y="6753"/>
                      <a:pt x="3293" y="6738"/>
                      <a:pt x="3331" y="6709"/>
                    </a:cubicBezTo>
                    <a:lnTo>
                      <a:pt x="3675" y="6441"/>
                    </a:lnTo>
                    <a:lnTo>
                      <a:pt x="3675" y="0"/>
                    </a:lnTo>
                    <a:close/>
                  </a:path>
                </a:pathLst>
              </a:custGeom>
              <a:solidFill>
                <a:srgbClr val="65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29" name="Google Shape;15667;p127">
                <a:extLst>
                  <a:ext uri="{FF2B5EF4-FFF2-40B4-BE49-F238E27FC236}">
                    <a16:creationId xmlns:a16="http://schemas.microsoft.com/office/drawing/2014/main" id="{8FEAC104-0293-86A5-3D34-80D92D272112}"/>
                  </a:ext>
                </a:extLst>
              </p:cNvPr>
              <p:cNvSpPr/>
              <p:nvPr/>
            </p:nvSpPr>
            <p:spPr>
              <a:xfrm>
                <a:off x="2947650" y="2150603"/>
                <a:ext cx="30698" cy="44196"/>
              </a:xfrm>
              <a:custGeom>
                <a:avLst/>
                <a:gdLst/>
                <a:ahLst/>
                <a:cxnLst/>
                <a:rect l="l" t="t" r="r" b="b"/>
                <a:pathLst>
                  <a:path w="1169" h="1683" extrusionOk="0">
                    <a:moveTo>
                      <a:pt x="1168" y="0"/>
                    </a:moveTo>
                    <a:lnTo>
                      <a:pt x="1" y="890"/>
                    </a:lnTo>
                    <a:lnTo>
                      <a:pt x="556" y="1608"/>
                    </a:lnTo>
                    <a:cubicBezTo>
                      <a:pt x="595" y="1658"/>
                      <a:pt x="650" y="1683"/>
                      <a:pt x="707" y="1683"/>
                    </a:cubicBezTo>
                    <a:cubicBezTo>
                      <a:pt x="747" y="1683"/>
                      <a:pt x="788" y="1670"/>
                      <a:pt x="824" y="1646"/>
                    </a:cubicBezTo>
                    <a:lnTo>
                      <a:pt x="1168" y="1369"/>
                    </a:lnTo>
                    <a:lnTo>
                      <a:pt x="1168" y="0"/>
                    </a:lnTo>
                    <a:close/>
                  </a:path>
                </a:pathLst>
              </a:custGeom>
              <a:solidFill>
                <a:srgbClr val="65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30" name="Google Shape;15668;p127">
                <a:extLst>
                  <a:ext uri="{FF2B5EF4-FFF2-40B4-BE49-F238E27FC236}">
                    <a16:creationId xmlns:a16="http://schemas.microsoft.com/office/drawing/2014/main" id="{A845FA45-1C45-85DF-ACE0-85ED63A0C3D4}"/>
                  </a:ext>
                </a:extLst>
              </p:cNvPr>
              <p:cNvSpPr/>
              <p:nvPr/>
            </p:nvSpPr>
            <p:spPr>
              <a:xfrm>
                <a:off x="2818976" y="2136029"/>
                <a:ext cx="124682" cy="83034"/>
              </a:xfrm>
              <a:custGeom>
                <a:avLst/>
                <a:gdLst/>
                <a:ahLst/>
                <a:cxnLst/>
                <a:rect l="l" t="t" r="r" b="b"/>
                <a:pathLst>
                  <a:path w="4748" h="3162" extrusionOk="0">
                    <a:moveTo>
                      <a:pt x="546" y="0"/>
                    </a:moveTo>
                    <a:lnTo>
                      <a:pt x="1" y="1005"/>
                    </a:lnTo>
                    <a:lnTo>
                      <a:pt x="3829" y="3092"/>
                    </a:lnTo>
                    <a:cubicBezTo>
                      <a:pt x="3916" y="3139"/>
                      <a:pt x="4009" y="3162"/>
                      <a:pt x="4101" y="3162"/>
                    </a:cubicBezTo>
                    <a:cubicBezTo>
                      <a:pt x="4303" y="3162"/>
                      <a:pt x="4499" y="3053"/>
                      <a:pt x="4604" y="2862"/>
                    </a:cubicBezTo>
                    <a:cubicBezTo>
                      <a:pt x="4748" y="2584"/>
                      <a:pt x="4652" y="2240"/>
                      <a:pt x="4374" y="2087"/>
                    </a:cubicBezTo>
                    <a:lnTo>
                      <a:pt x="546" y="0"/>
                    </a:lnTo>
                    <a:close/>
                  </a:path>
                </a:pathLst>
              </a:custGeom>
              <a:solidFill>
                <a:srgbClr val="47C6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31" name="Google Shape;15669;p127">
                <a:extLst>
                  <a:ext uri="{FF2B5EF4-FFF2-40B4-BE49-F238E27FC236}">
                    <a16:creationId xmlns:a16="http://schemas.microsoft.com/office/drawing/2014/main" id="{586EF1C9-7234-44DD-2B1C-14D3EAB449F4}"/>
                  </a:ext>
                </a:extLst>
              </p:cNvPr>
              <p:cNvSpPr/>
              <p:nvPr/>
            </p:nvSpPr>
            <p:spPr>
              <a:xfrm>
                <a:off x="2867741" y="2177730"/>
                <a:ext cx="73160" cy="41360"/>
              </a:xfrm>
              <a:custGeom>
                <a:avLst/>
                <a:gdLst/>
                <a:ahLst/>
                <a:cxnLst/>
                <a:rect l="l" t="t" r="r" b="b"/>
                <a:pathLst>
                  <a:path w="2786" h="1575" extrusionOk="0">
                    <a:moveTo>
                      <a:pt x="240" y="1"/>
                    </a:moveTo>
                    <a:lnTo>
                      <a:pt x="1" y="432"/>
                    </a:lnTo>
                    <a:lnTo>
                      <a:pt x="1972" y="1504"/>
                    </a:lnTo>
                    <a:cubicBezTo>
                      <a:pt x="2058" y="1552"/>
                      <a:pt x="2152" y="1575"/>
                      <a:pt x="2244" y="1575"/>
                    </a:cubicBezTo>
                    <a:cubicBezTo>
                      <a:pt x="2478" y="1575"/>
                      <a:pt x="2703" y="1428"/>
                      <a:pt x="2785" y="1188"/>
                    </a:cubicBezTo>
                    <a:lnTo>
                      <a:pt x="2785" y="1188"/>
                    </a:lnTo>
                    <a:cubicBezTo>
                      <a:pt x="2729" y="1205"/>
                      <a:pt x="2672" y="1214"/>
                      <a:pt x="2615" y="1214"/>
                    </a:cubicBezTo>
                    <a:cubicBezTo>
                      <a:pt x="2517" y="1214"/>
                      <a:pt x="2421" y="1188"/>
                      <a:pt x="2336" y="1140"/>
                    </a:cubicBezTo>
                    <a:lnTo>
                      <a:pt x="240" y="1"/>
                    </a:lnTo>
                    <a:close/>
                  </a:path>
                </a:pathLst>
              </a:custGeom>
              <a:solidFill>
                <a:srgbClr val="CE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32" name="Google Shape;15670;p127">
                <a:extLst>
                  <a:ext uri="{FF2B5EF4-FFF2-40B4-BE49-F238E27FC236}">
                    <a16:creationId xmlns:a16="http://schemas.microsoft.com/office/drawing/2014/main" id="{F1DBACDD-D8A2-B14E-429D-10FB23D9DBAA}"/>
                  </a:ext>
                </a:extLst>
              </p:cNvPr>
              <p:cNvSpPr/>
              <p:nvPr/>
            </p:nvSpPr>
            <p:spPr>
              <a:xfrm>
                <a:off x="2795867" y="2157641"/>
                <a:ext cx="124919" cy="82798"/>
              </a:xfrm>
              <a:custGeom>
                <a:avLst/>
                <a:gdLst/>
                <a:ahLst/>
                <a:cxnLst/>
                <a:rect l="l" t="t" r="r" b="b"/>
                <a:pathLst>
                  <a:path w="4757" h="3153" extrusionOk="0">
                    <a:moveTo>
                      <a:pt x="546" y="0"/>
                    </a:moveTo>
                    <a:lnTo>
                      <a:pt x="0" y="996"/>
                    </a:lnTo>
                    <a:lnTo>
                      <a:pt x="3829" y="3082"/>
                    </a:lnTo>
                    <a:cubicBezTo>
                      <a:pt x="3916" y="3130"/>
                      <a:pt x="4010" y="3153"/>
                      <a:pt x="4102" y="3153"/>
                    </a:cubicBezTo>
                    <a:cubicBezTo>
                      <a:pt x="4304" y="3153"/>
                      <a:pt x="4499" y="3046"/>
                      <a:pt x="4604" y="2862"/>
                    </a:cubicBezTo>
                    <a:cubicBezTo>
                      <a:pt x="4757" y="2584"/>
                      <a:pt x="4652" y="2240"/>
                      <a:pt x="4374" y="2087"/>
                    </a:cubicBezTo>
                    <a:lnTo>
                      <a:pt x="546" y="0"/>
                    </a:lnTo>
                    <a:close/>
                  </a:path>
                </a:pathLst>
              </a:custGeom>
              <a:solidFill>
                <a:srgbClr val="47C6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33" name="Google Shape;15671;p127">
                <a:extLst>
                  <a:ext uri="{FF2B5EF4-FFF2-40B4-BE49-F238E27FC236}">
                    <a16:creationId xmlns:a16="http://schemas.microsoft.com/office/drawing/2014/main" id="{FE64E84F-C996-E8A7-4602-89B48E5AAEFF}"/>
                  </a:ext>
                </a:extLst>
              </p:cNvPr>
              <p:cNvSpPr/>
              <p:nvPr/>
            </p:nvSpPr>
            <p:spPr>
              <a:xfrm>
                <a:off x="2852667" y="2204620"/>
                <a:ext cx="65099" cy="35845"/>
              </a:xfrm>
              <a:custGeom>
                <a:avLst/>
                <a:gdLst/>
                <a:ahLst/>
                <a:cxnLst/>
                <a:rect l="l" t="t" r="r" b="b"/>
                <a:pathLst>
                  <a:path w="2479" h="1365" extrusionOk="0">
                    <a:moveTo>
                      <a:pt x="220" y="1"/>
                    </a:moveTo>
                    <a:lnTo>
                      <a:pt x="0" y="384"/>
                    </a:lnTo>
                    <a:lnTo>
                      <a:pt x="1666" y="1293"/>
                    </a:lnTo>
                    <a:cubicBezTo>
                      <a:pt x="1752" y="1342"/>
                      <a:pt x="1845" y="1364"/>
                      <a:pt x="1937" y="1364"/>
                    </a:cubicBezTo>
                    <a:cubicBezTo>
                      <a:pt x="2171" y="1364"/>
                      <a:pt x="2397" y="1218"/>
                      <a:pt x="2479" y="977"/>
                    </a:cubicBezTo>
                    <a:lnTo>
                      <a:pt x="2479" y="977"/>
                    </a:lnTo>
                    <a:cubicBezTo>
                      <a:pt x="2405" y="1012"/>
                      <a:pt x="2325" y="1029"/>
                      <a:pt x="2245" y="1029"/>
                    </a:cubicBezTo>
                    <a:cubicBezTo>
                      <a:pt x="2150" y="1029"/>
                      <a:pt x="2055" y="1005"/>
                      <a:pt x="1972" y="958"/>
                    </a:cubicBezTo>
                    <a:lnTo>
                      <a:pt x="220" y="1"/>
                    </a:lnTo>
                    <a:close/>
                  </a:path>
                </a:pathLst>
              </a:custGeom>
              <a:solidFill>
                <a:srgbClr val="CE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34" name="Google Shape;15672;p127">
                <a:extLst>
                  <a:ext uri="{FF2B5EF4-FFF2-40B4-BE49-F238E27FC236}">
                    <a16:creationId xmlns:a16="http://schemas.microsoft.com/office/drawing/2014/main" id="{486AF06C-9EF9-2622-6EF0-315FDD439D89}"/>
                  </a:ext>
                </a:extLst>
              </p:cNvPr>
              <p:cNvSpPr/>
              <p:nvPr/>
            </p:nvSpPr>
            <p:spPr>
              <a:xfrm>
                <a:off x="2772732" y="2178990"/>
                <a:ext cx="124945" cy="83060"/>
              </a:xfrm>
              <a:custGeom>
                <a:avLst/>
                <a:gdLst/>
                <a:ahLst/>
                <a:cxnLst/>
                <a:rect l="l" t="t" r="r" b="b"/>
                <a:pathLst>
                  <a:path w="4758" h="3163" extrusionOk="0">
                    <a:moveTo>
                      <a:pt x="546" y="1"/>
                    </a:moveTo>
                    <a:lnTo>
                      <a:pt x="1" y="1006"/>
                    </a:lnTo>
                    <a:lnTo>
                      <a:pt x="3829" y="3092"/>
                    </a:lnTo>
                    <a:cubicBezTo>
                      <a:pt x="3916" y="3140"/>
                      <a:pt x="4009" y="3163"/>
                      <a:pt x="4101" y="3163"/>
                    </a:cubicBezTo>
                    <a:cubicBezTo>
                      <a:pt x="4303" y="3163"/>
                      <a:pt x="4499" y="3053"/>
                      <a:pt x="4604" y="2862"/>
                    </a:cubicBezTo>
                    <a:cubicBezTo>
                      <a:pt x="4757" y="2585"/>
                      <a:pt x="4652" y="2240"/>
                      <a:pt x="4375" y="2097"/>
                    </a:cubicBezTo>
                    <a:lnTo>
                      <a:pt x="546" y="1"/>
                    </a:lnTo>
                    <a:close/>
                  </a:path>
                </a:pathLst>
              </a:custGeom>
              <a:solidFill>
                <a:srgbClr val="47C6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35" name="Google Shape;15673;p127">
                <a:extLst>
                  <a:ext uri="{FF2B5EF4-FFF2-40B4-BE49-F238E27FC236}">
                    <a16:creationId xmlns:a16="http://schemas.microsoft.com/office/drawing/2014/main" id="{9925A95A-7208-3FE9-AD6D-BF6C08150A85}"/>
                  </a:ext>
                </a:extLst>
              </p:cNvPr>
              <p:cNvSpPr/>
              <p:nvPr/>
            </p:nvSpPr>
            <p:spPr>
              <a:xfrm>
                <a:off x="2837594" y="2231011"/>
                <a:ext cx="56800" cy="31013"/>
              </a:xfrm>
              <a:custGeom>
                <a:avLst/>
                <a:gdLst/>
                <a:ahLst/>
                <a:cxnLst/>
                <a:rect l="l" t="t" r="r" b="b"/>
                <a:pathLst>
                  <a:path w="2163" h="1181" extrusionOk="0">
                    <a:moveTo>
                      <a:pt x="211" y="1"/>
                    </a:moveTo>
                    <a:lnTo>
                      <a:pt x="0" y="365"/>
                    </a:lnTo>
                    <a:lnTo>
                      <a:pt x="1359" y="1111"/>
                    </a:lnTo>
                    <a:cubicBezTo>
                      <a:pt x="1445" y="1158"/>
                      <a:pt x="1539" y="1181"/>
                      <a:pt x="1631" y="1181"/>
                    </a:cubicBezTo>
                    <a:cubicBezTo>
                      <a:pt x="1856" y="1181"/>
                      <a:pt x="2075" y="1048"/>
                      <a:pt x="2163" y="824"/>
                    </a:cubicBezTo>
                    <a:lnTo>
                      <a:pt x="2163" y="824"/>
                    </a:lnTo>
                    <a:cubicBezTo>
                      <a:pt x="2092" y="853"/>
                      <a:pt x="2019" y="868"/>
                      <a:pt x="1946" y="868"/>
                    </a:cubicBezTo>
                    <a:cubicBezTo>
                      <a:pt x="1853" y="868"/>
                      <a:pt x="1761" y="844"/>
                      <a:pt x="1675" y="795"/>
                    </a:cubicBezTo>
                    <a:lnTo>
                      <a:pt x="211" y="1"/>
                    </a:lnTo>
                    <a:close/>
                  </a:path>
                </a:pathLst>
              </a:custGeom>
              <a:solidFill>
                <a:srgbClr val="CE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36" name="Google Shape;15674;p127">
                <a:extLst>
                  <a:ext uri="{FF2B5EF4-FFF2-40B4-BE49-F238E27FC236}">
                    <a16:creationId xmlns:a16="http://schemas.microsoft.com/office/drawing/2014/main" id="{A43FB7BA-16D1-A047-2F8C-54D6C693B778}"/>
                  </a:ext>
                </a:extLst>
              </p:cNvPr>
              <p:cNvSpPr/>
              <p:nvPr/>
            </p:nvSpPr>
            <p:spPr>
              <a:xfrm>
                <a:off x="2749623" y="2200602"/>
                <a:ext cx="124919" cy="82955"/>
              </a:xfrm>
              <a:custGeom>
                <a:avLst/>
                <a:gdLst/>
                <a:ahLst/>
                <a:cxnLst/>
                <a:rect l="l" t="t" r="r" b="b"/>
                <a:pathLst>
                  <a:path w="4757" h="3159" extrusionOk="0">
                    <a:moveTo>
                      <a:pt x="546" y="1"/>
                    </a:moveTo>
                    <a:lnTo>
                      <a:pt x="0" y="996"/>
                    </a:lnTo>
                    <a:lnTo>
                      <a:pt x="3829" y="3092"/>
                    </a:lnTo>
                    <a:cubicBezTo>
                      <a:pt x="3915" y="3137"/>
                      <a:pt x="4008" y="3158"/>
                      <a:pt x="4100" y="3158"/>
                    </a:cubicBezTo>
                    <a:cubicBezTo>
                      <a:pt x="4302" y="3158"/>
                      <a:pt x="4498" y="3053"/>
                      <a:pt x="4604" y="2862"/>
                    </a:cubicBezTo>
                    <a:cubicBezTo>
                      <a:pt x="4757" y="2585"/>
                      <a:pt x="4652" y="2240"/>
                      <a:pt x="4374" y="2087"/>
                    </a:cubicBezTo>
                    <a:lnTo>
                      <a:pt x="546" y="1"/>
                    </a:lnTo>
                    <a:close/>
                  </a:path>
                </a:pathLst>
              </a:custGeom>
              <a:solidFill>
                <a:srgbClr val="47C6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37" name="Google Shape;15675;p127">
                <a:extLst>
                  <a:ext uri="{FF2B5EF4-FFF2-40B4-BE49-F238E27FC236}">
                    <a16:creationId xmlns:a16="http://schemas.microsoft.com/office/drawing/2014/main" id="{E74D88CC-7480-0AE9-F230-5F5608EEE254}"/>
                  </a:ext>
                </a:extLst>
              </p:cNvPr>
              <p:cNvSpPr/>
              <p:nvPr/>
            </p:nvSpPr>
            <p:spPr>
              <a:xfrm>
                <a:off x="2822495" y="2255906"/>
                <a:ext cx="49054" cy="27494"/>
              </a:xfrm>
              <a:custGeom>
                <a:avLst/>
                <a:gdLst/>
                <a:ahLst/>
                <a:cxnLst/>
                <a:rect l="l" t="t" r="r" b="b"/>
                <a:pathLst>
                  <a:path w="1868" h="1047" extrusionOk="0">
                    <a:moveTo>
                      <a:pt x="240" y="0"/>
                    </a:moveTo>
                    <a:lnTo>
                      <a:pt x="1" y="402"/>
                    </a:lnTo>
                    <a:lnTo>
                      <a:pt x="1054" y="976"/>
                    </a:lnTo>
                    <a:cubicBezTo>
                      <a:pt x="1140" y="1024"/>
                      <a:pt x="1234" y="1047"/>
                      <a:pt x="1326" y="1047"/>
                    </a:cubicBezTo>
                    <a:cubicBezTo>
                      <a:pt x="1528" y="1047"/>
                      <a:pt x="1724" y="938"/>
                      <a:pt x="1829" y="747"/>
                    </a:cubicBezTo>
                    <a:cubicBezTo>
                      <a:pt x="1848" y="728"/>
                      <a:pt x="1857" y="699"/>
                      <a:pt x="1867" y="670"/>
                    </a:cubicBezTo>
                    <a:lnTo>
                      <a:pt x="1867" y="670"/>
                    </a:lnTo>
                    <a:cubicBezTo>
                      <a:pt x="1801" y="695"/>
                      <a:pt x="1732" y="707"/>
                      <a:pt x="1663" y="707"/>
                    </a:cubicBezTo>
                    <a:cubicBezTo>
                      <a:pt x="1572" y="707"/>
                      <a:pt x="1480" y="685"/>
                      <a:pt x="1398" y="642"/>
                    </a:cubicBezTo>
                    <a:lnTo>
                      <a:pt x="240" y="0"/>
                    </a:lnTo>
                    <a:close/>
                  </a:path>
                </a:pathLst>
              </a:custGeom>
              <a:solidFill>
                <a:srgbClr val="CE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38" name="Google Shape;15676;p127">
                <a:extLst>
                  <a:ext uri="{FF2B5EF4-FFF2-40B4-BE49-F238E27FC236}">
                    <a16:creationId xmlns:a16="http://schemas.microsoft.com/office/drawing/2014/main" id="{5F473328-785F-7062-846E-3279765FAF18}"/>
                  </a:ext>
                </a:extLst>
              </p:cNvPr>
              <p:cNvSpPr/>
              <p:nvPr/>
            </p:nvSpPr>
            <p:spPr>
              <a:xfrm>
                <a:off x="2673968" y="2097059"/>
                <a:ext cx="159109" cy="144036"/>
              </a:xfrm>
              <a:custGeom>
                <a:avLst/>
                <a:gdLst/>
                <a:ahLst/>
                <a:cxnLst/>
                <a:rect l="l" t="t" r="r" b="b"/>
                <a:pathLst>
                  <a:path w="6059" h="5485" extrusionOk="0">
                    <a:moveTo>
                      <a:pt x="1896" y="1"/>
                    </a:moveTo>
                    <a:lnTo>
                      <a:pt x="1" y="3418"/>
                    </a:lnTo>
                    <a:lnTo>
                      <a:pt x="3877" y="5485"/>
                    </a:lnTo>
                    <a:lnTo>
                      <a:pt x="6059" y="1484"/>
                    </a:lnTo>
                    <a:lnTo>
                      <a:pt x="4145" y="680"/>
                    </a:lnTo>
                    <a:cubicBezTo>
                      <a:pt x="4106" y="661"/>
                      <a:pt x="4078" y="661"/>
                      <a:pt x="4039" y="661"/>
                    </a:cubicBezTo>
                    <a:lnTo>
                      <a:pt x="3274" y="757"/>
                    </a:lnTo>
                    <a:cubicBezTo>
                      <a:pt x="3226" y="757"/>
                      <a:pt x="3188" y="747"/>
                      <a:pt x="3149" y="728"/>
                    </a:cubicBezTo>
                    <a:lnTo>
                      <a:pt x="1896" y="1"/>
                    </a:lnTo>
                    <a:close/>
                  </a:path>
                </a:pathLst>
              </a:custGeom>
              <a:solidFill>
                <a:srgbClr val="47C6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39" name="Google Shape;15677;p127">
                <a:extLst>
                  <a:ext uri="{FF2B5EF4-FFF2-40B4-BE49-F238E27FC236}">
                    <a16:creationId xmlns:a16="http://schemas.microsoft.com/office/drawing/2014/main" id="{FE9FE9CC-C852-F647-BBF4-478CCB13CF28}"/>
                  </a:ext>
                </a:extLst>
              </p:cNvPr>
              <p:cNvSpPr/>
              <p:nvPr/>
            </p:nvSpPr>
            <p:spPr>
              <a:xfrm>
                <a:off x="2659157" y="2039261"/>
                <a:ext cx="98528" cy="170191"/>
              </a:xfrm>
              <a:custGeom>
                <a:avLst/>
                <a:gdLst/>
                <a:ahLst/>
                <a:cxnLst/>
                <a:rect l="l" t="t" r="r" b="b"/>
                <a:pathLst>
                  <a:path w="3752" h="6481" extrusionOk="0">
                    <a:moveTo>
                      <a:pt x="0" y="1"/>
                    </a:moveTo>
                    <a:lnTo>
                      <a:pt x="0" y="5810"/>
                    </a:lnTo>
                    <a:lnTo>
                      <a:pt x="1101" y="6451"/>
                    </a:lnTo>
                    <a:cubicBezTo>
                      <a:pt x="1133" y="6471"/>
                      <a:pt x="1170" y="6480"/>
                      <a:pt x="1207" y="6480"/>
                    </a:cubicBezTo>
                    <a:cubicBezTo>
                      <a:pt x="1279" y="6480"/>
                      <a:pt x="1350" y="6444"/>
                      <a:pt x="1388" y="6375"/>
                    </a:cubicBezTo>
                    <a:lnTo>
                      <a:pt x="3694" y="2384"/>
                    </a:lnTo>
                    <a:cubicBezTo>
                      <a:pt x="3752" y="2288"/>
                      <a:pt x="3713" y="2154"/>
                      <a:pt x="3618" y="2097"/>
                    </a:cubicBezTo>
                    <a:lnTo>
                      <a:pt x="0" y="1"/>
                    </a:lnTo>
                    <a:close/>
                  </a:path>
                </a:pathLst>
              </a:custGeom>
              <a:solidFill>
                <a:srgbClr val="F4F6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40" name="Google Shape;15678;p127">
                <a:extLst>
                  <a:ext uri="{FF2B5EF4-FFF2-40B4-BE49-F238E27FC236}">
                    <a16:creationId xmlns:a16="http://schemas.microsoft.com/office/drawing/2014/main" id="{74F4BD07-793A-28A7-362E-90CB62414A84}"/>
                  </a:ext>
                </a:extLst>
              </p:cNvPr>
              <p:cNvSpPr/>
              <p:nvPr/>
            </p:nvSpPr>
            <p:spPr>
              <a:xfrm>
                <a:off x="2659157" y="2039261"/>
                <a:ext cx="75918" cy="159109"/>
              </a:xfrm>
              <a:custGeom>
                <a:avLst/>
                <a:gdLst/>
                <a:ahLst/>
                <a:cxnLst/>
                <a:rect l="l" t="t" r="r" b="b"/>
                <a:pathLst>
                  <a:path w="2891" h="6059" extrusionOk="0">
                    <a:moveTo>
                      <a:pt x="0" y="1"/>
                    </a:moveTo>
                    <a:lnTo>
                      <a:pt x="0" y="5810"/>
                    </a:lnTo>
                    <a:lnTo>
                      <a:pt x="431" y="6059"/>
                    </a:lnTo>
                    <a:lnTo>
                      <a:pt x="2890" y="1676"/>
                    </a:lnTo>
                    <a:lnTo>
                      <a:pt x="0" y="1"/>
                    </a:lnTo>
                    <a:close/>
                  </a:path>
                </a:pathLst>
              </a:custGeom>
              <a:solidFill>
                <a:srgbClr val="058D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41" name="Google Shape;15679;p127">
                <a:extLst>
                  <a:ext uri="{FF2B5EF4-FFF2-40B4-BE49-F238E27FC236}">
                    <a16:creationId xmlns:a16="http://schemas.microsoft.com/office/drawing/2014/main" id="{8B27964F-D15C-194B-D487-C9586EDEFCA1}"/>
                  </a:ext>
                </a:extLst>
              </p:cNvPr>
              <p:cNvSpPr/>
              <p:nvPr/>
            </p:nvSpPr>
            <p:spPr>
              <a:xfrm>
                <a:off x="2659157" y="2159138"/>
                <a:ext cx="47268" cy="50314"/>
              </a:xfrm>
              <a:custGeom>
                <a:avLst/>
                <a:gdLst/>
                <a:ahLst/>
                <a:cxnLst/>
                <a:rect l="l" t="t" r="r" b="b"/>
                <a:pathLst>
                  <a:path w="1800" h="1916" extrusionOk="0">
                    <a:moveTo>
                      <a:pt x="0" y="1"/>
                    </a:moveTo>
                    <a:lnTo>
                      <a:pt x="0" y="1245"/>
                    </a:lnTo>
                    <a:lnTo>
                      <a:pt x="1101" y="1886"/>
                    </a:lnTo>
                    <a:cubicBezTo>
                      <a:pt x="1133" y="1906"/>
                      <a:pt x="1170" y="1915"/>
                      <a:pt x="1207" y="1915"/>
                    </a:cubicBezTo>
                    <a:cubicBezTo>
                      <a:pt x="1279" y="1915"/>
                      <a:pt x="1350" y="1879"/>
                      <a:pt x="1388" y="1810"/>
                    </a:cubicBezTo>
                    <a:lnTo>
                      <a:pt x="1799" y="1092"/>
                    </a:lnTo>
                    <a:lnTo>
                      <a:pt x="0" y="1"/>
                    </a:lnTo>
                    <a:close/>
                  </a:path>
                </a:pathLst>
              </a:custGeom>
              <a:solidFill>
                <a:srgbClr val="E8ED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42" name="Google Shape;15680;p127">
                <a:extLst>
                  <a:ext uri="{FF2B5EF4-FFF2-40B4-BE49-F238E27FC236}">
                    <a16:creationId xmlns:a16="http://schemas.microsoft.com/office/drawing/2014/main" id="{2FA6EECD-5356-C469-5F0B-0D3456116722}"/>
                  </a:ext>
                </a:extLst>
              </p:cNvPr>
              <p:cNvSpPr/>
              <p:nvPr/>
            </p:nvSpPr>
            <p:spPr>
              <a:xfrm>
                <a:off x="2659157" y="2159138"/>
                <a:ext cx="24894" cy="39232"/>
              </a:xfrm>
              <a:custGeom>
                <a:avLst/>
                <a:gdLst/>
                <a:ahLst/>
                <a:cxnLst/>
                <a:rect l="l" t="t" r="r" b="b"/>
                <a:pathLst>
                  <a:path w="948" h="1494" extrusionOk="0">
                    <a:moveTo>
                      <a:pt x="0" y="1"/>
                    </a:moveTo>
                    <a:lnTo>
                      <a:pt x="0" y="1245"/>
                    </a:lnTo>
                    <a:lnTo>
                      <a:pt x="431" y="1494"/>
                    </a:lnTo>
                    <a:lnTo>
                      <a:pt x="948" y="575"/>
                    </a:lnTo>
                    <a:lnTo>
                      <a:pt x="0" y="1"/>
                    </a:lnTo>
                    <a:close/>
                  </a:path>
                </a:pathLst>
              </a:custGeom>
              <a:solidFill>
                <a:srgbClr val="465C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43" name="Google Shape;15681;p127">
                <a:extLst>
                  <a:ext uri="{FF2B5EF4-FFF2-40B4-BE49-F238E27FC236}">
                    <a16:creationId xmlns:a16="http://schemas.microsoft.com/office/drawing/2014/main" id="{54DA4E5F-61D2-385E-DE55-1559799A0833}"/>
                  </a:ext>
                </a:extLst>
              </p:cNvPr>
              <p:cNvSpPr/>
              <p:nvPr/>
            </p:nvSpPr>
            <p:spPr>
              <a:xfrm>
                <a:off x="2706898" y="2179463"/>
                <a:ext cx="67121" cy="53859"/>
              </a:xfrm>
              <a:custGeom>
                <a:avLst/>
                <a:gdLst/>
                <a:ahLst/>
                <a:cxnLst/>
                <a:rect l="l" t="t" r="r" b="b"/>
                <a:pathLst>
                  <a:path w="2556" h="2051" extrusionOk="0">
                    <a:moveTo>
                      <a:pt x="1902" y="1"/>
                    </a:moveTo>
                    <a:cubicBezTo>
                      <a:pt x="1788" y="1"/>
                      <a:pt x="1672" y="35"/>
                      <a:pt x="1570" y="107"/>
                    </a:cubicBezTo>
                    <a:lnTo>
                      <a:pt x="316" y="1016"/>
                    </a:lnTo>
                    <a:cubicBezTo>
                      <a:pt x="58" y="1198"/>
                      <a:pt x="1" y="1562"/>
                      <a:pt x="192" y="1811"/>
                    </a:cubicBezTo>
                    <a:cubicBezTo>
                      <a:pt x="302" y="1968"/>
                      <a:pt x="477" y="2051"/>
                      <a:pt x="654" y="2051"/>
                    </a:cubicBezTo>
                    <a:cubicBezTo>
                      <a:pt x="769" y="2051"/>
                      <a:pt x="885" y="2016"/>
                      <a:pt x="986" y="1945"/>
                    </a:cubicBezTo>
                    <a:lnTo>
                      <a:pt x="2240" y="1045"/>
                    </a:lnTo>
                    <a:cubicBezTo>
                      <a:pt x="2508" y="854"/>
                      <a:pt x="2556" y="490"/>
                      <a:pt x="2364" y="232"/>
                    </a:cubicBezTo>
                    <a:cubicBezTo>
                      <a:pt x="2249" y="81"/>
                      <a:pt x="2077" y="1"/>
                      <a:pt x="1902" y="1"/>
                    </a:cubicBezTo>
                    <a:close/>
                  </a:path>
                </a:pathLst>
              </a:custGeom>
              <a:solidFill>
                <a:srgbClr val="CE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44" name="Google Shape;15682;p127">
                <a:extLst>
                  <a:ext uri="{FF2B5EF4-FFF2-40B4-BE49-F238E27FC236}">
                    <a16:creationId xmlns:a16="http://schemas.microsoft.com/office/drawing/2014/main" id="{36511F05-26FD-71F5-94F6-B5EA2836DA2E}"/>
                  </a:ext>
                </a:extLst>
              </p:cNvPr>
              <p:cNvSpPr/>
              <p:nvPr/>
            </p:nvSpPr>
            <p:spPr>
              <a:xfrm>
                <a:off x="2710154" y="2180513"/>
                <a:ext cx="63864" cy="52914"/>
              </a:xfrm>
              <a:custGeom>
                <a:avLst/>
                <a:gdLst/>
                <a:ahLst/>
                <a:cxnLst/>
                <a:rect l="l" t="t" r="r" b="b"/>
                <a:pathLst>
                  <a:path w="2432" h="2015" extrusionOk="0">
                    <a:moveTo>
                      <a:pt x="2001" y="0"/>
                    </a:moveTo>
                    <a:lnTo>
                      <a:pt x="2001" y="0"/>
                    </a:lnTo>
                    <a:cubicBezTo>
                      <a:pt x="2097" y="249"/>
                      <a:pt x="2011" y="527"/>
                      <a:pt x="1800" y="680"/>
                    </a:cubicBezTo>
                    <a:lnTo>
                      <a:pt x="546" y="1589"/>
                    </a:lnTo>
                    <a:cubicBezTo>
                      <a:pt x="445" y="1661"/>
                      <a:pt x="329" y="1699"/>
                      <a:pt x="211" y="1699"/>
                    </a:cubicBezTo>
                    <a:cubicBezTo>
                      <a:pt x="141" y="1699"/>
                      <a:pt x="69" y="1685"/>
                      <a:pt x="1" y="1656"/>
                    </a:cubicBezTo>
                    <a:lnTo>
                      <a:pt x="1" y="1656"/>
                    </a:lnTo>
                    <a:cubicBezTo>
                      <a:pt x="89" y="1883"/>
                      <a:pt x="303" y="2015"/>
                      <a:pt x="525" y="2015"/>
                    </a:cubicBezTo>
                    <a:cubicBezTo>
                      <a:pt x="640" y="2015"/>
                      <a:pt x="758" y="1980"/>
                      <a:pt x="862" y="1905"/>
                    </a:cubicBezTo>
                    <a:lnTo>
                      <a:pt x="2116" y="1005"/>
                    </a:lnTo>
                    <a:cubicBezTo>
                      <a:pt x="2384" y="814"/>
                      <a:pt x="2432" y="440"/>
                      <a:pt x="2240" y="192"/>
                    </a:cubicBezTo>
                    <a:cubicBezTo>
                      <a:pt x="2173" y="106"/>
                      <a:pt x="2097" y="39"/>
                      <a:pt x="2001" y="0"/>
                    </a:cubicBezTo>
                    <a:close/>
                  </a:path>
                </a:pathLst>
              </a:custGeom>
              <a:solidFill>
                <a:srgbClr val="A9B4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45" name="Google Shape;15683;p127">
                <a:extLst>
                  <a:ext uri="{FF2B5EF4-FFF2-40B4-BE49-F238E27FC236}">
                    <a16:creationId xmlns:a16="http://schemas.microsoft.com/office/drawing/2014/main" id="{CDF6B2C5-74DB-8CAC-0A11-DE125B5142D7}"/>
                  </a:ext>
                </a:extLst>
              </p:cNvPr>
              <p:cNvSpPr/>
              <p:nvPr/>
            </p:nvSpPr>
            <p:spPr>
              <a:xfrm>
                <a:off x="2732528" y="2203254"/>
                <a:ext cx="59847" cy="48528"/>
              </a:xfrm>
              <a:custGeom>
                <a:avLst/>
                <a:gdLst/>
                <a:ahLst/>
                <a:cxnLst/>
                <a:rect l="l" t="t" r="r" b="b"/>
                <a:pathLst>
                  <a:path w="2279" h="1848" extrusionOk="0">
                    <a:moveTo>
                      <a:pt x="1629" y="1"/>
                    </a:moveTo>
                    <a:cubicBezTo>
                      <a:pt x="1512" y="1"/>
                      <a:pt x="1394" y="37"/>
                      <a:pt x="1293" y="110"/>
                    </a:cubicBezTo>
                    <a:lnTo>
                      <a:pt x="326" y="809"/>
                    </a:lnTo>
                    <a:cubicBezTo>
                      <a:pt x="68" y="1000"/>
                      <a:pt x="1" y="1364"/>
                      <a:pt x="192" y="1623"/>
                    </a:cubicBezTo>
                    <a:cubicBezTo>
                      <a:pt x="306" y="1770"/>
                      <a:pt x="473" y="1847"/>
                      <a:pt x="643" y="1847"/>
                    </a:cubicBezTo>
                    <a:cubicBezTo>
                      <a:pt x="759" y="1847"/>
                      <a:pt x="876" y="1811"/>
                      <a:pt x="977" y="1737"/>
                    </a:cubicBezTo>
                    <a:lnTo>
                      <a:pt x="1963" y="1039"/>
                    </a:lnTo>
                    <a:cubicBezTo>
                      <a:pt x="2221" y="847"/>
                      <a:pt x="2278" y="484"/>
                      <a:pt x="2077" y="225"/>
                    </a:cubicBezTo>
                    <a:cubicBezTo>
                      <a:pt x="1969" y="77"/>
                      <a:pt x="1801" y="1"/>
                      <a:pt x="1629" y="1"/>
                    </a:cubicBezTo>
                    <a:close/>
                  </a:path>
                </a:pathLst>
              </a:custGeom>
              <a:solidFill>
                <a:srgbClr val="CE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46" name="Google Shape;15684;p127">
                <a:extLst>
                  <a:ext uri="{FF2B5EF4-FFF2-40B4-BE49-F238E27FC236}">
                    <a16:creationId xmlns:a16="http://schemas.microsoft.com/office/drawing/2014/main" id="{BAB96799-540D-A997-7E2E-83866D2E8564}"/>
                  </a:ext>
                </a:extLst>
              </p:cNvPr>
              <p:cNvSpPr/>
              <p:nvPr/>
            </p:nvSpPr>
            <p:spPr>
              <a:xfrm>
                <a:off x="2735810" y="2204384"/>
                <a:ext cx="56564" cy="47399"/>
              </a:xfrm>
              <a:custGeom>
                <a:avLst/>
                <a:gdLst/>
                <a:ahLst/>
                <a:cxnLst/>
                <a:rect l="l" t="t" r="r" b="b"/>
                <a:pathLst>
                  <a:path w="2154" h="1805" extrusionOk="0">
                    <a:moveTo>
                      <a:pt x="1713" y="0"/>
                    </a:moveTo>
                    <a:lnTo>
                      <a:pt x="1713" y="0"/>
                    </a:lnTo>
                    <a:cubicBezTo>
                      <a:pt x="1809" y="240"/>
                      <a:pt x="1732" y="517"/>
                      <a:pt x="1522" y="670"/>
                    </a:cubicBezTo>
                    <a:lnTo>
                      <a:pt x="546" y="1379"/>
                    </a:lnTo>
                    <a:cubicBezTo>
                      <a:pt x="444" y="1450"/>
                      <a:pt x="328" y="1488"/>
                      <a:pt x="211" y="1488"/>
                    </a:cubicBezTo>
                    <a:cubicBezTo>
                      <a:pt x="140" y="1488"/>
                      <a:pt x="69" y="1474"/>
                      <a:pt x="0" y="1446"/>
                    </a:cubicBezTo>
                    <a:lnTo>
                      <a:pt x="0" y="1446"/>
                    </a:lnTo>
                    <a:cubicBezTo>
                      <a:pt x="19" y="1493"/>
                      <a:pt x="38" y="1541"/>
                      <a:pt x="67" y="1580"/>
                    </a:cubicBezTo>
                    <a:cubicBezTo>
                      <a:pt x="181" y="1727"/>
                      <a:pt x="348" y="1804"/>
                      <a:pt x="520" y="1804"/>
                    </a:cubicBezTo>
                    <a:cubicBezTo>
                      <a:pt x="637" y="1804"/>
                      <a:pt x="756" y="1768"/>
                      <a:pt x="861" y="1694"/>
                    </a:cubicBezTo>
                    <a:lnTo>
                      <a:pt x="1838" y="996"/>
                    </a:lnTo>
                    <a:cubicBezTo>
                      <a:pt x="2096" y="804"/>
                      <a:pt x="2153" y="441"/>
                      <a:pt x="1952" y="182"/>
                    </a:cubicBezTo>
                    <a:cubicBezTo>
                      <a:pt x="1895" y="106"/>
                      <a:pt x="1809" y="39"/>
                      <a:pt x="1713" y="0"/>
                    </a:cubicBezTo>
                    <a:close/>
                  </a:path>
                </a:pathLst>
              </a:custGeom>
              <a:solidFill>
                <a:srgbClr val="A9B4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47" name="Google Shape;15685;p127">
                <a:extLst>
                  <a:ext uri="{FF2B5EF4-FFF2-40B4-BE49-F238E27FC236}">
                    <a16:creationId xmlns:a16="http://schemas.microsoft.com/office/drawing/2014/main" id="{670C4941-4519-6164-D9B8-4CF6AD3FF257}"/>
                  </a:ext>
                </a:extLst>
              </p:cNvPr>
              <p:cNvSpPr/>
              <p:nvPr/>
            </p:nvSpPr>
            <p:spPr>
              <a:xfrm>
                <a:off x="2758158" y="2226967"/>
                <a:ext cx="52310" cy="43303"/>
              </a:xfrm>
              <a:custGeom>
                <a:avLst/>
                <a:gdLst/>
                <a:ahLst/>
                <a:cxnLst/>
                <a:rect l="l" t="t" r="r" b="b"/>
                <a:pathLst>
                  <a:path w="1992" h="1649" extrusionOk="0">
                    <a:moveTo>
                      <a:pt x="1340" y="1"/>
                    </a:moveTo>
                    <a:cubicBezTo>
                      <a:pt x="1227" y="1"/>
                      <a:pt x="1114" y="35"/>
                      <a:pt x="1015" y="107"/>
                    </a:cubicBezTo>
                    <a:lnTo>
                      <a:pt x="317" y="614"/>
                    </a:lnTo>
                    <a:cubicBezTo>
                      <a:pt x="58" y="796"/>
                      <a:pt x="1" y="1160"/>
                      <a:pt x="183" y="1409"/>
                    </a:cubicBezTo>
                    <a:cubicBezTo>
                      <a:pt x="299" y="1566"/>
                      <a:pt x="475" y="1648"/>
                      <a:pt x="652" y="1648"/>
                    </a:cubicBezTo>
                    <a:cubicBezTo>
                      <a:pt x="766" y="1648"/>
                      <a:pt x="879" y="1614"/>
                      <a:pt x="977" y="1543"/>
                    </a:cubicBezTo>
                    <a:lnTo>
                      <a:pt x="1676" y="1035"/>
                    </a:lnTo>
                    <a:cubicBezTo>
                      <a:pt x="1944" y="844"/>
                      <a:pt x="1991" y="480"/>
                      <a:pt x="1800" y="231"/>
                    </a:cubicBezTo>
                    <a:cubicBezTo>
                      <a:pt x="1684" y="81"/>
                      <a:pt x="1513" y="1"/>
                      <a:pt x="1340" y="1"/>
                    </a:cubicBezTo>
                    <a:close/>
                  </a:path>
                </a:pathLst>
              </a:custGeom>
              <a:solidFill>
                <a:srgbClr val="CE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48" name="Google Shape;15686;p127">
                <a:extLst>
                  <a:ext uri="{FF2B5EF4-FFF2-40B4-BE49-F238E27FC236}">
                    <a16:creationId xmlns:a16="http://schemas.microsoft.com/office/drawing/2014/main" id="{B34DD074-A1FC-CFF7-8C0F-ECF81C733857}"/>
                  </a:ext>
                </a:extLst>
              </p:cNvPr>
              <p:cNvSpPr/>
              <p:nvPr/>
            </p:nvSpPr>
            <p:spPr>
              <a:xfrm>
                <a:off x="2761178" y="2228018"/>
                <a:ext cx="49290" cy="42252"/>
              </a:xfrm>
              <a:custGeom>
                <a:avLst/>
                <a:gdLst/>
                <a:ahLst/>
                <a:cxnLst/>
                <a:rect l="l" t="t" r="r" b="b"/>
                <a:pathLst>
                  <a:path w="1877" h="1609" extrusionOk="0">
                    <a:moveTo>
                      <a:pt x="1417" y="0"/>
                    </a:moveTo>
                    <a:cubicBezTo>
                      <a:pt x="1503" y="230"/>
                      <a:pt x="1417" y="498"/>
                      <a:pt x="1216" y="651"/>
                    </a:cubicBezTo>
                    <a:lnTo>
                      <a:pt x="517" y="1148"/>
                    </a:lnTo>
                    <a:cubicBezTo>
                      <a:pt x="419" y="1222"/>
                      <a:pt x="305" y="1261"/>
                      <a:pt x="190" y="1261"/>
                    </a:cubicBezTo>
                    <a:cubicBezTo>
                      <a:pt x="126" y="1261"/>
                      <a:pt x="62" y="1249"/>
                      <a:pt x="1" y="1225"/>
                    </a:cubicBezTo>
                    <a:lnTo>
                      <a:pt x="1" y="1225"/>
                    </a:lnTo>
                    <a:cubicBezTo>
                      <a:pt x="20" y="1273"/>
                      <a:pt x="39" y="1321"/>
                      <a:pt x="68" y="1369"/>
                    </a:cubicBezTo>
                    <a:cubicBezTo>
                      <a:pt x="184" y="1526"/>
                      <a:pt x="360" y="1608"/>
                      <a:pt x="539" y="1608"/>
                    </a:cubicBezTo>
                    <a:cubicBezTo>
                      <a:pt x="654" y="1608"/>
                      <a:pt x="770" y="1574"/>
                      <a:pt x="872" y="1503"/>
                    </a:cubicBezTo>
                    <a:lnTo>
                      <a:pt x="1561" y="995"/>
                    </a:lnTo>
                    <a:cubicBezTo>
                      <a:pt x="1829" y="804"/>
                      <a:pt x="1876" y="440"/>
                      <a:pt x="1685" y="182"/>
                    </a:cubicBezTo>
                    <a:cubicBezTo>
                      <a:pt x="1618" y="96"/>
                      <a:pt x="1522" y="29"/>
                      <a:pt x="1417" y="0"/>
                    </a:cubicBezTo>
                    <a:close/>
                  </a:path>
                </a:pathLst>
              </a:custGeom>
              <a:solidFill>
                <a:srgbClr val="A9B4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49" name="Google Shape;15687;p127">
                <a:extLst>
                  <a:ext uri="{FF2B5EF4-FFF2-40B4-BE49-F238E27FC236}">
                    <a16:creationId xmlns:a16="http://schemas.microsoft.com/office/drawing/2014/main" id="{B5C80791-5160-0C60-144B-BDAA93514579}"/>
                  </a:ext>
                </a:extLst>
              </p:cNvPr>
              <p:cNvSpPr/>
              <p:nvPr/>
            </p:nvSpPr>
            <p:spPr>
              <a:xfrm>
                <a:off x="2783814" y="2250706"/>
                <a:ext cx="45010" cy="37919"/>
              </a:xfrm>
              <a:custGeom>
                <a:avLst/>
                <a:gdLst/>
                <a:ahLst/>
                <a:cxnLst/>
                <a:rect l="l" t="t" r="r" b="b"/>
                <a:pathLst>
                  <a:path w="1714" h="1444" extrusionOk="0">
                    <a:moveTo>
                      <a:pt x="1057" y="0"/>
                    </a:moveTo>
                    <a:cubicBezTo>
                      <a:pt x="942" y="0"/>
                      <a:pt x="826" y="34"/>
                      <a:pt x="727" y="103"/>
                    </a:cubicBezTo>
                    <a:lnTo>
                      <a:pt x="316" y="409"/>
                    </a:lnTo>
                    <a:cubicBezTo>
                      <a:pt x="57" y="600"/>
                      <a:pt x="0" y="954"/>
                      <a:pt x="182" y="1203"/>
                    </a:cubicBezTo>
                    <a:cubicBezTo>
                      <a:pt x="298" y="1360"/>
                      <a:pt x="475" y="1443"/>
                      <a:pt x="651" y="1443"/>
                    </a:cubicBezTo>
                    <a:cubicBezTo>
                      <a:pt x="765" y="1443"/>
                      <a:pt x="879" y="1409"/>
                      <a:pt x="976" y="1337"/>
                    </a:cubicBezTo>
                    <a:lnTo>
                      <a:pt x="1397" y="1031"/>
                    </a:lnTo>
                    <a:cubicBezTo>
                      <a:pt x="1656" y="849"/>
                      <a:pt x="1713" y="485"/>
                      <a:pt x="1512" y="227"/>
                    </a:cubicBezTo>
                    <a:cubicBezTo>
                      <a:pt x="1403" y="77"/>
                      <a:pt x="1231" y="0"/>
                      <a:pt x="1057" y="0"/>
                    </a:cubicBezTo>
                    <a:close/>
                  </a:path>
                </a:pathLst>
              </a:custGeom>
              <a:solidFill>
                <a:srgbClr val="CE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50" name="Google Shape;15688;p127">
                <a:extLst>
                  <a:ext uri="{FF2B5EF4-FFF2-40B4-BE49-F238E27FC236}">
                    <a16:creationId xmlns:a16="http://schemas.microsoft.com/office/drawing/2014/main" id="{A92BF209-50DB-806F-ED59-F76E728EFAB9}"/>
                  </a:ext>
                </a:extLst>
              </p:cNvPr>
              <p:cNvSpPr/>
              <p:nvPr/>
            </p:nvSpPr>
            <p:spPr>
              <a:xfrm>
                <a:off x="2786807" y="2251888"/>
                <a:ext cx="42016" cy="36764"/>
              </a:xfrm>
              <a:custGeom>
                <a:avLst/>
                <a:gdLst/>
                <a:ahLst/>
                <a:cxnLst/>
                <a:rect l="l" t="t" r="r" b="b"/>
                <a:pathLst>
                  <a:path w="1600" h="1400" extrusionOk="0">
                    <a:moveTo>
                      <a:pt x="1149" y="0"/>
                    </a:moveTo>
                    <a:lnTo>
                      <a:pt x="1149" y="0"/>
                    </a:lnTo>
                    <a:cubicBezTo>
                      <a:pt x="1245" y="239"/>
                      <a:pt x="1168" y="517"/>
                      <a:pt x="958" y="661"/>
                    </a:cubicBezTo>
                    <a:lnTo>
                      <a:pt x="537" y="967"/>
                    </a:lnTo>
                    <a:cubicBezTo>
                      <a:pt x="442" y="1038"/>
                      <a:pt x="329" y="1072"/>
                      <a:pt x="213" y="1072"/>
                    </a:cubicBezTo>
                    <a:cubicBezTo>
                      <a:pt x="142" y="1072"/>
                      <a:pt x="70" y="1059"/>
                      <a:pt x="1" y="1034"/>
                    </a:cubicBezTo>
                    <a:lnTo>
                      <a:pt x="1" y="1034"/>
                    </a:lnTo>
                    <a:cubicBezTo>
                      <a:pt x="90" y="1263"/>
                      <a:pt x="311" y="1400"/>
                      <a:pt x="537" y="1400"/>
                    </a:cubicBezTo>
                    <a:cubicBezTo>
                      <a:pt x="650" y="1400"/>
                      <a:pt x="763" y="1366"/>
                      <a:pt x="862" y="1292"/>
                    </a:cubicBezTo>
                    <a:lnTo>
                      <a:pt x="1283" y="986"/>
                    </a:lnTo>
                    <a:cubicBezTo>
                      <a:pt x="1542" y="804"/>
                      <a:pt x="1599" y="431"/>
                      <a:pt x="1398" y="182"/>
                    </a:cubicBezTo>
                    <a:cubicBezTo>
                      <a:pt x="1331" y="96"/>
                      <a:pt x="1255" y="38"/>
                      <a:pt x="1149" y="0"/>
                    </a:cubicBezTo>
                    <a:close/>
                  </a:path>
                </a:pathLst>
              </a:custGeom>
              <a:solidFill>
                <a:srgbClr val="A9B4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51" name="Google Shape;15689;p127">
                <a:extLst>
                  <a:ext uri="{FF2B5EF4-FFF2-40B4-BE49-F238E27FC236}">
                    <a16:creationId xmlns:a16="http://schemas.microsoft.com/office/drawing/2014/main" id="{EA9773AC-128F-610B-9533-E13028394B95}"/>
                  </a:ext>
                </a:extLst>
              </p:cNvPr>
              <p:cNvSpPr/>
              <p:nvPr/>
            </p:nvSpPr>
            <p:spPr>
              <a:xfrm>
                <a:off x="2788829" y="2102101"/>
                <a:ext cx="64862" cy="99788"/>
              </a:xfrm>
              <a:custGeom>
                <a:avLst/>
                <a:gdLst/>
                <a:ahLst/>
                <a:cxnLst/>
                <a:rect l="l" t="t" r="r" b="b"/>
                <a:pathLst>
                  <a:path w="2470" h="3800" extrusionOk="0">
                    <a:moveTo>
                      <a:pt x="527" y="0"/>
                    </a:moveTo>
                    <a:cubicBezTo>
                      <a:pt x="441" y="0"/>
                      <a:pt x="364" y="58"/>
                      <a:pt x="345" y="144"/>
                    </a:cubicBezTo>
                    <a:lnTo>
                      <a:pt x="0" y="1522"/>
                    </a:lnTo>
                    <a:lnTo>
                      <a:pt x="0" y="3034"/>
                    </a:lnTo>
                    <a:cubicBezTo>
                      <a:pt x="0" y="3455"/>
                      <a:pt x="345" y="3800"/>
                      <a:pt x="766" y="3800"/>
                    </a:cubicBezTo>
                    <a:cubicBezTo>
                      <a:pt x="1178" y="3800"/>
                      <a:pt x="1522" y="3455"/>
                      <a:pt x="1522" y="3034"/>
                    </a:cubicBezTo>
                    <a:lnTo>
                      <a:pt x="1522" y="1895"/>
                    </a:lnTo>
                    <a:lnTo>
                      <a:pt x="2470" y="0"/>
                    </a:lnTo>
                    <a:close/>
                  </a:path>
                </a:pathLst>
              </a:custGeom>
              <a:solidFill>
                <a:srgbClr val="CE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52" name="Google Shape;15690;p127">
                <a:extLst>
                  <a:ext uri="{FF2B5EF4-FFF2-40B4-BE49-F238E27FC236}">
                    <a16:creationId xmlns:a16="http://schemas.microsoft.com/office/drawing/2014/main" id="{7294F2ED-FBFD-BAC4-4F05-0E61406A5F18}"/>
                  </a:ext>
                </a:extLst>
              </p:cNvPr>
              <p:cNvSpPr/>
              <p:nvPr/>
            </p:nvSpPr>
            <p:spPr>
              <a:xfrm>
                <a:off x="2788829" y="2102101"/>
                <a:ext cx="27415" cy="99788"/>
              </a:xfrm>
              <a:custGeom>
                <a:avLst/>
                <a:gdLst/>
                <a:ahLst/>
                <a:cxnLst/>
                <a:rect l="l" t="t" r="r" b="b"/>
                <a:pathLst>
                  <a:path w="1044" h="3800" extrusionOk="0">
                    <a:moveTo>
                      <a:pt x="527" y="0"/>
                    </a:moveTo>
                    <a:cubicBezTo>
                      <a:pt x="441" y="0"/>
                      <a:pt x="364" y="58"/>
                      <a:pt x="335" y="144"/>
                    </a:cubicBezTo>
                    <a:lnTo>
                      <a:pt x="0" y="1512"/>
                    </a:lnTo>
                    <a:lnTo>
                      <a:pt x="0" y="3034"/>
                    </a:lnTo>
                    <a:cubicBezTo>
                      <a:pt x="0" y="3455"/>
                      <a:pt x="335" y="3800"/>
                      <a:pt x="756" y="3800"/>
                    </a:cubicBezTo>
                    <a:cubicBezTo>
                      <a:pt x="852" y="3800"/>
                      <a:pt x="948" y="3781"/>
                      <a:pt x="1044" y="3742"/>
                    </a:cubicBezTo>
                    <a:cubicBezTo>
                      <a:pt x="756" y="3627"/>
                      <a:pt x="565" y="3350"/>
                      <a:pt x="565" y="3034"/>
                    </a:cubicBezTo>
                    <a:lnTo>
                      <a:pt x="565" y="1522"/>
                    </a:lnTo>
                    <a:lnTo>
                      <a:pt x="948" y="0"/>
                    </a:lnTo>
                    <a:close/>
                  </a:path>
                </a:pathLst>
              </a:custGeom>
              <a:solidFill>
                <a:srgbClr val="A9B4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grpSp>
      <p:grpSp>
        <p:nvGrpSpPr>
          <p:cNvPr id="553" name="Group 552">
            <a:extLst>
              <a:ext uri="{FF2B5EF4-FFF2-40B4-BE49-F238E27FC236}">
                <a16:creationId xmlns:a16="http://schemas.microsoft.com/office/drawing/2014/main" id="{845925E5-4151-997A-72BC-0E782E5A9B7D}"/>
              </a:ext>
            </a:extLst>
          </p:cNvPr>
          <p:cNvGrpSpPr/>
          <p:nvPr/>
        </p:nvGrpSpPr>
        <p:grpSpPr>
          <a:xfrm>
            <a:off x="6367139" y="4970672"/>
            <a:ext cx="572700" cy="572700"/>
            <a:chOff x="6390826" y="4149966"/>
            <a:chExt cx="572700" cy="572700"/>
          </a:xfrm>
        </p:grpSpPr>
        <p:sp>
          <p:nvSpPr>
            <p:cNvPr id="554" name="Google Shape;839;p61">
              <a:extLst>
                <a:ext uri="{FF2B5EF4-FFF2-40B4-BE49-F238E27FC236}">
                  <a16:creationId xmlns:a16="http://schemas.microsoft.com/office/drawing/2014/main" id="{6F286B34-1C11-912C-5A78-9436EF3AEE52}"/>
                </a:ext>
              </a:extLst>
            </p:cNvPr>
            <p:cNvSpPr/>
            <p:nvPr/>
          </p:nvSpPr>
          <p:spPr>
            <a:xfrm>
              <a:off x="6390826" y="4149966"/>
              <a:ext cx="572700" cy="572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nvGrpSpPr>
            <p:cNvPr id="555" name="Google Shape;16591;p127">
              <a:extLst>
                <a:ext uri="{FF2B5EF4-FFF2-40B4-BE49-F238E27FC236}">
                  <a16:creationId xmlns:a16="http://schemas.microsoft.com/office/drawing/2014/main" id="{1DB8E825-6145-E633-AD24-7386AB7696D5}"/>
                </a:ext>
              </a:extLst>
            </p:cNvPr>
            <p:cNvGrpSpPr/>
            <p:nvPr/>
          </p:nvGrpSpPr>
          <p:grpSpPr>
            <a:xfrm>
              <a:off x="6514212" y="4270070"/>
              <a:ext cx="337284" cy="380192"/>
              <a:chOff x="7556043" y="1499959"/>
              <a:chExt cx="337284" cy="380192"/>
            </a:xfrm>
          </p:grpSpPr>
          <p:sp>
            <p:nvSpPr>
              <p:cNvPr id="556" name="Google Shape;16592;p127">
                <a:extLst>
                  <a:ext uri="{FF2B5EF4-FFF2-40B4-BE49-F238E27FC236}">
                    <a16:creationId xmlns:a16="http://schemas.microsoft.com/office/drawing/2014/main" id="{E376CC68-31F3-42A0-2188-58DF82C3E882}"/>
                  </a:ext>
                </a:extLst>
              </p:cNvPr>
              <p:cNvSpPr/>
              <p:nvPr/>
            </p:nvSpPr>
            <p:spPr>
              <a:xfrm>
                <a:off x="7556043" y="1499959"/>
                <a:ext cx="337283" cy="380140"/>
              </a:xfrm>
              <a:custGeom>
                <a:avLst/>
                <a:gdLst/>
                <a:ahLst/>
                <a:cxnLst/>
                <a:rect l="l" t="t" r="r" b="b"/>
                <a:pathLst>
                  <a:path w="12844" h="14476" extrusionOk="0">
                    <a:moveTo>
                      <a:pt x="6423" y="0"/>
                    </a:moveTo>
                    <a:cubicBezTo>
                      <a:pt x="6386" y="0"/>
                      <a:pt x="6350" y="10"/>
                      <a:pt x="6317" y="29"/>
                    </a:cubicBezTo>
                    <a:cubicBezTo>
                      <a:pt x="6279" y="48"/>
                      <a:pt x="2948" y="2038"/>
                      <a:pt x="431" y="2038"/>
                    </a:cubicBezTo>
                    <a:cubicBezTo>
                      <a:pt x="326" y="2038"/>
                      <a:pt x="240" y="2105"/>
                      <a:pt x="221" y="2211"/>
                    </a:cubicBezTo>
                    <a:cubicBezTo>
                      <a:pt x="0" y="3933"/>
                      <a:pt x="67" y="5666"/>
                      <a:pt x="412" y="7369"/>
                    </a:cubicBezTo>
                    <a:cubicBezTo>
                      <a:pt x="747" y="8958"/>
                      <a:pt x="1331" y="10336"/>
                      <a:pt x="2154" y="11465"/>
                    </a:cubicBezTo>
                    <a:cubicBezTo>
                      <a:pt x="3197" y="12872"/>
                      <a:pt x="4604" y="13886"/>
                      <a:pt x="6355" y="14461"/>
                    </a:cubicBezTo>
                    <a:cubicBezTo>
                      <a:pt x="6379" y="14470"/>
                      <a:pt x="6403" y="14475"/>
                      <a:pt x="6426" y="14475"/>
                    </a:cubicBezTo>
                    <a:cubicBezTo>
                      <a:pt x="6448" y="14475"/>
                      <a:pt x="6470" y="14470"/>
                      <a:pt x="6489" y="14461"/>
                    </a:cubicBezTo>
                    <a:cubicBezTo>
                      <a:pt x="8240" y="13886"/>
                      <a:pt x="9657" y="12872"/>
                      <a:pt x="10690" y="11465"/>
                    </a:cubicBezTo>
                    <a:cubicBezTo>
                      <a:pt x="11514" y="10336"/>
                      <a:pt x="12097" y="8958"/>
                      <a:pt x="12432" y="7369"/>
                    </a:cubicBezTo>
                    <a:cubicBezTo>
                      <a:pt x="12777" y="5666"/>
                      <a:pt x="12844" y="3933"/>
                      <a:pt x="12624" y="2211"/>
                    </a:cubicBezTo>
                    <a:cubicBezTo>
                      <a:pt x="12605" y="2105"/>
                      <a:pt x="12518" y="2038"/>
                      <a:pt x="12413" y="2038"/>
                    </a:cubicBezTo>
                    <a:cubicBezTo>
                      <a:pt x="9896" y="2038"/>
                      <a:pt x="6566" y="48"/>
                      <a:pt x="6537" y="29"/>
                    </a:cubicBezTo>
                    <a:cubicBezTo>
                      <a:pt x="6499" y="10"/>
                      <a:pt x="6460" y="0"/>
                      <a:pt x="6423" y="0"/>
                    </a:cubicBezTo>
                    <a:close/>
                  </a:path>
                </a:pathLst>
              </a:cu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57" name="Google Shape;16593;p127">
                <a:extLst>
                  <a:ext uri="{FF2B5EF4-FFF2-40B4-BE49-F238E27FC236}">
                    <a16:creationId xmlns:a16="http://schemas.microsoft.com/office/drawing/2014/main" id="{FD678EB3-96D8-320F-FCA9-032963196EC7}"/>
                  </a:ext>
                </a:extLst>
              </p:cNvPr>
              <p:cNvSpPr/>
              <p:nvPr/>
            </p:nvSpPr>
            <p:spPr>
              <a:xfrm>
                <a:off x="7714628" y="1552479"/>
                <a:ext cx="178699" cy="327672"/>
              </a:xfrm>
              <a:custGeom>
                <a:avLst/>
                <a:gdLst/>
                <a:ahLst/>
                <a:cxnLst/>
                <a:rect l="l" t="t" r="r" b="b"/>
                <a:pathLst>
                  <a:path w="6805" h="12478" extrusionOk="0">
                    <a:moveTo>
                      <a:pt x="5800" y="0"/>
                    </a:moveTo>
                    <a:lnTo>
                      <a:pt x="5800" y="0"/>
                    </a:lnTo>
                    <a:cubicBezTo>
                      <a:pt x="5991" y="1732"/>
                      <a:pt x="5924" y="3493"/>
                      <a:pt x="5580" y="5206"/>
                    </a:cubicBezTo>
                    <a:cubicBezTo>
                      <a:pt x="5235" y="6862"/>
                      <a:pt x="4623" y="8288"/>
                      <a:pt x="3761" y="9456"/>
                    </a:cubicBezTo>
                    <a:cubicBezTo>
                      <a:pt x="2814" y="10757"/>
                      <a:pt x="1503" y="11762"/>
                      <a:pt x="0" y="12355"/>
                    </a:cubicBezTo>
                    <a:cubicBezTo>
                      <a:pt x="106" y="12394"/>
                      <a:pt x="211" y="12432"/>
                      <a:pt x="316" y="12470"/>
                    </a:cubicBezTo>
                    <a:cubicBezTo>
                      <a:pt x="340" y="12475"/>
                      <a:pt x="362" y="12477"/>
                      <a:pt x="383" y="12477"/>
                    </a:cubicBezTo>
                    <a:cubicBezTo>
                      <a:pt x="405" y="12477"/>
                      <a:pt x="426" y="12475"/>
                      <a:pt x="450" y="12470"/>
                    </a:cubicBezTo>
                    <a:cubicBezTo>
                      <a:pt x="2201" y="11886"/>
                      <a:pt x="3618" y="10872"/>
                      <a:pt x="4651" y="9465"/>
                    </a:cubicBezTo>
                    <a:cubicBezTo>
                      <a:pt x="5475" y="8336"/>
                      <a:pt x="6058" y="6958"/>
                      <a:pt x="6393" y="5369"/>
                    </a:cubicBezTo>
                    <a:cubicBezTo>
                      <a:pt x="6738" y="3666"/>
                      <a:pt x="6805" y="1933"/>
                      <a:pt x="6585" y="211"/>
                    </a:cubicBezTo>
                    <a:cubicBezTo>
                      <a:pt x="6566" y="105"/>
                      <a:pt x="6479" y="38"/>
                      <a:pt x="6374" y="38"/>
                    </a:cubicBezTo>
                    <a:cubicBezTo>
                      <a:pt x="6183" y="29"/>
                      <a:pt x="5991" y="19"/>
                      <a:pt x="5800" y="0"/>
                    </a:cubicBezTo>
                    <a:close/>
                  </a:path>
                </a:pathLst>
              </a:cu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58" name="Google Shape;16594;p127">
                <a:extLst>
                  <a:ext uri="{FF2B5EF4-FFF2-40B4-BE49-F238E27FC236}">
                    <a16:creationId xmlns:a16="http://schemas.microsoft.com/office/drawing/2014/main" id="{2DD9D2F6-8050-517A-2354-E6DCAD2FBF53}"/>
                  </a:ext>
                </a:extLst>
              </p:cNvPr>
              <p:cNvSpPr/>
              <p:nvPr/>
            </p:nvSpPr>
            <p:spPr>
              <a:xfrm>
                <a:off x="7588974" y="1536382"/>
                <a:ext cx="271450" cy="305824"/>
              </a:xfrm>
              <a:custGeom>
                <a:avLst/>
                <a:gdLst/>
                <a:ahLst/>
                <a:cxnLst/>
                <a:rect l="l" t="t" r="r" b="b"/>
                <a:pathLst>
                  <a:path w="10337" h="11646" extrusionOk="0">
                    <a:moveTo>
                      <a:pt x="5168" y="1"/>
                    </a:moveTo>
                    <a:cubicBezTo>
                      <a:pt x="5132" y="1"/>
                      <a:pt x="5096" y="10"/>
                      <a:pt x="5063" y="29"/>
                    </a:cubicBezTo>
                    <a:cubicBezTo>
                      <a:pt x="5034" y="39"/>
                      <a:pt x="2383" y="1618"/>
                      <a:pt x="383" y="1618"/>
                    </a:cubicBezTo>
                    <a:cubicBezTo>
                      <a:pt x="278" y="1618"/>
                      <a:pt x="192" y="1695"/>
                      <a:pt x="172" y="1800"/>
                    </a:cubicBezTo>
                    <a:cubicBezTo>
                      <a:pt x="0" y="3178"/>
                      <a:pt x="48" y="4575"/>
                      <a:pt x="326" y="5934"/>
                    </a:cubicBezTo>
                    <a:cubicBezTo>
                      <a:pt x="594" y="7207"/>
                      <a:pt x="1062" y="8317"/>
                      <a:pt x="1723" y="9217"/>
                    </a:cubicBezTo>
                    <a:cubicBezTo>
                      <a:pt x="2565" y="10356"/>
                      <a:pt x="3752" y="11207"/>
                      <a:pt x="5101" y="11638"/>
                    </a:cubicBezTo>
                    <a:cubicBezTo>
                      <a:pt x="5125" y="11643"/>
                      <a:pt x="5147" y="11645"/>
                      <a:pt x="5168" y="11645"/>
                    </a:cubicBezTo>
                    <a:cubicBezTo>
                      <a:pt x="5190" y="11645"/>
                      <a:pt x="5211" y="11643"/>
                      <a:pt x="5235" y="11638"/>
                    </a:cubicBezTo>
                    <a:cubicBezTo>
                      <a:pt x="6585" y="11207"/>
                      <a:pt x="7771" y="10356"/>
                      <a:pt x="8613" y="9217"/>
                    </a:cubicBezTo>
                    <a:cubicBezTo>
                      <a:pt x="9274" y="8317"/>
                      <a:pt x="9743" y="7207"/>
                      <a:pt x="10011" y="5934"/>
                    </a:cubicBezTo>
                    <a:cubicBezTo>
                      <a:pt x="10288" y="4575"/>
                      <a:pt x="10336" y="3178"/>
                      <a:pt x="10164" y="1800"/>
                    </a:cubicBezTo>
                    <a:cubicBezTo>
                      <a:pt x="10145" y="1695"/>
                      <a:pt x="10059" y="1618"/>
                      <a:pt x="9953" y="1618"/>
                    </a:cubicBezTo>
                    <a:cubicBezTo>
                      <a:pt x="7953" y="1618"/>
                      <a:pt x="5302" y="39"/>
                      <a:pt x="5273" y="29"/>
                    </a:cubicBezTo>
                    <a:cubicBezTo>
                      <a:pt x="5240" y="10"/>
                      <a:pt x="5204" y="1"/>
                      <a:pt x="51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59" name="Google Shape;16595;p127">
                <a:extLst>
                  <a:ext uri="{FF2B5EF4-FFF2-40B4-BE49-F238E27FC236}">
                    <a16:creationId xmlns:a16="http://schemas.microsoft.com/office/drawing/2014/main" id="{2671DF96-D8F0-7CD5-E8BD-CE404A880303}"/>
                  </a:ext>
                </a:extLst>
              </p:cNvPr>
              <p:cNvSpPr/>
              <p:nvPr/>
            </p:nvSpPr>
            <p:spPr>
              <a:xfrm>
                <a:off x="7719906" y="1577846"/>
                <a:ext cx="140517" cy="264281"/>
              </a:xfrm>
              <a:custGeom>
                <a:avLst/>
                <a:gdLst/>
                <a:ahLst/>
                <a:cxnLst/>
                <a:rect l="l" t="t" r="r" b="b"/>
                <a:pathLst>
                  <a:path w="5351" h="10064" extrusionOk="0">
                    <a:moveTo>
                      <a:pt x="4393" y="1"/>
                    </a:moveTo>
                    <a:lnTo>
                      <a:pt x="4393" y="1"/>
                    </a:lnTo>
                    <a:cubicBezTo>
                      <a:pt x="4537" y="1408"/>
                      <a:pt x="4470" y="2834"/>
                      <a:pt x="4192" y="4221"/>
                    </a:cubicBezTo>
                    <a:cubicBezTo>
                      <a:pt x="3905" y="5609"/>
                      <a:pt x="3388" y="6815"/>
                      <a:pt x="2670" y="7791"/>
                    </a:cubicBezTo>
                    <a:cubicBezTo>
                      <a:pt x="1972" y="8738"/>
                      <a:pt x="1063" y="9504"/>
                      <a:pt x="0" y="10011"/>
                    </a:cubicBezTo>
                    <a:lnTo>
                      <a:pt x="115" y="10050"/>
                    </a:lnTo>
                    <a:cubicBezTo>
                      <a:pt x="139" y="10059"/>
                      <a:pt x="163" y="10064"/>
                      <a:pt x="186" y="10064"/>
                    </a:cubicBezTo>
                    <a:cubicBezTo>
                      <a:pt x="208" y="10064"/>
                      <a:pt x="230" y="10059"/>
                      <a:pt x="249" y="10050"/>
                    </a:cubicBezTo>
                    <a:cubicBezTo>
                      <a:pt x="1599" y="9628"/>
                      <a:pt x="2785" y="8777"/>
                      <a:pt x="3627" y="7638"/>
                    </a:cubicBezTo>
                    <a:cubicBezTo>
                      <a:pt x="4288" y="6738"/>
                      <a:pt x="4757" y="5628"/>
                      <a:pt x="5025" y="4355"/>
                    </a:cubicBezTo>
                    <a:cubicBezTo>
                      <a:pt x="5302" y="2987"/>
                      <a:pt x="5350" y="1599"/>
                      <a:pt x="5178" y="221"/>
                    </a:cubicBezTo>
                    <a:cubicBezTo>
                      <a:pt x="5159" y="116"/>
                      <a:pt x="5073" y="39"/>
                      <a:pt x="4967" y="39"/>
                    </a:cubicBezTo>
                    <a:cubicBezTo>
                      <a:pt x="4776" y="39"/>
                      <a:pt x="4584" y="29"/>
                      <a:pt x="4393"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60" name="Google Shape;16596;p127">
                <a:extLst>
                  <a:ext uri="{FF2B5EF4-FFF2-40B4-BE49-F238E27FC236}">
                    <a16:creationId xmlns:a16="http://schemas.microsoft.com/office/drawing/2014/main" id="{1CEA7242-F20D-2BD7-552B-81E7F87DD109}"/>
                  </a:ext>
                </a:extLst>
              </p:cNvPr>
              <p:cNvSpPr/>
              <p:nvPr/>
            </p:nvSpPr>
            <p:spPr>
              <a:xfrm>
                <a:off x="7657565" y="1674352"/>
                <a:ext cx="134477" cy="90518"/>
              </a:xfrm>
              <a:custGeom>
                <a:avLst/>
                <a:gdLst/>
                <a:ahLst/>
                <a:cxnLst/>
                <a:rect l="l" t="t" r="r" b="b"/>
                <a:pathLst>
                  <a:path w="5121" h="3447" extrusionOk="0">
                    <a:moveTo>
                      <a:pt x="2556" y="1"/>
                    </a:moveTo>
                    <a:cubicBezTo>
                      <a:pt x="1178" y="20"/>
                      <a:pt x="1" y="1159"/>
                      <a:pt x="1" y="2479"/>
                    </a:cubicBezTo>
                    <a:lnTo>
                      <a:pt x="1" y="3236"/>
                    </a:lnTo>
                    <a:cubicBezTo>
                      <a:pt x="1" y="3350"/>
                      <a:pt x="97" y="3446"/>
                      <a:pt x="221" y="3446"/>
                    </a:cubicBezTo>
                    <a:lnTo>
                      <a:pt x="4910" y="3446"/>
                    </a:lnTo>
                    <a:cubicBezTo>
                      <a:pt x="5025" y="3446"/>
                      <a:pt x="5121" y="3350"/>
                      <a:pt x="5121" y="3236"/>
                    </a:cubicBezTo>
                    <a:lnTo>
                      <a:pt x="5121" y="2479"/>
                    </a:lnTo>
                    <a:cubicBezTo>
                      <a:pt x="5111" y="1159"/>
                      <a:pt x="3944" y="20"/>
                      <a:pt x="2556" y="1"/>
                    </a:cubicBezTo>
                    <a:close/>
                  </a:path>
                </a:pathLst>
              </a:cu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61" name="Google Shape;16597;p127">
                <a:extLst>
                  <a:ext uri="{FF2B5EF4-FFF2-40B4-BE49-F238E27FC236}">
                    <a16:creationId xmlns:a16="http://schemas.microsoft.com/office/drawing/2014/main" id="{F9B64543-8059-90DA-EC8E-8C07FDB70022}"/>
                  </a:ext>
                </a:extLst>
              </p:cNvPr>
              <p:cNvSpPr/>
              <p:nvPr/>
            </p:nvSpPr>
            <p:spPr>
              <a:xfrm>
                <a:off x="7714365" y="1674352"/>
                <a:ext cx="77677" cy="90518"/>
              </a:xfrm>
              <a:custGeom>
                <a:avLst/>
                <a:gdLst/>
                <a:ahLst/>
                <a:cxnLst/>
                <a:rect l="l" t="t" r="r" b="b"/>
                <a:pathLst>
                  <a:path w="2958" h="3447" extrusionOk="0">
                    <a:moveTo>
                      <a:pt x="393" y="1"/>
                    </a:moveTo>
                    <a:cubicBezTo>
                      <a:pt x="259" y="1"/>
                      <a:pt x="135" y="20"/>
                      <a:pt x="1" y="39"/>
                    </a:cubicBezTo>
                    <a:cubicBezTo>
                      <a:pt x="1207" y="240"/>
                      <a:pt x="2164" y="1283"/>
                      <a:pt x="2164" y="2479"/>
                    </a:cubicBezTo>
                    <a:lnTo>
                      <a:pt x="2164" y="3236"/>
                    </a:lnTo>
                    <a:cubicBezTo>
                      <a:pt x="2164" y="3350"/>
                      <a:pt x="2068" y="3446"/>
                      <a:pt x="1953" y="3446"/>
                    </a:cubicBezTo>
                    <a:lnTo>
                      <a:pt x="2747" y="3446"/>
                    </a:lnTo>
                    <a:cubicBezTo>
                      <a:pt x="2862" y="3446"/>
                      <a:pt x="2958" y="3350"/>
                      <a:pt x="2958" y="3236"/>
                    </a:cubicBezTo>
                    <a:lnTo>
                      <a:pt x="2958" y="2479"/>
                    </a:lnTo>
                    <a:cubicBezTo>
                      <a:pt x="2948" y="1159"/>
                      <a:pt x="1781" y="20"/>
                      <a:pt x="393" y="1"/>
                    </a:cubicBezTo>
                    <a:close/>
                  </a:path>
                </a:pathLst>
              </a:custGeom>
              <a:solidFill>
                <a:srgbClr val="6A7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62" name="Google Shape;16598;p127">
                <a:extLst>
                  <a:ext uri="{FF2B5EF4-FFF2-40B4-BE49-F238E27FC236}">
                    <a16:creationId xmlns:a16="http://schemas.microsoft.com/office/drawing/2014/main" id="{3E872A23-51FC-40A0-5393-C453D7839443}"/>
                  </a:ext>
                </a:extLst>
              </p:cNvPr>
              <p:cNvSpPr/>
              <p:nvPr/>
            </p:nvSpPr>
            <p:spPr>
              <a:xfrm>
                <a:off x="7709586" y="1680076"/>
                <a:ext cx="30199" cy="17437"/>
              </a:xfrm>
              <a:custGeom>
                <a:avLst/>
                <a:gdLst/>
                <a:ahLst/>
                <a:cxnLst/>
                <a:rect l="l" t="t" r="r" b="b"/>
                <a:pathLst>
                  <a:path w="1150" h="664" extrusionOk="0">
                    <a:moveTo>
                      <a:pt x="575" y="0"/>
                    </a:moveTo>
                    <a:cubicBezTo>
                      <a:pt x="381" y="0"/>
                      <a:pt x="188" y="27"/>
                      <a:pt x="1" y="79"/>
                    </a:cubicBezTo>
                    <a:lnTo>
                      <a:pt x="307" y="663"/>
                    </a:lnTo>
                    <a:lnTo>
                      <a:pt x="843" y="663"/>
                    </a:lnTo>
                    <a:lnTo>
                      <a:pt x="1149" y="79"/>
                    </a:lnTo>
                    <a:cubicBezTo>
                      <a:pt x="963" y="27"/>
                      <a:pt x="769" y="0"/>
                      <a:pt x="57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63" name="Google Shape;16599;p127">
                <a:extLst>
                  <a:ext uri="{FF2B5EF4-FFF2-40B4-BE49-F238E27FC236}">
                    <a16:creationId xmlns:a16="http://schemas.microsoft.com/office/drawing/2014/main" id="{28CBEE2D-84C5-DBA8-A6DB-291CD7AB50D5}"/>
                  </a:ext>
                </a:extLst>
              </p:cNvPr>
              <p:cNvSpPr/>
              <p:nvPr/>
            </p:nvSpPr>
            <p:spPr>
              <a:xfrm>
                <a:off x="7702811" y="1690686"/>
                <a:ext cx="43749" cy="62866"/>
              </a:xfrm>
              <a:custGeom>
                <a:avLst/>
                <a:gdLst/>
                <a:ahLst/>
                <a:cxnLst/>
                <a:rect l="l" t="t" r="r" b="b"/>
                <a:pathLst>
                  <a:path w="1666" h="2394" extrusionOk="0">
                    <a:moveTo>
                      <a:pt x="556" y="1"/>
                    </a:moveTo>
                    <a:cubicBezTo>
                      <a:pt x="450" y="1"/>
                      <a:pt x="364" y="77"/>
                      <a:pt x="335" y="173"/>
                    </a:cubicBezTo>
                    <a:lnTo>
                      <a:pt x="20" y="1580"/>
                    </a:lnTo>
                    <a:cubicBezTo>
                      <a:pt x="1" y="1656"/>
                      <a:pt x="20" y="1733"/>
                      <a:pt x="87" y="1790"/>
                    </a:cubicBezTo>
                    <a:lnTo>
                      <a:pt x="680" y="2336"/>
                    </a:lnTo>
                    <a:cubicBezTo>
                      <a:pt x="723" y="2374"/>
                      <a:pt x="776" y="2393"/>
                      <a:pt x="828" y="2393"/>
                    </a:cubicBezTo>
                    <a:cubicBezTo>
                      <a:pt x="881" y="2393"/>
                      <a:pt x="934" y="2374"/>
                      <a:pt x="977" y="2336"/>
                    </a:cubicBezTo>
                    <a:lnTo>
                      <a:pt x="1580" y="1790"/>
                    </a:lnTo>
                    <a:cubicBezTo>
                      <a:pt x="1637" y="1733"/>
                      <a:pt x="1666" y="1656"/>
                      <a:pt x="1647" y="1580"/>
                    </a:cubicBezTo>
                    <a:lnTo>
                      <a:pt x="1321" y="173"/>
                    </a:lnTo>
                    <a:cubicBezTo>
                      <a:pt x="1302" y="77"/>
                      <a:pt x="1216" y="1"/>
                      <a:pt x="111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64" name="Google Shape;16600;p127">
                <a:extLst>
                  <a:ext uri="{FF2B5EF4-FFF2-40B4-BE49-F238E27FC236}">
                    <a16:creationId xmlns:a16="http://schemas.microsoft.com/office/drawing/2014/main" id="{5BFB256B-0B9F-F39A-E334-D4541EE0FEB9}"/>
                  </a:ext>
                </a:extLst>
              </p:cNvPr>
              <p:cNvSpPr/>
              <p:nvPr/>
            </p:nvSpPr>
            <p:spPr>
              <a:xfrm>
                <a:off x="7714365" y="1690922"/>
                <a:ext cx="31958" cy="62630"/>
              </a:xfrm>
              <a:custGeom>
                <a:avLst/>
                <a:gdLst/>
                <a:ahLst/>
                <a:cxnLst/>
                <a:rect l="l" t="t" r="r" b="b"/>
                <a:pathLst>
                  <a:path w="1217" h="2385" extrusionOk="0">
                    <a:moveTo>
                      <a:pt x="688" y="1"/>
                    </a:moveTo>
                    <a:cubicBezTo>
                      <a:pt x="683" y="1"/>
                      <a:pt x="677" y="1"/>
                      <a:pt x="671" y="1"/>
                    </a:cubicBezTo>
                    <a:lnTo>
                      <a:pt x="364" y="1"/>
                    </a:lnTo>
                    <a:lnTo>
                      <a:pt x="240" y="250"/>
                    </a:lnTo>
                    <a:lnTo>
                      <a:pt x="546" y="1600"/>
                    </a:lnTo>
                    <a:lnTo>
                      <a:pt x="1" y="2107"/>
                    </a:lnTo>
                    <a:lnTo>
                      <a:pt x="240" y="2327"/>
                    </a:lnTo>
                    <a:cubicBezTo>
                      <a:pt x="283" y="2365"/>
                      <a:pt x="336" y="2384"/>
                      <a:pt x="388" y="2384"/>
                    </a:cubicBezTo>
                    <a:cubicBezTo>
                      <a:pt x="441" y="2384"/>
                      <a:pt x="494" y="2365"/>
                      <a:pt x="537" y="2327"/>
                    </a:cubicBezTo>
                    <a:lnTo>
                      <a:pt x="1140" y="1781"/>
                    </a:lnTo>
                    <a:cubicBezTo>
                      <a:pt x="1197" y="1724"/>
                      <a:pt x="1216" y="1647"/>
                      <a:pt x="1207" y="1571"/>
                    </a:cubicBezTo>
                    <a:lnTo>
                      <a:pt x="881" y="164"/>
                    </a:lnTo>
                    <a:cubicBezTo>
                      <a:pt x="863" y="74"/>
                      <a:pt x="786" y="1"/>
                      <a:pt x="68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65" name="Google Shape;16601;p127">
                <a:extLst>
                  <a:ext uri="{FF2B5EF4-FFF2-40B4-BE49-F238E27FC236}">
                    <a16:creationId xmlns:a16="http://schemas.microsoft.com/office/drawing/2014/main" id="{0C71E7F7-0508-0229-478A-CF1E7FC6E854}"/>
                  </a:ext>
                </a:extLst>
              </p:cNvPr>
              <p:cNvSpPr/>
              <p:nvPr/>
            </p:nvSpPr>
            <p:spPr>
              <a:xfrm>
                <a:off x="7701813" y="1674352"/>
                <a:ext cx="45745" cy="23161"/>
              </a:xfrm>
              <a:custGeom>
                <a:avLst/>
                <a:gdLst/>
                <a:ahLst/>
                <a:cxnLst/>
                <a:rect l="l" t="t" r="r" b="b"/>
                <a:pathLst>
                  <a:path w="1742" h="882" extrusionOk="0">
                    <a:moveTo>
                      <a:pt x="871" y="1"/>
                    </a:moveTo>
                    <a:cubicBezTo>
                      <a:pt x="574" y="10"/>
                      <a:pt x="278" y="58"/>
                      <a:pt x="0" y="163"/>
                    </a:cubicBezTo>
                    <a:lnTo>
                      <a:pt x="373" y="881"/>
                    </a:lnTo>
                    <a:lnTo>
                      <a:pt x="1388" y="881"/>
                    </a:lnTo>
                    <a:lnTo>
                      <a:pt x="1742" y="163"/>
                    </a:lnTo>
                    <a:cubicBezTo>
                      <a:pt x="1464" y="58"/>
                      <a:pt x="1168" y="1"/>
                      <a:pt x="87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66" name="Google Shape;16602;p127">
                <a:extLst>
                  <a:ext uri="{FF2B5EF4-FFF2-40B4-BE49-F238E27FC236}">
                    <a16:creationId xmlns:a16="http://schemas.microsoft.com/office/drawing/2014/main" id="{4865C55C-B901-950D-739E-B95CAC5D63C5}"/>
                  </a:ext>
                </a:extLst>
              </p:cNvPr>
              <p:cNvSpPr/>
              <p:nvPr/>
            </p:nvSpPr>
            <p:spPr>
              <a:xfrm>
                <a:off x="7720667" y="1674851"/>
                <a:ext cx="26890" cy="22662"/>
              </a:xfrm>
              <a:custGeom>
                <a:avLst/>
                <a:gdLst/>
                <a:ahLst/>
                <a:cxnLst/>
                <a:rect l="l" t="t" r="r" b="b"/>
                <a:pathLst>
                  <a:path w="1024" h="863" extrusionOk="0">
                    <a:moveTo>
                      <a:pt x="431" y="1"/>
                    </a:moveTo>
                    <a:lnTo>
                      <a:pt x="0" y="862"/>
                    </a:lnTo>
                    <a:lnTo>
                      <a:pt x="660" y="862"/>
                    </a:lnTo>
                    <a:lnTo>
                      <a:pt x="1024" y="144"/>
                    </a:lnTo>
                    <a:cubicBezTo>
                      <a:pt x="833" y="68"/>
                      <a:pt x="632" y="30"/>
                      <a:pt x="43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67" name="Google Shape;16603;p127">
                <a:extLst>
                  <a:ext uri="{FF2B5EF4-FFF2-40B4-BE49-F238E27FC236}">
                    <a16:creationId xmlns:a16="http://schemas.microsoft.com/office/drawing/2014/main" id="{71BEA2AA-AD37-BF33-3017-E065DD30BCF2}"/>
                  </a:ext>
                </a:extLst>
              </p:cNvPr>
              <p:cNvSpPr/>
              <p:nvPr/>
            </p:nvSpPr>
            <p:spPr>
              <a:xfrm>
                <a:off x="7689733" y="1590162"/>
                <a:ext cx="69904" cy="95534"/>
              </a:xfrm>
              <a:custGeom>
                <a:avLst/>
                <a:gdLst/>
                <a:ahLst/>
                <a:cxnLst/>
                <a:rect l="l" t="t" r="r" b="b"/>
                <a:pathLst>
                  <a:path w="2662" h="3638" extrusionOk="0">
                    <a:moveTo>
                      <a:pt x="1331" y="1"/>
                    </a:moveTo>
                    <a:cubicBezTo>
                      <a:pt x="594" y="1"/>
                      <a:pt x="1" y="604"/>
                      <a:pt x="1" y="1341"/>
                    </a:cubicBezTo>
                    <a:lnTo>
                      <a:pt x="1" y="2307"/>
                    </a:lnTo>
                    <a:cubicBezTo>
                      <a:pt x="1" y="3044"/>
                      <a:pt x="594" y="3637"/>
                      <a:pt x="1331" y="3637"/>
                    </a:cubicBezTo>
                    <a:cubicBezTo>
                      <a:pt x="2068" y="3637"/>
                      <a:pt x="2661" y="3044"/>
                      <a:pt x="2661" y="2307"/>
                    </a:cubicBezTo>
                    <a:lnTo>
                      <a:pt x="2661" y="1341"/>
                    </a:lnTo>
                    <a:cubicBezTo>
                      <a:pt x="2661" y="604"/>
                      <a:pt x="2068" y="1"/>
                      <a:pt x="1331" y="1"/>
                    </a:cubicBezTo>
                    <a:close/>
                  </a:path>
                </a:pathLst>
              </a:custGeom>
              <a:solidFill>
                <a:srgbClr val="CCD7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68" name="Google Shape;16604;p127">
                <a:extLst>
                  <a:ext uri="{FF2B5EF4-FFF2-40B4-BE49-F238E27FC236}">
                    <a16:creationId xmlns:a16="http://schemas.microsoft.com/office/drawing/2014/main" id="{E1E87607-6C45-3721-B17E-45B24651B78A}"/>
                  </a:ext>
                </a:extLst>
              </p:cNvPr>
              <p:cNvSpPr/>
              <p:nvPr/>
            </p:nvSpPr>
            <p:spPr>
              <a:xfrm>
                <a:off x="7714365" y="1590162"/>
                <a:ext cx="45272" cy="95534"/>
              </a:xfrm>
              <a:custGeom>
                <a:avLst/>
                <a:gdLst/>
                <a:ahLst/>
                <a:cxnLst/>
                <a:rect l="l" t="t" r="r" b="b"/>
                <a:pathLst>
                  <a:path w="1724" h="3638" extrusionOk="0">
                    <a:moveTo>
                      <a:pt x="393" y="1"/>
                    </a:moveTo>
                    <a:cubicBezTo>
                      <a:pt x="259" y="1"/>
                      <a:pt x="125" y="20"/>
                      <a:pt x="1" y="58"/>
                    </a:cubicBezTo>
                    <a:cubicBezTo>
                      <a:pt x="565" y="230"/>
                      <a:pt x="939" y="747"/>
                      <a:pt x="948" y="1331"/>
                    </a:cubicBezTo>
                    <a:lnTo>
                      <a:pt x="948" y="2307"/>
                    </a:lnTo>
                    <a:cubicBezTo>
                      <a:pt x="939" y="2891"/>
                      <a:pt x="565" y="3408"/>
                      <a:pt x="1" y="3580"/>
                    </a:cubicBezTo>
                    <a:cubicBezTo>
                      <a:pt x="125" y="3618"/>
                      <a:pt x="259" y="3637"/>
                      <a:pt x="393" y="3637"/>
                    </a:cubicBezTo>
                    <a:cubicBezTo>
                      <a:pt x="1130" y="3637"/>
                      <a:pt x="1723" y="3044"/>
                      <a:pt x="1723" y="2307"/>
                    </a:cubicBezTo>
                    <a:lnTo>
                      <a:pt x="1723" y="1341"/>
                    </a:lnTo>
                    <a:cubicBezTo>
                      <a:pt x="1723" y="604"/>
                      <a:pt x="1130" y="1"/>
                      <a:pt x="393" y="1"/>
                    </a:cubicBezTo>
                    <a:close/>
                  </a:path>
                </a:pathLst>
              </a:custGeom>
              <a:solidFill>
                <a:srgbClr val="B4C3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69" name="Google Shape;16605;p127">
                <a:extLst>
                  <a:ext uri="{FF2B5EF4-FFF2-40B4-BE49-F238E27FC236}">
                    <a16:creationId xmlns:a16="http://schemas.microsoft.com/office/drawing/2014/main" id="{6B45243D-E572-C15A-7965-460FEB91EF23}"/>
                  </a:ext>
                </a:extLst>
              </p:cNvPr>
              <p:cNvSpPr/>
              <p:nvPr/>
            </p:nvSpPr>
            <p:spPr>
              <a:xfrm>
                <a:off x="7689733" y="1591423"/>
                <a:ext cx="69904" cy="46533"/>
              </a:xfrm>
              <a:custGeom>
                <a:avLst/>
                <a:gdLst/>
                <a:ahLst/>
                <a:cxnLst/>
                <a:rect l="l" t="t" r="r" b="b"/>
                <a:pathLst>
                  <a:path w="2662" h="1772" extrusionOk="0">
                    <a:moveTo>
                      <a:pt x="1331" y="1"/>
                    </a:moveTo>
                    <a:cubicBezTo>
                      <a:pt x="613" y="1"/>
                      <a:pt x="20" y="575"/>
                      <a:pt x="1" y="1293"/>
                    </a:cubicBezTo>
                    <a:lnTo>
                      <a:pt x="1" y="1771"/>
                    </a:lnTo>
                    <a:lnTo>
                      <a:pt x="211" y="1771"/>
                    </a:lnTo>
                    <a:cubicBezTo>
                      <a:pt x="1188" y="1771"/>
                      <a:pt x="1551" y="1111"/>
                      <a:pt x="1551" y="1111"/>
                    </a:cubicBezTo>
                    <a:cubicBezTo>
                      <a:pt x="1551" y="1111"/>
                      <a:pt x="1800" y="1771"/>
                      <a:pt x="2451" y="1771"/>
                    </a:cubicBezTo>
                    <a:lnTo>
                      <a:pt x="2661" y="1771"/>
                    </a:lnTo>
                    <a:lnTo>
                      <a:pt x="2661" y="1293"/>
                    </a:lnTo>
                    <a:cubicBezTo>
                      <a:pt x="2642" y="575"/>
                      <a:pt x="2049" y="1"/>
                      <a:pt x="1331" y="1"/>
                    </a:cubicBezTo>
                    <a:close/>
                  </a:path>
                </a:pathLst>
              </a:cu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grpSp>
      <p:pic>
        <p:nvPicPr>
          <p:cNvPr id="3" name="Picture 2" descr="A screenshot of a product features&#10;&#10;AI-generated content may be incorrect.">
            <a:extLst>
              <a:ext uri="{FF2B5EF4-FFF2-40B4-BE49-F238E27FC236}">
                <a16:creationId xmlns:a16="http://schemas.microsoft.com/office/drawing/2014/main" id="{54BEA0A7-BDA5-C8CE-6767-758DDCD617A3}"/>
              </a:ext>
            </a:extLst>
          </p:cNvPr>
          <p:cNvPicPr>
            <a:picLocks noChangeAspect="1"/>
          </p:cNvPicPr>
          <p:nvPr/>
        </p:nvPicPr>
        <p:blipFill>
          <a:blip r:embed="rId3"/>
          <a:stretch>
            <a:fillRect/>
          </a:stretch>
        </p:blipFill>
        <p:spPr>
          <a:xfrm>
            <a:off x="0" y="0"/>
            <a:ext cx="12192000" cy="6858000"/>
          </a:xfrm>
          <a:prstGeom prst="rect">
            <a:avLst/>
          </a:prstGeom>
        </p:spPr>
      </p:pic>
      <p:pic>
        <p:nvPicPr>
          <p:cNvPr id="4" name="Picture 3" descr="A screenshot of a web page&#10;&#10;AI-generated content may be incorrect.">
            <a:extLst>
              <a:ext uri="{FF2B5EF4-FFF2-40B4-BE49-F238E27FC236}">
                <a16:creationId xmlns:a16="http://schemas.microsoft.com/office/drawing/2014/main" id="{C3368A99-D592-6DB3-A1A3-1C1EAE674B13}"/>
              </a:ext>
            </a:extLst>
          </p:cNvPr>
          <p:cNvPicPr>
            <a:picLocks noChangeAspect="1"/>
          </p:cNvPicPr>
          <p:nvPr/>
        </p:nvPicPr>
        <p:blipFill>
          <a:blip r:embed="rId4"/>
          <a:stretch>
            <a:fillRect/>
          </a:stretch>
        </p:blipFill>
        <p:spPr>
          <a:xfrm>
            <a:off x="0" y="0"/>
            <a:ext cx="12192000" cy="6858000"/>
          </a:xfrm>
          <a:prstGeom prst="rect">
            <a:avLst/>
          </a:prstGeom>
        </p:spPr>
      </p:pic>
    </p:spTree>
    <p:extLst>
      <p:ext uri="{BB962C8B-B14F-4D97-AF65-F5344CB8AC3E}">
        <p14:creationId xmlns:p14="http://schemas.microsoft.com/office/powerpoint/2010/main" val="7623897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8EAA3-6998-1FE7-DDA6-3136342A19B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E73C216-8A45-D9EE-CE55-E24BAADA896F}"/>
              </a:ext>
            </a:extLst>
          </p:cNvPr>
          <p:cNvSpPr>
            <a:spLocks noGrp="1"/>
          </p:cNvSpPr>
          <p:nvPr>
            <p:ph type="sldNum" sz="quarter" idx="12"/>
          </p:nvPr>
        </p:nvSpPr>
        <p:spPr/>
        <p:txBody>
          <a:bodyPr/>
          <a:lstStyle/>
          <a:p>
            <a:fld id="{36D53BC0-5915-4EE6-A8B4-385258777E7F}" type="slidenum">
              <a:rPr lang="en-PH" smtClean="0"/>
              <a:pPr/>
              <a:t>21</a:t>
            </a:fld>
            <a:endParaRPr lang="en-PH"/>
          </a:p>
        </p:txBody>
      </p:sp>
      <p:sp>
        <p:nvSpPr>
          <p:cNvPr id="458" name="TextBox 457">
            <a:extLst>
              <a:ext uri="{FF2B5EF4-FFF2-40B4-BE49-F238E27FC236}">
                <a16:creationId xmlns:a16="http://schemas.microsoft.com/office/drawing/2014/main" id="{19505FEC-0CBC-03D8-3D1C-116A1C0D793F}"/>
              </a:ext>
            </a:extLst>
          </p:cNvPr>
          <p:cNvSpPr txBox="1"/>
          <p:nvPr/>
        </p:nvSpPr>
        <p:spPr>
          <a:xfrm>
            <a:off x="3728248" y="133988"/>
            <a:ext cx="6060558" cy="616688"/>
          </a:xfrm>
          <a:prstGeom prst="rect">
            <a:avLst/>
          </a:prstGeom>
          <a:solidFill>
            <a:srgbClr val="1F4766"/>
          </a:solidFill>
        </p:spPr>
        <p:txBody>
          <a:bodyPr wrap="square" lIns="91440" tIns="45720" rIns="91440" bIns="45720" rtlCol="0" anchor="ctr">
            <a:noAutofit/>
          </a:bodyPr>
          <a:lstStyle/>
          <a:p>
            <a:r>
              <a:rPr lang="en-US" sz="2800" b="1">
                <a:solidFill>
                  <a:srgbClr val="FFD928"/>
                </a:solidFill>
                <a:latin typeface="Lato"/>
                <a:ea typeface="Lato"/>
                <a:cs typeface="Lato"/>
              </a:rPr>
              <a:t>Product Features</a:t>
            </a:r>
            <a:endParaRPr lang="en-PH" sz="2800">
              <a:solidFill>
                <a:srgbClr val="FFC000"/>
              </a:solidFill>
              <a:latin typeface="Lato"/>
              <a:ea typeface="Lato"/>
              <a:cs typeface="Lato"/>
            </a:endParaRPr>
          </a:p>
        </p:txBody>
      </p:sp>
      <p:graphicFrame>
        <p:nvGraphicFramePr>
          <p:cNvPr id="460" name="Table 27">
            <a:extLst>
              <a:ext uri="{FF2B5EF4-FFF2-40B4-BE49-F238E27FC236}">
                <a16:creationId xmlns:a16="http://schemas.microsoft.com/office/drawing/2014/main" id="{57C2FD21-3DA3-9840-5FCE-BC1908354533}"/>
              </a:ext>
            </a:extLst>
          </p:cNvPr>
          <p:cNvGraphicFramePr>
            <a:graphicFrameLocks noGrp="1"/>
          </p:cNvGraphicFramePr>
          <p:nvPr/>
        </p:nvGraphicFramePr>
        <p:xfrm>
          <a:off x="463749" y="223624"/>
          <a:ext cx="2877633" cy="6113199"/>
        </p:xfrm>
        <a:graphic>
          <a:graphicData uri="http://schemas.openxmlformats.org/drawingml/2006/table">
            <a:tbl>
              <a:tblPr firstRow="1" bandRow="1">
                <a:tableStyleId>{2D5ABB26-0587-4C30-8999-92F81FD0307C}</a:tableStyleId>
              </a:tblPr>
              <a:tblGrid>
                <a:gridCol w="589851">
                  <a:extLst>
                    <a:ext uri="{9D8B030D-6E8A-4147-A177-3AD203B41FA5}">
                      <a16:colId xmlns:a16="http://schemas.microsoft.com/office/drawing/2014/main" val="1622108729"/>
                    </a:ext>
                  </a:extLst>
                </a:gridCol>
                <a:gridCol w="2287782">
                  <a:extLst>
                    <a:ext uri="{9D8B030D-6E8A-4147-A177-3AD203B41FA5}">
                      <a16:colId xmlns:a16="http://schemas.microsoft.com/office/drawing/2014/main" val="1450379266"/>
                    </a:ext>
                  </a:extLst>
                </a:gridCol>
              </a:tblGrid>
              <a:tr h="431750">
                <a:tc rowSpan="2">
                  <a:txBody>
                    <a:bodyPr/>
                    <a:lstStyle/>
                    <a:p>
                      <a:endParaRPr lang="en-PH" sz="1600">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a:solidFill>
                            <a:srgbClr val="1F4766"/>
                          </a:solidFill>
                          <a:latin typeface="Lato"/>
                          <a:ea typeface="Lato"/>
                          <a:cs typeface="Lato"/>
                        </a:rPr>
                        <a:t>Loan Amount</a:t>
                      </a:r>
                      <a:endParaRPr lang="en-PH" sz="1600" b="1">
                        <a:solidFill>
                          <a:srgbClr val="1F4766"/>
                        </a:solidFill>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0170993"/>
                  </a:ext>
                </a:extLst>
              </a:tr>
              <a:tr h="636625">
                <a:tc vMerge="1">
                  <a:txBody>
                    <a:bodyPr/>
                    <a:lstStyle/>
                    <a:p>
                      <a:endParaRPr lang="en-PH"/>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Wingdings" panose="05000000000000000000" pitchFamily="2" charset="2"/>
                        <a:buChar char="ü"/>
                      </a:pPr>
                      <a:r>
                        <a:rPr lang="en-US" sz="1600">
                          <a:solidFill>
                            <a:srgbClr val="000000"/>
                          </a:solidFill>
                          <a:latin typeface="Lato"/>
                          <a:ea typeface="Lato"/>
                          <a:cs typeface="Lato"/>
                        </a:rPr>
                        <a:t>P3,000 – P50,000</a:t>
                      </a:r>
                    </a:p>
                    <a:p>
                      <a:pPr marL="0" indent="0">
                        <a:buFont typeface="Wingdings" panose="05000000000000000000" pitchFamily="2" charset="2"/>
                        <a:buNone/>
                      </a:pPr>
                      <a:endParaRPr lang="en-US" sz="600">
                        <a:solidFill>
                          <a:srgbClr val="000000"/>
                        </a:solidFill>
                        <a:latin typeface="Lato"/>
                        <a:ea typeface="Lato"/>
                        <a:cs typeface="Lato"/>
                      </a:endParaRPr>
                    </a:p>
                    <a:p>
                      <a:pPr lvl="0" algn="l">
                        <a:lnSpc>
                          <a:spcPct val="100000"/>
                        </a:lnSpc>
                        <a:spcBef>
                          <a:spcPts val="0"/>
                        </a:spcBef>
                        <a:spcAft>
                          <a:spcPts val="0"/>
                        </a:spcAft>
                        <a:buNone/>
                      </a:pPr>
                      <a:r>
                        <a:rPr lang="en-US" sz="1200" b="0" i="1" u="none" strike="noStrike" noProof="0">
                          <a:solidFill>
                            <a:srgbClr val="000000"/>
                          </a:solidFill>
                          <a:effectLst/>
                          <a:latin typeface="Lato"/>
                        </a:rPr>
                        <a:t>should be less than or equal to the amount of production loan but not to exceed P50,000.00)</a:t>
                      </a:r>
                      <a:endParaRPr lang="en-US"/>
                    </a:p>
                    <a:p>
                      <a:pPr lvl="0" algn="l">
                        <a:lnSpc>
                          <a:spcPct val="100000"/>
                        </a:lnSpc>
                        <a:spcBef>
                          <a:spcPts val="0"/>
                        </a:spcBef>
                        <a:spcAft>
                          <a:spcPts val="0"/>
                        </a:spcAft>
                        <a:buNone/>
                      </a:pPr>
                      <a:r>
                        <a:rPr lang="en-US" sz="1200" b="0" i="1" u="none" strike="noStrike" noProof="0">
                          <a:solidFill>
                            <a:srgbClr val="000000"/>
                          </a:solidFill>
                          <a:effectLst/>
                          <a:latin typeface="Lato"/>
                        </a:rPr>
                        <a:t>-</a:t>
                      </a:r>
                      <a:r>
                        <a:rPr lang="en-US" sz="1200" b="0" i="1" u="none" strike="noStrike" noProof="0">
                          <a:solidFill>
                            <a:srgbClr val="000000"/>
                          </a:solidFill>
                          <a:effectLst/>
                          <a:latin typeface="Calibri"/>
                        </a:rPr>
                        <a:t>HIL-W-6M has a ₱2,000 loan amount to cater to solar products priced at ₱2,000 to ₱3,000 (valid until May 17, 2026 only</a:t>
                      </a:r>
                      <a:r>
                        <a:rPr lang="en-US" sz="1200" b="0" i="1" u="none" strike="noStrike" noProof="0">
                          <a:solidFill>
                            <a:srgbClr val="000000"/>
                          </a:solidFill>
                          <a:effectLst/>
                          <a:latin typeface="Lato"/>
                        </a:rPr>
                        <a:t>).</a:t>
                      </a:r>
                      <a:endParaRPr lang="en-US"/>
                    </a:p>
                    <a:p>
                      <a:pPr marL="264795" marR="0" lvl="0" indent="0" algn="l" defTabSz="914400">
                        <a:lnSpc>
                          <a:spcPct val="100000"/>
                        </a:lnSpc>
                        <a:spcBef>
                          <a:spcPts val="0"/>
                        </a:spcBef>
                        <a:spcAft>
                          <a:spcPts val="0"/>
                        </a:spcAft>
                        <a:buClrTx/>
                        <a:buSzTx/>
                        <a:buFont typeface="Wingdings" panose="05000000000000000000" pitchFamily="2" charset="2"/>
                        <a:buNone/>
                        <a:tabLst/>
                        <a:defRPr/>
                      </a:pPr>
                      <a:endParaRPr lang="en-US" sz="1100" b="0" i="1" u="none" strike="noStrike">
                        <a:effectLst/>
                        <a:latin typeface="Lato"/>
                        <a:ea typeface="Lato"/>
                        <a:cs typeface="Lato"/>
                      </a:endParaRPr>
                    </a:p>
                    <a:p>
                      <a:pPr marL="285750" indent="-285750">
                        <a:buFont typeface="Wingdings" panose="05000000000000000000" pitchFamily="2" charset="2"/>
                        <a:buChar char="ü"/>
                      </a:pPr>
                      <a:endParaRPr lang="en-US" sz="1600">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4695899"/>
                  </a:ext>
                </a:extLst>
              </a:tr>
              <a:tr h="241219">
                <a:tc>
                  <a:txBody>
                    <a:bodyPr/>
                    <a:lstStyle/>
                    <a:p>
                      <a:endParaRPr lang="en-PH" sz="1600">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PH" sz="1600">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97469117"/>
                  </a:ext>
                </a:extLst>
              </a:tr>
              <a:tr h="418857">
                <a:tc rowSpan="2">
                  <a:txBody>
                    <a:bodyPr/>
                    <a:lstStyle/>
                    <a:p>
                      <a:endParaRPr lang="en-PH" sz="1600">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a:solidFill>
                            <a:srgbClr val="1F4766"/>
                          </a:solidFill>
                          <a:latin typeface="Lato"/>
                          <a:ea typeface="Lato"/>
                          <a:cs typeface="Lato"/>
                        </a:rPr>
                        <a:t>Loan Term</a:t>
                      </a:r>
                      <a:endParaRPr lang="en-PH" sz="1600" b="1">
                        <a:solidFill>
                          <a:srgbClr val="1F4766"/>
                        </a:solidFill>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88353520"/>
                  </a:ext>
                </a:extLst>
              </a:tr>
              <a:tr h="396106">
                <a:tc vMerge="1">
                  <a:txBody>
                    <a:bodyPr/>
                    <a:lstStyle/>
                    <a:p>
                      <a:endParaRPr lang="en-PH"/>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marR="0" lvl="0" indent="-285750" algn="l" rtl="0" eaLnBrk="1" fontAlgn="auto" latinLnBrk="0" hangingPunct="1">
                        <a:lnSpc>
                          <a:spcPct val="100000"/>
                        </a:lnSpc>
                        <a:spcBef>
                          <a:spcPts val="0"/>
                        </a:spcBef>
                        <a:spcAft>
                          <a:spcPts val="0"/>
                        </a:spcAft>
                        <a:buClrTx/>
                        <a:buSzTx/>
                        <a:buFont typeface="Wingdings" panose="05000000000000000000" pitchFamily="2" charset="2"/>
                        <a:buChar char="ü"/>
                      </a:pPr>
                      <a:r>
                        <a:rPr lang="en-US" sz="1600">
                          <a:solidFill>
                            <a:srgbClr val="000000"/>
                          </a:solidFill>
                          <a:latin typeface="Lato"/>
                          <a:ea typeface="Lato"/>
                          <a:cs typeface="Lato"/>
                        </a:rPr>
                        <a:t>6,  12 or 18 months</a:t>
                      </a:r>
                      <a:r>
                        <a:rPr lang="en-PH" sz="1600" b="0" i="0" kern="1200">
                          <a:solidFill>
                            <a:schemeClr val="tx1"/>
                          </a:solidFill>
                          <a:effectLst/>
                          <a:latin typeface="Lato"/>
                          <a:ea typeface="Lato"/>
                          <a:cs typeface="Lato"/>
                        </a:rPr>
                        <a: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endParaRPr lang="en-PH" sz="600" b="0" i="0" kern="1200">
                        <a:solidFill>
                          <a:schemeClr val="tx1"/>
                        </a:solidFill>
                        <a:effectLst/>
                        <a:latin typeface="Lato"/>
                        <a:ea typeface="Lato"/>
                        <a:cs typeface="Lato"/>
                      </a:endParaRPr>
                    </a:p>
                    <a:p>
                      <a:pPr marL="264795"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100" b="0" i="1" kern="1200">
                          <a:solidFill>
                            <a:schemeClr val="tx1"/>
                          </a:solidFill>
                          <a:effectLst/>
                          <a:latin typeface="Lato"/>
                          <a:ea typeface="Lato"/>
                          <a:cs typeface="Lato"/>
                        </a:rPr>
                        <a:t>With grace period (principal only) of a maximum of 8 weeks (available for re-loan arrangement to clients)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11574103"/>
                  </a:ext>
                </a:extLst>
              </a:tr>
              <a:tr h="484977">
                <a:tc>
                  <a:txBody>
                    <a:bodyPr/>
                    <a:lstStyle/>
                    <a:p>
                      <a:endParaRPr lang="en-PH" sz="1600">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PH" sz="1600">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18413338"/>
                  </a:ext>
                </a:extLst>
              </a:tr>
              <a:tr h="500974">
                <a:tc rowSpan="2">
                  <a:txBody>
                    <a:bodyPr/>
                    <a:lstStyle/>
                    <a:p>
                      <a:endParaRPr lang="en-PH" sz="1600">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b="1">
                          <a:solidFill>
                            <a:srgbClr val="1F4766"/>
                          </a:solidFill>
                          <a:latin typeface="Lato"/>
                          <a:ea typeface="Lato"/>
                          <a:cs typeface="Lato"/>
                        </a:rPr>
                        <a:t>Repayment Frequency</a:t>
                      </a:r>
                      <a:endParaRPr lang="en-PH" sz="1600" b="1">
                        <a:solidFill>
                          <a:srgbClr val="1F4766"/>
                        </a:solidFill>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68837476"/>
                  </a:ext>
                </a:extLst>
              </a:tr>
              <a:tr h="725721">
                <a:tc vMerge="1">
                  <a:txBody>
                    <a:bodyPr/>
                    <a:lstStyle/>
                    <a:p>
                      <a:endParaRPr lang="en-PH"/>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600">
                          <a:solidFill>
                            <a:srgbClr val="000000"/>
                          </a:solidFill>
                          <a:latin typeface="Lato"/>
                          <a:ea typeface="Lato"/>
                          <a:cs typeface="Lato"/>
                        </a:rPr>
                        <a:t>Attached to Production Loan</a:t>
                      </a:r>
                      <a:r>
                        <a:rPr lang="en-US" sz="1600">
                          <a:latin typeface="Lato"/>
                          <a:ea typeface="Lato"/>
                          <a:cs typeface="Lato"/>
                        </a:rPr>
                        <a:t> </a:t>
                      </a:r>
                      <a:endParaRPr lang="en-PH" sz="1600">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54832442"/>
                  </a:ext>
                </a:extLst>
              </a:tr>
            </a:tbl>
          </a:graphicData>
        </a:graphic>
      </p:graphicFrame>
      <p:grpSp>
        <p:nvGrpSpPr>
          <p:cNvPr id="461" name="Group 460">
            <a:extLst>
              <a:ext uri="{FF2B5EF4-FFF2-40B4-BE49-F238E27FC236}">
                <a16:creationId xmlns:a16="http://schemas.microsoft.com/office/drawing/2014/main" id="{71972A9F-9F1E-AAB4-77D4-06CC96EE96FC}"/>
              </a:ext>
            </a:extLst>
          </p:cNvPr>
          <p:cNvGrpSpPr/>
          <p:nvPr/>
        </p:nvGrpSpPr>
        <p:grpSpPr>
          <a:xfrm>
            <a:off x="462549" y="755416"/>
            <a:ext cx="572700" cy="572700"/>
            <a:chOff x="771614" y="1895768"/>
            <a:chExt cx="572700" cy="572700"/>
          </a:xfrm>
        </p:grpSpPr>
        <p:sp>
          <p:nvSpPr>
            <p:cNvPr id="462" name="Google Shape;839;p61">
              <a:extLst>
                <a:ext uri="{FF2B5EF4-FFF2-40B4-BE49-F238E27FC236}">
                  <a16:creationId xmlns:a16="http://schemas.microsoft.com/office/drawing/2014/main" id="{DEFD7A36-DC81-B122-5877-3F62E0F3B2A4}"/>
                </a:ext>
              </a:extLst>
            </p:cNvPr>
            <p:cNvSpPr/>
            <p:nvPr/>
          </p:nvSpPr>
          <p:spPr>
            <a:xfrm>
              <a:off x="771614" y="1895768"/>
              <a:ext cx="572700" cy="572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nvGrpSpPr>
            <p:cNvPr id="463" name="Google Shape;17106;p127">
              <a:extLst>
                <a:ext uri="{FF2B5EF4-FFF2-40B4-BE49-F238E27FC236}">
                  <a16:creationId xmlns:a16="http://schemas.microsoft.com/office/drawing/2014/main" id="{DE3E8A6A-B102-72E8-B25E-29A350AD8D70}"/>
                </a:ext>
              </a:extLst>
            </p:cNvPr>
            <p:cNvGrpSpPr/>
            <p:nvPr/>
          </p:nvGrpSpPr>
          <p:grpSpPr>
            <a:xfrm>
              <a:off x="843708" y="1973049"/>
              <a:ext cx="428511" cy="383186"/>
              <a:chOff x="5744051" y="3766250"/>
              <a:chExt cx="428511" cy="383186"/>
            </a:xfrm>
          </p:grpSpPr>
          <p:sp>
            <p:nvSpPr>
              <p:cNvPr id="464" name="Google Shape;17107;p127">
                <a:extLst>
                  <a:ext uri="{FF2B5EF4-FFF2-40B4-BE49-F238E27FC236}">
                    <a16:creationId xmlns:a16="http://schemas.microsoft.com/office/drawing/2014/main" id="{96DC1F9D-33EE-3CCA-75B1-DC15C31B5B4C}"/>
                  </a:ext>
                </a:extLst>
              </p:cNvPr>
              <p:cNvSpPr/>
              <p:nvPr/>
            </p:nvSpPr>
            <p:spPr>
              <a:xfrm>
                <a:off x="5872489" y="3804510"/>
                <a:ext cx="130696" cy="130460"/>
              </a:xfrm>
              <a:custGeom>
                <a:avLst/>
                <a:gdLst/>
                <a:ahLst/>
                <a:cxnLst/>
                <a:rect l="l" t="t" r="r" b="b"/>
                <a:pathLst>
                  <a:path w="4977" h="4968" extrusionOk="0">
                    <a:moveTo>
                      <a:pt x="2480" y="0"/>
                    </a:moveTo>
                    <a:cubicBezTo>
                      <a:pt x="1110" y="0"/>
                      <a:pt x="0" y="1107"/>
                      <a:pt x="0" y="2479"/>
                    </a:cubicBezTo>
                    <a:cubicBezTo>
                      <a:pt x="0" y="3847"/>
                      <a:pt x="1110" y="4967"/>
                      <a:pt x="2479" y="4967"/>
                    </a:cubicBezTo>
                    <a:cubicBezTo>
                      <a:pt x="2485" y="4967"/>
                      <a:pt x="2491" y="4967"/>
                      <a:pt x="2496" y="4967"/>
                    </a:cubicBezTo>
                    <a:cubicBezTo>
                      <a:pt x="3866" y="4967"/>
                      <a:pt x="4967" y="3861"/>
                      <a:pt x="4977" y="2488"/>
                    </a:cubicBezTo>
                    <a:cubicBezTo>
                      <a:pt x="4977" y="1120"/>
                      <a:pt x="3866" y="0"/>
                      <a:pt x="2498" y="0"/>
                    </a:cubicBezTo>
                    <a:cubicBezTo>
                      <a:pt x="2492" y="0"/>
                      <a:pt x="2486" y="0"/>
                      <a:pt x="2480" y="0"/>
                    </a:cubicBezTo>
                    <a:close/>
                  </a:path>
                </a:pathLst>
              </a:custGeom>
              <a:solidFill>
                <a:srgbClr val="ACBDC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65" name="Google Shape;17108;p127">
                <a:extLst>
                  <a:ext uri="{FF2B5EF4-FFF2-40B4-BE49-F238E27FC236}">
                    <a16:creationId xmlns:a16="http://schemas.microsoft.com/office/drawing/2014/main" id="{A0FF1D85-0735-7EEE-98C7-56F2BDFBA12C}"/>
                  </a:ext>
                </a:extLst>
              </p:cNvPr>
              <p:cNvSpPr/>
              <p:nvPr/>
            </p:nvSpPr>
            <p:spPr>
              <a:xfrm>
                <a:off x="5871963" y="3804169"/>
                <a:ext cx="74185" cy="130775"/>
              </a:xfrm>
              <a:custGeom>
                <a:avLst/>
                <a:gdLst/>
                <a:ahLst/>
                <a:cxnLst/>
                <a:rect l="l" t="t" r="r" b="b"/>
                <a:pathLst>
                  <a:path w="2825" h="4980" extrusionOk="0">
                    <a:moveTo>
                      <a:pt x="2487" y="0"/>
                    </a:moveTo>
                    <a:cubicBezTo>
                      <a:pt x="1138" y="0"/>
                      <a:pt x="10" y="1094"/>
                      <a:pt x="1" y="2482"/>
                    </a:cubicBezTo>
                    <a:cubicBezTo>
                      <a:pt x="1" y="3880"/>
                      <a:pt x="1144" y="4980"/>
                      <a:pt x="2498" y="4980"/>
                    </a:cubicBezTo>
                    <a:cubicBezTo>
                      <a:pt x="2599" y="4980"/>
                      <a:pt x="2702" y="4974"/>
                      <a:pt x="2805" y="4961"/>
                    </a:cubicBezTo>
                    <a:cubicBezTo>
                      <a:pt x="1570" y="4789"/>
                      <a:pt x="642" y="3736"/>
                      <a:pt x="642" y="2482"/>
                    </a:cubicBezTo>
                    <a:cubicBezTo>
                      <a:pt x="652" y="1238"/>
                      <a:pt x="1580" y="185"/>
                      <a:pt x="2824" y="23"/>
                    </a:cubicBezTo>
                    <a:cubicBezTo>
                      <a:pt x="2710" y="8"/>
                      <a:pt x="2598" y="0"/>
                      <a:pt x="2487" y="0"/>
                    </a:cubicBezTo>
                    <a:close/>
                  </a:path>
                </a:pathLst>
              </a:custGeom>
              <a:solidFill>
                <a:srgbClr val="96AB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66" name="Google Shape;17109;p127">
                <a:extLst>
                  <a:ext uri="{FF2B5EF4-FFF2-40B4-BE49-F238E27FC236}">
                    <a16:creationId xmlns:a16="http://schemas.microsoft.com/office/drawing/2014/main" id="{AB84A1C4-2990-7D8E-9330-90CD53002DF3}"/>
                  </a:ext>
                </a:extLst>
              </p:cNvPr>
              <p:cNvSpPr/>
              <p:nvPr/>
            </p:nvSpPr>
            <p:spPr>
              <a:xfrm>
                <a:off x="5893339" y="3825361"/>
                <a:ext cx="88995" cy="88733"/>
              </a:xfrm>
              <a:custGeom>
                <a:avLst/>
                <a:gdLst/>
                <a:ahLst/>
                <a:cxnLst/>
                <a:rect l="l" t="t" r="r" b="b"/>
                <a:pathLst>
                  <a:path w="3389" h="3379" extrusionOk="0">
                    <a:moveTo>
                      <a:pt x="1677" y="0"/>
                    </a:moveTo>
                    <a:cubicBezTo>
                      <a:pt x="756" y="0"/>
                      <a:pt x="0" y="753"/>
                      <a:pt x="0" y="1685"/>
                    </a:cubicBezTo>
                    <a:cubicBezTo>
                      <a:pt x="0" y="2623"/>
                      <a:pt x="756" y="3379"/>
                      <a:pt x="1685" y="3379"/>
                    </a:cubicBezTo>
                    <a:cubicBezTo>
                      <a:pt x="1691" y="3379"/>
                      <a:pt x="1696" y="3379"/>
                      <a:pt x="1702" y="3379"/>
                    </a:cubicBezTo>
                    <a:cubicBezTo>
                      <a:pt x="2632" y="3379"/>
                      <a:pt x="3379" y="2627"/>
                      <a:pt x="3388" y="1694"/>
                    </a:cubicBezTo>
                    <a:cubicBezTo>
                      <a:pt x="3388" y="757"/>
                      <a:pt x="2632" y="1"/>
                      <a:pt x="1694" y="1"/>
                    </a:cubicBezTo>
                    <a:cubicBezTo>
                      <a:pt x="1688" y="1"/>
                      <a:pt x="1683" y="0"/>
                      <a:pt x="1677" y="0"/>
                    </a:cubicBezTo>
                    <a:close/>
                  </a:path>
                </a:pathLst>
              </a:custGeom>
              <a:solidFill>
                <a:srgbClr val="D2DB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67" name="Google Shape;17110;p127">
                <a:extLst>
                  <a:ext uri="{FF2B5EF4-FFF2-40B4-BE49-F238E27FC236}">
                    <a16:creationId xmlns:a16="http://schemas.microsoft.com/office/drawing/2014/main" id="{1C277152-19E2-47DD-81DB-24D29C8E248A}"/>
                  </a:ext>
                </a:extLst>
              </p:cNvPr>
              <p:cNvSpPr/>
              <p:nvPr/>
            </p:nvSpPr>
            <p:spPr>
              <a:xfrm>
                <a:off x="5892840" y="3824993"/>
                <a:ext cx="53308" cy="88995"/>
              </a:xfrm>
              <a:custGeom>
                <a:avLst/>
                <a:gdLst/>
                <a:ahLst/>
                <a:cxnLst/>
                <a:rect l="l" t="t" r="r" b="b"/>
                <a:pathLst>
                  <a:path w="2030" h="3389" extrusionOk="0">
                    <a:moveTo>
                      <a:pt x="1694" y="0"/>
                    </a:moveTo>
                    <a:cubicBezTo>
                      <a:pt x="786" y="0"/>
                      <a:pt x="9" y="742"/>
                      <a:pt x="0" y="1689"/>
                    </a:cubicBezTo>
                    <a:cubicBezTo>
                      <a:pt x="0" y="2645"/>
                      <a:pt x="777" y="3388"/>
                      <a:pt x="1685" y="3388"/>
                    </a:cubicBezTo>
                    <a:cubicBezTo>
                      <a:pt x="1795" y="3388"/>
                      <a:pt x="1907" y="3377"/>
                      <a:pt x="2020" y="3355"/>
                    </a:cubicBezTo>
                    <a:cubicBezTo>
                      <a:pt x="1225" y="3201"/>
                      <a:pt x="661" y="2503"/>
                      <a:pt x="661" y="1689"/>
                    </a:cubicBezTo>
                    <a:cubicBezTo>
                      <a:pt x="661" y="885"/>
                      <a:pt x="1235" y="187"/>
                      <a:pt x="2029" y="34"/>
                    </a:cubicBezTo>
                    <a:cubicBezTo>
                      <a:pt x="1916" y="11"/>
                      <a:pt x="1804" y="0"/>
                      <a:pt x="1694" y="0"/>
                    </a:cubicBezTo>
                    <a:close/>
                  </a:path>
                </a:pathLst>
              </a:custGeom>
              <a:solidFill>
                <a:srgbClr val="C1CE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68" name="Google Shape;17111;p127">
                <a:extLst>
                  <a:ext uri="{FF2B5EF4-FFF2-40B4-BE49-F238E27FC236}">
                    <a16:creationId xmlns:a16="http://schemas.microsoft.com/office/drawing/2014/main" id="{21A803CD-43A1-398F-9FA9-1F1243871CDD}"/>
                  </a:ext>
                </a:extLst>
              </p:cNvPr>
              <p:cNvSpPr/>
              <p:nvPr/>
            </p:nvSpPr>
            <p:spPr>
              <a:xfrm>
                <a:off x="5919231" y="3839436"/>
                <a:ext cx="35714" cy="61107"/>
              </a:xfrm>
              <a:custGeom>
                <a:avLst/>
                <a:gdLst/>
                <a:ahLst/>
                <a:cxnLst/>
                <a:rect l="l" t="t" r="r" b="b"/>
                <a:pathLst>
                  <a:path w="1360" h="2327" extrusionOk="0">
                    <a:moveTo>
                      <a:pt x="651" y="469"/>
                    </a:moveTo>
                    <a:lnTo>
                      <a:pt x="651" y="900"/>
                    </a:lnTo>
                    <a:cubicBezTo>
                      <a:pt x="469" y="833"/>
                      <a:pt x="421" y="776"/>
                      <a:pt x="421" y="670"/>
                    </a:cubicBezTo>
                    <a:cubicBezTo>
                      <a:pt x="421" y="546"/>
                      <a:pt x="526" y="489"/>
                      <a:pt x="651" y="469"/>
                    </a:cubicBezTo>
                    <a:close/>
                    <a:moveTo>
                      <a:pt x="794" y="1350"/>
                    </a:moveTo>
                    <a:cubicBezTo>
                      <a:pt x="967" y="1426"/>
                      <a:pt x="1005" y="1503"/>
                      <a:pt x="1005" y="1608"/>
                    </a:cubicBezTo>
                    <a:cubicBezTo>
                      <a:pt x="1005" y="1723"/>
                      <a:pt x="909" y="1828"/>
                      <a:pt x="794" y="1838"/>
                    </a:cubicBezTo>
                    <a:lnTo>
                      <a:pt x="794" y="1350"/>
                    </a:lnTo>
                    <a:close/>
                    <a:moveTo>
                      <a:pt x="718" y="0"/>
                    </a:moveTo>
                    <a:cubicBezTo>
                      <a:pt x="670" y="0"/>
                      <a:pt x="622" y="29"/>
                      <a:pt x="622" y="77"/>
                    </a:cubicBezTo>
                    <a:lnTo>
                      <a:pt x="622" y="154"/>
                    </a:lnTo>
                    <a:cubicBezTo>
                      <a:pt x="287" y="192"/>
                      <a:pt x="67" y="374"/>
                      <a:pt x="67" y="709"/>
                    </a:cubicBezTo>
                    <a:cubicBezTo>
                      <a:pt x="67" y="1063"/>
                      <a:pt x="345" y="1168"/>
                      <a:pt x="613" y="1273"/>
                    </a:cubicBezTo>
                    <a:lnTo>
                      <a:pt x="613" y="1838"/>
                    </a:lnTo>
                    <a:cubicBezTo>
                      <a:pt x="479" y="1819"/>
                      <a:pt x="354" y="1752"/>
                      <a:pt x="258" y="1656"/>
                    </a:cubicBezTo>
                    <a:cubicBezTo>
                      <a:pt x="236" y="1633"/>
                      <a:pt x="206" y="1623"/>
                      <a:pt x="176" y="1623"/>
                    </a:cubicBezTo>
                    <a:cubicBezTo>
                      <a:pt x="130" y="1623"/>
                      <a:pt x="84" y="1648"/>
                      <a:pt x="67" y="1694"/>
                    </a:cubicBezTo>
                    <a:cubicBezTo>
                      <a:pt x="0" y="1771"/>
                      <a:pt x="0" y="1876"/>
                      <a:pt x="67" y="1943"/>
                    </a:cubicBezTo>
                    <a:cubicBezTo>
                      <a:pt x="203" y="2089"/>
                      <a:pt x="392" y="2174"/>
                      <a:pt x="590" y="2174"/>
                    </a:cubicBezTo>
                    <a:cubicBezTo>
                      <a:pt x="601" y="2174"/>
                      <a:pt x="612" y="2173"/>
                      <a:pt x="622" y="2173"/>
                    </a:cubicBezTo>
                    <a:lnTo>
                      <a:pt x="622" y="2173"/>
                    </a:lnTo>
                    <a:lnTo>
                      <a:pt x="613" y="2183"/>
                    </a:lnTo>
                    <a:lnTo>
                      <a:pt x="613" y="2259"/>
                    </a:lnTo>
                    <a:cubicBezTo>
                      <a:pt x="613" y="2297"/>
                      <a:pt x="670" y="2326"/>
                      <a:pt x="708" y="2326"/>
                    </a:cubicBezTo>
                    <a:cubicBezTo>
                      <a:pt x="756" y="2326"/>
                      <a:pt x="804" y="2297"/>
                      <a:pt x="804" y="2259"/>
                    </a:cubicBezTo>
                    <a:lnTo>
                      <a:pt x="804" y="2173"/>
                    </a:lnTo>
                    <a:cubicBezTo>
                      <a:pt x="1120" y="2154"/>
                      <a:pt x="1359" y="1886"/>
                      <a:pt x="1340" y="1570"/>
                    </a:cubicBezTo>
                    <a:cubicBezTo>
                      <a:pt x="1340" y="1235"/>
                      <a:pt x="1129" y="1082"/>
                      <a:pt x="814" y="967"/>
                    </a:cubicBezTo>
                    <a:lnTo>
                      <a:pt x="814" y="469"/>
                    </a:lnTo>
                    <a:cubicBezTo>
                      <a:pt x="909" y="479"/>
                      <a:pt x="1005" y="508"/>
                      <a:pt x="1082" y="556"/>
                    </a:cubicBezTo>
                    <a:cubicBezTo>
                      <a:pt x="1102" y="567"/>
                      <a:pt x="1123" y="573"/>
                      <a:pt x="1144" y="573"/>
                    </a:cubicBezTo>
                    <a:cubicBezTo>
                      <a:pt x="1191" y="573"/>
                      <a:pt x="1234" y="545"/>
                      <a:pt x="1254" y="498"/>
                    </a:cubicBezTo>
                    <a:cubicBezTo>
                      <a:pt x="1311" y="431"/>
                      <a:pt x="1302" y="335"/>
                      <a:pt x="1244" y="278"/>
                    </a:cubicBezTo>
                    <a:cubicBezTo>
                      <a:pt x="1130" y="199"/>
                      <a:pt x="992" y="152"/>
                      <a:pt x="852" y="152"/>
                    </a:cubicBezTo>
                    <a:cubicBezTo>
                      <a:pt x="839" y="152"/>
                      <a:pt x="827" y="153"/>
                      <a:pt x="814" y="154"/>
                    </a:cubicBezTo>
                    <a:lnTo>
                      <a:pt x="814" y="77"/>
                    </a:lnTo>
                    <a:cubicBezTo>
                      <a:pt x="814" y="39"/>
                      <a:pt x="766" y="0"/>
                      <a:pt x="718" y="0"/>
                    </a:cubicBezTo>
                    <a:close/>
                  </a:path>
                </a:pathLst>
              </a:custGeom>
              <a:solidFill>
                <a:srgbClr val="E6EB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69" name="Google Shape;17112;p127">
                <a:extLst>
                  <a:ext uri="{FF2B5EF4-FFF2-40B4-BE49-F238E27FC236}">
                    <a16:creationId xmlns:a16="http://schemas.microsoft.com/office/drawing/2014/main" id="{BD70FCC1-8F5D-D6EB-B597-098C59B006FB}"/>
                  </a:ext>
                </a:extLst>
              </p:cNvPr>
              <p:cNvSpPr/>
              <p:nvPr/>
            </p:nvSpPr>
            <p:spPr>
              <a:xfrm>
                <a:off x="5973747" y="3766565"/>
                <a:ext cx="130959" cy="130460"/>
              </a:xfrm>
              <a:custGeom>
                <a:avLst/>
                <a:gdLst/>
                <a:ahLst/>
                <a:cxnLst/>
                <a:rect l="l" t="t" r="r" b="b"/>
                <a:pathLst>
                  <a:path w="4987" h="4968" extrusionOk="0">
                    <a:moveTo>
                      <a:pt x="2481" y="0"/>
                    </a:moveTo>
                    <a:cubicBezTo>
                      <a:pt x="1121" y="0"/>
                      <a:pt x="10" y="1107"/>
                      <a:pt x="1" y="2479"/>
                    </a:cubicBezTo>
                    <a:cubicBezTo>
                      <a:pt x="1" y="3847"/>
                      <a:pt x="1111" y="4967"/>
                      <a:pt x="2489" y="4967"/>
                    </a:cubicBezTo>
                    <a:cubicBezTo>
                      <a:pt x="2495" y="4967"/>
                      <a:pt x="2501" y="4967"/>
                      <a:pt x="2507" y="4967"/>
                    </a:cubicBezTo>
                    <a:cubicBezTo>
                      <a:pt x="3867" y="4967"/>
                      <a:pt x="4977" y="3861"/>
                      <a:pt x="4977" y="2488"/>
                    </a:cubicBezTo>
                    <a:cubicBezTo>
                      <a:pt x="4987" y="1120"/>
                      <a:pt x="3877" y="0"/>
                      <a:pt x="2499" y="0"/>
                    </a:cubicBezTo>
                    <a:cubicBezTo>
                      <a:pt x="2493" y="0"/>
                      <a:pt x="2487" y="0"/>
                      <a:pt x="2481" y="0"/>
                    </a:cubicBezTo>
                    <a:close/>
                  </a:path>
                </a:pathLst>
              </a:custGeom>
              <a:solidFill>
                <a:srgbClr val="ACBDC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70" name="Google Shape;17113;p127">
                <a:extLst>
                  <a:ext uri="{FF2B5EF4-FFF2-40B4-BE49-F238E27FC236}">
                    <a16:creationId xmlns:a16="http://schemas.microsoft.com/office/drawing/2014/main" id="{DC4BC48A-18FE-C82E-E5A2-92A112792D37}"/>
                  </a:ext>
                </a:extLst>
              </p:cNvPr>
              <p:cNvSpPr/>
              <p:nvPr/>
            </p:nvSpPr>
            <p:spPr>
              <a:xfrm>
                <a:off x="5973274" y="3766250"/>
                <a:ext cx="74132" cy="130801"/>
              </a:xfrm>
              <a:custGeom>
                <a:avLst/>
                <a:gdLst/>
                <a:ahLst/>
                <a:cxnLst/>
                <a:rect l="l" t="t" r="r" b="b"/>
                <a:pathLst>
                  <a:path w="2823" h="4981" extrusionOk="0">
                    <a:moveTo>
                      <a:pt x="2497" y="1"/>
                    </a:moveTo>
                    <a:cubicBezTo>
                      <a:pt x="1143" y="1"/>
                      <a:pt x="9" y="1089"/>
                      <a:pt x="9" y="2481"/>
                    </a:cubicBezTo>
                    <a:cubicBezTo>
                      <a:pt x="0" y="3875"/>
                      <a:pt x="1136" y="4981"/>
                      <a:pt x="2492" y="4981"/>
                    </a:cubicBezTo>
                    <a:cubicBezTo>
                      <a:pt x="2598" y="4981"/>
                      <a:pt x="2705" y="4974"/>
                      <a:pt x="2813" y="4960"/>
                    </a:cubicBezTo>
                    <a:cubicBezTo>
                      <a:pt x="1569" y="4797"/>
                      <a:pt x="641" y="3735"/>
                      <a:pt x="650" y="2481"/>
                    </a:cubicBezTo>
                    <a:cubicBezTo>
                      <a:pt x="650" y="1237"/>
                      <a:pt x="1579" y="184"/>
                      <a:pt x="2823" y="22"/>
                    </a:cubicBezTo>
                    <a:cubicBezTo>
                      <a:pt x="2713" y="8"/>
                      <a:pt x="2605" y="1"/>
                      <a:pt x="2497" y="1"/>
                    </a:cubicBezTo>
                    <a:close/>
                  </a:path>
                </a:pathLst>
              </a:custGeom>
              <a:solidFill>
                <a:srgbClr val="96AB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71" name="Google Shape;17114;p127">
                <a:extLst>
                  <a:ext uri="{FF2B5EF4-FFF2-40B4-BE49-F238E27FC236}">
                    <a16:creationId xmlns:a16="http://schemas.microsoft.com/office/drawing/2014/main" id="{B0E334A0-75CA-9C64-B635-305D179EE455}"/>
                  </a:ext>
                </a:extLst>
              </p:cNvPr>
              <p:cNvSpPr/>
              <p:nvPr/>
            </p:nvSpPr>
            <p:spPr>
              <a:xfrm>
                <a:off x="5994624" y="3787415"/>
                <a:ext cx="89231" cy="88733"/>
              </a:xfrm>
              <a:custGeom>
                <a:avLst/>
                <a:gdLst/>
                <a:ahLst/>
                <a:cxnLst/>
                <a:rect l="l" t="t" r="r" b="b"/>
                <a:pathLst>
                  <a:path w="3398" h="3379" extrusionOk="0">
                    <a:moveTo>
                      <a:pt x="1686" y="0"/>
                    </a:moveTo>
                    <a:cubicBezTo>
                      <a:pt x="756" y="0"/>
                      <a:pt x="10" y="753"/>
                      <a:pt x="0" y="1685"/>
                    </a:cubicBezTo>
                    <a:cubicBezTo>
                      <a:pt x="0" y="2623"/>
                      <a:pt x="756" y="3379"/>
                      <a:pt x="1694" y="3379"/>
                    </a:cubicBezTo>
                    <a:cubicBezTo>
                      <a:pt x="1700" y="3379"/>
                      <a:pt x="1706" y="3379"/>
                      <a:pt x="1712" y="3379"/>
                    </a:cubicBezTo>
                    <a:cubicBezTo>
                      <a:pt x="2641" y="3379"/>
                      <a:pt x="3388" y="2626"/>
                      <a:pt x="3388" y="1694"/>
                    </a:cubicBezTo>
                    <a:cubicBezTo>
                      <a:pt x="3398" y="757"/>
                      <a:pt x="2642" y="0"/>
                      <a:pt x="1704" y="0"/>
                    </a:cubicBezTo>
                    <a:cubicBezTo>
                      <a:pt x="1698" y="0"/>
                      <a:pt x="1692" y="0"/>
                      <a:pt x="1686" y="0"/>
                    </a:cubicBezTo>
                    <a:close/>
                  </a:path>
                </a:pathLst>
              </a:custGeom>
              <a:solidFill>
                <a:srgbClr val="D2DB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72" name="Google Shape;17115;p127">
                <a:extLst>
                  <a:ext uri="{FF2B5EF4-FFF2-40B4-BE49-F238E27FC236}">
                    <a16:creationId xmlns:a16="http://schemas.microsoft.com/office/drawing/2014/main" id="{EFE467DB-40DB-9E7F-F202-510301EA16DE}"/>
                  </a:ext>
                </a:extLst>
              </p:cNvPr>
              <p:cNvSpPr/>
              <p:nvPr/>
            </p:nvSpPr>
            <p:spPr>
              <a:xfrm>
                <a:off x="5994361" y="3787284"/>
                <a:ext cx="53308" cy="88916"/>
              </a:xfrm>
              <a:custGeom>
                <a:avLst/>
                <a:gdLst/>
                <a:ahLst/>
                <a:cxnLst/>
                <a:rect l="l" t="t" r="r" b="b"/>
                <a:pathLst>
                  <a:path w="2030" h="3386" extrusionOk="0">
                    <a:moveTo>
                      <a:pt x="1689" y="0"/>
                    </a:moveTo>
                    <a:cubicBezTo>
                      <a:pt x="775" y="0"/>
                      <a:pt x="1" y="734"/>
                      <a:pt x="1" y="1680"/>
                    </a:cubicBezTo>
                    <a:cubicBezTo>
                      <a:pt x="1" y="2641"/>
                      <a:pt x="777" y="3386"/>
                      <a:pt x="1695" y="3386"/>
                    </a:cubicBezTo>
                    <a:cubicBezTo>
                      <a:pt x="1802" y="3386"/>
                      <a:pt x="1910" y="3376"/>
                      <a:pt x="2020" y="3355"/>
                    </a:cubicBezTo>
                    <a:cubicBezTo>
                      <a:pt x="1226" y="3192"/>
                      <a:pt x="651" y="2494"/>
                      <a:pt x="661" y="1690"/>
                    </a:cubicBezTo>
                    <a:cubicBezTo>
                      <a:pt x="661" y="876"/>
                      <a:pt x="1235" y="187"/>
                      <a:pt x="2030" y="34"/>
                    </a:cubicBezTo>
                    <a:cubicBezTo>
                      <a:pt x="1915" y="11"/>
                      <a:pt x="1801" y="0"/>
                      <a:pt x="1689" y="0"/>
                    </a:cubicBezTo>
                    <a:close/>
                  </a:path>
                </a:pathLst>
              </a:custGeom>
              <a:solidFill>
                <a:srgbClr val="C1CE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73" name="Google Shape;17116;p127">
                <a:extLst>
                  <a:ext uri="{FF2B5EF4-FFF2-40B4-BE49-F238E27FC236}">
                    <a16:creationId xmlns:a16="http://schemas.microsoft.com/office/drawing/2014/main" id="{B32929B6-4CAA-6144-38E0-05BD1254891C}"/>
                  </a:ext>
                </a:extLst>
              </p:cNvPr>
              <p:cNvSpPr/>
              <p:nvPr/>
            </p:nvSpPr>
            <p:spPr>
              <a:xfrm>
                <a:off x="6020753" y="3801727"/>
                <a:ext cx="35451" cy="60844"/>
              </a:xfrm>
              <a:custGeom>
                <a:avLst/>
                <a:gdLst/>
                <a:ahLst/>
                <a:cxnLst/>
                <a:rect l="l" t="t" r="r" b="b"/>
                <a:pathLst>
                  <a:path w="1350" h="2317" extrusionOk="0">
                    <a:moveTo>
                      <a:pt x="642" y="470"/>
                    </a:moveTo>
                    <a:lnTo>
                      <a:pt x="642" y="891"/>
                    </a:lnTo>
                    <a:cubicBezTo>
                      <a:pt x="460" y="824"/>
                      <a:pt x="412" y="767"/>
                      <a:pt x="412" y="661"/>
                    </a:cubicBezTo>
                    <a:cubicBezTo>
                      <a:pt x="412" y="537"/>
                      <a:pt x="517" y="489"/>
                      <a:pt x="642" y="470"/>
                    </a:cubicBezTo>
                    <a:close/>
                    <a:moveTo>
                      <a:pt x="785" y="1341"/>
                    </a:moveTo>
                    <a:cubicBezTo>
                      <a:pt x="967" y="1417"/>
                      <a:pt x="996" y="1503"/>
                      <a:pt x="996" y="1599"/>
                    </a:cubicBezTo>
                    <a:cubicBezTo>
                      <a:pt x="996" y="1724"/>
                      <a:pt x="910" y="1819"/>
                      <a:pt x="785" y="1829"/>
                    </a:cubicBezTo>
                    <a:lnTo>
                      <a:pt x="785" y="1341"/>
                    </a:lnTo>
                    <a:close/>
                    <a:moveTo>
                      <a:pt x="709" y="1"/>
                    </a:moveTo>
                    <a:cubicBezTo>
                      <a:pt x="661" y="1"/>
                      <a:pt x="613" y="30"/>
                      <a:pt x="613" y="68"/>
                    </a:cubicBezTo>
                    <a:lnTo>
                      <a:pt x="613" y="145"/>
                    </a:lnTo>
                    <a:cubicBezTo>
                      <a:pt x="278" y="192"/>
                      <a:pt x="67" y="365"/>
                      <a:pt x="67" y="700"/>
                    </a:cubicBezTo>
                    <a:cubicBezTo>
                      <a:pt x="58" y="1054"/>
                      <a:pt x="335" y="1169"/>
                      <a:pt x="613" y="1274"/>
                    </a:cubicBezTo>
                    <a:lnTo>
                      <a:pt x="613" y="1829"/>
                    </a:lnTo>
                    <a:cubicBezTo>
                      <a:pt x="479" y="1810"/>
                      <a:pt x="355" y="1743"/>
                      <a:pt x="249" y="1647"/>
                    </a:cubicBezTo>
                    <a:cubicBezTo>
                      <a:pt x="227" y="1624"/>
                      <a:pt x="198" y="1614"/>
                      <a:pt x="169" y="1614"/>
                    </a:cubicBezTo>
                    <a:cubicBezTo>
                      <a:pt x="125" y="1614"/>
                      <a:pt x="81" y="1639"/>
                      <a:pt x="58" y="1685"/>
                    </a:cubicBezTo>
                    <a:cubicBezTo>
                      <a:pt x="0" y="1762"/>
                      <a:pt x="0" y="1867"/>
                      <a:pt x="58" y="1944"/>
                    </a:cubicBezTo>
                    <a:cubicBezTo>
                      <a:pt x="201" y="2097"/>
                      <a:pt x="402" y="2173"/>
                      <a:pt x="613" y="2173"/>
                    </a:cubicBezTo>
                    <a:lnTo>
                      <a:pt x="603" y="2250"/>
                    </a:lnTo>
                    <a:cubicBezTo>
                      <a:pt x="603" y="2288"/>
                      <a:pt x="661" y="2317"/>
                      <a:pt x="699" y="2317"/>
                    </a:cubicBezTo>
                    <a:cubicBezTo>
                      <a:pt x="747" y="2317"/>
                      <a:pt x="804" y="2288"/>
                      <a:pt x="804" y="2250"/>
                    </a:cubicBezTo>
                    <a:lnTo>
                      <a:pt x="804" y="2164"/>
                    </a:lnTo>
                    <a:cubicBezTo>
                      <a:pt x="1111" y="2145"/>
                      <a:pt x="1350" y="1877"/>
                      <a:pt x="1340" y="1561"/>
                    </a:cubicBezTo>
                    <a:cubicBezTo>
                      <a:pt x="1340" y="1207"/>
                      <a:pt x="1101" y="1063"/>
                      <a:pt x="804" y="958"/>
                    </a:cubicBezTo>
                    <a:lnTo>
                      <a:pt x="804" y="460"/>
                    </a:lnTo>
                    <a:cubicBezTo>
                      <a:pt x="996" y="470"/>
                      <a:pt x="1063" y="566"/>
                      <a:pt x="1139" y="566"/>
                    </a:cubicBezTo>
                    <a:cubicBezTo>
                      <a:pt x="1216" y="566"/>
                      <a:pt x="1264" y="489"/>
                      <a:pt x="1283" y="422"/>
                    </a:cubicBezTo>
                    <a:cubicBezTo>
                      <a:pt x="1312" y="298"/>
                      <a:pt x="1235" y="240"/>
                      <a:pt x="1120" y="192"/>
                    </a:cubicBezTo>
                    <a:cubicBezTo>
                      <a:pt x="1015" y="164"/>
                      <a:pt x="910" y="145"/>
                      <a:pt x="804" y="145"/>
                    </a:cubicBezTo>
                    <a:lnTo>
                      <a:pt x="804" y="68"/>
                    </a:lnTo>
                    <a:cubicBezTo>
                      <a:pt x="804" y="30"/>
                      <a:pt x="757" y="1"/>
                      <a:pt x="709" y="1"/>
                    </a:cubicBezTo>
                    <a:close/>
                  </a:path>
                </a:pathLst>
              </a:custGeom>
              <a:solidFill>
                <a:srgbClr val="E6EB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74" name="Google Shape;17117;p127">
                <a:extLst>
                  <a:ext uri="{FF2B5EF4-FFF2-40B4-BE49-F238E27FC236}">
                    <a16:creationId xmlns:a16="http://schemas.microsoft.com/office/drawing/2014/main" id="{708B94DD-D8E6-D76B-1297-C7A704EAFCD9}"/>
                  </a:ext>
                </a:extLst>
              </p:cNvPr>
              <p:cNvSpPr/>
              <p:nvPr/>
            </p:nvSpPr>
            <p:spPr>
              <a:xfrm>
                <a:off x="5744051" y="3983945"/>
                <a:ext cx="147056" cy="165491"/>
              </a:xfrm>
              <a:custGeom>
                <a:avLst/>
                <a:gdLst/>
                <a:ahLst/>
                <a:cxnLst/>
                <a:rect l="l" t="t" r="r" b="b"/>
                <a:pathLst>
                  <a:path w="5600" h="6302" extrusionOk="0">
                    <a:moveTo>
                      <a:pt x="3733" y="0"/>
                    </a:moveTo>
                    <a:lnTo>
                      <a:pt x="269" y="1292"/>
                    </a:lnTo>
                    <a:cubicBezTo>
                      <a:pt x="96" y="1359"/>
                      <a:pt x="1" y="1560"/>
                      <a:pt x="68" y="1733"/>
                    </a:cubicBezTo>
                    <a:lnTo>
                      <a:pt x="1695" y="6078"/>
                    </a:lnTo>
                    <a:cubicBezTo>
                      <a:pt x="1746" y="6218"/>
                      <a:pt x="1872" y="6301"/>
                      <a:pt x="2010" y="6301"/>
                    </a:cubicBezTo>
                    <a:cubicBezTo>
                      <a:pt x="2051" y="6301"/>
                      <a:pt x="2093" y="6294"/>
                      <a:pt x="2135" y="6278"/>
                    </a:cubicBezTo>
                    <a:lnTo>
                      <a:pt x="5599" y="4986"/>
                    </a:lnTo>
                    <a:lnTo>
                      <a:pt x="37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75" name="Google Shape;17118;p127">
                <a:extLst>
                  <a:ext uri="{FF2B5EF4-FFF2-40B4-BE49-F238E27FC236}">
                    <a16:creationId xmlns:a16="http://schemas.microsoft.com/office/drawing/2014/main" id="{431FCCCC-E453-4817-F764-75A6014B16DD}"/>
                  </a:ext>
                </a:extLst>
              </p:cNvPr>
              <p:cNvSpPr/>
              <p:nvPr/>
            </p:nvSpPr>
            <p:spPr>
              <a:xfrm>
                <a:off x="5784754" y="4095786"/>
                <a:ext cx="106353" cy="53597"/>
              </a:xfrm>
              <a:custGeom>
                <a:avLst/>
                <a:gdLst/>
                <a:ahLst/>
                <a:cxnLst/>
                <a:rect l="l" t="t" r="r" b="b"/>
                <a:pathLst>
                  <a:path w="4050" h="2041" extrusionOk="0">
                    <a:moveTo>
                      <a:pt x="3781" y="0"/>
                    </a:moveTo>
                    <a:lnTo>
                      <a:pt x="3714" y="29"/>
                    </a:lnTo>
                    <a:lnTo>
                      <a:pt x="1" y="1417"/>
                    </a:lnTo>
                    <a:lnTo>
                      <a:pt x="145" y="1819"/>
                    </a:lnTo>
                    <a:cubicBezTo>
                      <a:pt x="197" y="1953"/>
                      <a:pt x="331" y="2041"/>
                      <a:pt x="469" y="2041"/>
                    </a:cubicBezTo>
                    <a:cubicBezTo>
                      <a:pt x="508" y="2041"/>
                      <a:pt x="547" y="2034"/>
                      <a:pt x="585" y="2019"/>
                    </a:cubicBezTo>
                    <a:lnTo>
                      <a:pt x="4049" y="727"/>
                    </a:lnTo>
                    <a:lnTo>
                      <a:pt x="3781" y="0"/>
                    </a:lnTo>
                    <a:close/>
                  </a:path>
                </a:pathLst>
              </a:custGeom>
              <a:solidFill>
                <a:srgbClr val="6E82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76" name="Google Shape;17119;p127">
                <a:extLst>
                  <a:ext uri="{FF2B5EF4-FFF2-40B4-BE49-F238E27FC236}">
                    <a16:creationId xmlns:a16="http://schemas.microsoft.com/office/drawing/2014/main" id="{5FCA3FB3-B247-4902-E503-84990FE55D37}"/>
                  </a:ext>
                </a:extLst>
              </p:cNvPr>
              <p:cNvSpPr/>
              <p:nvPr/>
            </p:nvSpPr>
            <p:spPr>
              <a:xfrm>
                <a:off x="5886538" y="3909550"/>
                <a:ext cx="286024" cy="176441"/>
              </a:xfrm>
              <a:custGeom>
                <a:avLst/>
                <a:gdLst/>
                <a:ahLst/>
                <a:cxnLst/>
                <a:rect l="l" t="t" r="r" b="b"/>
                <a:pathLst>
                  <a:path w="10892" h="6719" extrusionOk="0">
                    <a:moveTo>
                      <a:pt x="9693" y="1"/>
                    </a:moveTo>
                    <a:cubicBezTo>
                      <a:pt x="9260" y="1"/>
                      <a:pt x="8912" y="344"/>
                      <a:pt x="8873" y="383"/>
                    </a:cubicBezTo>
                    <a:lnTo>
                      <a:pt x="6002" y="2747"/>
                    </a:lnTo>
                    <a:cubicBezTo>
                      <a:pt x="6002" y="2747"/>
                      <a:pt x="5963" y="1934"/>
                      <a:pt x="5111" y="1934"/>
                    </a:cubicBezTo>
                    <a:cubicBezTo>
                      <a:pt x="4317" y="1931"/>
                      <a:pt x="3755" y="1924"/>
                      <a:pt x="3338" y="1924"/>
                    </a:cubicBezTo>
                    <a:cubicBezTo>
                      <a:pt x="2505" y="1924"/>
                      <a:pt x="2256" y="1950"/>
                      <a:pt x="1905" y="2077"/>
                    </a:cubicBezTo>
                    <a:lnTo>
                      <a:pt x="1" y="2862"/>
                    </a:lnTo>
                    <a:lnTo>
                      <a:pt x="1436" y="6719"/>
                    </a:lnTo>
                    <a:cubicBezTo>
                      <a:pt x="2585" y="6243"/>
                      <a:pt x="2514" y="6187"/>
                      <a:pt x="3650" y="6187"/>
                    </a:cubicBezTo>
                    <a:cubicBezTo>
                      <a:pt x="3999" y="6187"/>
                      <a:pt x="4463" y="6193"/>
                      <a:pt x="5111" y="6193"/>
                    </a:cubicBezTo>
                    <a:cubicBezTo>
                      <a:pt x="5724" y="6173"/>
                      <a:pt x="6308" y="5905"/>
                      <a:pt x="6719" y="5446"/>
                    </a:cubicBezTo>
                    <a:lnTo>
                      <a:pt x="10251" y="1675"/>
                    </a:lnTo>
                    <a:cubicBezTo>
                      <a:pt x="10356" y="1551"/>
                      <a:pt x="10892" y="843"/>
                      <a:pt x="10299" y="259"/>
                    </a:cubicBezTo>
                    <a:cubicBezTo>
                      <a:pt x="10093" y="68"/>
                      <a:pt x="9884" y="1"/>
                      <a:pt x="96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77" name="Google Shape;17120;p127">
                <a:extLst>
                  <a:ext uri="{FF2B5EF4-FFF2-40B4-BE49-F238E27FC236}">
                    <a16:creationId xmlns:a16="http://schemas.microsoft.com/office/drawing/2014/main" id="{E775E3F1-F5A9-B4E7-D51C-F8F4F3D5896F}"/>
                  </a:ext>
                </a:extLst>
              </p:cNvPr>
              <p:cNvSpPr/>
              <p:nvPr/>
            </p:nvSpPr>
            <p:spPr>
              <a:xfrm>
                <a:off x="5886538" y="3976408"/>
                <a:ext cx="57851" cy="109347"/>
              </a:xfrm>
              <a:custGeom>
                <a:avLst/>
                <a:gdLst/>
                <a:ahLst/>
                <a:cxnLst/>
                <a:rect l="l" t="t" r="r" b="b"/>
                <a:pathLst>
                  <a:path w="2203" h="4164" extrusionOk="0">
                    <a:moveTo>
                      <a:pt x="767" y="0"/>
                    </a:moveTo>
                    <a:lnTo>
                      <a:pt x="1" y="307"/>
                    </a:lnTo>
                    <a:lnTo>
                      <a:pt x="1446" y="4163"/>
                    </a:lnTo>
                    <a:lnTo>
                      <a:pt x="2202" y="3848"/>
                    </a:lnTo>
                    <a:lnTo>
                      <a:pt x="767" y="0"/>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78" name="Google Shape;17121;p127">
                <a:extLst>
                  <a:ext uri="{FF2B5EF4-FFF2-40B4-BE49-F238E27FC236}">
                    <a16:creationId xmlns:a16="http://schemas.microsoft.com/office/drawing/2014/main" id="{EA5C963B-C7D4-1042-24E0-C079EA2E3B72}"/>
                  </a:ext>
                </a:extLst>
              </p:cNvPr>
              <p:cNvSpPr/>
              <p:nvPr/>
            </p:nvSpPr>
            <p:spPr>
              <a:xfrm>
                <a:off x="5961956" y="3961335"/>
                <a:ext cx="82456" cy="52467"/>
              </a:xfrm>
              <a:custGeom>
                <a:avLst/>
                <a:gdLst/>
                <a:ahLst/>
                <a:cxnLst/>
                <a:rect l="l" t="t" r="r" b="b"/>
                <a:pathLst>
                  <a:path w="3140" h="1998" extrusionOk="0">
                    <a:moveTo>
                      <a:pt x="2565" y="0"/>
                    </a:moveTo>
                    <a:lnTo>
                      <a:pt x="2565" y="0"/>
                    </a:lnTo>
                    <a:cubicBezTo>
                      <a:pt x="2641" y="345"/>
                      <a:pt x="2708" y="948"/>
                      <a:pt x="2488" y="1263"/>
                    </a:cubicBezTo>
                    <a:cubicBezTo>
                      <a:pt x="2355" y="1454"/>
                      <a:pt x="2176" y="1495"/>
                      <a:pt x="1704" y="1495"/>
                    </a:cubicBezTo>
                    <a:cubicBezTo>
                      <a:pt x="1396" y="1495"/>
                      <a:pt x="962" y="1478"/>
                      <a:pt x="335" y="1474"/>
                    </a:cubicBezTo>
                    <a:cubicBezTo>
                      <a:pt x="0" y="1474"/>
                      <a:pt x="0" y="1981"/>
                      <a:pt x="335" y="1981"/>
                    </a:cubicBezTo>
                    <a:cubicBezTo>
                      <a:pt x="868" y="1981"/>
                      <a:pt x="1286" y="1997"/>
                      <a:pt x="1621" y="1997"/>
                    </a:cubicBezTo>
                    <a:cubicBezTo>
                      <a:pt x="2292" y="1997"/>
                      <a:pt x="2632" y="1933"/>
                      <a:pt x="2900" y="1550"/>
                    </a:cubicBezTo>
                    <a:cubicBezTo>
                      <a:pt x="3053" y="1311"/>
                      <a:pt x="3130" y="1034"/>
                      <a:pt x="3139" y="756"/>
                    </a:cubicBezTo>
                    <a:cubicBezTo>
                      <a:pt x="3130" y="651"/>
                      <a:pt x="3053" y="153"/>
                      <a:pt x="256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79" name="Google Shape;17122;p127">
                <a:extLst>
                  <a:ext uri="{FF2B5EF4-FFF2-40B4-BE49-F238E27FC236}">
                    <a16:creationId xmlns:a16="http://schemas.microsoft.com/office/drawing/2014/main" id="{C1960630-C076-0E46-6BF8-EB3650782C7F}"/>
                  </a:ext>
                </a:extLst>
              </p:cNvPr>
              <p:cNvSpPr/>
              <p:nvPr/>
            </p:nvSpPr>
            <p:spPr>
              <a:xfrm>
                <a:off x="5840556" y="3971235"/>
                <a:ext cx="89258" cy="144167"/>
              </a:xfrm>
              <a:custGeom>
                <a:avLst/>
                <a:gdLst/>
                <a:ahLst/>
                <a:cxnLst/>
                <a:rect l="l" t="t" r="r" b="b"/>
                <a:pathLst>
                  <a:path w="3399" h="5490" extrusionOk="0">
                    <a:moveTo>
                      <a:pt x="1413" y="1"/>
                    </a:moveTo>
                    <a:cubicBezTo>
                      <a:pt x="1374" y="1"/>
                      <a:pt x="1333" y="8"/>
                      <a:pt x="1293" y="25"/>
                    </a:cubicBezTo>
                    <a:lnTo>
                      <a:pt x="1" y="504"/>
                    </a:lnTo>
                    <a:lnTo>
                      <a:pt x="1867" y="5490"/>
                    </a:lnTo>
                    <a:lnTo>
                      <a:pt x="3159" y="5002"/>
                    </a:lnTo>
                    <a:cubicBezTo>
                      <a:pt x="3312" y="4944"/>
                      <a:pt x="3398" y="4772"/>
                      <a:pt x="3341" y="4619"/>
                    </a:cubicBezTo>
                    <a:lnTo>
                      <a:pt x="1685" y="188"/>
                    </a:lnTo>
                    <a:cubicBezTo>
                      <a:pt x="1642" y="73"/>
                      <a:pt x="1534" y="1"/>
                      <a:pt x="1413" y="1"/>
                    </a:cubicBezTo>
                    <a:close/>
                  </a:path>
                </a:pathLst>
              </a:custGeom>
              <a:solidFill>
                <a:srgbClr val="E6EB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80" name="Google Shape;17123;p127">
                <a:extLst>
                  <a:ext uri="{FF2B5EF4-FFF2-40B4-BE49-F238E27FC236}">
                    <a16:creationId xmlns:a16="http://schemas.microsoft.com/office/drawing/2014/main" id="{9F1EE3DD-AD8E-C436-10C2-DAAC03D2C6F3}"/>
                  </a:ext>
                </a:extLst>
              </p:cNvPr>
              <p:cNvSpPr/>
              <p:nvPr/>
            </p:nvSpPr>
            <p:spPr>
              <a:xfrm>
                <a:off x="5882284" y="4079689"/>
                <a:ext cx="47531" cy="35714"/>
              </a:xfrm>
              <a:custGeom>
                <a:avLst/>
                <a:gdLst/>
                <a:ahLst/>
                <a:cxnLst/>
                <a:rect l="l" t="t" r="r" b="b"/>
                <a:pathLst>
                  <a:path w="1810" h="1360" extrusionOk="0">
                    <a:moveTo>
                      <a:pt x="1570" y="1"/>
                    </a:moveTo>
                    <a:cubicBezTo>
                      <a:pt x="1532" y="49"/>
                      <a:pt x="1484" y="87"/>
                      <a:pt x="1426" y="106"/>
                    </a:cubicBezTo>
                    <a:lnTo>
                      <a:pt x="0" y="632"/>
                    </a:lnTo>
                    <a:lnTo>
                      <a:pt x="268" y="1360"/>
                    </a:lnTo>
                    <a:lnTo>
                      <a:pt x="1570" y="881"/>
                    </a:lnTo>
                    <a:cubicBezTo>
                      <a:pt x="1723" y="814"/>
                      <a:pt x="1809" y="642"/>
                      <a:pt x="1752" y="489"/>
                    </a:cubicBezTo>
                    <a:lnTo>
                      <a:pt x="1570"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grpSp>
      <p:grpSp>
        <p:nvGrpSpPr>
          <p:cNvPr id="481" name="Group 480">
            <a:extLst>
              <a:ext uri="{FF2B5EF4-FFF2-40B4-BE49-F238E27FC236}">
                <a16:creationId xmlns:a16="http://schemas.microsoft.com/office/drawing/2014/main" id="{3024691E-E1F7-6375-DFE8-4E8CE1EEAE38}"/>
              </a:ext>
            </a:extLst>
          </p:cNvPr>
          <p:cNvGrpSpPr/>
          <p:nvPr/>
        </p:nvGrpSpPr>
        <p:grpSpPr>
          <a:xfrm>
            <a:off x="462549" y="2976303"/>
            <a:ext cx="572700" cy="572700"/>
            <a:chOff x="648098" y="2998277"/>
            <a:chExt cx="572700" cy="572700"/>
          </a:xfrm>
        </p:grpSpPr>
        <p:sp>
          <p:nvSpPr>
            <p:cNvPr id="482" name="Google Shape;839;p61">
              <a:extLst>
                <a:ext uri="{FF2B5EF4-FFF2-40B4-BE49-F238E27FC236}">
                  <a16:creationId xmlns:a16="http://schemas.microsoft.com/office/drawing/2014/main" id="{C9D7C983-7EB8-ED03-215A-B1F14651F06C}"/>
                </a:ext>
              </a:extLst>
            </p:cNvPr>
            <p:cNvSpPr/>
            <p:nvPr/>
          </p:nvSpPr>
          <p:spPr>
            <a:xfrm>
              <a:off x="648098" y="2998277"/>
              <a:ext cx="572700" cy="572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nvGrpSpPr>
            <p:cNvPr id="483" name="Google Shape;15501;p127">
              <a:extLst>
                <a:ext uri="{FF2B5EF4-FFF2-40B4-BE49-F238E27FC236}">
                  <a16:creationId xmlns:a16="http://schemas.microsoft.com/office/drawing/2014/main" id="{849A5EC9-A8D6-E7BA-355E-C5DEB707140E}"/>
                </a:ext>
              </a:extLst>
            </p:cNvPr>
            <p:cNvGrpSpPr/>
            <p:nvPr/>
          </p:nvGrpSpPr>
          <p:grpSpPr>
            <a:xfrm>
              <a:off x="772614" y="3097170"/>
              <a:ext cx="362677" cy="362677"/>
              <a:chOff x="1751901" y="1502716"/>
              <a:chExt cx="362677" cy="362677"/>
            </a:xfrm>
          </p:grpSpPr>
          <p:sp>
            <p:nvSpPr>
              <p:cNvPr id="484" name="Google Shape;15502;p127">
                <a:extLst>
                  <a:ext uri="{FF2B5EF4-FFF2-40B4-BE49-F238E27FC236}">
                    <a16:creationId xmlns:a16="http://schemas.microsoft.com/office/drawing/2014/main" id="{6E642026-56D7-A612-411F-96E4C9C5F3BD}"/>
                  </a:ext>
                </a:extLst>
              </p:cNvPr>
              <p:cNvSpPr/>
              <p:nvPr/>
            </p:nvSpPr>
            <p:spPr>
              <a:xfrm>
                <a:off x="1751901" y="1502716"/>
                <a:ext cx="362677" cy="362677"/>
              </a:xfrm>
              <a:custGeom>
                <a:avLst/>
                <a:gdLst/>
                <a:ahLst/>
                <a:cxnLst/>
                <a:rect l="l" t="t" r="r" b="b"/>
                <a:pathLst>
                  <a:path w="13811" h="13811" extrusionOk="0">
                    <a:moveTo>
                      <a:pt x="6901" y="0"/>
                    </a:moveTo>
                    <a:cubicBezTo>
                      <a:pt x="3092" y="0"/>
                      <a:pt x="0" y="3091"/>
                      <a:pt x="0" y="6900"/>
                    </a:cubicBezTo>
                    <a:cubicBezTo>
                      <a:pt x="0" y="10719"/>
                      <a:pt x="3092" y="13810"/>
                      <a:pt x="6901" y="13810"/>
                    </a:cubicBezTo>
                    <a:cubicBezTo>
                      <a:pt x="10719" y="13810"/>
                      <a:pt x="13810" y="10719"/>
                      <a:pt x="13810" y="6900"/>
                    </a:cubicBezTo>
                    <a:cubicBezTo>
                      <a:pt x="13810" y="3091"/>
                      <a:pt x="10719" y="0"/>
                      <a:pt x="6901" y="0"/>
                    </a:cubicBezTo>
                    <a:close/>
                  </a:path>
                </a:pathLst>
              </a:custGeom>
              <a:solidFill>
                <a:srgbClr val="C3CD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85" name="Google Shape;15503;p127">
                <a:extLst>
                  <a:ext uri="{FF2B5EF4-FFF2-40B4-BE49-F238E27FC236}">
                    <a16:creationId xmlns:a16="http://schemas.microsoft.com/office/drawing/2014/main" id="{58505817-C5B8-830C-1BA2-35234A6B7B6D}"/>
                  </a:ext>
                </a:extLst>
              </p:cNvPr>
              <p:cNvSpPr/>
              <p:nvPr/>
            </p:nvSpPr>
            <p:spPr>
              <a:xfrm>
                <a:off x="1780937" y="1524056"/>
                <a:ext cx="308397" cy="308397"/>
              </a:xfrm>
              <a:custGeom>
                <a:avLst/>
                <a:gdLst/>
                <a:ahLst/>
                <a:cxnLst/>
                <a:rect l="l" t="t" r="r" b="b"/>
                <a:pathLst>
                  <a:path w="11744" h="11744" extrusionOk="0">
                    <a:moveTo>
                      <a:pt x="5868" y="1"/>
                    </a:moveTo>
                    <a:cubicBezTo>
                      <a:pt x="2633" y="1"/>
                      <a:pt x="1" y="2633"/>
                      <a:pt x="1" y="5867"/>
                    </a:cubicBezTo>
                    <a:cubicBezTo>
                      <a:pt x="1" y="9112"/>
                      <a:pt x="2633" y="11744"/>
                      <a:pt x="5868" y="11744"/>
                    </a:cubicBezTo>
                    <a:cubicBezTo>
                      <a:pt x="9112" y="11744"/>
                      <a:pt x="11744" y="9112"/>
                      <a:pt x="11744" y="5867"/>
                    </a:cubicBezTo>
                    <a:cubicBezTo>
                      <a:pt x="11744" y="2633"/>
                      <a:pt x="9112" y="1"/>
                      <a:pt x="5868" y="1"/>
                    </a:cubicBez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86" name="Google Shape;15504;p127">
                <a:extLst>
                  <a:ext uri="{FF2B5EF4-FFF2-40B4-BE49-F238E27FC236}">
                    <a16:creationId xmlns:a16="http://schemas.microsoft.com/office/drawing/2014/main" id="{68CFE004-52B0-C81A-40EE-7B12E7B9553C}"/>
                  </a:ext>
                </a:extLst>
              </p:cNvPr>
              <p:cNvSpPr/>
              <p:nvPr/>
            </p:nvSpPr>
            <p:spPr>
              <a:xfrm>
                <a:off x="1927816" y="1551035"/>
                <a:ext cx="10845" cy="138416"/>
              </a:xfrm>
              <a:custGeom>
                <a:avLst/>
                <a:gdLst/>
                <a:ahLst/>
                <a:cxnLst/>
                <a:rect l="l" t="t" r="r" b="b"/>
                <a:pathLst>
                  <a:path w="413" h="5271" extrusionOk="0">
                    <a:moveTo>
                      <a:pt x="206" y="0"/>
                    </a:moveTo>
                    <a:cubicBezTo>
                      <a:pt x="103" y="0"/>
                      <a:pt x="1" y="70"/>
                      <a:pt x="1" y="208"/>
                    </a:cubicBezTo>
                    <a:lnTo>
                      <a:pt x="1" y="5060"/>
                    </a:lnTo>
                    <a:cubicBezTo>
                      <a:pt x="1" y="5175"/>
                      <a:pt x="87" y="5271"/>
                      <a:pt x="202" y="5271"/>
                    </a:cubicBezTo>
                    <a:cubicBezTo>
                      <a:pt x="316" y="5271"/>
                      <a:pt x="412" y="5175"/>
                      <a:pt x="412" y="5060"/>
                    </a:cubicBezTo>
                    <a:lnTo>
                      <a:pt x="412" y="208"/>
                    </a:lnTo>
                    <a:cubicBezTo>
                      <a:pt x="412" y="70"/>
                      <a:pt x="309" y="0"/>
                      <a:pt x="206" y="0"/>
                    </a:cubicBezTo>
                    <a:close/>
                  </a:path>
                </a:pathLst>
              </a:custGeom>
              <a:solidFill>
                <a:srgbClr val="65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87" name="Google Shape;15505;p127">
                <a:extLst>
                  <a:ext uri="{FF2B5EF4-FFF2-40B4-BE49-F238E27FC236}">
                    <a16:creationId xmlns:a16="http://schemas.microsoft.com/office/drawing/2014/main" id="{F604A483-FEB5-34B5-23EE-38137BF240B9}"/>
                  </a:ext>
                </a:extLst>
              </p:cNvPr>
              <p:cNvSpPr/>
              <p:nvPr/>
            </p:nvSpPr>
            <p:spPr>
              <a:xfrm>
                <a:off x="1925821" y="1678632"/>
                <a:ext cx="142014" cy="10819"/>
              </a:xfrm>
              <a:custGeom>
                <a:avLst/>
                <a:gdLst/>
                <a:ahLst/>
                <a:cxnLst/>
                <a:rect l="l" t="t" r="r" b="b"/>
                <a:pathLst>
                  <a:path w="5408" h="412" extrusionOk="0">
                    <a:moveTo>
                      <a:pt x="278" y="0"/>
                    </a:moveTo>
                    <a:cubicBezTo>
                      <a:pt x="0" y="0"/>
                      <a:pt x="0" y="412"/>
                      <a:pt x="278" y="412"/>
                    </a:cubicBezTo>
                    <a:lnTo>
                      <a:pt x="5130" y="412"/>
                    </a:lnTo>
                    <a:cubicBezTo>
                      <a:pt x="5407" y="412"/>
                      <a:pt x="5407" y="0"/>
                      <a:pt x="5130" y="0"/>
                    </a:cubicBezTo>
                    <a:close/>
                  </a:path>
                </a:pathLst>
              </a:custGeom>
              <a:solidFill>
                <a:srgbClr val="65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88" name="Google Shape;15506;p127">
                <a:extLst>
                  <a:ext uri="{FF2B5EF4-FFF2-40B4-BE49-F238E27FC236}">
                    <a16:creationId xmlns:a16="http://schemas.microsoft.com/office/drawing/2014/main" id="{AFA37C57-73B4-8715-C7B0-1F34F566E1C2}"/>
                  </a:ext>
                </a:extLst>
              </p:cNvPr>
              <p:cNvSpPr/>
              <p:nvPr/>
            </p:nvSpPr>
            <p:spPr>
              <a:xfrm>
                <a:off x="1816999" y="1567789"/>
                <a:ext cx="288020" cy="270215"/>
              </a:xfrm>
              <a:custGeom>
                <a:avLst/>
                <a:gdLst/>
                <a:ahLst/>
                <a:cxnLst/>
                <a:rect l="l" t="t" r="r" b="b"/>
                <a:pathLst>
                  <a:path w="10968" h="10290" extrusionOk="0">
                    <a:moveTo>
                      <a:pt x="8278" y="1"/>
                    </a:moveTo>
                    <a:lnTo>
                      <a:pt x="8278" y="1"/>
                    </a:lnTo>
                    <a:cubicBezTo>
                      <a:pt x="10317" y="2327"/>
                      <a:pt x="10192" y="5829"/>
                      <a:pt x="8010" y="8011"/>
                    </a:cubicBezTo>
                    <a:cubicBezTo>
                      <a:pt x="6869" y="9153"/>
                      <a:pt x="5365" y="9731"/>
                      <a:pt x="3858" y="9731"/>
                    </a:cubicBezTo>
                    <a:cubicBezTo>
                      <a:pt x="2485" y="9731"/>
                      <a:pt x="1109" y="9251"/>
                      <a:pt x="0" y="8279"/>
                    </a:cubicBezTo>
                    <a:lnTo>
                      <a:pt x="0" y="8279"/>
                    </a:lnTo>
                    <a:cubicBezTo>
                      <a:pt x="1167" y="9616"/>
                      <a:pt x="2795" y="10290"/>
                      <a:pt x="4426" y="10290"/>
                    </a:cubicBezTo>
                    <a:cubicBezTo>
                      <a:pt x="5924" y="10290"/>
                      <a:pt x="7425" y="9721"/>
                      <a:pt x="8575" y="8576"/>
                    </a:cubicBezTo>
                    <a:cubicBezTo>
                      <a:pt x="10968" y="6174"/>
                      <a:pt x="10843" y="2240"/>
                      <a:pt x="8278" y="1"/>
                    </a:cubicBezTo>
                    <a:close/>
                  </a:path>
                </a:pathLst>
              </a:custGeom>
              <a:solidFill>
                <a:srgbClr val="EBEF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89" name="Google Shape;15507;p127">
                <a:extLst>
                  <a:ext uri="{FF2B5EF4-FFF2-40B4-BE49-F238E27FC236}">
                    <a16:creationId xmlns:a16="http://schemas.microsoft.com/office/drawing/2014/main" id="{C550364D-22B5-255F-4993-7A0D03249107}"/>
                  </a:ext>
                </a:extLst>
              </p:cNvPr>
              <p:cNvSpPr/>
              <p:nvPr/>
            </p:nvSpPr>
            <p:spPr>
              <a:xfrm>
                <a:off x="1798644" y="1678632"/>
                <a:ext cx="22400" cy="10819"/>
              </a:xfrm>
              <a:custGeom>
                <a:avLst/>
                <a:gdLst/>
                <a:ahLst/>
                <a:cxnLst/>
                <a:rect l="l" t="t" r="r" b="b"/>
                <a:pathLst>
                  <a:path w="853" h="412" extrusionOk="0">
                    <a:moveTo>
                      <a:pt x="278" y="0"/>
                    </a:moveTo>
                    <a:cubicBezTo>
                      <a:pt x="0" y="0"/>
                      <a:pt x="0" y="412"/>
                      <a:pt x="278" y="412"/>
                    </a:cubicBezTo>
                    <a:lnTo>
                      <a:pt x="575" y="412"/>
                    </a:lnTo>
                    <a:cubicBezTo>
                      <a:pt x="852" y="412"/>
                      <a:pt x="852" y="0"/>
                      <a:pt x="575" y="0"/>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90" name="Google Shape;15508;p127">
                <a:extLst>
                  <a:ext uri="{FF2B5EF4-FFF2-40B4-BE49-F238E27FC236}">
                    <a16:creationId xmlns:a16="http://schemas.microsoft.com/office/drawing/2014/main" id="{E0270392-DD12-0202-FB90-EEA2FED44D8D}"/>
                  </a:ext>
                </a:extLst>
              </p:cNvPr>
              <p:cNvSpPr/>
              <p:nvPr/>
            </p:nvSpPr>
            <p:spPr>
              <a:xfrm>
                <a:off x="1927816" y="1798063"/>
                <a:ext cx="10845" cy="18828"/>
              </a:xfrm>
              <a:custGeom>
                <a:avLst/>
                <a:gdLst/>
                <a:ahLst/>
                <a:cxnLst/>
                <a:rect l="l" t="t" r="r" b="b"/>
                <a:pathLst>
                  <a:path w="413" h="717" extrusionOk="0">
                    <a:moveTo>
                      <a:pt x="206" y="1"/>
                    </a:moveTo>
                    <a:cubicBezTo>
                      <a:pt x="103" y="1"/>
                      <a:pt x="1" y="70"/>
                      <a:pt x="1" y="209"/>
                    </a:cubicBezTo>
                    <a:lnTo>
                      <a:pt x="1" y="506"/>
                    </a:lnTo>
                    <a:cubicBezTo>
                      <a:pt x="1" y="620"/>
                      <a:pt x="87" y="716"/>
                      <a:pt x="202" y="716"/>
                    </a:cubicBezTo>
                    <a:cubicBezTo>
                      <a:pt x="316" y="716"/>
                      <a:pt x="412" y="620"/>
                      <a:pt x="412" y="506"/>
                    </a:cubicBezTo>
                    <a:lnTo>
                      <a:pt x="412" y="209"/>
                    </a:lnTo>
                    <a:cubicBezTo>
                      <a:pt x="412" y="70"/>
                      <a:pt x="309" y="1"/>
                      <a:pt x="206" y="1"/>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91" name="Google Shape;15509;p127">
                <a:extLst>
                  <a:ext uri="{FF2B5EF4-FFF2-40B4-BE49-F238E27FC236}">
                    <a16:creationId xmlns:a16="http://schemas.microsoft.com/office/drawing/2014/main" id="{9C1AA7F5-9CF4-07E9-3B4F-9EB226224EF3}"/>
                  </a:ext>
                </a:extLst>
              </p:cNvPr>
              <p:cNvSpPr/>
              <p:nvPr/>
            </p:nvSpPr>
            <p:spPr>
              <a:xfrm>
                <a:off x="1835486" y="1588508"/>
                <a:ext cx="20667" cy="16518"/>
              </a:xfrm>
              <a:custGeom>
                <a:avLst/>
                <a:gdLst/>
                <a:ahLst/>
                <a:cxnLst/>
                <a:rect l="l" t="t" r="r" b="b"/>
                <a:pathLst>
                  <a:path w="787" h="629" extrusionOk="0">
                    <a:moveTo>
                      <a:pt x="293" y="1"/>
                    </a:moveTo>
                    <a:cubicBezTo>
                      <a:pt x="136" y="1"/>
                      <a:pt x="1" y="204"/>
                      <a:pt x="148" y="351"/>
                    </a:cubicBezTo>
                    <a:lnTo>
                      <a:pt x="358" y="571"/>
                    </a:lnTo>
                    <a:cubicBezTo>
                      <a:pt x="397" y="609"/>
                      <a:pt x="445" y="628"/>
                      <a:pt x="502" y="628"/>
                    </a:cubicBezTo>
                    <a:cubicBezTo>
                      <a:pt x="506" y="629"/>
                      <a:pt x="509" y="629"/>
                      <a:pt x="513" y="629"/>
                    </a:cubicBezTo>
                    <a:cubicBezTo>
                      <a:pt x="697" y="629"/>
                      <a:pt x="786" y="396"/>
                      <a:pt x="645" y="274"/>
                    </a:cubicBezTo>
                    <a:lnTo>
                      <a:pt x="435" y="64"/>
                    </a:lnTo>
                    <a:cubicBezTo>
                      <a:pt x="390" y="19"/>
                      <a:pt x="341" y="1"/>
                      <a:pt x="293" y="1"/>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92" name="Google Shape;15510;p127">
                <a:extLst>
                  <a:ext uri="{FF2B5EF4-FFF2-40B4-BE49-F238E27FC236}">
                    <a16:creationId xmlns:a16="http://schemas.microsoft.com/office/drawing/2014/main" id="{FCF8194A-4AB5-360A-2F24-3049C0E5BD2A}"/>
                  </a:ext>
                </a:extLst>
              </p:cNvPr>
              <p:cNvSpPr/>
              <p:nvPr/>
            </p:nvSpPr>
            <p:spPr>
              <a:xfrm>
                <a:off x="2009958" y="1763189"/>
                <a:ext cx="20667" cy="16491"/>
              </a:xfrm>
              <a:custGeom>
                <a:avLst/>
                <a:gdLst/>
                <a:ahLst/>
                <a:cxnLst/>
                <a:rect l="l" t="t" r="r" b="b"/>
                <a:pathLst>
                  <a:path w="787" h="628" extrusionOk="0">
                    <a:moveTo>
                      <a:pt x="332" y="1"/>
                    </a:moveTo>
                    <a:cubicBezTo>
                      <a:pt x="177" y="1"/>
                      <a:pt x="1" y="236"/>
                      <a:pt x="146" y="350"/>
                    </a:cubicBezTo>
                    <a:lnTo>
                      <a:pt x="356" y="561"/>
                    </a:lnTo>
                    <a:cubicBezTo>
                      <a:pt x="394" y="599"/>
                      <a:pt x="452" y="618"/>
                      <a:pt x="509" y="628"/>
                    </a:cubicBezTo>
                    <a:cubicBezTo>
                      <a:pt x="701" y="628"/>
                      <a:pt x="787" y="398"/>
                      <a:pt x="653" y="264"/>
                    </a:cubicBezTo>
                    <a:lnTo>
                      <a:pt x="442" y="53"/>
                    </a:lnTo>
                    <a:cubicBezTo>
                      <a:pt x="411" y="16"/>
                      <a:pt x="372" y="1"/>
                      <a:pt x="332" y="1"/>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93" name="Google Shape;15511;p127">
                <a:extLst>
                  <a:ext uri="{FF2B5EF4-FFF2-40B4-BE49-F238E27FC236}">
                    <a16:creationId xmlns:a16="http://schemas.microsoft.com/office/drawing/2014/main" id="{F8894CD5-AF6C-D53B-39C0-CD9A0C3FA5A9}"/>
                  </a:ext>
                </a:extLst>
              </p:cNvPr>
              <p:cNvSpPr/>
              <p:nvPr/>
            </p:nvSpPr>
            <p:spPr>
              <a:xfrm>
                <a:off x="2010247" y="1588193"/>
                <a:ext cx="21113" cy="16833"/>
              </a:xfrm>
              <a:custGeom>
                <a:avLst/>
                <a:gdLst/>
                <a:ahLst/>
                <a:cxnLst/>
                <a:rect l="l" t="t" r="r" b="b"/>
                <a:pathLst>
                  <a:path w="804" h="641" extrusionOk="0">
                    <a:moveTo>
                      <a:pt x="493" y="0"/>
                    </a:moveTo>
                    <a:cubicBezTo>
                      <a:pt x="444" y="0"/>
                      <a:pt x="392" y="20"/>
                      <a:pt x="345" y="66"/>
                    </a:cubicBezTo>
                    <a:lnTo>
                      <a:pt x="135" y="277"/>
                    </a:lnTo>
                    <a:cubicBezTo>
                      <a:pt x="1" y="411"/>
                      <a:pt x="96" y="640"/>
                      <a:pt x="288" y="640"/>
                    </a:cubicBezTo>
                    <a:cubicBezTo>
                      <a:pt x="336" y="640"/>
                      <a:pt x="393" y="612"/>
                      <a:pt x="431" y="583"/>
                    </a:cubicBezTo>
                    <a:lnTo>
                      <a:pt x="642" y="363"/>
                    </a:lnTo>
                    <a:cubicBezTo>
                      <a:pt x="804" y="216"/>
                      <a:pt x="660" y="0"/>
                      <a:pt x="493" y="0"/>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94" name="Google Shape;15512;p127">
                <a:extLst>
                  <a:ext uri="{FF2B5EF4-FFF2-40B4-BE49-F238E27FC236}">
                    <a16:creationId xmlns:a16="http://schemas.microsoft.com/office/drawing/2014/main" id="{3BC59645-D237-FB57-59B1-2B3CE2193D27}"/>
                  </a:ext>
                </a:extLst>
              </p:cNvPr>
              <p:cNvSpPr/>
              <p:nvPr/>
            </p:nvSpPr>
            <p:spPr>
              <a:xfrm>
                <a:off x="1835591" y="1762927"/>
                <a:ext cx="20719" cy="16754"/>
              </a:xfrm>
              <a:custGeom>
                <a:avLst/>
                <a:gdLst/>
                <a:ahLst/>
                <a:cxnLst/>
                <a:rect l="l" t="t" r="r" b="b"/>
                <a:pathLst>
                  <a:path w="789" h="638" extrusionOk="0">
                    <a:moveTo>
                      <a:pt x="496" y="0"/>
                    </a:moveTo>
                    <a:cubicBezTo>
                      <a:pt x="448" y="0"/>
                      <a:pt x="399" y="19"/>
                      <a:pt x="354" y="63"/>
                    </a:cubicBezTo>
                    <a:lnTo>
                      <a:pt x="144" y="274"/>
                    </a:lnTo>
                    <a:cubicBezTo>
                      <a:pt x="0" y="408"/>
                      <a:pt x="96" y="638"/>
                      <a:pt x="287" y="638"/>
                    </a:cubicBezTo>
                    <a:cubicBezTo>
                      <a:pt x="345" y="628"/>
                      <a:pt x="393" y="609"/>
                      <a:pt x="431" y="571"/>
                    </a:cubicBezTo>
                    <a:lnTo>
                      <a:pt x="641" y="360"/>
                    </a:lnTo>
                    <a:cubicBezTo>
                      <a:pt x="789" y="206"/>
                      <a:pt x="653" y="0"/>
                      <a:pt x="496" y="0"/>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95" name="Google Shape;15513;p127">
                <a:extLst>
                  <a:ext uri="{FF2B5EF4-FFF2-40B4-BE49-F238E27FC236}">
                    <a16:creationId xmlns:a16="http://schemas.microsoft.com/office/drawing/2014/main" id="{01C94F28-6B80-7DB9-DB8F-69C23949859F}"/>
                  </a:ext>
                </a:extLst>
              </p:cNvPr>
              <p:cNvSpPr/>
              <p:nvPr/>
            </p:nvSpPr>
            <p:spPr>
              <a:xfrm>
                <a:off x="1808018" y="1628581"/>
                <a:ext cx="22820" cy="14128"/>
              </a:xfrm>
              <a:custGeom>
                <a:avLst/>
                <a:gdLst/>
                <a:ahLst/>
                <a:cxnLst/>
                <a:rect l="l" t="t" r="r" b="b"/>
                <a:pathLst>
                  <a:path w="869" h="538" extrusionOk="0">
                    <a:moveTo>
                      <a:pt x="291" y="0"/>
                    </a:moveTo>
                    <a:cubicBezTo>
                      <a:pt x="97" y="0"/>
                      <a:pt x="0" y="312"/>
                      <a:pt x="218" y="404"/>
                    </a:cubicBezTo>
                    <a:lnTo>
                      <a:pt x="495" y="519"/>
                    </a:lnTo>
                    <a:cubicBezTo>
                      <a:pt x="524" y="538"/>
                      <a:pt x="553" y="538"/>
                      <a:pt x="581" y="538"/>
                    </a:cubicBezTo>
                    <a:cubicBezTo>
                      <a:pt x="811" y="538"/>
                      <a:pt x="868" y="222"/>
                      <a:pt x="658" y="136"/>
                    </a:cubicBezTo>
                    <a:lnTo>
                      <a:pt x="380" y="21"/>
                    </a:lnTo>
                    <a:cubicBezTo>
                      <a:pt x="349" y="7"/>
                      <a:pt x="319" y="0"/>
                      <a:pt x="291" y="0"/>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96" name="Google Shape;15514;p127">
                <a:extLst>
                  <a:ext uri="{FF2B5EF4-FFF2-40B4-BE49-F238E27FC236}">
                    <a16:creationId xmlns:a16="http://schemas.microsoft.com/office/drawing/2014/main" id="{34C521AC-64C0-2B74-E84F-A53EAFB3948A}"/>
                  </a:ext>
                </a:extLst>
              </p:cNvPr>
              <p:cNvSpPr/>
              <p:nvPr/>
            </p:nvSpPr>
            <p:spPr>
              <a:xfrm>
                <a:off x="2035194" y="1725139"/>
                <a:ext cx="23004" cy="14102"/>
              </a:xfrm>
              <a:custGeom>
                <a:avLst/>
                <a:gdLst/>
                <a:ahLst/>
                <a:cxnLst/>
                <a:rect l="l" t="t" r="r" b="b"/>
                <a:pathLst>
                  <a:path w="876" h="537" extrusionOk="0">
                    <a:moveTo>
                      <a:pt x="303" y="1"/>
                    </a:moveTo>
                    <a:cubicBezTo>
                      <a:pt x="99" y="1"/>
                      <a:pt x="0" y="309"/>
                      <a:pt x="228" y="402"/>
                    </a:cubicBezTo>
                    <a:lnTo>
                      <a:pt x="496" y="526"/>
                    </a:lnTo>
                    <a:cubicBezTo>
                      <a:pt x="524" y="536"/>
                      <a:pt x="553" y="536"/>
                      <a:pt x="582" y="536"/>
                    </a:cubicBezTo>
                    <a:cubicBezTo>
                      <a:pt x="585" y="536"/>
                      <a:pt x="589" y="536"/>
                      <a:pt x="592" y="536"/>
                    </a:cubicBezTo>
                    <a:cubicBezTo>
                      <a:pt x="814" y="536"/>
                      <a:pt x="875" y="228"/>
                      <a:pt x="658" y="144"/>
                    </a:cubicBezTo>
                    <a:lnTo>
                      <a:pt x="390" y="19"/>
                    </a:lnTo>
                    <a:cubicBezTo>
                      <a:pt x="360" y="7"/>
                      <a:pt x="330" y="1"/>
                      <a:pt x="303" y="1"/>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97" name="Google Shape;15515;p127">
                <a:extLst>
                  <a:ext uri="{FF2B5EF4-FFF2-40B4-BE49-F238E27FC236}">
                    <a16:creationId xmlns:a16="http://schemas.microsoft.com/office/drawing/2014/main" id="{D9D7283D-C70E-ECDB-792C-04F6ADDC29CC}"/>
                  </a:ext>
                </a:extLst>
              </p:cNvPr>
              <p:cNvSpPr/>
              <p:nvPr/>
            </p:nvSpPr>
            <p:spPr>
              <a:xfrm>
                <a:off x="1973299" y="1561276"/>
                <a:ext cx="16649" cy="18119"/>
              </a:xfrm>
              <a:custGeom>
                <a:avLst/>
                <a:gdLst/>
                <a:ahLst/>
                <a:cxnLst/>
                <a:rect l="l" t="t" r="r" b="b"/>
                <a:pathLst>
                  <a:path w="634" h="690" extrusionOk="0">
                    <a:moveTo>
                      <a:pt x="363" y="1"/>
                    </a:moveTo>
                    <a:cubicBezTo>
                      <a:pt x="291" y="1"/>
                      <a:pt x="220" y="37"/>
                      <a:pt x="183" y="125"/>
                    </a:cubicBezTo>
                    <a:lnTo>
                      <a:pt x="58" y="402"/>
                    </a:lnTo>
                    <a:cubicBezTo>
                      <a:pt x="1" y="536"/>
                      <a:pt x="106" y="689"/>
                      <a:pt x="250" y="689"/>
                    </a:cubicBezTo>
                    <a:cubicBezTo>
                      <a:pt x="336" y="689"/>
                      <a:pt x="412" y="641"/>
                      <a:pt x="451" y="565"/>
                    </a:cubicBezTo>
                    <a:lnTo>
                      <a:pt x="565" y="287"/>
                    </a:lnTo>
                    <a:cubicBezTo>
                      <a:pt x="634" y="126"/>
                      <a:pt x="497" y="1"/>
                      <a:pt x="363" y="1"/>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98" name="Google Shape;15516;p127">
                <a:extLst>
                  <a:ext uri="{FF2B5EF4-FFF2-40B4-BE49-F238E27FC236}">
                    <a16:creationId xmlns:a16="http://schemas.microsoft.com/office/drawing/2014/main" id="{0F2C47DA-DCB8-77E8-BAD9-F66F11862A00}"/>
                  </a:ext>
                </a:extLst>
              </p:cNvPr>
              <p:cNvSpPr/>
              <p:nvPr/>
            </p:nvSpPr>
            <p:spPr>
              <a:xfrm>
                <a:off x="1876557" y="1788557"/>
                <a:ext cx="16623" cy="18277"/>
              </a:xfrm>
              <a:custGeom>
                <a:avLst/>
                <a:gdLst/>
                <a:ahLst/>
                <a:cxnLst/>
                <a:rect l="l" t="t" r="r" b="b"/>
                <a:pathLst>
                  <a:path w="633" h="696" extrusionOk="0">
                    <a:moveTo>
                      <a:pt x="365" y="0"/>
                    </a:moveTo>
                    <a:cubicBezTo>
                      <a:pt x="292" y="0"/>
                      <a:pt x="220" y="39"/>
                      <a:pt x="182" y="131"/>
                    </a:cubicBezTo>
                    <a:lnTo>
                      <a:pt x="58" y="399"/>
                    </a:lnTo>
                    <a:cubicBezTo>
                      <a:pt x="0" y="542"/>
                      <a:pt x="106" y="695"/>
                      <a:pt x="259" y="695"/>
                    </a:cubicBezTo>
                    <a:cubicBezTo>
                      <a:pt x="335" y="695"/>
                      <a:pt x="412" y="638"/>
                      <a:pt x="450" y="561"/>
                    </a:cubicBezTo>
                    <a:lnTo>
                      <a:pt x="565" y="293"/>
                    </a:lnTo>
                    <a:cubicBezTo>
                      <a:pt x="633" y="127"/>
                      <a:pt x="498" y="0"/>
                      <a:pt x="365" y="0"/>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99" name="Google Shape;15517;p127">
                <a:extLst>
                  <a:ext uri="{FF2B5EF4-FFF2-40B4-BE49-F238E27FC236}">
                    <a16:creationId xmlns:a16="http://schemas.microsoft.com/office/drawing/2014/main" id="{0ACA178B-A55B-6445-1B2F-2387E536EB12}"/>
                  </a:ext>
                </a:extLst>
              </p:cNvPr>
              <p:cNvSpPr/>
              <p:nvPr/>
            </p:nvSpPr>
            <p:spPr>
              <a:xfrm>
                <a:off x="1878710" y="1560541"/>
                <a:ext cx="15966" cy="18093"/>
              </a:xfrm>
              <a:custGeom>
                <a:avLst/>
                <a:gdLst/>
                <a:ahLst/>
                <a:cxnLst/>
                <a:rect l="l" t="t" r="r" b="b"/>
                <a:pathLst>
                  <a:path w="608" h="689" extrusionOk="0">
                    <a:moveTo>
                      <a:pt x="266" y="0"/>
                    </a:moveTo>
                    <a:cubicBezTo>
                      <a:pt x="134" y="0"/>
                      <a:pt x="1" y="122"/>
                      <a:pt x="62" y="287"/>
                    </a:cubicBezTo>
                    <a:lnTo>
                      <a:pt x="177" y="564"/>
                    </a:lnTo>
                    <a:cubicBezTo>
                      <a:pt x="215" y="641"/>
                      <a:pt x="291" y="688"/>
                      <a:pt x="368" y="688"/>
                    </a:cubicBezTo>
                    <a:cubicBezTo>
                      <a:pt x="512" y="679"/>
                      <a:pt x="607" y="545"/>
                      <a:pt x="569" y="411"/>
                    </a:cubicBezTo>
                    <a:lnTo>
                      <a:pt x="454" y="133"/>
                    </a:lnTo>
                    <a:cubicBezTo>
                      <a:pt x="416" y="40"/>
                      <a:pt x="341" y="0"/>
                      <a:pt x="266" y="0"/>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00" name="Google Shape;15518;p127">
                <a:extLst>
                  <a:ext uri="{FF2B5EF4-FFF2-40B4-BE49-F238E27FC236}">
                    <a16:creationId xmlns:a16="http://schemas.microsoft.com/office/drawing/2014/main" id="{15E34691-93FA-1932-CDA1-A6BC96FBADF5}"/>
                  </a:ext>
                </a:extLst>
              </p:cNvPr>
              <p:cNvSpPr/>
              <p:nvPr/>
            </p:nvSpPr>
            <p:spPr>
              <a:xfrm>
                <a:off x="1971014" y="1789292"/>
                <a:ext cx="16386" cy="18277"/>
              </a:xfrm>
              <a:custGeom>
                <a:avLst/>
                <a:gdLst/>
                <a:ahLst/>
                <a:cxnLst/>
                <a:rect l="l" t="t" r="r" b="b"/>
                <a:pathLst>
                  <a:path w="624" h="696" extrusionOk="0">
                    <a:moveTo>
                      <a:pt x="272" y="1"/>
                    </a:moveTo>
                    <a:cubicBezTo>
                      <a:pt x="140" y="1"/>
                      <a:pt x="1" y="128"/>
                      <a:pt x="69" y="294"/>
                    </a:cubicBezTo>
                    <a:lnTo>
                      <a:pt x="184" y="572"/>
                    </a:lnTo>
                    <a:cubicBezTo>
                      <a:pt x="212" y="648"/>
                      <a:pt x="289" y="696"/>
                      <a:pt x="375" y="696"/>
                    </a:cubicBezTo>
                    <a:cubicBezTo>
                      <a:pt x="518" y="696"/>
                      <a:pt x="624" y="552"/>
                      <a:pt x="566" y="409"/>
                    </a:cubicBezTo>
                    <a:lnTo>
                      <a:pt x="451" y="131"/>
                    </a:lnTo>
                    <a:cubicBezTo>
                      <a:pt x="417" y="39"/>
                      <a:pt x="346" y="1"/>
                      <a:pt x="272" y="1"/>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01" name="Google Shape;15519;p127">
                <a:extLst>
                  <a:ext uri="{FF2B5EF4-FFF2-40B4-BE49-F238E27FC236}">
                    <a16:creationId xmlns:a16="http://schemas.microsoft.com/office/drawing/2014/main" id="{7287DE38-3A14-EAB5-29DF-3BAC93C0958B}"/>
                  </a:ext>
                </a:extLst>
              </p:cNvPr>
              <p:cNvSpPr/>
              <p:nvPr/>
            </p:nvSpPr>
            <p:spPr>
              <a:xfrm>
                <a:off x="2036375" y="1630734"/>
                <a:ext cx="22951" cy="13997"/>
              </a:xfrm>
              <a:custGeom>
                <a:avLst/>
                <a:gdLst/>
                <a:ahLst/>
                <a:cxnLst/>
                <a:rect l="l" t="t" r="r" b="b"/>
                <a:pathLst>
                  <a:path w="874" h="533" extrusionOk="0">
                    <a:moveTo>
                      <a:pt x="570" y="0"/>
                    </a:moveTo>
                    <a:cubicBezTo>
                      <a:pt x="544" y="0"/>
                      <a:pt x="517" y="5"/>
                      <a:pt x="489" y="16"/>
                    </a:cubicBezTo>
                    <a:lnTo>
                      <a:pt x="212" y="131"/>
                    </a:lnTo>
                    <a:cubicBezTo>
                      <a:pt x="1" y="217"/>
                      <a:pt x="58" y="532"/>
                      <a:pt x="288" y="532"/>
                    </a:cubicBezTo>
                    <a:cubicBezTo>
                      <a:pt x="317" y="532"/>
                      <a:pt x="345" y="532"/>
                      <a:pt x="374" y="523"/>
                    </a:cubicBezTo>
                    <a:lnTo>
                      <a:pt x="652" y="408"/>
                    </a:lnTo>
                    <a:cubicBezTo>
                      <a:pt x="873" y="314"/>
                      <a:pt x="776" y="0"/>
                      <a:pt x="570" y="0"/>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02" name="Google Shape;15520;p127">
                <a:extLst>
                  <a:ext uri="{FF2B5EF4-FFF2-40B4-BE49-F238E27FC236}">
                    <a16:creationId xmlns:a16="http://schemas.microsoft.com/office/drawing/2014/main" id="{101ED81B-74FD-F02D-1D48-C06CA963DCE5}"/>
                  </a:ext>
                </a:extLst>
              </p:cNvPr>
              <p:cNvSpPr/>
              <p:nvPr/>
            </p:nvSpPr>
            <p:spPr>
              <a:xfrm>
                <a:off x="1807441" y="1723143"/>
                <a:ext cx="22846" cy="14075"/>
              </a:xfrm>
              <a:custGeom>
                <a:avLst/>
                <a:gdLst/>
                <a:ahLst/>
                <a:cxnLst/>
                <a:rect l="l" t="t" r="r" b="b"/>
                <a:pathLst>
                  <a:path w="870" h="536" extrusionOk="0">
                    <a:moveTo>
                      <a:pt x="574" y="1"/>
                    </a:moveTo>
                    <a:cubicBezTo>
                      <a:pt x="547" y="1"/>
                      <a:pt x="519" y="6"/>
                      <a:pt x="488" y="19"/>
                    </a:cubicBezTo>
                    <a:lnTo>
                      <a:pt x="211" y="133"/>
                    </a:lnTo>
                    <a:cubicBezTo>
                      <a:pt x="0" y="220"/>
                      <a:pt x="58" y="535"/>
                      <a:pt x="288" y="535"/>
                    </a:cubicBezTo>
                    <a:cubicBezTo>
                      <a:pt x="316" y="535"/>
                      <a:pt x="345" y="526"/>
                      <a:pt x="364" y="516"/>
                    </a:cubicBezTo>
                    <a:lnTo>
                      <a:pt x="642" y="401"/>
                    </a:lnTo>
                    <a:cubicBezTo>
                      <a:pt x="870" y="317"/>
                      <a:pt x="777" y="1"/>
                      <a:pt x="574" y="1"/>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grpSp>
      <p:grpSp>
        <p:nvGrpSpPr>
          <p:cNvPr id="503" name="Group 502">
            <a:extLst>
              <a:ext uri="{FF2B5EF4-FFF2-40B4-BE49-F238E27FC236}">
                <a16:creationId xmlns:a16="http://schemas.microsoft.com/office/drawing/2014/main" id="{F0CDE82E-3230-7D2E-D7B3-90C95AE89874}"/>
              </a:ext>
            </a:extLst>
          </p:cNvPr>
          <p:cNvGrpSpPr/>
          <p:nvPr/>
        </p:nvGrpSpPr>
        <p:grpSpPr>
          <a:xfrm>
            <a:off x="459027" y="4980668"/>
            <a:ext cx="572700" cy="572700"/>
            <a:chOff x="941935" y="4454968"/>
            <a:chExt cx="572700" cy="572700"/>
          </a:xfrm>
        </p:grpSpPr>
        <p:sp>
          <p:nvSpPr>
            <p:cNvPr id="504" name="Google Shape;839;p61">
              <a:extLst>
                <a:ext uri="{FF2B5EF4-FFF2-40B4-BE49-F238E27FC236}">
                  <a16:creationId xmlns:a16="http://schemas.microsoft.com/office/drawing/2014/main" id="{E047D448-0E43-6802-256E-94428E076DF9}"/>
                </a:ext>
              </a:extLst>
            </p:cNvPr>
            <p:cNvSpPr/>
            <p:nvPr/>
          </p:nvSpPr>
          <p:spPr>
            <a:xfrm>
              <a:off x="941935" y="4454968"/>
              <a:ext cx="572700" cy="572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nvGrpSpPr>
            <p:cNvPr id="505" name="Google Shape;16037;p127">
              <a:extLst>
                <a:ext uri="{FF2B5EF4-FFF2-40B4-BE49-F238E27FC236}">
                  <a16:creationId xmlns:a16="http://schemas.microsoft.com/office/drawing/2014/main" id="{36DDF6D2-5B5E-B99F-F565-ABDA7FEFCEDE}"/>
                </a:ext>
              </a:extLst>
            </p:cNvPr>
            <p:cNvGrpSpPr/>
            <p:nvPr/>
          </p:nvGrpSpPr>
          <p:grpSpPr>
            <a:xfrm>
              <a:off x="1079143" y="4545575"/>
              <a:ext cx="341065" cy="341065"/>
              <a:chOff x="3117788" y="3812546"/>
              <a:chExt cx="341065" cy="341065"/>
            </a:xfrm>
          </p:grpSpPr>
          <p:sp>
            <p:nvSpPr>
              <p:cNvPr id="506" name="Google Shape;16038;p127">
                <a:extLst>
                  <a:ext uri="{FF2B5EF4-FFF2-40B4-BE49-F238E27FC236}">
                    <a16:creationId xmlns:a16="http://schemas.microsoft.com/office/drawing/2014/main" id="{671AE87A-9317-5375-887B-C3B31CF3E991}"/>
                  </a:ext>
                </a:extLst>
              </p:cNvPr>
              <p:cNvSpPr/>
              <p:nvPr/>
            </p:nvSpPr>
            <p:spPr>
              <a:xfrm>
                <a:off x="3117788" y="3812546"/>
                <a:ext cx="259396" cy="259370"/>
              </a:xfrm>
              <a:custGeom>
                <a:avLst/>
                <a:gdLst/>
                <a:ahLst/>
                <a:cxnLst/>
                <a:rect l="l" t="t" r="r" b="b"/>
                <a:pathLst>
                  <a:path w="9878" h="9877" extrusionOk="0">
                    <a:moveTo>
                      <a:pt x="4633" y="0"/>
                    </a:moveTo>
                    <a:cubicBezTo>
                      <a:pt x="4422" y="0"/>
                      <a:pt x="4231" y="154"/>
                      <a:pt x="4193" y="355"/>
                    </a:cubicBezTo>
                    <a:lnTo>
                      <a:pt x="3963" y="1474"/>
                    </a:lnTo>
                    <a:cubicBezTo>
                      <a:pt x="3695" y="1560"/>
                      <a:pt x="3427" y="1666"/>
                      <a:pt x="3178" y="1809"/>
                    </a:cubicBezTo>
                    <a:lnTo>
                      <a:pt x="2221" y="1168"/>
                    </a:lnTo>
                    <a:cubicBezTo>
                      <a:pt x="2149" y="1120"/>
                      <a:pt x="2066" y="1097"/>
                      <a:pt x="1982" y="1097"/>
                    </a:cubicBezTo>
                    <a:cubicBezTo>
                      <a:pt x="1864" y="1097"/>
                      <a:pt x="1746" y="1142"/>
                      <a:pt x="1657" y="1225"/>
                    </a:cubicBezTo>
                    <a:lnTo>
                      <a:pt x="1226" y="1666"/>
                    </a:lnTo>
                    <a:cubicBezTo>
                      <a:pt x="1073" y="1809"/>
                      <a:pt x="1054" y="2049"/>
                      <a:pt x="1169" y="2230"/>
                    </a:cubicBezTo>
                    <a:lnTo>
                      <a:pt x="1800" y="3178"/>
                    </a:lnTo>
                    <a:cubicBezTo>
                      <a:pt x="1666" y="3427"/>
                      <a:pt x="1551" y="3695"/>
                      <a:pt x="1475" y="3972"/>
                    </a:cubicBezTo>
                    <a:lnTo>
                      <a:pt x="355" y="4192"/>
                    </a:lnTo>
                    <a:cubicBezTo>
                      <a:pt x="145" y="4240"/>
                      <a:pt x="1" y="4422"/>
                      <a:pt x="1" y="4632"/>
                    </a:cubicBezTo>
                    <a:lnTo>
                      <a:pt x="1" y="5245"/>
                    </a:lnTo>
                    <a:cubicBezTo>
                      <a:pt x="1" y="5456"/>
                      <a:pt x="145" y="5637"/>
                      <a:pt x="355" y="5685"/>
                    </a:cubicBezTo>
                    <a:lnTo>
                      <a:pt x="1475" y="5905"/>
                    </a:lnTo>
                    <a:cubicBezTo>
                      <a:pt x="1551" y="6183"/>
                      <a:pt x="1666" y="6451"/>
                      <a:pt x="1800" y="6700"/>
                    </a:cubicBezTo>
                    <a:lnTo>
                      <a:pt x="1169" y="7647"/>
                    </a:lnTo>
                    <a:cubicBezTo>
                      <a:pt x="1054" y="7829"/>
                      <a:pt x="1073" y="8068"/>
                      <a:pt x="1226" y="8221"/>
                    </a:cubicBezTo>
                    <a:lnTo>
                      <a:pt x="1657" y="8652"/>
                    </a:lnTo>
                    <a:cubicBezTo>
                      <a:pt x="1744" y="8739"/>
                      <a:pt x="1860" y="8783"/>
                      <a:pt x="1975" y="8783"/>
                    </a:cubicBezTo>
                    <a:cubicBezTo>
                      <a:pt x="2061" y="8783"/>
                      <a:pt x="2147" y="8759"/>
                      <a:pt x="2221" y="8709"/>
                    </a:cubicBezTo>
                    <a:lnTo>
                      <a:pt x="3178" y="8068"/>
                    </a:lnTo>
                    <a:cubicBezTo>
                      <a:pt x="3427" y="8212"/>
                      <a:pt x="3695" y="8327"/>
                      <a:pt x="3963" y="8403"/>
                    </a:cubicBezTo>
                    <a:lnTo>
                      <a:pt x="4193" y="9523"/>
                    </a:lnTo>
                    <a:cubicBezTo>
                      <a:pt x="4231" y="9724"/>
                      <a:pt x="4422" y="9877"/>
                      <a:pt x="4633" y="9877"/>
                    </a:cubicBezTo>
                    <a:lnTo>
                      <a:pt x="5245" y="9877"/>
                    </a:lnTo>
                    <a:cubicBezTo>
                      <a:pt x="5456" y="9877"/>
                      <a:pt x="5638" y="9724"/>
                      <a:pt x="5686" y="9523"/>
                    </a:cubicBezTo>
                    <a:lnTo>
                      <a:pt x="5906" y="8403"/>
                    </a:lnTo>
                    <a:cubicBezTo>
                      <a:pt x="6183" y="8327"/>
                      <a:pt x="6451" y="8212"/>
                      <a:pt x="6700" y="8068"/>
                    </a:cubicBezTo>
                    <a:lnTo>
                      <a:pt x="7648" y="8709"/>
                    </a:lnTo>
                    <a:cubicBezTo>
                      <a:pt x="7726" y="8759"/>
                      <a:pt x="7814" y="8783"/>
                      <a:pt x="7901" y="8783"/>
                    </a:cubicBezTo>
                    <a:cubicBezTo>
                      <a:pt x="8017" y="8783"/>
                      <a:pt x="8130" y="8739"/>
                      <a:pt x="8212" y="8652"/>
                    </a:cubicBezTo>
                    <a:lnTo>
                      <a:pt x="8643" y="8221"/>
                    </a:lnTo>
                    <a:cubicBezTo>
                      <a:pt x="8796" y="8068"/>
                      <a:pt x="8825" y="7829"/>
                      <a:pt x="8700" y="7647"/>
                    </a:cubicBezTo>
                    <a:lnTo>
                      <a:pt x="8069" y="6700"/>
                    </a:lnTo>
                    <a:cubicBezTo>
                      <a:pt x="8212" y="6451"/>
                      <a:pt x="8318" y="6183"/>
                      <a:pt x="8394" y="5905"/>
                    </a:cubicBezTo>
                    <a:lnTo>
                      <a:pt x="9514" y="5685"/>
                    </a:lnTo>
                    <a:cubicBezTo>
                      <a:pt x="9724" y="5637"/>
                      <a:pt x="9878" y="5456"/>
                      <a:pt x="9878" y="5245"/>
                    </a:cubicBezTo>
                    <a:lnTo>
                      <a:pt x="9878" y="4632"/>
                    </a:lnTo>
                    <a:cubicBezTo>
                      <a:pt x="9878" y="4422"/>
                      <a:pt x="9724" y="4240"/>
                      <a:pt x="9514" y="4192"/>
                    </a:cubicBezTo>
                    <a:lnTo>
                      <a:pt x="8394" y="3972"/>
                    </a:lnTo>
                    <a:cubicBezTo>
                      <a:pt x="8318" y="3695"/>
                      <a:pt x="8212" y="3427"/>
                      <a:pt x="8069" y="3178"/>
                    </a:cubicBezTo>
                    <a:lnTo>
                      <a:pt x="8700" y="2230"/>
                    </a:lnTo>
                    <a:cubicBezTo>
                      <a:pt x="8825" y="2049"/>
                      <a:pt x="8796" y="1809"/>
                      <a:pt x="8643" y="1666"/>
                    </a:cubicBezTo>
                    <a:lnTo>
                      <a:pt x="8212" y="1225"/>
                    </a:lnTo>
                    <a:cubicBezTo>
                      <a:pt x="8129" y="1142"/>
                      <a:pt x="8013" y="1097"/>
                      <a:pt x="7894" y="1097"/>
                    </a:cubicBezTo>
                    <a:cubicBezTo>
                      <a:pt x="7809" y="1097"/>
                      <a:pt x="7724" y="1120"/>
                      <a:pt x="7648" y="1168"/>
                    </a:cubicBezTo>
                    <a:lnTo>
                      <a:pt x="6700" y="1809"/>
                    </a:lnTo>
                    <a:cubicBezTo>
                      <a:pt x="6451" y="1666"/>
                      <a:pt x="6183" y="1560"/>
                      <a:pt x="5906" y="1474"/>
                    </a:cubicBezTo>
                    <a:lnTo>
                      <a:pt x="5686" y="355"/>
                    </a:lnTo>
                    <a:cubicBezTo>
                      <a:pt x="5638" y="154"/>
                      <a:pt x="5456" y="0"/>
                      <a:pt x="5245" y="0"/>
                    </a:cubicBezTo>
                    <a:close/>
                  </a:path>
                </a:pathLst>
              </a:custGeom>
              <a:solidFill>
                <a:srgbClr val="00B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07" name="Google Shape;16039;p127">
                <a:extLst>
                  <a:ext uri="{FF2B5EF4-FFF2-40B4-BE49-F238E27FC236}">
                    <a16:creationId xmlns:a16="http://schemas.microsoft.com/office/drawing/2014/main" id="{7B9FA16A-021E-48C5-95DC-62A292CDF510}"/>
                  </a:ext>
                </a:extLst>
              </p:cNvPr>
              <p:cNvSpPr/>
              <p:nvPr/>
            </p:nvSpPr>
            <p:spPr>
              <a:xfrm>
                <a:off x="3171332" y="3885181"/>
                <a:ext cx="132981" cy="114126"/>
              </a:xfrm>
              <a:custGeom>
                <a:avLst/>
                <a:gdLst/>
                <a:ahLst/>
                <a:cxnLst/>
                <a:rect l="l" t="t" r="r" b="b"/>
                <a:pathLst>
                  <a:path w="5064" h="4346" extrusionOk="0">
                    <a:moveTo>
                      <a:pt x="2900" y="0"/>
                    </a:moveTo>
                    <a:cubicBezTo>
                      <a:pt x="967" y="0"/>
                      <a:pt x="0" y="2335"/>
                      <a:pt x="1359" y="3704"/>
                    </a:cubicBezTo>
                    <a:cubicBezTo>
                      <a:pt x="1802" y="4147"/>
                      <a:pt x="2347" y="4345"/>
                      <a:pt x="2880" y="4345"/>
                    </a:cubicBezTo>
                    <a:cubicBezTo>
                      <a:pt x="3995" y="4345"/>
                      <a:pt x="5063" y="3480"/>
                      <a:pt x="5063" y="2173"/>
                    </a:cubicBezTo>
                    <a:cubicBezTo>
                      <a:pt x="5063" y="976"/>
                      <a:pt x="4097" y="0"/>
                      <a:pt x="2900" y="0"/>
                    </a:cubicBezTo>
                    <a:close/>
                  </a:path>
                </a:pathLst>
              </a:custGeom>
              <a:solidFill>
                <a:srgbClr val="E3E8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08" name="Google Shape;16040;p127">
                <a:extLst>
                  <a:ext uri="{FF2B5EF4-FFF2-40B4-BE49-F238E27FC236}">
                    <a16:creationId xmlns:a16="http://schemas.microsoft.com/office/drawing/2014/main" id="{B4B4981A-AE1D-469A-8F87-E8765E14EE8F}"/>
                  </a:ext>
                </a:extLst>
              </p:cNvPr>
              <p:cNvSpPr/>
              <p:nvPr/>
            </p:nvSpPr>
            <p:spPr>
              <a:xfrm>
                <a:off x="3209541" y="3914067"/>
                <a:ext cx="66123" cy="56485"/>
              </a:xfrm>
              <a:custGeom>
                <a:avLst/>
                <a:gdLst/>
                <a:ahLst/>
                <a:cxnLst/>
                <a:rect l="l" t="t" r="r" b="b"/>
                <a:pathLst>
                  <a:path w="2518" h="2151" extrusionOk="0">
                    <a:moveTo>
                      <a:pt x="1445" y="1"/>
                    </a:moveTo>
                    <a:cubicBezTo>
                      <a:pt x="479" y="1"/>
                      <a:pt x="0" y="1159"/>
                      <a:pt x="680" y="1838"/>
                    </a:cubicBezTo>
                    <a:cubicBezTo>
                      <a:pt x="898" y="2054"/>
                      <a:pt x="1167" y="2151"/>
                      <a:pt x="1430" y="2151"/>
                    </a:cubicBezTo>
                    <a:cubicBezTo>
                      <a:pt x="1985" y="2151"/>
                      <a:pt x="2517" y="1722"/>
                      <a:pt x="2517" y="1073"/>
                    </a:cubicBezTo>
                    <a:cubicBezTo>
                      <a:pt x="2517" y="479"/>
                      <a:pt x="2039" y="1"/>
                      <a:pt x="1445" y="1"/>
                    </a:cubicBezTo>
                    <a:close/>
                  </a:path>
                </a:pathLst>
              </a:custGeom>
              <a:solidFill>
                <a:srgbClr val="364F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09" name="Google Shape;16041;p127">
                <a:extLst>
                  <a:ext uri="{FF2B5EF4-FFF2-40B4-BE49-F238E27FC236}">
                    <a16:creationId xmlns:a16="http://schemas.microsoft.com/office/drawing/2014/main" id="{24D6AF82-6E83-C03F-1144-A7945CE6AA11}"/>
                  </a:ext>
                </a:extLst>
              </p:cNvPr>
              <p:cNvSpPr/>
              <p:nvPr/>
            </p:nvSpPr>
            <p:spPr>
              <a:xfrm>
                <a:off x="3288189" y="3982947"/>
                <a:ext cx="170664" cy="170664"/>
              </a:xfrm>
              <a:custGeom>
                <a:avLst/>
                <a:gdLst/>
                <a:ahLst/>
                <a:cxnLst/>
                <a:rect l="l" t="t" r="r" b="b"/>
                <a:pathLst>
                  <a:path w="6499" h="6499" extrusionOk="0">
                    <a:moveTo>
                      <a:pt x="3044" y="0"/>
                    </a:moveTo>
                    <a:cubicBezTo>
                      <a:pt x="2900" y="0"/>
                      <a:pt x="2786" y="105"/>
                      <a:pt x="2757" y="239"/>
                    </a:cubicBezTo>
                    <a:lnTo>
                      <a:pt x="2613" y="976"/>
                    </a:lnTo>
                    <a:cubicBezTo>
                      <a:pt x="2431" y="1034"/>
                      <a:pt x="2250" y="1101"/>
                      <a:pt x="2087" y="1196"/>
                    </a:cubicBezTo>
                    <a:lnTo>
                      <a:pt x="1465" y="775"/>
                    </a:lnTo>
                    <a:cubicBezTo>
                      <a:pt x="1417" y="743"/>
                      <a:pt x="1362" y="728"/>
                      <a:pt x="1307" y="728"/>
                    </a:cubicBezTo>
                    <a:cubicBezTo>
                      <a:pt x="1231" y="728"/>
                      <a:pt x="1153" y="758"/>
                      <a:pt x="1092" y="814"/>
                    </a:cubicBezTo>
                    <a:lnTo>
                      <a:pt x="814" y="1101"/>
                    </a:lnTo>
                    <a:cubicBezTo>
                      <a:pt x="709" y="1196"/>
                      <a:pt x="699" y="1350"/>
                      <a:pt x="776" y="1474"/>
                    </a:cubicBezTo>
                    <a:lnTo>
                      <a:pt x="1187" y="2096"/>
                    </a:lnTo>
                    <a:cubicBezTo>
                      <a:pt x="1092" y="2259"/>
                      <a:pt x="1025" y="2431"/>
                      <a:pt x="977" y="2613"/>
                    </a:cubicBezTo>
                    <a:lnTo>
                      <a:pt x="240" y="2766"/>
                    </a:lnTo>
                    <a:cubicBezTo>
                      <a:pt x="96" y="2785"/>
                      <a:pt x="1" y="2909"/>
                      <a:pt x="1" y="3053"/>
                    </a:cubicBezTo>
                    <a:lnTo>
                      <a:pt x="1" y="3455"/>
                    </a:lnTo>
                    <a:cubicBezTo>
                      <a:pt x="1" y="3599"/>
                      <a:pt x="96" y="3713"/>
                      <a:pt x="240" y="3742"/>
                    </a:cubicBezTo>
                    <a:lnTo>
                      <a:pt x="977" y="3886"/>
                    </a:lnTo>
                    <a:cubicBezTo>
                      <a:pt x="1025" y="4067"/>
                      <a:pt x="1092" y="4249"/>
                      <a:pt x="1187" y="4412"/>
                    </a:cubicBezTo>
                    <a:lnTo>
                      <a:pt x="776" y="5034"/>
                    </a:lnTo>
                    <a:cubicBezTo>
                      <a:pt x="699" y="5149"/>
                      <a:pt x="709" y="5302"/>
                      <a:pt x="814" y="5407"/>
                    </a:cubicBezTo>
                    <a:lnTo>
                      <a:pt x="1092" y="5685"/>
                    </a:lnTo>
                    <a:cubicBezTo>
                      <a:pt x="1146" y="5744"/>
                      <a:pt x="1218" y="5773"/>
                      <a:pt x="1294" y="5773"/>
                    </a:cubicBezTo>
                    <a:cubicBezTo>
                      <a:pt x="1351" y="5773"/>
                      <a:pt x="1411" y="5756"/>
                      <a:pt x="1465" y="5723"/>
                    </a:cubicBezTo>
                    <a:lnTo>
                      <a:pt x="2087" y="5312"/>
                    </a:lnTo>
                    <a:cubicBezTo>
                      <a:pt x="2250" y="5398"/>
                      <a:pt x="2422" y="5474"/>
                      <a:pt x="2604" y="5522"/>
                    </a:cubicBezTo>
                    <a:lnTo>
                      <a:pt x="2747" y="6259"/>
                    </a:lnTo>
                    <a:cubicBezTo>
                      <a:pt x="2776" y="6403"/>
                      <a:pt x="2900" y="6498"/>
                      <a:pt x="3044" y="6498"/>
                    </a:cubicBezTo>
                    <a:lnTo>
                      <a:pt x="3446" y="6498"/>
                    </a:lnTo>
                    <a:cubicBezTo>
                      <a:pt x="3580" y="6498"/>
                      <a:pt x="3704" y="6403"/>
                      <a:pt x="3733" y="6259"/>
                    </a:cubicBezTo>
                    <a:lnTo>
                      <a:pt x="3877" y="5522"/>
                    </a:lnTo>
                    <a:cubicBezTo>
                      <a:pt x="4058" y="5474"/>
                      <a:pt x="4231" y="5398"/>
                      <a:pt x="4403" y="5312"/>
                    </a:cubicBezTo>
                    <a:lnTo>
                      <a:pt x="5025" y="5733"/>
                    </a:lnTo>
                    <a:cubicBezTo>
                      <a:pt x="5077" y="5765"/>
                      <a:pt x="5134" y="5780"/>
                      <a:pt x="5190" y="5780"/>
                    </a:cubicBezTo>
                    <a:cubicBezTo>
                      <a:pt x="5267" y="5780"/>
                      <a:pt x="5343" y="5750"/>
                      <a:pt x="5398" y="5694"/>
                    </a:cubicBezTo>
                    <a:lnTo>
                      <a:pt x="5685" y="5407"/>
                    </a:lnTo>
                    <a:cubicBezTo>
                      <a:pt x="5781" y="5302"/>
                      <a:pt x="5800" y="5149"/>
                      <a:pt x="5724" y="5034"/>
                    </a:cubicBezTo>
                    <a:lnTo>
                      <a:pt x="5303" y="4412"/>
                    </a:lnTo>
                    <a:cubicBezTo>
                      <a:pt x="5398" y="4240"/>
                      <a:pt x="5465" y="4067"/>
                      <a:pt x="5523" y="3886"/>
                    </a:cubicBezTo>
                    <a:lnTo>
                      <a:pt x="6260" y="3742"/>
                    </a:lnTo>
                    <a:cubicBezTo>
                      <a:pt x="6394" y="3713"/>
                      <a:pt x="6489" y="3589"/>
                      <a:pt x="6499" y="3455"/>
                    </a:cubicBezTo>
                    <a:lnTo>
                      <a:pt x="6499" y="3053"/>
                    </a:lnTo>
                    <a:cubicBezTo>
                      <a:pt x="6489" y="2909"/>
                      <a:pt x="6394" y="2785"/>
                      <a:pt x="6250" y="2766"/>
                    </a:cubicBezTo>
                    <a:lnTo>
                      <a:pt x="5513" y="2613"/>
                    </a:lnTo>
                    <a:cubicBezTo>
                      <a:pt x="5465" y="2431"/>
                      <a:pt x="5389" y="2259"/>
                      <a:pt x="5303" y="2096"/>
                    </a:cubicBezTo>
                    <a:lnTo>
                      <a:pt x="5714" y="1474"/>
                    </a:lnTo>
                    <a:cubicBezTo>
                      <a:pt x="5791" y="1350"/>
                      <a:pt x="5772" y="1196"/>
                      <a:pt x="5676" y="1101"/>
                    </a:cubicBezTo>
                    <a:lnTo>
                      <a:pt x="5398" y="814"/>
                    </a:lnTo>
                    <a:cubicBezTo>
                      <a:pt x="5337" y="758"/>
                      <a:pt x="5259" y="728"/>
                      <a:pt x="5183" y="728"/>
                    </a:cubicBezTo>
                    <a:cubicBezTo>
                      <a:pt x="5128" y="728"/>
                      <a:pt x="5073" y="743"/>
                      <a:pt x="5025" y="775"/>
                    </a:cubicBezTo>
                    <a:lnTo>
                      <a:pt x="4393" y="1196"/>
                    </a:lnTo>
                    <a:cubicBezTo>
                      <a:pt x="4231" y="1101"/>
                      <a:pt x="4058" y="1034"/>
                      <a:pt x="3877" y="976"/>
                    </a:cubicBezTo>
                    <a:lnTo>
                      <a:pt x="3733" y="239"/>
                    </a:lnTo>
                    <a:cubicBezTo>
                      <a:pt x="3704" y="105"/>
                      <a:pt x="3580" y="0"/>
                      <a:pt x="3446" y="0"/>
                    </a:cubicBezTo>
                    <a:close/>
                  </a:path>
                </a:pathLst>
              </a:custGeom>
              <a:solidFill>
                <a:srgbClr val="00B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10" name="Google Shape;16042;p127">
                <a:extLst>
                  <a:ext uri="{FF2B5EF4-FFF2-40B4-BE49-F238E27FC236}">
                    <a16:creationId xmlns:a16="http://schemas.microsoft.com/office/drawing/2014/main" id="{0814C56C-FF5F-CEA9-C060-7519EF3BD2C4}"/>
                  </a:ext>
                </a:extLst>
              </p:cNvPr>
              <p:cNvSpPr/>
              <p:nvPr/>
            </p:nvSpPr>
            <p:spPr>
              <a:xfrm>
                <a:off x="3316340" y="4025672"/>
                <a:ext cx="99788" cy="85371"/>
              </a:xfrm>
              <a:custGeom>
                <a:avLst/>
                <a:gdLst/>
                <a:ahLst/>
                <a:cxnLst/>
                <a:rect l="l" t="t" r="r" b="b"/>
                <a:pathLst>
                  <a:path w="3800" h="3251" extrusionOk="0">
                    <a:moveTo>
                      <a:pt x="2173" y="0"/>
                    </a:moveTo>
                    <a:cubicBezTo>
                      <a:pt x="728" y="0"/>
                      <a:pt x="0" y="1751"/>
                      <a:pt x="1025" y="2775"/>
                    </a:cubicBezTo>
                    <a:cubicBezTo>
                      <a:pt x="1355" y="3103"/>
                      <a:pt x="1762" y="3250"/>
                      <a:pt x="2161" y="3250"/>
                    </a:cubicBezTo>
                    <a:cubicBezTo>
                      <a:pt x="2997" y="3250"/>
                      <a:pt x="3800" y="2605"/>
                      <a:pt x="3800" y="1627"/>
                    </a:cubicBezTo>
                    <a:cubicBezTo>
                      <a:pt x="3800" y="727"/>
                      <a:pt x="3073" y="0"/>
                      <a:pt x="2173" y="0"/>
                    </a:cubicBezTo>
                    <a:close/>
                  </a:path>
                </a:pathLst>
              </a:custGeom>
              <a:solidFill>
                <a:srgbClr val="C6CF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11" name="Google Shape;16043;p127">
                <a:extLst>
                  <a:ext uri="{FF2B5EF4-FFF2-40B4-BE49-F238E27FC236}">
                    <a16:creationId xmlns:a16="http://schemas.microsoft.com/office/drawing/2014/main" id="{FF860B25-27C4-DFDA-7E25-F2D330B9367B}"/>
                  </a:ext>
                </a:extLst>
              </p:cNvPr>
              <p:cNvSpPr/>
              <p:nvPr/>
            </p:nvSpPr>
            <p:spPr>
              <a:xfrm>
                <a:off x="3339213" y="4042741"/>
                <a:ext cx="59847" cy="51260"/>
              </a:xfrm>
              <a:custGeom>
                <a:avLst/>
                <a:gdLst/>
                <a:ahLst/>
                <a:cxnLst/>
                <a:rect l="l" t="t" r="r" b="b"/>
                <a:pathLst>
                  <a:path w="2279" h="1952" extrusionOk="0">
                    <a:moveTo>
                      <a:pt x="1302" y="1"/>
                    </a:moveTo>
                    <a:cubicBezTo>
                      <a:pt x="431" y="1"/>
                      <a:pt x="0" y="1044"/>
                      <a:pt x="613" y="1666"/>
                    </a:cubicBezTo>
                    <a:cubicBezTo>
                      <a:pt x="810" y="1863"/>
                      <a:pt x="1053" y="1951"/>
                      <a:pt x="1292" y="1951"/>
                    </a:cubicBezTo>
                    <a:cubicBezTo>
                      <a:pt x="1794" y="1951"/>
                      <a:pt x="2278" y="1561"/>
                      <a:pt x="2278" y="977"/>
                    </a:cubicBezTo>
                    <a:cubicBezTo>
                      <a:pt x="2278" y="431"/>
                      <a:pt x="1838" y="1"/>
                      <a:pt x="1302" y="1"/>
                    </a:cubicBezTo>
                    <a:close/>
                  </a:path>
                </a:pathLst>
              </a:custGeom>
              <a:solidFill>
                <a:srgbClr val="4B63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grpSp>
      <p:grpSp>
        <p:nvGrpSpPr>
          <p:cNvPr id="512" name="Group 511">
            <a:extLst>
              <a:ext uri="{FF2B5EF4-FFF2-40B4-BE49-F238E27FC236}">
                <a16:creationId xmlns:a16="http://schemas.microsoft.com/office/drawing/2014/main" id="{FB6AF589-D1A2-A555-038C-51DA7BC3CA13}"/>
              </a:ext>
            </a:extLst>
          </p:cNvPr>
          <p:cNvGrpSpPr/>
          <p:nvPr/>
        </p:nvGrpSpPr>
        <p:grpSpPr>
          <a:xfrm>
            <a:off x="6367739" y="916300"/>
            <a:ext cx="572700" cy="572700"/>
            <a:chOff x="6233774" y="1425062"/>
            <a:chExt cx="572700" cy="572700"/>
          </a:xfrm>
        </p:grpSpPr>
        <p:sp>
          <p:nvSpPr>
            <p:cNvPr id="513" name="Google Shape;839;p61">
              <a:extLst>
                <a:ext uri="{FF2B5EF4-FFF2-40B4-BE49-F238E27FC236}">
                  <a16:creationId xmlns:a16="http://schemas.microsoft.com/office/drawing/2014/main" id="{D244CD05-F809-F47A-C424-37E325E134A1}"/>
                </a:ext>
              </a:extLst>
            </p:cNvPr>
            <p:cNvSpPr/>
            <p:nvPr/>
          </p:nvSpPr>
          <p:spPr>
            <a:xfrm>
              <a:off x="6233774" y="1425062"/>
              <a:ext cx="572700" cy="572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nvGrpSpPr>
            <p:cNvPr id="514" name="Google Shape;16450;p127">
              <a:extLst>
                <a:ext uri="{FF2B5EF4-FFF2-40B4-BE49-F238E27FC236}">
                  <a16:creationId xmlns:a16="http://schemas.microsoft.com/office/drawing/2014/main" id="{38BB63A2-02DB-64A2-F211-8795B806AF02}"/>
                </a:ext>
              </a:extLst>
            </p:cNvPr>
            <p:cNvGrpSpPr/>
            <p:nvPr/>
          </p:nvGrpSpPr>
          <p:grpSpPr>
            <a:xfrm>
              <a:off x="6348052" y="1531964"/>
              <a:ext cx="342824" cy="351228"/>
              <a:chOff x="870773" y="3357985"/>
              <a:chExt cx="342824" cy="351228"/>
            </a:xfrm>
          </p:grpSpPr>
          <p:sp>
            <p:nvSpPr>
              <p:cNvPr id="515" name="Google Shape;16451;p127">
                <a:extLst>
                  <a:ext uri="{FF2B5EF4-FFF2-40B4-BE49-F238E27FC236}">
                    <a16:creationId xmlns:a16="http://schemas.microsoft.com/office/drawing/2014/main" id="{E44A172F-ACC5-55E6-25AF-01CDA017C2D8}"/>
                  </a:ext>
                </a:extLst>
              </p:cNvPr>
              <p:cNvSpPr/>
              <p:nvPr/>
            </p:nvSpPr>
            <p:spPr>
              <a:xfrm>
                <a:off x="870773" y="3357985"/>
                <a:ext cx="342824" cy="351228"/>
              </a:xfrm>
              <a:custGeom>
                <a:avLst/>
                <a:gdLst/>
                <a:ahLst/>
                <a:cxnLst/>
                <a:rect l="l" t="t" r="r" b="b"/>
                <a:pathLst>
                  <a:path w="13055" h="13375" extrusionOk="0">
                    <a:moveTo>
                      <a:pt x="6523" y="0"/>
                    </a:moveTo>
                    <a:cubicBezTo>
                      <a:pt x="6339" y="0"/>
                      <a:pt x="6155" y="89"/>
                      <a:pt x="6049" y="266"/>
                    </a:cubicBezTo>
                    <a:lnTo>
                      <a:pt x="5255" y="1606"/>
                    </a:lnTo>
                    <a:cubicBezTo>
                      <a:pt x="5152" y="1777"/>
                      <a:pt x="4972" y="1874"/>
                      <a:pt x="4786" y="1874"/>
                    </a:cubicBezTo>
                    <a:cubicBezTo>
                      <a:pt x="4712" y="1874"/>
                      <a:pt x="4637" y="1859"/>
                      <a:pt x="4566" y="1826"/>
                    </a:cubicBezTo>
                    <a:lnTo>
                      <a:pt x="3130" y="1213"/>
                    </a:lnTo>
                    <a:cubicBezTo>
                      <a:pt x="3059" y="1183"/>
                      <a:pt x="2986" y="1169"/>
                      <a:pt x="2915" y="1169"/>
                    </a:cubicBezTo>
                    <a:cubicBezTo>
                      <a:pt x="2606" y="1169"/>
                      <a:pt x="2334" y="1434"/>
                      <a:pt x="2365" y="1768"/>
                    </a:cubicBezTo>
                    <a:lnTo>
                      <a:pt x="2508" y="3328"/>
                    </a:lnTo>
                    <a:cubicBezTo>
                      <a:pt x="2527" y="3606"/>
                      <a:pt x="2346" y="3855"/>
                      <a:pt x="2078" y="3912"/>
                    </a:cubicBezTo>
                    <a:lnTo>
                      <a:pt x="566" y="4257"/>
                    </a:lnTo>
                    <a:cubicBezTo>
                      <a:pt x="154" y="4343"/>
                      <a:pt x="1" y="4840"/>
                      <a:pt x="278" y="5156"/>
                    </a:cubicBezTo>
                    <a:lnTo>
                      <a:pt x="1302" y="6324"/>
                    </a:lnTo>
                    <a:cubicBezTo>
                      <a:pt x="1484" y="6534"/>
                      <a:pt x="1484" y="6841"/>
                      <a:pt x="1302" y="7051"/>
                    </a:cubicBezTo>
                    <a:lnTo>
                      <a:pt x="278" y="8219"/>
                    </a:lnTo>
                    <a:cubicBezTo>
                      <a:pt x="1" y="8535"/>
                      <a:pt x="154" y="9023"/>
                      <a:pt x="566" y="9118"/>
                    </a:cubicBezTo>
                    <a:lnTo>
                      <a:pt x="2078" y="9463"/>
                    </a:lnTo>
                    <a:cubicBezTo>
                      <a:pt x="2355" y="9520"/>
                      <a:pt x="2537" y="9779"/>
                      <a:pt x="2508" y="10047"/>
                    </a:cubicBezTo>
                    <a:lnTo>
                      <a:pt x="2365" y="11607"/>
                    </a:lnTo>
                    <a:cubicBezTo>
                      <a:pt x="2334" y="11941"/>
                      <a:pt x="2606" y="12206"/>
                      <a:pt x="2915" y="12206"/>
                    </a:cubicBezTo>
                    <a:cubicBezTo>
                      <a:pt x="2986" y="12206"/>
                      <a:pt x="3059" y="12192"/>
                      <a:pt x="3130" y="12162"/>
                    </a:cubicBezTo>
                    <a:lnTo>
                      <a:pt x="4566" y="11549"/>
                    </a:lnTo>
                    <a:cubicBezTo>
                      <a:pt x="4637" y="11520"/>
                      <a:pt x="4711" y="11507"/>
                      <a:pt x="4783" y="11507"/>
                    </a:cubicBezTo>
                    <a:cubicBezTo>
                      <a:pt x="4975" y="11507"/>
                      <a:pt x="5158" y="11603"/>
                      <a:pt x="5255" y="11769"/>
                    </a:cubicBezTo>
                    <a:lnTo>
                      <a:pt x="6049" y="13109"/>
                    </a:lnTo>
                    <a:cubicBezTo>
                      <a:pt x="6155" y="13286"/>
                      <a:pt x="6339" y="13375"/>
                      <a:pt x="6523" y="13375"/>
                    </a:cubicBezTo>
                    <a:cubicBezTo>
                      <a:pt x="6707" y="13375"/>
                      <a:pt x="6892" y="13286"/>
                      <a:pt x="6997" y="13109"/>
                    </a:cubicBezTo>
                    <a:lnTo>
                      <a:pt x="7791" y="11769"/>
                    </a:lnTo>
                    <a:cubicBezTo>
                      <a:pt x="7894" y="11598"/>
                      <a:pt x="8076" y="11505"/>
                      <a:pt x="8262" y="11505"/>
                    </a:cubicBezTo>
                    <a:cubicBezTo>
                      <a:pt x="8336" y="11505"/>
                      <a:pt x="8410" y="11519"/>
                      <a:pt x="8480" y="11549"/>
                    </a:cubicBezTo>
                    <a:lnTo>
                      <a:pt x="9916" y="12162"/>
                    </a:lnTo>
                    <a:cubicBezTo>
                      <a:pt x="9987" y="12192"/>
                      <a:pt x="10060" y="12206"/>
                      <a:pt x="10131" y="12206"/>
                    </a:cubicBezTo>
                    <a:cubicBezTo>
                      <a:pt x="10440" y="12206"/>
                      <a:pt x="10712" y="11941"/>
                      <a:pt x="10681" y="11607"/>
                    </a:cubicBezTo>
                    <a:lnTo>
                      <a:pt x="10547" y="10056"/>
                    </a:lnTo>
                    <a:cubicBezTo>
                      <a:pt x="10519" y="9779"/>
                      <a:pt x="10701" y="9520"/>
                      <a:pt x="10968" y="9463"/>
                    </a:cubicBezTo>
                    <a:lnTo>
                      <a:pt x="12490" y="9118"/>
                    </a:lnTo>
                    <a:cubicBezTo>
                      <a:pt x="12892" y="9023"/>
                      <a:pt x="13055" y="8535"/>
                      <a:pt x="12777" y="8219"/>
                    </a:cubicBezTo>
                    <a:lnTo>
                      <a:pt x="11753" y="7051"/>
                    </a:lnTo>
                    <a:cubicBezTo>
                      <a:pt x="11571" y="6841"/>
                      <a:pt x="11571" y="6534"/>
                      <a:pt x="11753" y="6324"/>
                    </a:cubicBezTo>
                    <a:lnTo>
                      <a:pt x="12777" y="5156"/>
                    </a:lnTo>
                    <a:cubicBezTo>
                      <a:pt x="13055" y="4840"/>
                      <a:pt x="12892" y="4343"/>
                      <a:pt x="12481" y="4257"/>
                    </a:cubicBezTo>
                    <a:lnTo>
                      <a:pt x="10968" y="3912"/>
                    </a:lnTo>
                    <a:cubicBezTo>
                      <a:pt x="10701" y="3845"/>
                      <a:pt x="10519" y="3596"/>
                      <a:pt x="10538" y="3319"/>
                    </a:cubicBezTo>
                    <a:lnTo>
                      <a:pt x="10681" y="1768"/>
                    </a:lnTo>
                    <a:cubicBezTo>
                      <a:pt x="10712" y="1429"/>
                      <a:pt x="10445" y="1164"/>
                      <a:pt x="10140" y="1164"/>
                    </a:cubicBezTo>
                    <a:cubicBezTo>
                      <a:pt x="10066" y="1164"/>
                      <a:pt x="9990" y="1180"/>
                      <a:pt x="9916" y="1213"/>
                    </a:cubicBezTo>
                    <a:lnTo>
                      <a:pt x="8480" y="1826"/>
                    </a:lnTo>
                    <a:cubicBezTo>
                      <a:pt x="8410" y="1854"/>
                      <a:pt x="8337" y="1868"/>
                      <a:pt x="8264" y="1868"/>
                    </a:cubicBezTo>
                    <a:cubicBezTo>
                      <a:pt x="8072" y="1868"/>
                      <a:pt x="7889" y="1770"/>
                      <a:pt x="7791" y="1596"/>
                    </a:cubicBezTo>
                    <a:lnTo>
                      <a:pt x="6997" y="266"/>
                    </a:lnTo>
                    <a:cubicBezTo>
                      <a:pt x="6892" y="89"/>
                      <a:pt x="6707" y="0"/>
                      <a:pt x="6523" y="0"/>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16" name="Google Shape;16452;p127">
                <a:extLst>
                  <a:ext uri="{FF2B5EF4-FFF2-40B4-BE49-F238E27FC236}">
                    <a16:creationId xmlns:a16="http://schemas.microsoft.com/office/drawing/2014/main" id="{EE7D3F5D-1A45-A2C0-EBB2-104968F98C7B}"/>
                  </a:ext>
                </a:extLst>
              </p:cNvPr>
              <p:cNvSpPr/>
              <p:nvPr/>
            </p:nvSpPr>
            <p:spPr>
              <a:xfrm>
                <a:off x="1024577" y="3357985"/>
                <a:ext cx="50288" cy="49238"/>
              </a:xfrm>
              <a:custGeom>
                <a:avLst/>
                <a:gdLst/>
                <a:ahLst/>
                <a:cxnLst/>
                <a:rect l="l" t="t" r="r" b="b"/>
                <a:pathLst>
                  <a:path w="1915" h="1875" extrusionOk="0">
                    <a:moveTo>
                      <a:pt x="666" y="0"/>
                    </a:moveTo>
                    <a:cubicBezTo>
                      <a:pt x="482" y="0"/>
                      <a:pt x="298" y="89"/>
                      <a:pt x="192" y="266"/>
                    </a:cubicBezTo>
                    <a:lnTo>
                      <a:pt x="1" y="591"/>
                    </a:lnTo>
                    <a:lnTo>
                      <a:pt x="604" y="1606"/>
                    </a:lnTo>
                    <a:cubicBezTo>
                      <a:pt x="706" y="1777"/>
                      <a:pt x="887" y="1874"/>
                      <a:pt x="1073" y="1874"/>
                    </a:cubicBezTo>
                    <a:cubicBezTo>
                      <a:pt x="1147" y="1874"/>
                      <a:pt x="1222" y="1859"/>
                      <a:pt x="1293" y="1826"/>
                    </a:cubicBezTo>
                    <a:lnTo>
                      <a:pt x="1915" y="1567"/>
                    </a:lnTo>
                    <a:lnTo>
                      <a:pt x="1140" y="266"/>
                    </a:lnTo>
                    <a:cubicBezTo>
                      <a:pt x="1035" y="89"/>
                      <a:pt x="850" y="0"/>
                      <a:pt x="666" y="0"/>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17" name="Google Shape;16453;p127">
                <a:extLst>
                  <a:ext uri="{FF2B5EF4-FFF2-40B4-BE49-F238E27FC236}">
                    <a16:creationId xmlns:a16="http://schemas.microsoft.com/office/drawing/2014/main" id="{B095B777-7C67-E67A-003A-1829B366AB50}"/>
                  </a:ext>
                </a:extLst>
              </p:cNvPr>
              <p:cNvSpPr/>
              <p:nvPr/>
            </p:nvSpPr>
            <p:spPr>
              <a:xfrm>
                <a:off x="1111787" y="3388552"/>
                <a:ext cx="101810" cy="289832"/>
              </a:xfrm>
              <a:custGeom>
                <a:avLst/>
                <a:gdLst/>
                <a:ahLst/>
                <a:cxnLst/>
                <a:rect l="l" t="t" r="r" b="b"/>
                <a:pathLst>
                  <a:path w="3877" h="11037" extrusionOk="0">
                    <a:moveTo>
                      <a:pt x="962" y="0"/>
                    </a:moveTo>
                    <a:cubicBezTo>
                      <a:pt x="888" y="0"/>
                      <a:pt x="812" y="16"/>
                      <a:pt x="738" y="49"/>
                    </a:cubicBezTo>
                    <a:lnTo>
                      <a:pt x="116" y="308"/>
                    </a:lnTo>
                    <a:cubicBezTo>
                      <a:pt x="164" y="403"/>
                      <a:pt x="183" y="499"/>
                      <a:pt x="173" y="604"/>
                    </a:cubicBezTo>
                    <a:lnTo>
                      <a:pt x="30" y="2155"/>
                    </a:lnTo>
                    <a:cubicBezTo>
                      <a:pt x="1" y="2432"/>
                      <a:pt x="183" y="2681"/>
                      <a:pt x="460" y="2748"/>
                    </a:cubicBezTo>
                    <a:lnTo>
                      <a:pt x="1972" y="3093"/>
                    </a:lnTo>
                    <a:cubicBezTo>
                      <a:pt x="2384" y="3179"/>
                      <a:pt x="2537" y="3676"/>
                      <a:pt x="2269" y="3992"/>
                    </a:cubicBezTo>
                    <a:lnTo>
                      <a:pt x="1245" y="5160"/>
                    </a:lnTo>
                    <a:cubicBezTo>
                      <a:pt x="1054" y="5361"/>
                      <a:pt x="1054" y="5677"/>
                      <a:pt x="1245" y="5887"/>
                    </a:cubicBezTo>
                    <a:lnTo>
                      <a:pt x="2269" y="7055"/>
                    </a:lnTo>
                    <a:cubicBezTo>
                      <a:pt x="2537" y="7371"/>
                      <a:pt x="2384" y="7859"/>
                      <a:pt x="1972" y="7954"/>
                    </a:cubicBezTo>
                    <a:lnTo>
                      <a:pt x="460" y="8299"/>
                    </a:lnTo>
                    <a:cubicBezTo>
                      <a:pt x="183" y="8356"/>
                      <a:pt x="1" y="8615"/>
                      <a:pt x="30" y="8883"/>
                    </a:cubicBezTo>
                    <a:lnTo>
                      <a:pt x="173" y="10433"/>
                    </a:lnTo>
                    <a:cubicBezTo>
                      <a:pt x="183" y="10538"/>
                      <a:pt x="164" y="10634"/>
                      <a:pt x="116" y="10730"/>
                    </a:cubicBezTo>
                    <a:lnTo>
                      <a:pt x="738" y="10988"/>
                    </a:lnTo>
                    <a:cubicBezTo>
                      <a:pt x="812" y="11022"/>
                      <a:pt x="888" y="11037"/>
                      <a:pt x="962" y="11037"/>
                    </a:cubicBezTo>
                    <a:cubicBezTo>
                      <a:pt x="1267" y="11037"/>
                      <a:pt x="1534" y="10772"/>
                      <a:pt x="1503" y="10433"/>
                    </a:cubicBezTo>
                    <a:lnTo>
                      <a:pt x="1360" y="8892"/>
                    </a:lnTo>
                    <a:cubicBezTo>
                      <a:pt x="1331" y="8615"/>
                      <a:pt x="1513" y="8356"/>
                      <a:pt x="1790" y="8299"/>
                    </a:cubicBezTo>
                    <a:lnTo>
                      <a:pt x="3303" y="7954"/>
                    </a:lnTo>
                    <a:cubicBezTo>
                      <a:pt x="3714" y="7859"/>
                      <a:pt x="3867" y="7371"/>
                      <a:pt x="3599" y="7055"/>
                    </a:cubicBezTo>
                    <a:lnTo>
                      <a:pt x="2575" y="5887"/>
                    </a:lnTo>
                    <a:cubicBezTo>
                      <a:pt x="2393" y="5677"/>
                      <a:pt x="2393" y="5370"/>
                      <a:pt x="2575" y="5160"/>
                    </a:cubicBezTo>
                    <a:lnTo>
                      <a:pt x="3599" y="3992"/>
                    </a:lnTo>
                    <a:cubicBezTo>
                      <a:pt x="3877" y="3676"/>
                      <a:pt x="3714" y="3179"/>
                      <a:pt x="3303" y="3093"/>
                    </a:cubicBezTo>
                    <a:lnTo>
                      <a:pt x="1790" y="2748"/>
                    </a:lnTo>
                    <a:cubicBezTo>
                      <a:pt x="1523" y="2681"/>
                      <a:pt x="1341" y="2432"/>
                      <a:pt x="1360" y="2155"/>
                    </a:cubicBezTo>
                    <a:lnTo>
                      <a:pt x="1503" y="604"/>
                    </a:lnTo>
                    <a:cubicBezTo>
                      <a:pt x="1534" y="265"/>
                      <a:pt x="1267" y="0"/>
                      <a:pt x="962" y="0"/>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18" name="Google Shape;16454;p127">
                <a:extLst>
                  <a:ext uri="{FF2B5EF4-FFF2-40B4-BE49-F238E27FC236}">
                    <a16:creationId xmlns:a16="http://schemas.microsoft.com/office/drawing/2014/main" id="{D5775F0B-E443-305E-8A0E-13D4631DEB25}"/>
                  </a:ext>
                </a:extLst>
              </p:cNvPr>
              <p:cNvSpPr/>
              <p:nvPr/>
            </p:nvSpPr>
            <p:spPr>
              <a:xfrm>
                <a:off x="1024840" y="3660133"/>
                <a:ext cx="50025" cy="49080"/>
              </a:xfrm>
              <a:custGeom>
                <a:avLst/>
                <a:gdLst/>
                <a:ahLst/>
                <a:cxnLst/>
                <a:rect l="l" t="t" r="r" b="b"/>
                <a:pathLst>
                  <a:path w="1905" h="1869" extrusionOk="0">
                    <a:moveTo>
                      <a:pt x="1071" y="1"/>
                    </a:moveTo>
                    <a:cubicBezTo>
                      <a:pt x="883" y="1"/>
                      <a:pt x="698" y="97"/>
                      <a:pt x="594" y="263"/>
                    </a:cubicBezTo>
                    <a:lnTo>
                      <a:pt x="0" y="1278"/>
                    </a:lnTo>
                    <a:lnTo>
                      <a:pt x="192" y="1603"/>
                    </a:lnTo>
                    <a:cubicBezTo>
                      <a:pt x="297" y="1780"/>
                      <a:pt x="479" y="1869"/>
                      <a:pt x="662" y="1869"/>
                    </a:cubicBezTo>
                    <a:cubicBezTo>
                      <a:pt x="845" y="1869"/>
                      <a:pt x="1029" y="1780"/>
                      <a:pt x="1139" y="1603"/>
                    </a:cubicBezTo>
                    <a:lnTo>
                      <a:pt x="1905" y="311"/>
                    </a:lnTo>
                    <a:lnTo>
                      <a:pt x="1283" y="43"/>
                    </a:lnTo>
                    <a:cubicBezTo>
                      <a:pt x="1215" y="14"/>
                      <a:pt x="1143" y="1"/>
                      <a:pt x="1071" y="1"/>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19" name="Google Shape;16455;p127">
                <a:extLst>
                  <a:ext uri="{FF2B5EF4-FFF2-40B4-BE49-F238E27FC236}">
                    <a16:creationId xmlns:a16="http://schemas.microsoft.com/office/drawing/2014/main" id="{22FBF0A0-A1BF-C719-4EF8-12A0E4C1D62F}"/>
                  </a:ext>
                </a:extLst>
              </p:cNvPr>
              <p:cNvSpPr/>
              <p:nvPr/>
            </p:nvSpPr>
            <p:spPr>
              <a:xfrm>
                <a:off x="939390" y="3431067"/>
                <a:ext cx="211892" cy="205222"/>
              </a:xfrm>
              <a:custGeom>
                <a:avLst/>
                <a:gdLst/>
                <a:ahLst/>
                <a:cxnLst/>
                <a:rect l="l" t="t" r="r" b="b"/>
                <a:pathLst>
                  <a:path w="8069" h="7815" extrusionOk="0">
                    <a:moveTo>
                      <a:pt x="3916" y="0"/>
                    </a:moveTo>
                    <a:cubicBezTo>
                      <a:pt x="1659" y="0"/>
                      <a:pt x="1" y="1823"/>
                      <a:pt x="1" y="3895"/>
                    </a:cubicBezTo>
                    <a:cubicBezTo>
                      <a:pt x="1" y="6224"/>
                      <a:pt x="1910" y="7814"/>
                      <a:pt x="3928" y="7814"/>
                    </a:cubicBezTo>
                    <a:cubicBezTo>
                      <a:pt x="4771" y="7814"/>
                      <a:pt x="5634" y="7537"/>
                      <a:pt x="6384" y="6919"/>
                    </a:cubicBezTo>
                    <a:cubicBezTo>
                      <a:pt x="7561" y="5962"/>
                      <a:pt x="8068" y="4421"/>
                      <a:pt x="7695" y="2947"/>
                    </a:cubicBezTo>
                    <a:cubicBezTo>
                      <a:pt x="7331" y="1483"/>
                      <a:pt x="6154" y="363"/>
                      <a:pt x="4671" y="67"/>
                    </a:cubicBezTo>
                    <a:cubicBezTo>
                      <a:pt x="4413" y="22"/>
                      <a:pt x="4161" y="0"/>
                      <a:pt x="3916" y="0"/>
                    </a:cubicBezTo>
                    <a:close/>
                  </a:path>
                </a:pathLst>
              </a:custGeom>
              <a:solidFill>
                <a:srgbClr val="C1C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20" name="Google Shape;16456;p127">
                <a:extLst>
                  <a:ext uri="{FF2B5EF4-FFF2-40B4-BE49-F238E27FC236}">
                    <a16:creationId xmlns:a16="http://schemas.microsoft.com/office/drawing/2014/main" id="{DC343E66-770F-3851-8F6A-353E157B76D5}"/>
                  </a:ext>
                </a:extLst>
              </p:cNvPr>
              <p:cNvSpPr/>
              <p:nvPr/>
            </p:nvSpPr>
            <p:spPr>
              <a:xfrm>
                <a:off x="970561" y="3470641"/>
                <a:ext cx="60345" cy="51653"/>
              </a:xfrm>
              <a:custGeom>
                <a:avLst/>
                <a:gdLst/>
                <a:ahLst/>
                <a:cxnLst/>
                <a:rect l="l" t="t" r="r" b="b"/>
                <a:pathLst>
                  <a:path w="2298" h="1967" extrusionOk="0">
                    <a:moveTo>
                      <a:pt x="1315" y="409"/>
                    </a:moveTo>
                    <a:cubicBezTo>
                      <a:pt x="1456" y="409"/>
                      <a:pt x="1599" y="461"/>
                      <a:pt x="1713" y="579"/>
                    </a:cubicBezTo>
                    <a:cubicBezTo>
                      <a:pt x="2077" y="943"/>
                      <a:pt x="1819" y="1555"/>
                      <a:pt x="1311" y="1555"/>
                    </a:cubicBezTo>
                    <a:cubicBezTo>
                      <a:pt x="996" y="1555"/>
                      <a:pt x="737" y="1297"/>
                      <a:pt x="737" y="981"/>
                    </a:cubicBezTo>
                    <a:cubicBezTo>
                      <a:pt x="737" y="638"/>
                      <a:pt x="1022" y="409"/>
                      <a:pt x="1315" y="409"/>
                    </a:cubicBezTo>
                    <a:close/>
                    <a:moveTo>
                      <a:pt x="1308" y="0"/>
                    </a:moveTo>
                    <a:cubicBezTo>
                      <a:pt x="1067" y="0"/>
                      <a:pt x="821" y="90"/>
                      <a:pt x="622" y="292"/>
                    </a:cubicBezTo>
                    <a:cubicBezTo>
                      <a:pt x="0" y="905"/>
                      <a:pt x="441" y="1967"/>
                      <a:pt x="1311" y="1967"/>
                    </a:cubicBezTo>
                    <a:cubicBezTo>
                      <a:pt x="1857" y="1967"/>
                      <a:pt x="2288" y="1527"/>
                      <a:pt x="2297" y="981"/>
                    </a:cubicBezTo>
                    <a:cubicBezTo>
                      <a:pt x="2297" y="392"/>
                      <a:pt x="1812" y="0"/>
                      <a:pt x="1308" y="0"/>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21" name="Google Shape;16457;p127">
                <a:extLst>
                  <a:ext uri="{FF2B5EF4-FFF2-40B4-BE49-F238E27FC236}">
                    <a16:creationId xmlns:a16="http://schemas.microsoft.com/office/drawing/2014/main" id="{C0869973-8ACF-9C70-3AAB-77B522F21856}"/>
                  </a:ext>
                </a:extLst>
              </p:cNvPr>
              <p:cNvSpPr/>
              <p:nvPr/>
            </p:nvSpPr>
            <p:spPr>
              <a:xfrm>
                <a:off x="1053332" y="3545140"/>
                <a:ext cx="60188" cy="51417"/>
              </a:xfrm>
              <a:custGeom>
                <a:avLst/>
                <a:gdLst/>
                <a:ahLst/>
                <a:cxnLst/>
                <a:rect l="l" t="t" r="r" b="b"/>
                <a:pathLst>
                  <a:path w="2292" h="1958" extrusionOk="0">
                    <a:moveTo>
                      <a:pt x="983" y="393"/>
                    </a:moveTo>
                    <a:cubicBezTo>
                      <a:pt x="1299" y="403"/>
                      <a:pt x="1557" y="652"/>
                      <a:pt x="1557" y="967"/>
                    </a:cubicBezTo>
                    <a:cubicBezTo>
                      <a:pt x="1557" y="1317"/>
                      <a:pt x="1276" y="1549"/>
                      <a:pt x="982" y="1549"/>
                    </a:cubicBezTo>
                    <a:cubicBezTo>
                      <a:pt x="841" y="1549"/>
                      <a:pt x="698" y="1496"/>
                      <a:pt x="581" y="1379"/>
                    </a:cubicBezTo>
                    <a:cubicBezTo>
                      <a:pt x="217" y="1015"/>
                      <a:pt x="475" y="393"/>
                      <a:pt x="983" y="393"/>
                    </a:cubicBezTo>
                    <a:close/>
                    <a:moveTo>
                      <a:pt x="994" y="1"/>
                    </a:moveTo>
                    <a:cubicBezTo>
                      <a:pt x="991" y="1"/>
                      <a:pt x="987" y="1"/>
                      <a:pt x="983" y="1"/>
                    </a:cubicBezTo>
                    <a:cubicBezTo>
                      <a:pt x="437" y="1"/>
                      <a:pt x="7" y="431"/>
                      <a:pt x="7" y="967"/>
                    </a:cubicBezTo>
                    <a:cubicBezTo>
                      <a:pt x="0" y="1563"/>
                      <a:pt x="484" y="1957"/>
                      <a:pt x="991" y="1957"/>
                    </a:cubicBezTo>
                    <a:cubicBezTo>
                      <a:pt x="1233" y="1957"/>
                      <a:pt x="1480" y="1867"/>
                      <a:pt x="1681" y="1666"/>
                    </a:cubicBezTo>
                    <a:cubicBezTo>
                      <a:pt x="2291" y="1047"/>
                      <a:pt x="1858" y="1"/>
                      <a:pt x="994" y="1"/>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22" name="Google Shape;16458;p127">
                <a:extLst>
                  <a:ext uri="{FF2B5EF4-FFF2-40B4-BE49-F238E27FC236}">
                    <a16:creationId xmlns:a16="http://schemas.microsoft.com/office/drawing/2014/main" id="{A6894738-6C2B-5C8B-BE1C-74E0F2264286}"/>
                  </a:ext>
                </a:extLst>
              </p:cNvPr>
              <p:cNvSpPr/>
              <p:nvPr/>
            </p:nvSpPr>
            <p:spPr>
              <a:xfrm>
                <a:off x="992330" y="3479595"/>
                <a:ext cx="106090" cy="101836"/>
              </a:xfrm>
              <a:custGeom>
                <a:avLst/>
                <a:gdLst/>
                <a:ahLst/>
                <a:cxnLst/>
                <a:rect l="l" t="t" r="r" b="b"/>
                <a:pathLst>
                  <a:path w="4040" h="3878" extrusionOk="0">
                    <a:moveTo>
                      <a:pt x="3742" y="0"/>
                    </a:moveTo>
                    <a:cubicBezTo>
                      <a:pt x="3692" y="0"/>
                      <a:pt x="3639" y="22"/>
                      <a:pt x="3593" y="75"/>
                    </a:cubicBezTo>
                    <a:lnTo>
                      <a:pt x="128" y="3540"/>
                    </a:lnTo>
                    <a:cubicBezTo>
                      <a:pt x="1" y="3682"/>
                      <a:pt x="132" y="3877"/>
                      <a:pt x="286" y="3877"/>
                    </a:cubicBezTo>
                    <a:cubicBezTo>
                      <a:pt x="329" y="3877"/>
                      <a:pt x="374" y="3862"/>
                      <a:pt x="415" y="3827"/>
                    </a:cubicBezTo>
                    <a:lnTo>
                      <a:pt x="3880" y="363"/>
                    </a:lnTo>
                    <a:cubicBezTo>
                      <a:pt x="4040" y="217"/>
                      <a:pt x="3902" y="0"/>
                      <a:pt x="3742" y="0"/>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grpSp>
      <p:graphicFrame>
        <p:nvGraphicFramePr>
          <p:cNvPr id="523" name="Table 27">
            <a:extLst>
              <a:ext uri="{FF2B5EF4-FFF2-40B4-BE49-F238E27FC236}">
                <a16:creationId xmlns:a16="http://schemas.microsoft.com/office/drawing/2014/main" id="{8F661F9C-EF05-5550-5FFC-F8063BA3CCB1}"/>
              </a:ext>
            </a:extLst>
          </p:cNvPr>
          <p:cNvGraphicFramePr>
            <a:graphicFrameLocks noGrp="1"/>
          </p:cNvGraphicFramePr>
          <p:nvPr/>
        </p:nvGraphicFramePr>
        <p:xfrm>
          <a:off x="7256101" y="879618"/>
          <a:ext cx="2778201" cy="5014416"/>
        </p:xfrm>
        <a:graphic>
          <a:graphicData uri="http://schemas.openxmlformats.org/drawingml/2006/table">
            <a:tbl>
              <a:tblPr firstRow="1" bandRow="1">
                <a:tableStyleId>{2D5ABB26-0587-4C30-8999-92F81FD0307C}</a:tableStyleId>
              </a:tblPr>
              <a:tblGrid>
                <a:gridCol w="228918">
                  <a:extLst>
                    <a:ext uri="{9D8B030D-6E8A-4147-A177-3AD203B41FA5}">
                      <a16:colId xmlns:a16="http://schemas.microsoft.com/office/drawing/2014/main" val="1622108729"/>
                    </a:ext>
                  </a:extLst>
                </a:gridCol>
                <a:gridCol w="2549283">
                  <a:extLst>
                    <a:ext uri="{9D8B030D-6E8A-4147-A177-3AD203B41FA5}">
                      <a16:colId xmlns:a16="http://schemas.microsoft.com/office/drawing/2014/main" val="1450379266"/>
                    </a:ext>
                  </a:extLst>
                </a:gridCol>
              </a:tblGrid>
              <a:tr h="398673">
                <a:tc rowSpan="2">
                  <a:txBody>
                    <a:bodyPr/>
                    <a:lstStyle/>
                    <a:p>
                      <a:endParaRPr lang="en-PH" sz="1400">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a:solidFill>
                            <a:srgbClr val="1F4766"/>
                          </a:solidFill>
                          <a:latin typeface="Lato"/>
                          <a:ea typeface="Lato"/>
                          <a:cs typeface="Lato"/>
                        </a:rPr>
                        <a:t>Interest</a:t>
                      </a:r>
                      <a:endParaRPr lang="en-PH" sz="1400" b="1">
                        <a:solidFill>
                          <a:srgbClr val="1F4766"/>
                        </a:solidFill>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0170993"/>
                  </a:ext>
                </a:extLst>
              </a:tr>
              <a:tr h="587853">
                <a:tc vMerge="1">
                  <a:txBody>
                    <a:bodyPr/>
                    <a:lstStyle/>
                    <a:p>
                      <a:endParaRPr lang="en-PH"/>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Wingdings" panose="05000000000000000000" pitchFamily="2" charset="2"/>
                        <a:buChar char="ü"/>
                      </a:pPr>
                      <a:r>
                        <a:rPr lang="en-US" sz="1400">
                          <a:latin typeface="Lato"/>
                          <a:ea typeface="Lato"/>
                          <a:cs typeface="Lato"/>
                        </a:rPr>
                        <a:t>2% per month, based on diminishing rate</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4695899"/>
                  </a:ext>
                </a:extLst>
              </a:tr>
              <a:tr h="988189">
                <a:tc>
                  <a:txBody>
                    <a:bodyPr/>
                    <a:lstStyle/>
                    <a:p>
                      <a:endParaRPr lang="en-PH" sz="1400">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PH" sz="1400">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97469117"/>
                  </a:ext>
                </a:extLst>
              </a:tr>
              <a:tr h="424868">
                <a:tc rowSpan="2">
                  <a:txBody>
                    <a:bodyPr/>
                    <a:lstStyle/>
                    <a:p>
                      <a:endParaRPr lang="en-PH" sz="1400">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a:solidFill>
                            <a:srgbClr val="1F4766"/>
                          </a:solidFill>
                          <a:latin typeface="Lato"/>
                          <a:ea typeface="Lato"/>
                          <a:cs typeface="Lato"/>
                        </a:rPr>
                        <a:t>Service Charge</a:t>
                      </a:r>
                      <a:endParaRPr lang="en-PH" sz="1400" b="1">
                        <a:solidFill>
                          <a:srgbClr val="1F4766"/>
                        </a:solidFill>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88353520"/>
                  </a:ext>
                </a:extLst>
              </a:tr>
              <a:tr h="587853">
                <a:tc vMerge="1">
                  <a:txBody>
                    <a:bodyPr/>
                    <a:lstStyle/>
                    <a:p>
                      <a:endParaRPr lang="en-PH"/>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400">
                          <a:solidFill>
                            <a:srgbClr val="000000"/>
                          </a:solidFill>
                          <a:latin typeface="Lato"/>
                          <a:ea typeface="Lato"/>
                          <a:cs typeface="Lato"/>
                        </a:rPr>
                        <a:t>1% of loan amount, pre-deducted</a:t>
                      </a:r>
                      <a:endParaRPr lang="en-US" sz="1400">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11574103"/>
                  </a:ext>
                </a:extLst>
              </a:tr>
              <a:tr h="686734">
                <a:tc>
                  <a:txBody>
                    <a:bodyPr/>
                    <a:lstStyle/>
                    <a:p>
                      <a:endParaRPr lang="en-PH" sz="1400">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PH" sz="1400">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18413338"/>
                  </a:ext>
                </a:extLst>
              </a:tr>
              <a:tr h="670123">
                <a:tc rowSpan="2">
                  <a:txBody>
                    <a:bodyPr/>
                    <a:lstStyle/>
                    <a:p>
                      <a:endParaRPr lang="en-PH" sz="1400">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b="1">
                          <a:solidFill>
                            <a:srgbClr val="1F4766"/>
                          </a:solidFill>
                          <a:latin typeface="Lato"/>
                          <a:ea typeface="Lato"/>
                          <a:cs typeface="Lato"/>
                        </a:rPr>
                        <a:t>Micro-Insurance </a:t>
                      </a:r>
                    </a:p>
                    <a:p>
                      <a:r>
                        <a:rPr lang="en-US" sz="1400" b="1">
                          <a:solidFill>
                            <a:srgbClr val="1F4766"/>
                          </a:solidFill>
                          <a:latin typeface="Lato"/>
                          <a:ea typeface="Lato"/>
                          <a:cs typeface="Lato"/>
                        </a:rPr>
                        <a:t>Product Bundle</a:t>
                      </a:r>
                      <a:endParaRPr lang="en-PH" sz="1400" b="1">
                        <a:solidFill>
                          <a:srgbClr val="1F4766"/>
                        </a:solidFill>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68837476"/>
                  </a:ext>
                </a:extLst>
              </a:tr>
              <a:tr h="670123">
                <a:tc vMerge="1">
                  <a:txBody>
                    <a:bodyPr/>
                    <a:lstStyle/>
                    <a:p>
                      <a:endParaRPr lang="en-PH"/>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gn="just">
                        <a:buFont typeface="Wingdings" panose="05000000000000000000" pitchFamily="2" charset="2"/>
                        <a:buChar char="ü"/>
                      </a:pPr>
                      <a:r>
                        <a:rPr lang="en-US" sz="1400">
                          <a:latin typeface="Lato"/>
                          <a:ea typeface="Lato"/>
                          <a:cs typeface="Lato"/>
                        </a:rPr>
                        <a:t>Loan Redemption Fund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54832442"/>
                  </a:ext>
                </a:extLst>
              </a:tr>
            </a:tbl>
          </a:graphicData>
        </a:graphic>
      </p:graphicFrame>
      <p:grpSp>
        <p:nvGrpSpPr>
          <p:cNvPr id="524" name="Group 523">
            <a:extLst>
              <a:ext uri="{FF2B5EF4-FFF2-40B4-BE49-F238E27FC236}">
                <a16:creationId xmlns:a16="http://schemas.microsoft.com/office/drawing/2014/main" id="{0BB7EA9D-5692-57FE-12BF-02FD1FA0F5F4}"/>
              </a:ext>
            </a:extLst>
          </p:cNvPr>
          <p:cNvGrpSpPr/>
          <p:nvPr/>
        </p:nvGrpSpPr>
        <p:grpSpPr>
          <a:xfrm>
            <a:off x="6452109" y="3105059"/>
            <a:ext cx="572700" cy="572700"/>
            <a:chOff x="6292023" y="2842332"/>
            <a:chExt cx="572700" cy="572700"/>
          </a:xfrm>
        </p:grpSpPr>
        <p:sp>
          <p:nvSpPr>
            <p:cNvPr id="525" name="Google Shape;839;p61">
              <a:extLst>
                <a:ext uri="{FF2B5EF4-FFF2-40B4-BE49-F238E27FC236}">
                  <a16:creationId xmlns:a16="http://schemas.microsoft.com/office/drawing/2014/main" id="{364EF0F7-C41F-41B1-86A2-48978D39EAAD}"/>
                </a:ext>
              </a:extLst>
            </p:cNvPr>
            <p:cNvSpPr/>
            <p:nvPr/>
          </p:nvSpPr>
          <p:spPr>
            <a:xfrm>
              <a:off x="6292023" y="2842332"/>
              <a:ext cx="572700" cy="572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nvGrpSpPr>
            <p:cNvPr id="526" name="Google Shape;15664;p127">
              <a:extLst>
                <a:ext uri="{FF2B5EF4-FFF2-40B4-BE49-F238E27FC236}">
                  <a16:creationId xmlns:a16="http://schemas.microsoft.com/office/drawing/2014/main" id="{695BBA92-15F7-C8ED-EFED-41426F8DECB8}"/>
                </a:ext>
              </a:extLst>
            </p:cNvPr>
            <p:cNvGrpSpPr/>
            <p:nvPr/>
          </p:nvGrpSpPr>
          <p:grpSpPr>
            <a:xfrm>
              <a:off x="6401110" y="2988677"/>
              <a:ext cx="319191" cy="271240"/>
              <a:chOff x="2659157" y="2017412"/>
              <a:chExt cx="319191" cy="271240"/>
            </a:xfrm>
          </p:grpSpPr>
          <p:sp>
            <p:nvSpPr>
              <p:cNvPr id="527" name="Google Shape;15665;p127">
                <a:extLst>
                  <a:ext uri="{FF2B5EF4-FFF2-40B4-BE49-F238E27FC236}">
                    <a16:creationId xmlns:a16="http://schemas.microsoft.com/office/drawing/2014/main" id="{F480ADA1-2B0F-1129-67C2-AB4C0ADAD0D8}"/>
                  </a:ext>
                </a:extLst>
              </p:cNvPr>
              <p:cNvSpPr/>
              <p:nvPr/>
            </p:nvSpPr>
            <p:spPr>
              <a:xfrm>
                <a:off x="2808183" y="2086765"/>
                <a:ext cx="164125" cy="149314"/>
              </a:xfrm>
              <a:custGeom>
                <a:avLst/>
                <a:gdLst/>
                <a:ahLst/>
                <a:cxnLst/>
                <a:rect l="l" t="t" r="r" b="b"/>
                <a:pathLst>
                  <a:path w="6250" h="5686" extrusionOk="0">
                    <a:moveTo>
                      <a:pt x="3934" y="1"/>
                    </a:moveTo>
                    <a:lnTo>
                      <a:pt x="2728" y="919"/>
                    </a:lnTo>
                    <a:lnTo>
                      <a:pt x="1733" y="584"/>
                    </a:lnTo>
                    <a:lnTo>
                      <a:pt x="0" y="1991"/>
                    </a:lnTo>
                    <a:lnTo>
                      <a:pt x="2670" y="5685"/>
                    </a:lnTo>
                    <a:lnTo>
                      <a:pt x="6250" y="3140"/>
                    </a:lnTo>
                    <a:lnTo>
                      <a:pt x="3934" y="1"/>
                    </a:lnTo>
                    <a:close/>
                  </a:path>
                </a:pathLst>
              </a:custGeom>
              <a:solidFill>
                <a:srgbClr val="CE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28" name="Google Shape;15666;p127">
                <a:extLst>
                  <a:ext uri="{FF2B5EF4-FFF2-40B4-BE49-F238E27FC236}">
                    <a16:creationId xmlns:a16="http://schemas.microsoft.com/office/drawing/2014/main" id="{AC12B197-8F0B-57DA-89B6-36EFD3CCF0EB}"/>
                  </a:ext>
                </a:extLst>
              </p:cNvPr>
              <p:cNvSpPr/>
              <p:nvPr/>
            </p:nvSpPr>
            <p:spPr>
              <a:xfrm>
                <a:off x="2881816" y="2017412"/>
                <a:ext cx="96532" cy="177334"/>
              </a:xfrm>
              <a:custGeom>
                <a:avLst/>
                <a:gdLst/>
                <a:ahLst/>
                <a:cxnLst/>
                <a:rect l="l" t="t" r="r" b="b"/>
                <a:pathLst>
                  <a:path w="3676" h="6753" extrusionOk="0">
                    <a:moveTo>
                      <a:pt x="3675" y="0"/>
                    </a:moveTo>
                    <a:lnTo>
                      <a:pt x="106" y="2536"/>
                    </a:lnTo>
                    <a:cubicBezTo>
                      <a:pt x="10" y="2594"/>
                      <a:pt x="0" y="2718"/>
                      <a:pt x="58" y="2804"/>
                    </a:cubicBezTo>
                    <a:lnTo>
                      <a:pt x="3063" y="6680"/>
                    </a:lnTo>
                    <a:cubicBezTo>
                      <a:pt x="3101" y="6729"/>
                      <a:pt x="3153" y="6753"/>
                      <a:pt x="3208" y="6753"/>
                    </a:cubicBezTo>
                    <a:cubicBezTo>
                      <a:pt x="3250" y="6753"/>
                      <a:pt x="3293" y="6738"/>
                      <a:pt x="3331" y="6709"/>
                    </a:cubicBezTo>
                    <a:lnTo>
                      <a:pt x="3675" y="6441"/>
                    </a:lnTo>
                    <a:lnTo>
                      <a:pt x="3675" y="0"/>
                    </a:lnTo>
                    <a:close/>
                  </a:path>
                </a:pathLst>
              </a:custGeom>
              <a:solidFill>
                <a:srgbClr val="65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29" name="Google Shape;15667;p127">
                <a:extLst>
                  <a:ext uri="{FF2B5EF4-FFF2-40B4-BE49-F238E27FC236}">
                    <a16:creationId xmlns:a16="http://schemas.microsoft.com/office/drawing/2014/main" id="{99FDC6F9-E30A-2BB0-3C5D-C72A93D65DB4}"/>
                  </a:ext>
                </a:extLst>
              </p:cNvPr>
              <p:cNvSpPr/>
              <p:nvPr/>
            </p:nvSpPr>
            <p:spPr>
              <a:xfrm>
                <a:off x="2947650" y="2150603"/>
                <a:ext cx="30698" cy="44196"/>
              </a:xfrm>
              <a:custGeom>
                <a:avLst/>
                <a:gdLst/>
                <a:ahLst/>
                <a:cxnLst/>
                <a:rect l="l" t="t" r="r" b="b"/>
                <a:pathLst>
                  <a:path w="1169" h="1683" extrusionOk="0">
                    <a:moveTo>
                      <a:pt x="1168" y="0"/>
                    </a:moveTo>
                    <a:lnTo>
                      <a:pt x="1" y="890"/>
                    </a:lnTo>
                    <a:lnTo>
                      <a:pt x="556" y="1608"/>
                    </a:lnTo>
                    <a:cubicBezTo>
                      <a:pt x="595" y="1658"/>
                      <a:pt x="650" y="1683"/>
                      <a:pt x="707" y="1683"/>
                    </a:cubicBezTo>
                    <a:cubicBezTo>
                      <a:pt x="747" y="1683"/>
                      <a:pt x="788" y="1670"/>
                      <a:pt x="824" y="1646"/>
                    </a:cubicBezTo>
                    <a:lnTo>
                      <a:pt x="1168" y="1369"/>
                    </a:lnTo>
                    <a:lnTo>
                      <a:pt x="1168" y="0"/>
                    </a:lnTo>
                    <a:close/>
                  </a:path>
                </a:pathLst>
              </a:custGeom>
              <a:solidFill>
                <a:srgbClr val="65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30" name="Google Shape;15668;p127">
                <a:extLst>
                  <a:ext uri="{FF2B5EF4-FFF2-40B4-BE49-F238E27FC236}">
                    <a16:creationId xmlns:a16="http://schemas.microsoft.com/office/drawing/2014/main" id="{966F55F8-81BF-D4E1-B81A-9B591F0AA2F1}"/>
                  </a:ext>
                </a:extLst>
              </p:cNvPr>
              <p:cNvSpPr/>
              <p:nvPr/>
            </p:nvSpPr>
            <p:spPr>
              <a:xfrm>
                <a:off x="2818976" y="2136029"/>
                <a:ext cx="124682" cy="83034"/>
              </a:xfrm>
              <a:custGeom>
                <a:avLst/>
                <a:gdLst/>
                <a:ahLst/>
                <a:cxnLst/>
                <a:rect l="l" t="t" r="r" b="b"/>
                <a:pathLst>
                  <a:path w="4748" h="3162" extrusionOk="0">
                    <a:moveTo>
                      <a:pt x="546" y="0"/>
                    </a:moveTo>
                    <a:lnTo>
                      <a:pt x="1" y="1005"/>
                    </a:lnTo>
                    <a:lnTo>
                      <a:pt x="3829" y="3092"/>
                    </a:lnTo>
                    <a:cubicBezTo>
                      <a:pt x="3916" y="3139"/>
                      <a:pt x="4009" y="3162"/>
                      <a:pt x="4101" y="3162"/>
                    </a:cubicBezTo>
                    <a:cubicBezTo>
                      <a:pt x="4303" y="3162"/>
                      <a:pt x="4499" y="3053"/>
                      <a:pt x="4604" y="2862"/>
                    </a:cubicBezTo>
                    <a:cubicBezTo>
                      <a:pt x="4748" y="2584"/>
                      <a:pt x="4652" y="2240"/>
                      <a:pt x="4374" y="2087"/>
                    </a:cubicBezTo>
                    <a:lnTo>
                      <a:pt x="546" y="0"/>
                    </a:lnTo>
                    <a:close/>
                  </a:path>
                </a:pathLst>
              </a:custGeom>
              <a:solidFill>
                <a:srgbClr val="47C6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31" name="Google Shape;15669;p127">
                <a:extLst>
                  <a:ext uri="{FF2B5EF4-FFF2-40B4-BE49-F238E27FC236}">
                    <a16:creationId xmlns:a16="http://schemas.microsoft.com/office/drawing/2014/main" id="{B1DA1353-A69B-8A59-4F93-7C9DCF8434D9}"/>
                  </a:ext>
                </a:extLst>
              </p:cNvPr>
              <p:cNvSpPr/>
              <p:nvPr/>
            </p:nvSpPr>
            <p:spPr>
              <a:xfrm>
                <a:off x="2867741" y="2177730"/>
                <a:ext cx="73160" cy="41360"/>
              </a:xfrm>
              <a:custGeom>
                <a:avLst/>
                <a:gdLst/>
                <a:ahLst/>
                <a:cxnLst/>
                <a:rect l="l" t="t" r="r" b="b"/>
                <a:pathLst>
                  <a:path w="2786" h="1575" extrusionOk="0">
                    <a:moveTo>
                      <a:pt x="240" y="1"/>
                    </a:moveTo>
                    <a:lnTo>
                      <a:pt x="1" y="432"/>
                    </a:lnTo>
                    <a:lnTo>
                      <a:pt x="1972" y="1504"/>
                    </a:lnTo>
                    <a:cubicBezTo>
                      <a:pt x="2058" y="1552"/>
                      <a:pt x="2152" y="1575"/>
                      <a:pt x="2244" y="1575"/>
                    </a:cubicBezTo>
                    <a:cubicBezTo>
                      <a:pt x="2478" y="1575"/>
                      <a:pt x="2703" y="1428"/>
                      <a:pt x="2785" y="1188"/>
                    </a:cubicBezTo>
                    <a:lnTo>
                      <a:pt x="2785" y="1188"/>
                    </a:lnTo>
                    <a:cubicBezTo>
                      <a:pt x="2729" y="1205"/>
                      <a:pt x="2672" y="1214"/>
                      <a:pt x="2615" y="1214"/>
                    </a:cubicBezTo>
                    <a:cubicBezTo>
                      <a:pt x="2517" y="1214"/>
                      <a:pt x="2421" y="1188"/>
                      <a:pt x="2336" y="1140"/>
                    </a:cubicBezTo>
                    <a:lnTo>
                      <a:pt x="240" y="1"/>
                    </a:lnTo>
                    <a:close/>
                  </a:path>
                </a:pathLst>
              </a:custGeom>
              <a:solidFill>
                <a:srgbClr val="CE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32" name="Google Shape;15670;p127">
                <a:extLst>
                  <a:ext uri="{FF2B5EF4-FFF2-40B4-BE49-F238E27FC236}">
                    <a16:creationId xmlns:a16="http://schemas.microsoft.com/office/drawing/2014/main" id="{20DACC9E-21D0-52DC-C867-500E6B148984}"/>
                  </a:ext>
                </a:extLst>
              </p:cNvPr>
              <p:cNvSpPr/>
              <p:nvPr/>
            </p:nvSpPr>
            <p:spPr>
              <a:xfrm>
                <a:off x="2795867" y="2157641"/>
                <a:ext cx="124919" cy="82798"/>
              </a:xfrm>
              <a:custGeom>
                <a:avLst/>
                <a:gdLst/>
                <a:ahLst/>
                <a:cxnLst/>
                <a:rect l="l" t="t" r="r" b="b"/>
                <a:pathLst>
                  <a:path w="4757" h="3153" extrusionOk="0">
                    <a:moveTo>
                      <a:pt x="546" y="0"/>
                    </a:moveTo>
                    <a:lnTo>
                      <a:pt x="0" y="996"/>
                    </a:lnTo>
                    <a:lnTo>
                      <a:pt x="3829" y="3082"/>
                    </a:lnTo>
                    <a:cubicBezTo>
                      <a:pt x="3916" y="3130"/>
                      <a:pt x="4010" y="3153"/>
                      <a:pt x="4102" y="3153"/>
                    </a:cubicBezTo>
                    <a:cubicBezTo>
                      <a:pt x="4304" y="3153"/>
                      <a:pt x="4499" y="3046"/>
                      <a:pt x="4604" y="2862"/>
                    </a:cubicBezTo>
                    <a:cubicBezTo>
                      <a:pt x="4757" y="2584"/>
                      <a:pt x="4652" y="2240"/>
                      <a:pt x="4374" y="2087"/>
                    </a:cubicBezTo>
                    <a:lnTo>
                      <a:pt x="546" y="0"/>
                    </a:lnTo>
                    <a:close/>
                  </a:path>
                </a:pathLst>
              </a:custGeom>
              <a:solidFill>
                <a:srgbClr val="47C6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33" name="Google Shape;15671;p127">
                <a:extLst>
                  <a:ext uri="{FF2B5EF4-FFF2-40B4-BE49-F238E27FC236}">
                    <a16:creationId xmlns:a16="http://schemas.microsoft.com/office/drawing/2014/main" id="{08100EC5-8FD8-CEE0-8697-AFDBC4F5E0D0}"/>
                  </a:ext>
                </a:extLst>
              </p:cNvPr>
              <p:cNvSpPr/>
              <p:nvPr/>
            </p:nvSpPr>
            <p:spPr>
              <a:xfrm>
                <a:off x="2852667" y="2204620"/>
                <a:ext cx="65099" cy="35845"/>
              </a:xfrm>
              <a:custGeom>
                <a:avLst/>
                <a:gdLst/>
                <a:ahLst/>
                <a:cxnLst/>
                <a:rect l="l" t="t" r="r" b="b"/>
                <a:pathLst>
                  <a:path w="2479" h="1365" extrusionOk="0">
                    <a:moveTo>
                      <a:pt x="220" y="1"/>
                    </a:moveTo>
                    <a:lnTo>
                      <a:pt x="0" y="384"/>
                    </a:lnTo>
                    <a:lnTo>
                      <a:pt x="1666" y="1293"/>
                    </a:lnTo>
                    <a:cubicBezTo>
                      <a:pt x="1752" y="1342"/>
                      <a:pt x="1845" y="1364"/>
                      <a:pt x="1937" y="1364"/>
                    </a:cubicBezTo>
                    <a:cubicBezTo>
                      <a:pt x="2171" y="1364"/>
                      <a:pt x="2397" y="1218"/>
                      <a:pt x="2479" y="977"/>
                    </a:cubicBezTo>
                    <a:lnTo>
                      <a:pt x="2479" y="977"/>
                    </a:lnTo>
                    <a:cubicBezTo>
                      <a:pt x="2405" y="1012"/>
                      <a:pt x="2325" y="1029"/>
                      <a:pt x="2245" y="1029"/>
                    </a:cubicBezTo>
                    <a:cubicBezTo>
                      <a:pt x="2150" y="1029"/>
                      <a:pt x="2055" y="1005"/>
                      <a:pt x="1972" y="958"/>
                    </a:cubicBezTo>
                    <a:lnTo>
                      <a:pt x="220" y="1"/>
                    </a:lnTo>
                    <a:close/>
                  </a:path>
                </a:pathLst>
              </a:custGeom>
              <a:solidFill>
                <a:srgbClr val="CE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34" name="Google Shape;15672;p127">
                <a:extLst>
                  <a:ext uri="{FF2B5EF4-FFF2-40B4-BE49-F238E27FC236}">
                    <a16:creationId xmlns:a16="http://schemas.microsoft.com/office/drawing/2014/main" id="{985A16CF-B0FB-031D-B479-4043EFEDB281}"/>
                  </a:ext>
                </a:extLst>
              </p:cNvPr>
              <p:cNvSpPr/>
              <p:nvPr/>
            </p:nvSpPr>
            <p:spPr>
              <a:xfrm>
                <a:off x="2772732" y="2178990"/>
                <a:ext cx="124945" cy="83060"/>
              </a:xfrm>
              <a:custGeom>
                <a:avLst/>
                <a:gdLst/>
                <a:ahLst/>
                <a:cxnLst/>
                <a:rect l="l" t="t" r="r" b="b"/>
                <a:pathLst>
                  <a:path w="4758" h="3163" extrusionOk="0">
                    <a:moveTo>
                      <a:pt x="546" y="1"/>
                    </a:moveTo>
                    <a:lnTo>
                      <a:pt x="1" y="1006"/>
                    </a:lnTo>
                    <a:lnTo>
                      <a:pt x="3829" y="3092"/>
                    </a:lnTo>
                    <a:cubicBezTo>
                      <a:pt x="3916" y="3140"/>
                      <a:pt x="4009" y="3163"/>
                      <a:pt x="4101" y="3163"/>
                    </a:cubicBezTo>
                    <a:cubicBezTo>
                      <a:pt x="4303" y="3163"/>
                      <a:pt x="4499" y="3053"/>
                      <a:pt x="4604" y="2862"/>
                    </a:cubicBezTo>
                    <a:cubicBezTo>
                      <a:pt x="4757" y="2585"/>
                      <a:pt x="4652" y="2240"/>
                      <a:pt x="4375" y="2097"/>
                    </a:cubicBezTo>
                    <a:lnTo>
                      <a:pt x="546" y="1"/>
                    </a:lnTo>
                    <a:close/>
                  </a:path>
                </a:pathLst>
              </a:custGeom>
              <a:solidFill>
                <a:srgbClr val="47C6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35" name="Google Shape;15673;p127">
                <a:extLst>
                  <a:ext uri="{FF2B5EF4-FFF2-40B4-BE49-F238E27FC236}">
                    <a16:creationId xmlns:a16="http://schemas.microsoft.com/office/drawing/2014/main" id="{98AE9E24-CC9B-4ECF-0E4B-B76B311A264F}"/>
                  </a:ext>
                </a:extLst>
              </p:cNvPr>
              <p:cNvSpPr/>
              <p:nvPr/>
            </p:nvSpPr>
            <p:spPr>
              <a:xfrm>
                <a:off x="2837594" y="2231011"/>
                <a:ext cx="56800" cy="31013"/>
              </a:xfrm>
              <a:custGeom>
                <a:avLst/>
                <a:gdLst/>
                <a:ahLst/>
                <a:cxnLst/>
                <a:rect l="l" t="t" r="r" b="b"/>
                <a:pathLst>
                  <a:path w="2163" h="1181" extrusionOk="0">
                    <a:moveTo>
                      <a:pt x="211" y="1"/>
                    </a:moveTo>
                    <a:lnTo>
                      <a:pt x="0" y="365"/>
                    </a:lnTo>
                    <a:lnTo>
                      <a:pt x="1359" y="1111"/>
                    </a:lnTo>
                    <a:cubicBezTo>
                      <a:pt x="1445" y="1158"/>
                      <a:pt x="1539" y="1181"/>
                      <a:pt x="1631" y="1181"/>
                    </a:cubicBezTo>
                    <a:cubicBezTo>
                      <a:pt x="1856" y="1181"/>
                      <a:pt x="2075" y="1048"/>
                      <a:pt x="2163" y="824"/>
                    </a:cubicBezTo>
                    <a:lnTo>
                      <a:pt x="2163" y="824"/>
                    </a:lnTo>
                    <a:cubicBezTo>
                      <a:pt x="2092" y="853"/>
                      <a:pt x="2019" y="868"/>
                      <a:pt x="1946" y="868"/>
                    </a:cubicBezTo>
                    <a:cubicBezTo>
                      <a:pt x="1853" y="868"/>
                      <a:pt x="1761" y="844"/>
                      <a:pt x="1675" y="795"/>
                    </a:cubicBezTo>
                    <a:lnTo>
                      <a:pt x="211" y="1"/>
                    </a:lnTo>
                    <a:close/>
                  </a:path>
                </a:pathLst>
              </a:custGeom>
              <a:solidFill>
                <a:srgbClr val="CE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36" name="Google Shape;15674;p127">
                <a:extLst>
                  <a:ext uri="{FF2B5EF4-FFF2-40B4-BE49-F238E27FC236}">
                    <a16:creationId xmlns:a16="http://schemas.microsoft.com/office/drawing/2014/main" id="{34E37BC2-1E10-2BF0-E6F6-9B8D85953BDF}"/>
                  </a:ext>
                </a:extLst>
              </p:cNvPr>
              <p:cNvSpPr/>
              <p:nvPr/>
            </p:nvSpPr>
            <p:spPr>
              <a:xfrm>
                <a:off x="2749623" y="2200602"/>
                <a:ext cx="124919" cy="82955"/>
              </a:xfrm>
              <a:custGeom>
                <a:avLst/>
                <a:gdLst/>
                <a:ahLst/>
                <a:cxnLst/>
                <a:rect l="l" t="t" r="r" b="b"/>
                <a:pathLst>
                  <a:path w="4757" h="3159" extrusionOk="0">
                    <a:moveTo>
                      <a:pt x="546" y="1"/>
                    </a:moveTo>
                    <a:lnTo>
                      <a:pt x="0" y="996"/>
                    </a:lnTo>
                    <a:lnTo>
                      <a:pt x="3829" y="3092"/>
                    </a:lnTo>
                    <a:cubicBezTo>
                      <a:pt x="3915" y="3137"/>
                      <a:pt x="4008" y="3158"/>
                      <a:pt x="4100" y="3158"/>
                    </a:cubicBezTo>
                    <a:cubicBezTo>
                      <a:pt x="4302" y="3158"/>
                      <a:pt x="4498" y="3053"/>
                      <a:pt x="4604" y="2862"/>
                    </a:cubicBezTo>
                    <a:cubicBezTo>
                      <a:pt x="4757" y="2585"/>
                      <a:pt x="4652" y="2240"/>
                      <a:pt x="4374" y="2087"/>
                    </a:cubicBezTo>
                    <a:lnTo>
                      <a:pt x="546" y="1"/>
                    </a:lnTo>
                    <a:close/>
                  </a:path>
                </a:pathLst>
              </a:custGeom>
              <a:solidFill>
                <a:srgbClr val="47C6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37" name="Google Shape;15675;p127">
                <a:extLst>
                  <a:ext uri="{FF2B5EF4-FFF2-40B4-BE49-F238E27FC236}">
                    <a16:creationId xmlns:a16="http://schemas.microsoft.com/office/drawing/2014/main" id="{19D1B5F0-8914-B9BC-3908-479FCFDC3CDF}"/>
                  </a:ext>
                </a:extLst>
              </p:cNvPr>
              <p:cNvSpPr/>
              <p:nvPr/>
            </p:nvSpPr>
            <p:spPr>
              <a:xfrm>
                <a:off x="2822495" y="2255906"/>
                <a:ext cx="49054" cy="27494"/>
              </a:xfrm>
              <a:custGeom>
                <a:avLst/>
                <a:gdLst/>
                <a:ahLst/>
                <a:cxnLst/>
                <a:rect l="l" t="t" r="r" b="b"/>
                <a:pathLst>
                  <a:path w="1868" h="1047" extrusionOk="0">
                    <a:moveTo>
                      <a:pt x="240" y="0"/>
                    </a:moveTo>
                    <a:lnTo>
                      <a:pt x="1" y="402"/>
                    </a:lnTo>
                    <a:lnTo>
                      <a:pt x="1054" y="976"/>
                    </a:lnTo>
                    <a:cubicBezTo>
                      <a:pt x="1140" y="1024"/>
                      <a:pt x="1234" y="1047"/>
                      <a:pt x="1326" y="1047"/>
                    </a:cubicBezTo>
                    <a:cubicBezTo>
                      <a:pt x="1528" y="1047"/>
                      <a:pt x="1724" y="938"/>
                      <a:pt x="1829" y="747"/>
                    </a:cubicBezTo>
                    <a:cubicBezTo>
                      <a:pt x="1848" y="728"/>
                      <a:pt x="1857" y="699"/>
                      <a:pt x="1867" y="670"/>
                    </a:cubicBezTo>
                    <a:lnTo>
                      <a:pt x="1867" y="670"/>
                    </a:lnTo>
                    <a:cubicBezTo>
                      <a:pt x="1801" y="695"/>
                      <a:pt x="1732" y="707"/>
                      <a:pt x="1663" y="707"/>
                    </a:cubicBezTo>
                    <a:cubicBezTo>
                      <a:pt x="1572" y="707"/>
                      <a:pt x="1480" y="685"/>
                      <a:pt x="1398" y="642"/>
                    </a:cubicBezTo>
                    <a:lnTo>
                      <a:pt x="240" y="0"/>
                    </a:lnTo>
                    <a:close/>
                  </a:path>
                </a:pathLst>
              </a:custGeom>
              <a:solidFill>
                <a:srgbClr val="CE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38" name="Google Shape;15676;p127">
                <a:extLst>
                  <a:ext uri="{FF2B5EF4-FFF2-40B4-BE49-F238E27FC236}">
                    <a16:creationId xmlns:a16="http://schemas.microsoft.com/office/drawing/2014/main" id="{0618DFF9-D8AD-CD9B-CA51-8FF3115096EE}"/>
                  </a:ext>
                </a:extLst>
              </p:cNvPr>
              <p:cNvSpPr/>
              <p:nvPr/>
            </p:nvSpPr>
            <p:spPr>
              <a:xfrm>
                <a:off x="2673968" y="2097059"/>
                <a:ext cx="159109" cy="144036"/>
              </a:xfrm>
              <a:custGeom>
                <a:avLst/>
                <a:gdLst/>
                <a:ahLst/>
                <a:cxnLst/>
                <a:rect l="l" t="t" r="r" b="b"/>
                <a:pathLst>
                  <a:path w="6059" h="5485" extrusionOk="0">
                    <a:moveTo>
                      <a:pt x="1896" y="1"/>
                    </a:moveTo>
                    <a:lnTo>
                      <a:pt x="1" y="3418"/>
                    </a:lnTo>
                    <a:lnTo>
                      <a:pt x="3877" y="5485"/>
                    </a:lnTo>
                    <a:lnTo>
                      <a:pt x="6059" y="1484"/>
                    </a:lnTo>
                    <a:lnTo>
                      <a:pt x="4145" y="680"/>
                    </a:lnTo>
                    <a:cubicBezTo>
                      <a:pt x="4106" y="661"/>
                      <a:pt x="4078" y="661"/>
                      <a:pt x="4039" y="661"/>
                    </a:cubicBezTo>
                    <a:lnTo>
                      <a:pt x="3274" y="757"/>
                    </a:lnTo>
                    <a:cubicBezTo>
                      <a:pt x="3226" y="757"/>
                      <a:pt x="3188" y="747"/>
                      <a:pt x="3149" y="728"/>
                    </a:cubicBezTo>
                    <a:lnTo>
                      <a:pt x="1896" y="1"/>
                    </a:lnTo>
                    <a:close/>
                  </a:path>
                </a:pathLst>
              </a:custGeom>
              <a:solidFill>
                <a:srgbClr val="47C6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39" name="Google Shape;15677;p127">
                <a:extLst>
                  <a:ext uri="{FF2B5EF4-FFF2-40B4-BE49-F238E27FC236}">
                    <a16:creationId xmlns:a16="http://schemas.microsoft.com/office/drawing/2014/main" id="{ADB45E07-887A-8F39-0503-539A633C942C}"/>
                  </a:ext>
                </a:extLst>
              </p:cNvPr>
              <p:cNvSpPr/>
              <p:nvPr/>
            </p:nvSpPr>
            <p:spPr>
              <a:xfrm>
                <a:off x="2659157" y="2039261"/>
                <a:ext cx="98528" cy="170191"/>
              </a:xfrm>
              <a:custGeom>
                <a:avLst/>
                <a:gdLst/>
                <a:ahLst/>
                <a:cxnLst/>
                <a:rect l="l" t="t" r="r" b="b"/>
                <a:pathLst>
                  <a:path w="3752" h="6481" extrusionOk="0">
                    <a:moveTo>
                      <a:pt x="0" y="1"/>
                    </a:moveTo>
                    <a:lnTo>
                      <a:pt x="0" y="5810"/>
                    </a:lnTo>
                    <a:lnTo>
                      <a:pt x="1101" y="6451"/>
                    </a:lnTo>
                    <a:cubicBezTo>
                      <a:pt x="1133" y="6471"/>
                      <a:pt x="1170" y="6480"/>
                      <a:pt x="1207" y="6480"/>
                    </a:cubicBezTo>
                    <a:cubicBezTo>
                      <a:pt x="1279" y="6480"/>
                      <a:pt x="1350" y="6444"/>
                      <a:pt x="1388" y="6375"/>
                    </a:cubicBezTo>
                    <a:lnTo>
                      <a:pt x="3694" y="2384"/>
                    </a:lnTo>
                    <a:cubicBezTo>
                      <a:pt x="3752" y="2288"/>
                      <a:pt x="3713" y="2154"/>
                      <a:pt x="3618" y="2097"/>
                    </a:cubicBezTo>
                    <a:lnTo>
                      <a:pt x="0" y="1"/>
                    </a:lnTo>
                    <a:close/>
                  </a:path>
                </a:pathLst>
              </a:custGeom>
              <a:solidFill>
                <a:srgbClr val="F4F6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40" name="Google Shape;15678;p127">
                <a:extLst>
                  <a:ext uri="{FF2B5EF4-FFF2-40B4-BE49-F238E27FC236}">
                    <a16:creationId xmlns:a16="http://schemas.microsoft.com/office/drawing/2014/main" id="{F2402F31-77A9-CBCC-D36A-04CEB3C523DD}"/>
                  </a:ext>
                </a:extLst>
              </p:cNvPr>
              <p:cNvSpPr/>
              <p:nvPr/>
            </p:nvSpPr>
            <p:spPr>
              <a:xfrm>
                <a:off x="2659157" y="2039261"/>
                <a:ext cx="75918" cy="159109"/>
              </a:xfrm>
              <a:custGeom>
                <a:avLst/>
                <a:gdLst/>
                <a:ahLst/>
                <a:cxnLst/>
                <a:rect l="l" t="t" r="r" b="b"/>
                <a:pathLst>
                  <a:path w="2891" h="6059" extrusionOk="0">
                    <a:moveTo>
                      <a:pt x="0" y="1"/>
                    </a:moveTo>
                    <a:lnTo>
                      <a:pt x="0" y="5810"/>
                    </a:lnTo>
                    <a:lnTo>
                      <a:pt x="431" y="6059"/>
                    </a:lnTo>
                    <a:lnTo>
                      <a:pt x="2890" y="1676"/>
                    </a:lnTo>
                    <a:lnTo>
                      <a:pt x="0" y="1"/>
                    </a:lnTo>
                    <a:close/>
                  </a:path>
                </a:pathLst>
              </a:custGeom>
              <a:solidFill>
                <a:srgbClr val="058D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41" name="Google Shape;15679;p127">
                <a:extLst>
                  <a:ext uri="{FF2B5EF4-FFF2-40B4-BE49-F238E27FC236}">
                    <a16:creationId xmlns:a16="http://schemas.microsoft.com/office/drawing/2014/main" id="{701DFF1A-8104-BEDE-A28F-A62101A5A6BD}"/>
                  </a:ext>
                </a:extLst>
              </p:cNvPr>
              <p:cNvSpPr/>
              <p:nvPr/>
            </p:nvSpPr>
            <p:spPr>
              <a:xfrm>
                <a:off x="2659157" y="2159138"/>
                <a:ext cx="47268" cy="50314"/>
              </a:xfrm>
              <a:custGeom>
                <a:avLst/>
                <a:gdLst/>
                <a:ahLst/>
                <a:cxnLst/>
                <a:rect l="l" t="t" r="r" b="b"/>
                <a:pathLst>
                  <a:path w="1800" h="1916" extrusionOk="0">
                    <a:moveTo>
                      <a:pt x="0" y="1"/>
                    </a:moveTo>
                    <a:lnTo>
                      <a:pt x="0" y="1245"/>
                    </a:lnTo>
                    <a:lnTo>
                      <a:pt x="1101" y="1886"/>
                    </a:lnTo>
                    <a:cubicBezTo>
                      <a:pt x="1133" y="1906"/>
                      <a:pt x="1170" y="1915"/>
                      <a:pt x="1207" y="1915"/>
                    </a:cubicBezTo>
                    <a:cubicBezTo>
                      <a:pt x="1279" y="1915"/>
                      <a:pt x="1350" y="1879"/>
                      <a:pt x="1388" y="1810"/>
                    </a:cubicBezTo>
                    <a:lnTo>
                      <a:pt x="1799" y="1092"/>
                    </a:lnTo>
                    <a:lnTo>
                      <a:pt x="0" y="1"/>
                    </a:lnTo>
                    <a:close/>
                  </a:path>
                </a:pathLst>
              </a:custGeom>
              <a:solidFill>
                <a:srgbClr val="E8ED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42" name="Google Shape;15680;p127">
                <a:extLst>
                  <a:ext uri="{FF2B5EF4-FFF2-40B4-BE49-F238E27FC236}">
                    <a16:creationId xmlns:a16="http://schemas.microsoft.com/office/drawing/2014/main" id="{83215603-DA37-EC3D-75AA-1D56E6E74526}"/>
                  </a:ext>
                </a:extLst>
              </p:cNvPr>
              <p:cNvSpPr/>
              <p:nvPr/>
            </p:nvSpPr>
            <p:spPr>
              <a:xfrm>
                <a:off x="2659157" y="2159138"/>
                <a:ext cx="24894" cy="39232"/>
              </a:xfrm>
              <a:custGeom>
                <a:avLst/>
                <a:gdLst/>
                <a:ahLst/>
                <a:cxnLst/>
                <a:rect l="l" t="t" r="r" b="b"/>
                <a:pathLst>
                  <a:path w="948" h="1494" extrusionOk="0">
                    <a:moveTo>
                      <a:pt x="0" y="1"/>
                    </a:moveTo>
                    <a:lnTo>
                      <a:pt x="0" y="1245"/>
                    </a:lnTo>
                    <a:lnTo>
                      <a:pt x="431" y="1494"/>
                    </a:lnTo>
                    <a:lnTo>
                      <a:pt x="948" y="575"/>
                    </a:lnTo>
                    <a:lnTo>
                      <a:pt x="0" y="1"/>
                    </a:lnTo>
                    <a:close/>
                  </a:path>
                </a:pathLst>
              </a:custGeom>
              <a:solidFill>
                <a:srgbClr val="465C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43" name="Google Shape;15681;p127">
                <a:extLst>
                  <a:ext uri="{FF2B5EF4-FFF2-40B4-BE49-F238E27FC236}">
                    <a16:creationId xmlns:a16="http://schemas.microsoft.com/office/drawing/2014/main" id="{9ECA7C5E-7AF7-A93F-BEA2-22A7AF4012AC}"/>
                  </a:ext>
                </a:extLst>
              </p:cNvPr>
              <p:cNvSpPr/>
              <p:nvPr/>
            </p:nvSpPr>
            <p:spPr>
              <a:xfrm>
                <a:off x="2706898" y="2179463"/>
                <a:ext cx="67121" cy="53859"/>
              </a:xfrm>
              <a:custGeom>
                <a:avLst/>
                <a:gdLst/>
                <a:ahLst/>
                <a:cxnLst/>
                <a:rect l="l" t="t" r="r" b="b"/>
                <a:pathLst>
                  <a:path w="2556" h="2051" extrusionOk="0">
                    <a:moveTo>
                      <a:pt x="1902" y="1"/>
                    </a:moveTo>
                    <a:cubicBezTo>
                      <a:pt x="1788" y="1"/>
                      <a:pt x="1672" y="35"/>
                      <a:pt x="1570" y="107"/>
                    </a:cubicBezTo>
                    <a:lnTo>
                      <a:pt x="316" y="1016"/>
                    </a:lnTo>
                    <a:cubicBezTo>
                      <a:pt x="58" y="1198"/>
                      <a:pt x="1" y="1562"/>
                      <a:pt x="192" y="1811"/>
                    </a:cubicBezTo>
                    <a:cubicBezTo>
                      <a:pt x="302" y="1968"/>
                      <a:pt x="477" y="2051"/>
                      <a:pt x="654" y="2051"/>
                    </a:cubicBezTo>
                    <a:cubicBezTo>
                      <a:pt x="769" y="2051"/>
                      <a:pt x="885" y="2016"/>
                      <a:pt x="986" y="1945"/>
                    </a:cubicBezTo>
                    <a:lnTo>
                      <a:pt x="2240" y="1045"/>
                    </a:lnTo>
                    <a:cubicBezTo>
                      <a:pt x="2508" y="854"/>
                      <a:pt x="2556" y="490"/>
                      <a:pt x="2364" y="232"/>
                    </a:cubicBezTo>
                    <a:cubicBezTo>
                      <a:pt x="2249" y="81"/>
                      <a:pt x="2077" y="1"/>
                      <a:pt x="1902" y="1"/>
                    </a:cubicBezTo>
                    <a:close/>
                  </a:path>
                </a:pathLst>
              </a:custGeom>
              <a:solidFill>
                <a:srgbClr val="CE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44" name="Google Shape;15682;p127">
                <a:extLst>
                  <a:ext uri="{FF2B5EF4-FFF2-40B4-BE49-F238E27FC236}">
                    <a16:creationId xmlns:a16="http://schemas.microsoft.com/office/drawing/2014/main" id="{8135C42D-827A-34C3-3ACC-5A733C242A4C}"/>
                  </a:ext>
                </a:extLst>
              </p:cNvPr>
              <p:cNvSpPr/>
              <p:nvPr/>
            </p:nvSpPr>
            <p:spPr>
              <a:xfrm>
                <a:off x="2710154" y="2180513"/>
                <a:ext cx="63864" cy="52914"/>
              </a:xfrm>
              <a:custGeom>
                <a:avLst/>
                <a:gdLst/>
                <a:ahLst/>
                <a:cxnLst/>
                <a:rect l="l" t="t" r="r" b="b"/>
                <a:pathLst>
                  <a:path w="2432" h="2015" extrusionOk="0">
                    <a:moveTo>
                      <a:pt x="2001" y="0"/>
                    </a:moveTo>
                    <a:lnTo>
                      <a:pt x="2001" y="0"/>
                    </a:lnTo>
                    <a:cubicBezTo>
                      <a:pt x="2097" y="249"/>
                      <a:pt x="2011" y="527"/>
                      <a:pt x="1800" y="680"/>
                    </a:cubicBezTo>
                    <a:lnTo>
                      <a:pt x="546" y="1589"/>
                    </a:lnTo>
                    <a:cubicBezTo>
                      <a:pt x="445" y="1661"/>
                      <a:pt x="329" y="1699"/>
                      <a:pt x="211" y="1699"/>
                    </a:cubicBezTo>
                    <a:cubicBezTo>
                      <a:pt x="141" y="1699"/>
                      <a:pt x="69" y="1685"/>
                      <a:pt x="1" y="1656"/>
                    </a:cubicBezTo>
                    <a:lnTo>
                      <a:pt x="1" y="1656"/>
                    </a:lnTo>
                    <a:cubicBezTo>
                      <a:pt x="89" y="1883"/>
                      <a:pt x="303" y="2015"/>
                      <a:pt x="525" y="2015"/>
                    </a:cubicBezTo>
                    <a:cubicBezTo>
                      <a:pt x="640" y="2015"/>
                      <a:pt x="758" y="1980"/>
                      <a:pt x="862" y="1905"/>
                    </a:cubicBezTo>
                    <a:lnTo>
                      <a:pt x="2116" y="1005"/>
                    </a:lnTo>
                    <a:cubicBezTo>
                      <a:pt x="2384" y="814"/>
                      <a:pt x="2432" y="440"/>
                      <a:pt x="2240" y="192"/>
                    </a:cubicBezTo>
                    <a:cubicBezTo>
                      <a:pt x="2173" y="106"/>
                      <a:pt x="2097" y="39"/>
                      <a:pt x="2001" y="0"/>
                    </a:cubicBezTo>
                    <a:close/>
                  </a:path>
                </a:pathLst>
              </a:custGeom>
              <a:solidFill>
                <a:srgbClr val="A9B4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45" name="Google Shape;15683;p127">
                <a:extLst>
                  <a:ext uri="{FF2B5EF4-FFF2-40B4-BE49-F238E27FC236}">
                    <a16:creationId xmlns:a16="http://schemas.microsoft.com/office/drawing/2014/main" id="{944C9289-CF38-30E2-60A4-5A9ABA4303EA}"/>
                  </a:ext>
                </a:extLst>
              </p:cNvPr>
              <p:cNvSpPr/>
              <p:nvPr/>
            </p:nvSpPr>
            <p:spPr>
              <a:xfrm>
                <a:off x="2732528" y="2203254"/>
                <a:ext cx="59847" cy="48528"/>
              </a:xfrm>
              <a:custGeom>
                <a:avLst/>
                <a:gdLst/>
                <a:ahLst/>
                <a:cxnLst/>
                <a:rect l="l" t="t" r="r" b="b"/>
                <a:pathLst>
                  <a:path w="2279" h="1848" extrusionOk="0">
                    <a:moveTo>
                      <a:pt x="1629" y="1"/>
                    </a:moveTo>
                    <a:cubicBezTo>
                      <a:pt x="1512" y="1"/>
                      <a:pt x="1394" y="37"/>
                      <a:pt x="1293" y="110"/>
                    </a:cubicBezTo>
                    <a:lnTo>
                      <a:pt x="326" y="809"/>
                    </a:lnTo>
                    <a:cubicBezTo>
                      <a:pt x="68" y="1000"/>
                      <a:pt x="1" y="1364"/>
                      <a:pt x="192" y="1623"/>
                    </a:cubicBezTo>
                    <a:cubicBezTo>
                      <a:pt x="306" y="1770"/>
                      <a:pt x="473" y="1847"/>
                      <a:pt x="643" y="1847"/>
                    </a:cubicBezTo>
                    <a:cubicBezTo>
                      <a:pt x="759" y="1847"/>
                      <a:pt x="876" y="1811"/>
                      <a:pt x="977" y="1737"/>
                    </a:cubicBezTo>
                    <a:lnTo>
                      <a:pt x="1963" y="1039"/>
                    </a:lnTo>
                    <a:cubicBezTo>
                      <a:pt x="2221" y="847"/>
                      <a:pt x="2278" y="484"/>
                      <a:pt x="2077" y="225"/>
                    </a:cubicBezTo>
                    <a:cubicBezTo>
                      <a:pt x="1969" y="77"/>
                      <a:pt x="1801" y="1"/>
                      <a:pt x="1629" y="1"/>
                    </a:cubicBezTo>
                    <a:close/>
                  </a:path>
                </a:pathLst>
              </a:custGeom>
              <a:solidFill>
                <a:srgbClr val="CE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46" name="Google Shape;15684;p127">
                <a:extLst>
                  <a:ext uri="{FF2B5EF4-FFF2-40B4-BE49-F238E27FC236}">
                    <a16:creationId xmlns:a16="http://schemas.microsoft.com/office/drawing/2014/main" id="{8E715DA1-883F-3C48-2B4C-6DB1813D5023}"/>
                  </a:ext>
                </a:extLst>
              </p:cNvPr>
              <p:cNvSpPr/>
              <p:nvPr/>
            </p:nvSpPr>
            <p:spPr>
              <a:xfrm>
                <a:off x="2735810" y="2204384"/>
                <a:ext cx="56564" cy="47399"/>
              </a:xfrm>
              <a:custGeom>
                <a:avLst/>
                <a:gdLst/>
                <a:ahLst/>
                <a:cxnLst/>
                <a:rect l="l" t="t" r="r" b="b"/>
                <a:pathLst>
                  <a:path w="2154" h="1805" extrusionOk="0">
                    <a:moveTo>
                      <a:pt x="1713" y="0"/>
                    </a:moveTo>
                    <a:lnTo>
                      <a:pt x="1713" y="0"/>
                    </a:lnTo>
                    <a:cubicBezTo>
                      <a:pt x="1809" y="240"/>
                      <a:pt x="1732" y="517"/>
                      <a:pt x="1522" y="670"/>
                    </a:cubicBezTo>
                    <a:lnTo>
                      <a:pt x="546" y="1379"/>
                    </a:lnTo>
                    <a:cubicBezTo>
                      <a:pt x="444" y="1450"/>
                      <a:pt x="328" y="1488"/>
                      <a:pt x="211" y="1488"/>
                    </a:cubicBezTo>
                    <a:cubicBezTo>
                      <a:pt x="140" y="1488"/>
                      <a:pt x="69" y="1474"/>
                      <a:pt x="0" y="1446"/>
                    </a:cubicBezTo>
                    <a:lnTo>
                      <a:pt x="0" y="1446"/>
                    </a:lnTo>
                    <a:cubicBezTo>
                      <a:pt x="19" y="1493"/>
                      <a:pt x="38" y="1541"/>
                      <a:pt x="67" y="1580"/>
                    </a:cubicBezTo>
                    <a:cubicBezTo>
                      <a:pt x="181" y="1727"/>
                      <a:pt x="348" y="1804"/>
                      <a:pt x="520" y="1804"/>
                    </a:cubicBezTo>
                    <a:cubicBezTo>
                      <a:pt x="637" y="1804"/>
                      <a:pt x="756" y="1768"/>
                      <a:pt x="861" y="1694"/>
                    </a:cubicBezTo>
                    <a:lnTo>
                      <a:pt x="1838" y="996"/>
                    </a:lnTo>
                    <a:cubicBezTo>
                      <a:pt x="2096" y="804"/>
                      <a:pt x="2153" y="441"/>
                      <a:pt x="1952" y="182"/>
                    </a:cubicBezTo>
                    <a:cubicBezTo>
                      <a:pt x="1895" y="106"/>
                      <a:pt x="1809" y="39"/>
                      <a:pt x="1713" y="0"/>
                    </a:cubicBezTo>
                    <a:close/>
                  </a:path>
                </a:pathLst>
              </a:custGeom>
              <a:solidFill>
                <a:srgbClr val="A9B4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47" name="Google Shape;15685;p127">
                <a:extLst>
                  <a:ext uri="{FF2B5EF4-FFF2-40B4-BE49-F238E27FC236}">
                    <a16:creationId xmlns:a16="http://schemas.microsoft.com/office/drawing/2014/main" id="{EC401B5B-FC0C-1721-C2F3-295E36755B7F}"/>
                  </a:ext>
                </a:extLst>
              </p:cNvPr>
              <p:cNvSpPr/>
              <p:nvPr/>
            </p:nvSpPr>
            <p:spPr>
              <a:xfrm>
                <a:off x="2758158" y="2226967"/>
                <a:ext cx="52310" cy="43303"/>
              </a:xfrm>
              <a:custGeom>
                <a:avLst/>
                <a:gdLst/>
                <a:ahLst/>
                <a:cxnLst/>
                <a:rect l="l" t="t" r="r" b="b"/>
                <a:pathLst>
                  <a:path w="1992" h="1649" extrusionOk="0">
                    <a:moveTo>
                      <a:pt x="1340" y="1"/>
                    </a:moveTo>
                    <a:cubicBezTo>
                      <a:pt x="1227" y="1"/>
                      <a:pt x="1114" y="35"/>
                      <a:pt x="1015" y="107"/>
                    </a:cubicBezTo>
                    <a:lnTo>
                      <a:pt x="317" y="614"/>
                    </a:lnTo>
                    <a:cubicBezTo>
                      <a:pt x="58" y="796"/>
                      <a:pt x="1" y="1160"/>
                      <a:pt x="183" y="1409"/>
                    </a:cubicBezTo>
                    <a:cubicBezTo>
                      <a:pt x="299" y="1566"/>
                      <a:pt x="475" y="1648"/>
                      <a:pt x="652" y="1648"/>
                    </a:cubicBezTo>
                    <a:cubicBezTo>
                      <a:pt x="766" y="1648"/>
                      <a:pt x="879" y="1614"/>
                      <a:pt x="977" y="1543"/>
                    </a:cubicBezTo>
                    <a:lnTo>
                      <a:pt x="1676" y="1035"/>
                    </a:lnTo>
                    <a:cubicBezTo>
                      <a:pt x="1944" y="844"/>
                      <a:pt x="1991" y="480"/>
                      <a:pt x="1800" y="231"/>
                    </a:cubicBezTo>
                    <a:cubicBezTo>
                      <a:pt x="1684" y="81"/>
                      <a:pt x="1513" y="1"/>
                      <a:pt x="1340" y="1"/>
                    </a:cubicBezTo>
                    <a:close/>
                  </a:path>
                </a:pathLst>
              </a:custGeom>
              <a:solidFill>
                <a:srgbClr val="CE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48" name="Google Shape;15686;p127">
                <a:extLst>
                  <a:ext uri="{FF2B5EF4-FFF2-40B4-BE49-F238E27FC236}">
                    <a16:creationId xmlns:a16="http://schemas.microsoft.com/office/drawing/2014/main" id="{55C79A02-AA60-51EF-311C-DA099790F7F7}"/>
                  </a:ext>
                </a:extLst>
              </p:cNvPr>
              <p:cNvSpPr/>
              <p:nvPr/>
            </p:nvSpPr>
            <p:spPr>
              <a:xfrm>
                <a:off x="2761178" y="2228018"/>
                <a:ext cx="49290" cy="42252"/>
              </a:xfrm>
              <a:custGeom>
                <a:avLst/>
                <a:gdLst/>
                <a:ahLst/>
                <a:cxnLst/>
                <a:rect l="l" t="t" r="r" b="b"/>
                <a:pathLst>
                  <a:path w="1877" h="1609" extrusionOk="0">
                    <a:moveTo>
                      <a:pt x="1417" y="0"/>
                    </a:moveTo>
                    <a:cubicBezTo>
                      <a:pt x="1503" y="230"/>
                      <a:pt x="1417" y="498"/>
                      <a:pt x="1216" y="651"/>
                    </a:cubicBezTo>
                    <a:lnTo>
                      <a:pt x="517" y="1148"/>
                    </a:lnTo>
                    <a:cubicBezTo>
                      <a:pt x="419" y="1222"/>
                      <a:pt x="305" y="1261"/>
                      <a:pt x="190" y="1261"/>
                    </a:cubicBezTo>
                    <a:cubicBezTo>
                      <a:pt x="126" y="1261"/>
                      <a:pt x="62" y="1249"/>
                      <a:pt x="1" y="1225"/>
                    </a:cubicBezTo>
                    <a:lnTo>
                      <a:pt x="1" y="1225"/>
                    </a:lnTo>
                    <a:cubicBezTo>
                      <a:pt x="20" y="1273"/>
                      <a:pt x="39" y="1321"/>
                      <a:pt x="68" y="1369"/>
                    </a:cubicBezTo>
                    <a:cubicBezTo>
                      <a:pt x="184" y="1526"/>
                      <a:pt x="360" y="1608"/>
                      <a:pt x="539" y="1608"/>
                    </a:cubicBezTo>
                    <a:cubicBezTo>
                      <a:pt x="654" y="1608"/>
                      <a:pt x="770" y="1574"/>
                      <a:pt x="872" y="1503"/>
                    </a:cubicBezTo>
                    <a:lnTo>
                      <a:pt x="1561" y="995"/>
                    </a:lnTo>
                    <a:cubicBezTo>
                      <a:pt x="1829" y="804"/>
                      <a:pt x="1876" y="440"/>
                      <a:pt x="1685" y="182"/>
                    </a:cubicBezTo>
                    <a:cubicBezTo>
                      <a:pt x="1618" y="96"/>
                      <a:pt x="1522" y="29"/>
                      <a:pt x="1417" y="0"/>
                    </a:cubicBezTo>
                    <a:close/>
                  </a:path>
                </a:pathLst>
              </a:custGeom>
              <a:solidFill>
                <a:srgbClr val="A9B4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49" name="Google Shape;15687;p127">
                <a:extLst>
                  <a:ext uri="{FF2B5EF4-FFF2-40B4-BE49-F238E27FC236}">
                    <a16:creationId xmlns:a16="http://schemas.microsoft.com/office/drawing/2014/main" id="{A4BBC1AA-E0DC-085D-6903-3340BBCC491D}"/>
                  </a:ext>
                </a:extLst>
              </p:cNvPr>
              <p:cNvSpPr/>
              <p:nvPr/>
            </p:nvSpPr>
            <p:spPr>
              <a:xfrm>
                <a:off x="2783814" y="2250706"/>
                <a:ext cx="45010" cy="37919"/>
              </a:xfrm>
              <a:custGeom>
                <a:avLst/>
                <a:gdLst/>
                <a:ahLst/>
                <a:cxnLst/>
                <a:rect l="l" t="t" r="r" b="b"/>
                <a:pathLst>
                  <a:path w="1714" h="1444" extrusionOk="0">
                    <a:moveTo>
                      <a:pt x="1057" y="0"/>
                    </a:moveTo>
                    <a:cubicBezTo>
                      <a:pt x="942" y="0"/>
                      <a:pt x="826" y="34"/>
                      <a:pt x="727" y="103"/>
                    </a:cubicBezTo>
                    <a:lnTo>
                      <a:pt x="316" y="409"/>
                    </a:lnTo>
                    <a:cubicBezTo>
                      <a:pt x="57" y="600"/>
                      <a:pt x="0" y="954"/>
                      <a:pt x="182" y="1203"/>
                    </a:cubicBezTo>
                    <a:cubicBezTo>
                      <a:pt x="298" y="1360"/>
                      <a:pt x="475" y="1443"/>
                      <a:pt x="651" y="1443"/>
                    </a:cubicBezTo>
                    <a:cubicBezTo>
                      <a:pt x="765" y="1443"/>
                      <a:pt x="879" y="1409"/>
                      <a:pt x="976" y="1337"/>
                    </a:cubicBezTo>
                    <a:lnTo>
                      <a:pt x="1397" y="1031"/>
                    </a:lnTo>
                    <a:cubicBezTo>
                      <a:pt x="1656" y="849"/>
                      <a:pt x="1713" y="485"/>
                      <a:pt x="1512" y="227"/>
                    </a:cubicBezTo>
                    <a:cubicBezTo>
                      <a:pt x="1403" y="77"/>
                      <a:pt x="1231" y="0"/>
                      <a:pt x="1057" y="0"/>
                    </a:cubicBezTo>
                    <a:close/>
                  </a:path>
                </a:pathLst>
              </a:custGeom>
              <a:solidFill>
                <a:srgbClr val="CE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50" name="Google Shape;15688;p127">
                <a:extLst>
                  <a:ext uri="{FF2B5EF4-FFF2-40B4-BE49-F238E27FC236}">
                    <a16:creationId xmlns:a16="http://schemas.microsoft.com/office/drawing/2014/main" id="{0044061E-6096-B33E-DF75-6C2BDCDF2C9B}"/>
                  </a:ext>
                </a:extLst>
              </p:cNvPr>
              <p:cNvSpPr/>
              <p:nvPr/>
            </p:nvSpPr>
            <p:spPr>
              <a:xfrm>
                <a:off x="2786807" y="2251888"/>
                <a:ext cx="42016" cy="36764"/>
              </a:xfrm>
              <a:custGeom>
                <a:avLst/>
                <a:gdLst/>
                <a:ahLst/>
                <a:cxnLst/>
                <a:rect l="l" t="t" r="r" b="b"/>
                <a:pathLst>
                  <a:path w="1600" h="1400" extrusionOk="0">
                    <a:moveTo>
                      <a:pt x="1149" y="0"/>
                    </a:moveTo>
                    <a:lnTo>
                      <a:pt x="1149" y="0"/>
                    </a:lnTo>
                    <a:cubicBezTo>
                      <a:pt x="1245" y="239"/>
                      <a:pt x="1168" y="517"/>
                      <a:pt x="958" y="661"/>
                    </a:cubicBezTo>
                    <a:lnTo>
                      <a:pt x="537" y="967"/>
                    </a:lnTo>
                    <a:cubicBezTo>
                      <a:pt x="442" y="1038"/>
                      <a:pt x="329" y="1072"/>
                      <a:pt x="213" y="1072"/>
                    </a:cubicBezTo>
                    <a:cubicBezTo>
                      <a:pt x="142" y="1072"/>
                      <a:pt x="70" y="1059"/>
                      <a:pt x="1" y="1034"/>
                    </a:cubicBezTo>
                    <a:lnTo>
                      <a:pt x="1" y="1034"/>
                    </a:lnTo>
                    <a:cubicBezTo>
                      <a:pt x="90" y="1263"/>
                      <a:pt x="311" y="1400"/>
                      <a:pt x="537" y="1400"/>
                    </a:cubicBezTo>
                    <a:cubicBezTo>
                      <a:pt x="650" y="1400"/>
                      <a:pt x="763" y="1366"/>
                      <a:pt x="862" y="1292"/>
                    </a:cubicBezTo>
                    <a:lnTo>
                      <a:pt x="1283" y="986"/>
                    </a:lnTo>
                    <a:cubicBezTo>
                      <a:pt x="1542" y="804"/>
                      <a:pt x="1599" y="431"/>
                      <a:pt x="1398" y="182"/>
                    </a:cubicBezTo>
                    <a:cubicBezTo>
                      <a:pt x="1331" y="96"/>
                      <a:pt x="1255" y="38"/>
                      <a:pt x="1149" y="0"/>
                    </a:cubicBezTo>
                    <a:close/>
                  </a:path>
                </a:pathLst>
              </a:custGeom>
              <a:solidFill>
                <a:srgbClr val="A9B4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51" name="Google Shape;15689;p127">
                <a:extLst>
                  <a:ext uri="{FF2B5EF4-FFF2-40B4-BE49-F238E27FC236}">
                    <a16:creationId xmlns:a16="http://schemas.microsoft.com/office/drawing/2014/main" id="{F4A6225E-48D3-B045-AFF8-CABCDE4F6CB4}"/>
                  </a:ext>
                </a:extLst>
              </p:cNvPr>
              <p:cNvSpPr/>
              <p:nvPr/>
            </p:nvSpPr>
            <p:spPr>
              <a:xfrm>
                <a:off x="2788829" y="2102101"/>
                <a:ext cx="64862" cy="99788"/>
              </a:xfrm>
              <a:custGeom>
                <a:avLst/>
                <a:gdLst/>
                <a:ahLst/>
                <a:cxnLst/>
                <a:rect l="l" t="t" r="r" b="b"/>
                <a:pathLst>
                  <a:path w="2470" h="3800" extrusionOk="0">
                    <a:moveTo>
                      <a:pt x="527" y="0"/>
                    </a:moveTo>
                    <a:cubicBezTo>
                      <a:pt x="441" y="0"/>
                      <a:pt x="364" y="58"/>
                      <a:pt x="345" y="144"/>
                    </a:cubicBezTo>
                    <a:lnTo>
                      <a:pt x="0" y="1522"/>
                    </a:lnTo>
                    <a:lnTo>
                      <a:pt x="0" y="3034"/>
                    </a:lnTo>
                    <a:cubicBezTo>
                      <a:pt x="0" y="3455"/>
                      <a:pt x="345" y="3800"/>
                      <a:pt x="766" y="3800"/>
                    </a:cubicBezTo>
                    <a:cubicBezTo>
                      <a:pt x="1178" y="3800"/>
                      <a:pt x="1522" y="3455"/>
                      <a:pt x="1522" y="3034"/>
                    </a:cubicBezTo>
                    <a:lnTo>
                      <a:pt x="1522" y="1895"/>
                    </a:lnTo>
                    <a:lnTo>
                      <a:pt x="2470" y="0"/>
                    </a:lnTo>
                    <a:close/>
                  </a:path>
                </a:pathLst>
              </a:custGeom>
              <a:solidFill>
                <a:srgbClr val="CE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52" name="Google Shape;15690;p127">
                <a:extLst>
                  <a:ext uri="{FF2B5EF4-FFF2-40B4-BE49-F238E27FC236}">
                    <a16:creationId xmlns:a16="http://schemas.microsoft.com/office/drawing/2014/main" id="{3B42E948-EDD3-0366-DBEE-777B01D22779}"/>
                  </a:ext>
                </a:extLst>
              </p:cNvPr>
              <p:cNvSpPr/>
              <p:nvPr/>
            </p:nvSpPr>
            <p:spPr>
              <a:xfrm>
                <a:off x="2788829" y="2102101"/>
                <a:ext cx="27415" cy="99788"/>
              </a:xfrm>
              <a:custGeom>
                <a:avLst/>
                <a:gdLst/>
                <a:ahLst/>
                <a:cxnLst/>
                <a:rect l="l" t="t" r="r" b="b"/>
                <a:pathLst>
                  <a:path w="1044" h="3800" extrusionOk="0">
                    <a:moveTo>
                      <a:pt x="527" y="0"/>
                    </a:moveTo>
                    <a:cubicBezTo>
                      <a:pt x="441" y="0"/>
                      <a:pt x="364" y="58"/>
                      <a:pt x="335" y="144"/>
                    </a:cubicBezTo>
                    <a:lnTo>
                      <a:pt x="0" y="1512"/>
                    </a:lnTo>
                    <a:lnTo>
                      <a:pt x="0" y="3034"/>
                    </a:lnTo>
                    <a:cubicBezTo>
                      <a:pt x="0" y="3455"/>
                      <a:pt x="335" y="3800"/>
                      <a:pt x="756" y="3800"/>
                    </a:cubicBezTo>
                    <a:cubicBezTo>
                      <a:pt x="852" y="3800"/>
                      <a:pt x="948" y="3781"/>
                      <a:pt x="1044" y="3742"/>
                    </a:cubicBezTo>
                    <a:cubicBezTo>
                      <a:pt x="756" y="3627"/>
                      <a:pt x="565" y="3350"/>
                      <a:pt x="565" y="3034"/>
                    </a:cubicBezTo>
                    <a:lnTo>
                      <a:pt x="565" y="1522"/>
                    </a:lnTo>
                    <a:lnTo>
                      <a:pt x="948" y="0"/>
                    </a:lnTo>
                    <a:close/>
                  </a:path>
                </a:pathLst>
              </a:custGeom>
              <a:solidFill>
                <a:srgbClr val="A9B4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grpSp>
      <p:grpSp>
        <p:nvGrpSpPr>
          <p:cNvPr id="553" name="Group 552">
            <a:extLst>
              <a:ext uri="{FF2B5EF4-FFF2-40B4-BE49-F238E27FC236}">
                <a16:creationId xmlns:a16="http://schemas.microsoft.com/office/drawing/2014/main" id="{C72A7F80-9321-EE7F-F40C-0B4ACBB952E1}"/>
              </a:ext>
            </a:extLst>
          </p:cNvPr>
          <p:cNvGrpSpPr/>
          <p:nvPr/>
        </p:nvGrpSpPr>
        <p:grpSpPr>
          <a:xfrm>
            <a:off x="6367139" y="4970672"/>
            <a:ext cx="572700" cy="572700"/>
            <a:chOff x="6390826" y="4149966"/>
            <a:chExt cx="572700" cy="572700"/>
          </a:xfrm>
        </p:grpSpPr>
        <p:sp>
          <p:nvSpPr>
            <p:cNvPr id="554" name="Google Shape;839;p61">
              <a:extLst>
                <a:ext uri="{FF2B5EF4-FFF2-40B4-BE49-F238E27FC236}">
                  <a16:creationId xmlns:a16="http://schemas.microsoft.com/office/drawing/2014/main" id="{B7FF210D-0269-DC0A-5AF7-4745F100296C}"/>
                </a:ext>
              </a:extLst>
            </p:cNvPr>
            <p:cNvSpPr/>
            <p:nvPr/>
          </p:nvSpPr>
          <p:spPr>
            <a:xfrm>
              <a:off x="6390826" y="4149966"/>
              <a:ext cx="572700" cy="572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nvGrpSpPr>
            <p:cNvPr id="555" name="Google Shape;16591;p127">
              <a:extLst>
                <a:ext uri="{FF2B5EF4-FFF2-40B4-BE49-F238E27FC236}">
                  <a16:creationId xmlns:a16="http://schemas.microsoft.com/office/drawing/2014/main" id="{0643B9E5-D1F0-428C-6DDB-C0691B09375F}"/>
                </a:ext>
              </a:extLst>
            </p:cNvPr>
            <p:cNvGrpSpPr/>
            <p:nvPr/>
          </p:nvGrpSpPr>
          <p:grpSpPr>
            <a:xfrm>
              <a:off x="6514212" y="4270070"/>
              <a:ext cx="337284" cy="380192"/>
              <a:chOff x="7556043" y="1499959"/>
              <a:chExt cx="337284" cy="380192"/>
            </a:xfrm>
          </p:grpSpPr>
          <p:sp>
            <p:nvSpPr>
              <p:cNvPr id="556" name="Google Shape;16592;p127">
                <a:extLst>
                  <a:ext uri="{FF2B5EF4-FFF2-40B4-BE49-F238E27FC236}">
                    <a16:creationId xmlns:a16="http://schemas.microsoft.com/office/drawing/2014/main" id="{9049FA35-60F7-998F-AE70-356CB544846C}"/>
                  </a:ext>
                </a:extLst>
              </p:cNvPr>
              <p:cNvSpPr/>
              <p:nvPr/>
            </p:nvSpPr>
            <p:spPr>
              <a:xfrm>
                <a:off x="7556043" y="1499959"/>
                <a:ext cx="337283" cy="380140"/>
              </a:xfrm>
              <a:custGeom>
                <a:avLst/>
                <a:gdLst/>
                <a:ahLst/>
                <a:cxnLst/>
                <a:rect l="l" t="t" r="r" b="b"/>
                <a:pathLst>
                  <a:path w="12844" h="14476" extrusionOk="0">
                    <a:moveTo>
                      <a:pt x="6423" y="0"/>
                    </a:moveTo>
                    <a:cubicBezTo>
                      <a:pt x="6386" y="0"/>
                      <a:pt x="6350" y="10"/>
                      <a:pt x="6317" y="29"/>
                    </a:cubicBezTo>
                    <a:cubicBezTo>
                      <a:pt x="6279" y="48"/>
                      <a:pt x="2948" y="2038"/>
                      <a:pt x="431" y="2038"/>
                    </a:cubicBezTo>
                    <a:cubicBezTo>
                      <a:pt x="326" y="2038"/>
                      <a:pt x="240" y="2105"/>
                      <a:pt x="221" y="2211"/>
                    </a:cubicBezTo>
                    <a:cubicBezTo>
                      <a:pt x="0" y="3933"/>
                      <a:pt x="67" y="5666"/>
                      <a:pt x="412" y="7369"/>
                    </a:cubicBezTo>
                    <a:cubicBezTo>
                      <a:pt x="747" y="8958"/>
                      <a:pt x="1331" y="10336"/>
                      <a:pt x="2154" y="11465"/>
                    </a:cubicBezTo>
                    <a:cubicBezTo>
                      <a:pt x="3197" y="12872"/>
                      <a:pt x="4604" y="13886"/>
                      <a:pt x="6355" y="14461"/>
                    </a:cubicBezTo>
                    <a:cubicBezTo>
                      <a:pt x="6379" y="14470"/>
                      <a:pt x="6403" y="14475"/>
                      <a:pt x="6426" y="14475"/>
                    </a:cubicBezTo>
                    <a:cubicBezTo>
                      <a:pt x="6448" y="14475"/>
                      <a:pt x="6470" y="14470"/>
                      <a:pt x="6489" y="14461"/>
                    </a:cubicBezTo>
                    <a:cubicBezTo>
                      <a:pt x="8240" y="13886"/>
                      <a:pt x="9657" y="12872"/>
                      <a:pt x="10690" y="11465"/>
                    </a:cubicBezTo>
                    <a:cubicBezTo>
                      <a:pt x="11514" y="10336"/>
                      <a:pt x="12097" y="8958"/>
                      <a:pt x="12432" y="7369"/>
                    </a:cubicBezTo>
                    <a:cubicBezTo>
                      <a:pt x="12777" y="5666"/>
                      <a:pt x="12844" y="3933"/>
                      <a:pt x="12624" y="2211"/>
                    </a:cubicBezTo>
                    <a:cubicBezTo>
                      <a:pt x="12605" y="2105"/>
                      <a:pt x="12518" y="2038"/>
                      <a:pt x="12413" y="2038"/>
                    </a:cubicBezTo>
                    <a:cubicBezTo>
                      <a:pt x="9896" y="2038"/>
                      <a:pt x="6566" y="48"/>
                      <a:pt x="6537" y="29"/>
                    </a:cubicBezTo>
                    <a:cubicBezTo>
                      <a:pt x="6499" y="10"/>
                      <a:pt x="6460" y="0"/>
                      <a:pt x="6423" y="0"/>
                    </a:cubicBezTo>
                    <a:close/>
                  </a:path>
                </a:pathLst>
              </a:cu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57" name="Google Shape;16593;p127">
                <a:extLst>
                  <a:ext uri="{FF2B5EF4-FFF2-40B4-BE49-F238E27FC236}">
                    <a16:creationId xmlns:a16="http://schemas.microsoft.com/office/drawing/2014/main" id="{D31543C6-B2E2-59D7-F8C5-1432417A4770}"/>
                  </a:ext>
                </a:extLst>
              </p:cNvPr>
              <p:cNvSpPr/>
              <p:nvPr/>
            </p:nvSpPr>
            <p:spPr>
              <a:xfrm>
                <a:off x="7714628" y="1552479"/>
                <a:ext cx="178699" cy="327672"/>
              </a:xfrm>
              <a:custGeom>
                <a:avLst/>
                <a:gdLst/>
                <a:ahLst/>
                <a:cxnLst/>
                <a:rect l="l" t="t" r="r" b="b"/>
                <a:pathLst>
                  <a:path w="6805" h="12478" extrusionOk="0">
                    <a:moveTo>
                      <a:pt x="5800" y="0"/>
                    </a:moveTo>
                    <a:lnTo>
                      <a:pt x="5800" y="0"/>
                    </a:lnTo>
                    <a:cubicBezTo>
                      <a:pt x="5991" y="1732"/>
                      <a:pt x="5924" y="3493"/>
                      <a:pt x="5580" y="5206"/>
                    </a:cubicBezTo>
                    <a:cubicBezTo>
                      <a:pt x="5235" y="6862"/>
                      <a:pt x="4623" y="8288"/>
                      <a:pt x="3761" y="9456"/>
                    </a:cubicBezTo>
                    <a:cubicBezTo>
                      <a:pt x="2814" y="10757"/>
                      <a:pt x="1503" y="11762"/>
                      <a:pt x="0" y="12355"/>
                    </a:cubicBezTo>
                    <a:cubicBezTo>
                      <a:pt x="106" y="12394"/>
                      <a:pt x="211" y="12432"/>
                      <a:pt x="316" y="12470"/>
                    </a:cubicBezTo>
                    <a:cubicBezTo>
                      <a:pt x="340" y="12475"/>
                      <a:pt x="362" y="12477"/>
                      <a:pt x="383" y="12477"/>
                    </a:cubicBezTo>
                    <a:cubicBezTo>
                      <a:pt x="405" y="12477"/>
                      <a:pt x="426" y="12475"/>
                      <a:pt x="450" y="12470"/>
                    </a:cubicBezTo>
                    <a:cubicBezTo>
                      <a:pt x="2201" y="11886"/>
                      <a:pt x="3618" y="10872"/>
                      <a:pt x="4651" y="9465"/>
                    </a:cubicBezTo>
                    <a:cubicBezTo>
                      <a:pt x="5475" y="8336"/>
                      <a:pt x="6058" y="6958"/>
                      <a:pt x="6393" y="5369"/>
                    </a:cubicBezTo>
                    <a:cubicBezTo>
                      <a:pt x="6738" y="3666"/>
                      <a:pt x="6805" y="1933"/>
                      <a:pt x="6585" y="211"/>
                    </a:cubicBezTo>
                    <a:cubicBezTo>
                      <a:pt x="6566" y="105"/>
                      <a:pt x="6479" y="38"/>
                      <a:pt x="6374" y="38"/>
                    </a:cubicBezTo>
                    <a:cubicBezTo>
                      <a:pt x="6183" y="29"/>
                      <a:pt x="5991" y="19"/>
                      <a:pt x="5800" y="0"/>
                    </a:cubicBezTo>
                    <a:close/>
                  </a:path>
                </a:pathLst>
              </a:cu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58" name="Google Shape;16594;p127">
                <a:extLst>
                  <a:ext uri="{FF2B5EF4-FFF2-40B4-BE49-F238E27FC236}">
                    <a16:creationId xmlns:a16="http://schemas.microsoft.com/office/drawing/2014/main" id="{BF5F451C-F4A8-B197-767E-355388937B69}"/>
                  </a:ext>
                </a:extLst>
              </p:cNvPr>
              <p:cNvSpPr/>
              <p:nvPr/>
            </p:nvSpPr>
            <p:spPr>
              <a:xfrm>
                <a:off x="7588974" y="1536382"/>
                <a:ext cx="271450" cy="305824"/>
              </a:xfrm>
              <a:custGeom>
                <a:avLst/>
                <a:gdLst/>
                <a:ahLst/>
                <a:cxnLst/>
                <a:rect l="l" t="t" r="r" b="b"/>
                <a:pathLst>
                  <a:path w="10337" h="11646" extrusionOk="0">
                    <a:moveTo>
                      <a:pt x="5168" y="1"/>
                    </a:moveTo>
                    <a:cubicBezTo>
                      <a:pt x="5132" y="1"/>
                      <a:pt x="5096" y="10"/>
                      <a:pt x="5063" y="29"/>
                    </a:cubicBezTo>
                    <a:cubicBezTo>
                      <a:pt x="5034" y="39"/>
                      <a:pt x="2383" y="1618"/>
                      <a:pt x="383" y="1618"/>
                    </a:cubicBezTo>
                    <a:cubicBezTo>
                      <a:pt x="278" y="1618"/>
                      <a:pt x="192" y="1695"/>
                      <a:pt x="172" y="1800"/>
                    </a:cubicBezTo>
                    <a:cubicBezTo>
                      <a:pt x="0" y="3178"/>
                      <a:pt x="48" y="4575"/>
                      <a:pt x="326" y="5934"/>
                    </a:cubicBezTo>
                    <a:cubicBezTo>
                      <a:pt x="594" y="7207"/>
                      <a:pt x="1062" y="8317"/>
                      <a:pt x="1723" y="9217"/>
                    </a:cubicBezTo>
                    <a:cubicBezTo>
                      <a:pt x="2565" y="10356"/>
                      <a:pt x="3752" y="11207"/>
                      <a:pt x="5101" y="11638"/>
                    </a:cubicBezTo>
                    <a:cubicBezTo>
                      <a:pt x="5125" y="11643"/>
                      <a:pt x="5147" y="11645"/>
                      <a:pt x="5168" y="11645"/>
                    </a:cubicBezTo>
                    <a:cubicBezTo>
                      <a:pt x="5190" y="11645"/>
                      <a:pt x="5211" y="11643"/>
                      <a:pt x="5235" y="11638"/>
                    </a:cubicBezTo>
                    <a:cubicBezTo>
                      <a:pt x="6585" y="11207"/>
                      <a:pt x="7771" y="10356"/>
                      <a:pt x="8613" y="9217"/>
                    </a:cubicBezTo>
                    <a:cubicBezTo>
                      <a:pt x="9274" y="8317"/>
                      <a:pt x="9743" y="7207"/>
                      <a:pt x="10011" y="5934"/>
                    </a:cubicBezTo>
                    <a:cubicBezTo>
                      <a:pt x="10288" y="4575"/>
                      <a:pt x="10336" y="3178"/>
                      <a:pt x="10164" y="1800"/>
                    </a:cubicBezTo>
                    <a:cubicBezTo>
                      <a:pt x="10145" y="1695"/>
                      <a:pt x="10059" y="1618"/>
                      <a:pt x="9953" y="1618"/>
                    </a:cubicBezTo>
                    <a:cubicBezTo>
                      <a:pt x="7953" y="1618"/>
                      <a:pt x="5302" y="39"/>
                      <a:pt x="5273" y="29"/>
                    </a:cubicBezTo>
                    <a:cubicBezTo>
                      <a:pt x="5240" y="10"/>
                      <a:pt x="5204" y="1"/>
                      <a:pt x="51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59" name="Google Shape;16595;p127">
                <a:extLst>
                  <a:ext uri="{FF2B5EF4-FFF2-40B4-BE49-F238E27FC236}">
                    <a16:creationId xmlns:a16="http://schemas.microsoft.com/office/drawing/2014/main" id="{3CA0759A-DA9D-DBC0-3289-2252FF9F8756}"/>
                  </a:ext>
                </a:extLst>
              </p:cNvPr>
              <p:cNvSpPr/>
              <p:nvPr/>
            </p:nvSpPr>
            <p:spPr>
              <a:xfrm>
                <a:off x="7719906" y="1577846"/>
                <a:ext cx="140517" cy="264281"/>
              </a:xfrm>
              <a:custGeom>
                <a:avLst/>
                <a:gdLst/>
                <a:ahLst/>
                <a:cxnLst/>
                <a:rect l="l" t="t" r="r" b="b"/>
                <a:pathLst>
                  <a:path w="5351" h="10064" extrusionOk="0">
                    <a:moveTo>
                      <a:pt x="4393" y="1"/>
                    </a:moveTo>
                    <a:lnTo>
                      <a:pt x="4393" y="1"/>
                    </a:lnTo>
                    <a:cubicBezTo>
                      <a:pt x="4537" y="1408"/>
                      <a:pt x="4470" y="2834"/>
                      <a:pt x="4192" y="4221"/>
                    </a:cubicBezTo>
                    <a:cubicBezTo>
                      <a:pt x="3905" y="5609"/>
                      <a:pt x="3388" y="6815"/>
                      <a:pt x="2670" y="7791"/>
                    </a:cubicBezTo>
                    <a:cubicBezTo>
                      <a:pt x="1972" y="8738"/>
                      <a:pt x="1063" y="9504"/>
                      <a:pt x="0" y="10011"/>
                    </a:cubicBezTo>
                    <a:lnTo>
                      <a:pt x="115" y="10050"/>
                    </a:lnTo>
                    <a:cubicBezTo>
                      <a:pt x="139" y="10059"/>
                      <a:pt x="163" y="10064"/>
                      <a:pt x="186" y="10064"/>
                    </a:cubicBezTo>
                    <a:cubicBezTo>
                      <a:pt x="208" y="10064"/>
                      <a:pt x="230" y="10059"/>
                      <a:pt x="249" y="10050"/>
                    </a:cubicBezTo>
                    <a:cubicBezTo>
                      <a:pt x="1599" y="9628"/>
                      <a:pt x="2785" y="8777"/>
                      <a:pt x="3627" y="7638"/>
                    </a:cubicBezTo>
                    <a:cubicBezTo>
                      <a:pt x="4288" y="6738"/>
                      <a:pt x="4757" y="5628"/>
                      <a:pt x="5025" y="4355"/>
                    </a:cubicBezTo>
                    <a:cubicBezTo>
                      <a:pt x="5302" y="2987"/>
                      <a:pt x="5350" y="1599"/>
                      <a:pt x="5178" y="221"/>
                    </a:cubicBezTo>
                    <a:cubicBezTo>
                      <a:pt x="5159" y="116"/>
                      <a:pt x="5073" y="39"/>
                      <a:pt x="4967" y="39"/>
                    </a:cubicBezTo>
                    <a:cubicBezTo>
                      <a:pt x="4776" y="39"/>
                      <a:pt x="4584" y="29"/>
                      <a:pt x="4393"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60" name="Google Shape;16596;p127">
                <a:extLst>
                  <a:ext uri="{FF2B5EF4-FFF2-40B4-BE49-F238E27FC236}">
                    <a16:creationId xmlns:a16="http://schemas.microsoft.com/office/drawing/2014/main" id="{FF5C5318-604D-E4F8-75E2-17D7063C062A}"/>
                  </a:ext>
                </a:extLst>
              </p:cNvPr>
              <p:cNvSpPr/>
              <p:nvPr/>
            </p:nvSpPr>
            <p:spPr>
              <a:xfrm>
                <a:off x="7657565" y="1674352"/>
                <a:ext cx="134477" cy="90518"/>
              </a:xfrm>
              <a:custGeom>
                <a:avLst/>
                <a:gdLst/>
                <a:ahLst/>
                <a:cxnLst/>
                <a:rect l="l" t="t" r="r" b="b"/>
                <a:pathLst>
                  <a:path w="5121" h="3447" extrusionOk="0">
                    <a:moveTo>
                      <a:pt x="2556" y="1"/>
                    </a:moveTo>
                    <a:cubicBezTo>
                      <a:pt x="1178" y="20"/>
                      <a:pt x="1" y="1159"/>
                      <a:pt x="1" y="2479"/>
                    </a:cubicBezTo>
                    <a:lnTo>
                      <a:pt x="1" y="3236"/>
                    </a:lnTo>
                    <a:cubicBezTo>
                      <a:pt x="1" y="3350"/>
                      <a:pt x="97" y="3446"/>
                      <a:pt x="221" y="3446"/>
                    </a:cubicBezTo>
                    <a:lnTo>
                      <a:pt x="4910" y="3446"/>
                    </a:lnTo>
                    <a:cubicBezTo>
                      <a:pt x="5025" y="3446"/>
                      <a:pt x="5121" y="3350"/>
                      <a:pt x="5121" y="3236"/>
                    </a:cubicBezTo>
                    <a:lnTo>
                      <a:pt x="5121" y="2479"/>
                    </a:lnTo>
                    <a:cubicBezTo>
                      <a:pt x="5111" y="1159"/>
                      <a:pt x="3944" y="20"/>
                      <a:pt x="2556" y="1"/>
                    </a:cubicBezTo>
                    <a:close/>
                  </a:path>
                </a:pathLst>
              </a:cu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61" name="Google Shape;16597;p127">
                <a:extLst>
                  <a:ext uri="{FF2B5EF4-FFF2-40B4-BE49-F238E27FC236}">
                    <a16:creationId xmlns:a16="http://schemas.microsoft.com/office/drawing/2014/main" id="{8CEAB597-1C14-7C90-4E48-144FB4F94089}"/>
                  </a:ext>
                </a:extLst>
              </p:cNvPr>
              <p:cNvSpPr/>
              <p:nvPr/>
            </p:nvSpPr>
            <p:spPr>
              <a:xfrm>
                <a:off x="7714365" y="1674352"/>
                <a:ext cx="77677" cy="90518"/>
              </a:xfrm>
              <a:custGeom>
                <a:avLst/>
                <a:gdLst/>
                <a:ahLst/>
                <a:cxnLst/>
                <a:rect l="l" t="t" r="r" b="b"/>
                <a:pathLst>
                  <a:path w="2958" h="3447" extrusionOk="0">
                    <a:moveTo>
                      <a:pt x="393" y="1"/>
                    </a:moveTo>
                    <a:cubicBezTo>
                      <a:pt x="259" y="1"/>
                      <a:pt x="135" y="20"/>
                      <a:pt x="1" y="39"/>
                    </a:cubicBezTo>
                    <a:cubicBezTo>
                      <a:pt x="1207" y="240"/>
                      <a:pt x="2164" y="1283"/>
                      <a:pt x="2164" y="2479"/>
                    </a:cubicBezTo>
                    <a:lnTo>
                      <a:pt x="2164" y="3236"/>
                    </a:lnTo>
                    <a:cubicBezTo>
                      <a:pt x="2164" y="3350"/>
                      <a:pt x="2068" y="3446"/>
                      <a:pt x="1953" y="3446"/>
                    </a:cubicBezTo>
                    <a:lnTo>
                      <a:pt x="2747" y="3446"/>
                    </a:lnTo>
                    <a:cubicBezTo>
                      <a:pt x="2862" y="3446"/>
                      <a:pt x="2958" y="3350"/>
                      <a:pt x="2958" y="3236"/>
                    </a:cubicBezTo>
                    <a:lnTo>
                      <a:pt x="2958" y="2479"/>
                    </a:lnTo>
                    <a:cubicBezTo>
                      <a:pt x="2948" y="1159"/>
                      <a:pt x="1781" y="20"/>
                      <a:pt x="393" y="1"/>
                    </a:cubicBezTo>
                    <a:close/>
                  </a:path>
                </a:pathLst>
              </a:custGeom>
              <a:solidFill>
                <a:srgbClr val="6A7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62" name="Google Shape;16598;p127">
                <a:extLst>
                  <a:ext uri="{FF2B5EF4-FFF2-40B4-BE49-F238E27FC236}">
                    <a16:creationId xmlns:a16="http://schemas.microsoft.com/office/drawing/2014/main" id="{0ED7ADFF-F1DE-02D3-3191-92913300E2E7}"/>
                  </a:ext>
                </a:extLst>
              </p:cNvPr>
              <p:cNvSpPr/>
              <p:nvPr/>
            </p:nvSpPr>
            <p:spPr>
              <a:xfrm>
                <a:off x="7709586" y="1680076"/>
                <a:ext cx="30199" cy="17437"/>
              </a:xfrm>
              <a:custGeom>
                <a:avLst/>
                <a:gdLst/>
                <a:ahLst/>
                <a:cxnLst/>
                <a:rect l="l" t="t" r="r" b="b"/>
                <a:pathLst>
                  <a:path w="1150" h="664" extrusionOk="0">
                    <a:moveTo>
                      <a:pt x="575" y="0"/>
                    </a:moveTo>
                    <a:cubicBezTo>
                      <a:pt x="381" y="0"/>
                      <a:pt x="188" y="27"/>
                      <a:pt x="1" y="79"/>
                    </a:cubicBezTo>
                    <a:lnTo>
                      <a:pt x="307" y="663"/>
                    </a:lnTo>
                    <a:lnTo>
                      <a:pt x="843" y="663"/>
                    </a:lnTo>
                    <a:lnTo>
                      <a:pt x="1149" y="79"/>
                    </a:lnTo>
                    <a:cubicBezTo>
                      <a:pt x="963" y="27"/>
                      <a:pt x="769" y="0"/>
                      <a:pt x="57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63" name="Google Shape;16599;p127">
                <a:extLst>
                  <a:ext uri="{FF2B5EF4-FFF2-40B4-BE49-F238E27FC236}">
                    <a16:creationId xmlns:a16="http://schemas.microsoft.com/office/drawing/2014/main" id="{8974C6C5-6A9D-8FFD-6E16-CDC3BCA87481}"/>
                  </a:ext>
                </a:extLst>
              </p:cNvPr>
              <p:cNvSpPr/>
              <p:nvPr/>
            </p:nvSpPr>
            <p:spPr>
              <a:xfrm>
                <a:off x="7702811" y="1690686"/>
                <a:ext cx="43749" cy="62866"/>
              </a:xfrm>
              <a:custGeom>
                <a:avLst/>
                <a:gdLst/>
                <a:ahLst/>
                <a:cxnLst/>
                <a:rect l="l" t="t" r="r" b="b"/>
                <a:pathLst>
                  <a:path w="1666" h="2394" extrusionOk="0">
                    <a:moveTo>
                      <a:pt x="556" y="1"/>
                    </a:moveTo>
                    <a:cubicBezTo>
                      <a:pt x="450" y="1"/>
                      <a:pt x="364" y="77"/>
                      <a:pt x="335" y="173"/>
                    </a:cubicBezTo>
                    <a:lnTo>
                      <a:pt x="20" y="1580"/>
                    </a:lnTo>
                    <a:cubicBezTo>
                      <a:pt x="1" y="1656"/>
                      <a:pt x="20" y="1733"/>
                      <a:pt x="87" y="1790"/>
                    </a:cubicBezTo>
                    <a:lnTo>
                      <a:pt x="680" y="2336"/>
                    </a:lnTo>
                    <a:cubicBezTo>
                      <a:pt x="723" y="2374"/>
                      <a:pt x="776" y="2393"/>
                      <a:pt x="828" y="2393"/>
                    </a:cubicBezTo>
                    <a:cubicBezTo>
                      <a:pt x="881" y="2393"/>
                      <a:pt x="934" y="2374"/>
                      <a:pt x="977" y="2336"/>
                    </a:cubicBezTo>
                    <a:lnTo>
                      <a:pt x="1580" y="1790"/>
                    </a:lnTo>
                    <a:cubicBezTo>
                      <a:pt x="1637" y="1733"/>
                      <a:pt x="1666" y="1656"/>
                      <a:pt x="1647" y="1580"/>
                    </a:cubicBezTo>
                    <a:lnTo>
                      <a:pt x="1321" y="173"/>
                    </a:lnTo>
                    <a:cubicBezTo>
                      <a:pt x="1302" y="77"/>
                      <a:pt x="1216" y="1"/>
                      <a:pt x="111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64" name="Google Shape;16600;p127">
                <a:extLst>
                  <a:ext uri="{FF2B5EF4-FFF2-40B4-BE49-F238E27FC236}">
                    <a16:creationId xmlns:a16="http://schemas.microsoft.com/office/drawing/2014/main" id="{6D5D534A-1121-3A4F-A553-99E26B1E68C3}"/>
                  </a:ext>
                </a:extLst>
              </p:cNvPr>
              <p:cNvSpPr/>
              <p:nvPr/>
            </p:nvSpPr>
            <p:spPr>
              <a:xfrm>
                <a:off x="7714365" y="1690922"/>
                <a:ext cx="31958" cy="62630"/>
              </a:xfrm>
              <a:custGeom>
                <a:avLst/>
                <a:gdLst/>
                <a:ahLst/>
                <a:cxnLst/>
                <a:rect l="l" t="t" r="r" b="b"/>
                <a:pathLst>
                  <a:path w="1217" h="2385" extrusionOk="0">
                    <a:moveTo>
                      <a:pt x="688" y="1"/>
                    </a:moveTo>
                    <a:cubicBezTo>
                      <a:pt x="683" y="1"/>
                      <a:pt x="677" y="1"/>
                      <a:pt x="671" y="1"/>
                    </a:cubicBezTo>
                    <a:lnTo>
                      <a:pt x="364" y="1"/>
                    </a:lnTo>
                    <a:lnTo>
                      <a:pt x="240" y="250"/>
                    </a:lnTo>
                    <a:lnTo>
                      <a:pt x="546" y="1600"/>
                    </a:lnTo>
                    <a:lnTo>
                      <a:pt x="1" y="2107"/>
                    </a:lnTo>
                    <a:lnTo>
                      <a:pt x="240" y="2327"/>
                    </a:lnTo>
                    <a:cubicBezTo>
                      <a:pt x="283" y="2365"/>
                      <a:pt x="336" y="2384"/>
                      <a:pt x="388" y="2384"/>
                    </a:cubicBezTo>
                    <a:cubicBezTo>
                      <a:pt x="441" y="2384"/>
                      <a:pt x="494" y="2365"/>
                      <a:pt x="537" y="2327"/>
                    </a:cubicBezTo>
                    <a:lnTo>
                      <a:pt x="1140" y="1781"/>
                    </a:lnTo>
                    <a:cubicBezTo>
                      <a:pt x="1197" y="1724"/>
                      <a:pt x="1216" y="1647"/>
                      <a:pt x="1207" y="1571"/>
                    </a:cubicBezTo>
                    <a:lnTo>
                      <a:pt x="881" y="164"/>
                    </a:lnTo>
                    <a:cubicBezTo>
                      <a:pt x="863" y="74"/>
                      <a:pt x="786" y="1"/>
                      <a:pt x="68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65" name="Google Shape;16601;p127">
                <a:extLst>
                  <a:ext uri="{FF2B5EF4-FFF2-40B4-BE49-F238E27FC236}">
                    <a16:creationId xmlns:a16="http://schemas.microsoft.com/office/drawing/2014/main" id="{665C2A54-6924-91AC-8745-6297470D87B1}"/>
                  </a:ext>
                </a:extLst>
              </p:cNvPr>
              <p:cNvSpPr/>
              <p:nvPr/>
            </p:nvSpPr>
            <p:spPr>
              <a:xfrm>
                <a:off x="7701813" y="1674352"/>
                <a:ext cx="45745" cy="23161"/>
              </a:xfrm>
              <a:custGeom>
                <a:avLst/>
                <a:gdLst/>
                <a:ahLst/>
                <a:cxnLst/>
                <a:rect l="l" t="t" r="r" b="b"/>
                <a:pathLst>
                  <a:path w="1742" h="882" extrusionOk="0">
                    <a:moveTo>
                      <a:pt x="871" y="1"/>
                    </a:moveTo>
                    <a:cubicBezTo>
                      <a:pt x="574" y="10"/>
                      <a:pt x="278" y="58"/>
                      <a:pt x="0" y="163"/>
                    </a:cubicBezTo>
                    <a:lnTo>
                      <a:pt x="373" y="881"/>
                    </a:lnTo>
                    <a:lnTo>
                      <a:pt x="1388" y="881"/>
                    </a:lnTo>
                    <a:lnTo>
                      <a:pt x="1742" y="163"/>
                    </a:lnTo>
                    <a:cubicBezTo>
                      <a:pt x="1464" y="58"/>
                      <a:pt x="1168" y="1"/>
                      <a:pt x="87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66" name="Google Shape;16602;p127">
                <a:extLst>
                  <a:ext uri="{FF2B5EF4-FFF2-40B4-BE49-F238E27FC236}">
                    <a16:creationId xmlns:a16="http://schemas.microsoft.com/office/drawing/2014/main" id="{F62CD70F-F5CC-42DB-D9C5-3BF02BCFFCA2}"/>
                  </a:ext>
                </a:extLst>
              </p:cNvPr>
              <p:cNvSpPr/>
              <p:nvPr/>
            </p:nvSpPr>
            <p:spPr>
              <a:xfrm>
                <a:off x="7720667" y="1674851"/>
                <a:ext cx="26890" cy="22662"/>
              </a:xfrm>
              <a:custGeom>
                <a:avLst/>
                <a:gdLst/>
                <a:ahLst/>
                <a:cxnLst/>
                <a:rect l="l" t="t" r="r" b="b"/>
                <a:pathLst>
                  <a:path w="1024" h="863" extrusionOk="0">
                    <a:moveTo>
                      <a:pt x="431" y="1"/>
                    </a:moveTo>
                    <a:lnTo>
                      <a:pt x="0" y="862"/>
                    </a:lnTo>
                    <a:lnTo>
                      <a:pt x="660" y="862"/>
                    </a:lnTo>
                    <a:lnTo>
                      <a:pt x="1024" y="144"/>
                    </a:lnTo>
                    <a:cubicBezTo>
                      <a:pt x="833" y="68"/>
                      <a:pt x="632" y="30"/>
                      <a:pt x="43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67" name="Google Shape;16603;p127">
                <a:extLst>
                  <a:ext uri="{FF2B5EF4-FFF2-40B4-BE49-F238E27FC236}">
                    <a16:creationId xmlns:a16="http://schemas.microsoft.com/office/drawing/2014/main" id="{19C4B52C-1340-B42B-8B26-4953A687B5E1}"/>
                  </a:ext>
                </a:extLst>
              </p:cNvPr>
              <p:cNvSpPr/>
              <p:nvPr/>
            </p:nvSpPr>
            <p:spPr>
              <a:xfrm>
                <a:off x="7689733" y="1590162"/>
                <a:ext cx="69904" cy="95534"/>
              </a:xfrm>
              <a:custGeom>
                <a:avLst/>
                <a:gdLst/>
                <a:ahLst/>
                <a:cxnLst/>
                <a:rect l="l" t="t" r="r" b="b"/>
                <a:pathLst>
                  <a:path w="2662" h="3638" extrusionOk="0">
                    <a:moveTo>
                      <a:pt x="1331" y="1"/>
                    </a:moveTo>
                    <a:cubicBezTo>
                      <a:pt x="594" y="1"/>
                      <a:pt x="1" y="604"/>
                      <a:pt x="1" y="1341"/>
                    </a:cubicBezTo>
                    <a:lnTo>
                      <a:pt x="1" y="2307"/>
                    </a:lnTo>
                    <a:cubicBezTo>
                      <a:pt x="1" y="3044"/>
                      <a:pt x="594" y="3637"/>
                      <a:pt x="1331" y="3637"/>
                    </a:cubicBezTo>
                    <a:cubicBezTo>
                      <a:pt x="2068" y="3637"/>
                      <a:pt x="2661" y="3044"/>
                      <a:pt x="2661" y="2307"/>
                    </a:cubicBezTo>
                    <a:lnTo>
                      <a:pt x="2661" y="1341"/>
                    </a:lnTo>
                    <a:cubicBezTo>
                      <a:pt x="2661" y="604"/>
                      <a:pt x="2068" y="1"/>
                      <a:pt x="1331" y="1"/>
                    </a:cubicBezTo>
                    <a:close/>
                  </a:path>
                </a:pathLst>
              </a:custGeom>
              <a:solidFill>
                <a:srgbClr val="CCD7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68" name="Google Shape;16604;p127">
                <a:extLst>
                  <a:ext uri="{FF2B5EF4-FFF2-40B4-BE49-F238E27FC236}">
                    <a16:creationId xmlns:a16="http://schemas.microsoft.com/office/drawing/2014/main" id="{32BA7811-6F43-16BD-6B4A-D0AB6B2BCB76}"/>
                  </a:ext>
                </a:extLst>
              </p:cNvPr>
              <p:cNvSpPr/>
              <p:nvPr/>
            </p:nvSpPr>
            <p:spPr>
              <a:xfrm>
                <a:off x="7714365" y="1590162"/>
                <a:ext cx="45272" cy="95534"/>
              </a:xfrm>
              <a:custGeom>
                <a:avLst/>
                <a:gdLst/>
                <a:ahLst/>
                <a:cxnLst/>
                <a:rect l="l" t="t" r="r" b="b"/>
                <a:pathLst>
                  <a:path w="1724" h="3638" extrusionOk="0">
                    <a:moveTo>
                      <a:pt x="393" y="1"/>
                    </a:moveTo>
                    <a:cubicBezTo>
                      <a:pt x="259" y="1"/>
                      <a:pt x="125" y="20"/>
                      <a:pt x="1" y="58"/>
                    </a:cubicBezTo>
                    <a:cubicBezTo>
                      <a:pt x="565" y="230"/>
                      <a:pt x="939" y="747"/>
                      <a:pt x="948" y="1331"/>
                    </a:cubicBezTo>
                    <a:lnTo>
                      <a:pt x="948" y="2307"/>
                    </a:lnTo>
                    <a:cubicBezTo>
                      <a:pt x="939" y="2891"/>
                      <a:pt x="565" y="3408"/>
                      <a:pt x="1" y="3580"/>
                    </a:cubicBezTo>
                    <a:cubicBezTo>
                      <a:pt x="125" y="3618"/>
                      <a:pt x="259" y="3637"/>
                      <a:pt x="393" y="3637"/>
                    </a:cubicBezTo>
                    <a:cubicBezTo>
                      <a:pt x="1130" y="3637"/>
                      <a:pt x="1723" y="3044"/>
                      <a:pt x="1723" y="2307"/>
                    </a:cubicBezTo>
                    <a:lnTo>
                      <a:pt x="1723" y="1341"/>
                    </a:lnTo>
                    <a:cubicBezTo>
                      <a:pt x="1723" y="604"/>
                      <a:pt x="1130" y="1"/>
                      <a:pt x="393" y="1"/>
                    </a:cubicBezTo>
                    <a:close/>
                  </a:path>
                </a:pathLst>
              </a:custGeom>
              <a:solidFill>
                <a:srgbClr val="B4C3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69" name="Google Shape;16605;p127">
                <a:extLst>
                  <a:ext uri="{FF2B5EF4-FFF2-40B4-BE49-F238E27FC236}">
                    <a16:creationId xmlns:a16="http://schemas.microsoft.com/office/drawing/2014/main" id="{9B33B6EA-793B-BF54-65A1-5F0969CFBBEE}"/>
                  </a:ext>
                </a:extLst>
              </p:cNvPr>
              <p:cNvSpPr/>
              <p:nvPr/>
            </p:nvSpPr>
            <p:spPr>
              <a:xfrm>
                <a:off x="7689733" y="1591423"/>
                <a:ext cx="69904" cy="46533"/>
              </a:xfrm>
              <a:custGeom>
                <a:avLst/>
                <a:gdLst/>
                <a:ahLst/>
                <a:cxnLst/>
                <a:rect l="l" t="t" r="r" b="b"/>
                <a:pathLst>
                  <a:path w="2662" h="1772" extrusionOk="0">
                    <a:moveTo>
                      <a:pt x="1331" y="1"/>
                    </a:moveTo>
                    <a:cubicBezTo>
                      <a:pt x="613" y="1"/>
                      <a:pt x="20" y="575"/>
                      <a:pt x="1" y="1293"/>
                    </a:cubicBezTo>
                    <a:lnTo>
                      <a:pt x="1" y="1771"/>
                    </a:lnTo>
                    <a:lnTo>
                      <a:pt x="211" y="1771"/>
                    </a:lnTo>
                    <a:cubicBezTo>
                      <a:pt x="1188" y="1771"/>
                      <a:pt x="1551" y="1111"/>
                      <a:pt x="1551" y="1111"/>
                    </a:cubicBezTo>
                    <a:cubicBezTo>
                      <a:pt x="1551" y="1111"/>
                      <a:pt x="1800" y="1771"/>
                      <a:pt x="2451" y="1771"/>
                    </a:cubicBezTo>
                    <a:lnTo>
                      <a:pt x="2661" y="1771"/>
                    </a:lnTo>
                    <a:lnTo>
                      <a:pt x="2661" y="1293"/>
                    </a:lnTo>
                    <a:cubicBezTo>
                      <a:pt x="2642" y="575"/>
                      <a:pt x="2049" y="1"/>
                      <a:pt x="1331" y="1"/>
                    </a:cubicBezTo>
                    <a:close/>
                  </a:path>
                </a:pathLst>
              </a:cu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grpSp>
      <p:pic>
        <p:nvPicPr>
          <p:cNvPr id="3" name="Picture 2" descr="A screenshot of a product features&#10;&#10;AI-generated content may be incorrect.">
            <a:extLst>
              <a:ext uri="{FF2B5EF4-FFF2-40B4-BE49-F238E27FC236}">
                <a16:creationId xmlns:a16="http://schemas.microsoft.com/office/drawing/2014/main" id="{3A310938-18EB-F34A-747E-D541FA42CE5E}"/>
              </a:ext>
            </a:extLst>
          </p:cNvPr>
          <p:cNvPicPr>
            <a:picLocks noChangeAspect="1"/>
          </p:cNvPicPr>
          <p:nvPr/>
        </p:nvPicPr>
        <p:blipFill>
          <a:blip r:embed="rId3"/>
          <a:stretch>
            <a:fillRect/>
          </a:stretch>
        </p:blipFill>
        <p:spPr>
          <a:xfrm>
            <a:off x="0" y="0"/>
            <a:ext cx="12192000" cy="6858000"/>
          </a:xfrm>
          <a:prstGeom prst="rect">
            <a:avLst/>
          </a:prstGeom>
        </p:spPr>
      </p:pic>
      <p:pic>
        <p:nvPicPr>
          <p:cNvPr id="4" name="Picture 3" descr="A person standing on a ladder and a person standing on a ladder&#10;&#10;AI-generated content may be incorrect.">
            <a:extLst>
              <a:ext uri="{FF2B5EF4-FFF2-40B4-BE49-F238E27FC236}">
                <a16:creationId xmlns:a16="http://schemas.microsoft.com/office/drawing/2014/main" id="{07A402AB-01B0-03DA-65C9-F5CEE68EEEB1}"/>
              </a:ext>
            </a:extLst>
          </p:cNvPr>
          <p:cNvPicPr>
            <a:picLocks noChangeAspect="1"/>
          </p:cNvPicPr>
          <p:nvPr/>
        </p:nvPicPr>
        <p:blipFill>
          <a:blip r:embed="rId4"/>
          <a:stretch>
            <a:fillRect/>
          </a:stretch>
        </p:blipFill>
        <p:spPr>
          <a:xfrm>
            <a:off x="0" y="0"/>
            <a:ext cx="12192000" cy="6858000"/>
          </a:xfrm>
          <a:prstGeom prst="rect">
            <a:avLst/>
          </a:prstGeom>
        </p:spPr>
      </p:pic>
    </p:spTree>
    <p:extLst>
      <p:ext uri="{BB962C8B-B14F-4D97-AF65-F5344CB8AC3E}">
        <p14:creationId xmlns:p14="http://schemas.microsoft.com/office/powerpoint/2010/main" val="15210552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8734799-F0CC-5C6E-541B-BBDD84EFB322}"/>
              </a:ext>
            </a:extLst>
          </p:cNvPr>
          <p:cNvSpPr>
            <a:spLocks noGrp="1"/>
          </p:cNvSpPr>
          <p:nvPr>
            <p:ph type="sldNum" sz="quarter" idx="12"/>
          </p:nvPr>
        </p:nvSpPr>
        <p:spPr/>
        <p:txBody>
          <a:bodyPr/>
          <a:lstStyle/>
          <a:p>
            <a:fld id="{36D53BC0-5915-4EE6-A8B4-385258777E7F}" type="slidenum">
              <a:rPr lang="en-PH" smtClean="0"/>
              <a:pPr/>
              <a:t>22</a:t>
            </a:fld>
            <a:endParaRPr lang="en-PH"/>
          </a:p>
        </p:txBody>
      </p:sp>
      <p:graphicFrame>
        <p:nvGraphicFramePr>
          <p:cNvPr id="5" name="Table 4">
            <a:extLst>
              <a:ext uri="{FF2B5EF4-FFF2-40B4-BE49-F238E27FC236}">
                <a16:creationId xmlns:a16="http://schemas.microsoft.com/office/drawing/2014/main" id="{1DE4882E-7F50-CA6D-47BD-E774EE66DF0F}"/>
              </a:ext>
            </a:extLst>
          </p:cNvPr>
          <p:cNvGraphicFramePr>
            <a:graphicFrameLocks noGrp="1"/>
          </p:cNvGraphicFramePr>
          <p:nvPr>
            <p:extLst>
              <p:ext uri="{D42A27DB-BD31-4B8C-83A1-F6EECF244321}">
                <p14:modId xmlns:p14="http://schemas.microsoft.com/office/powerpoint/2010/main" val="2806744322"/>
              </p:ext>
            </p:extLst>
          </p:nvPr>
        </p:nvGraphicFramePr>
        <p:xfrm>
          <a:off x="457673" y="4303226"/>
          <a:ext cx="6846642" cy="1752600"/>
        </p:xfrm>
        <a:graphic>
          <a:graphicData uri="http://schemas.openxmlformats.org/drawingml/2006/table">
            <a:tbl>
              <a:tblPr firstRow="1" bandRow="1">
                <a:tableStyleId>{2D5ABB26-0587-4C30-8999-92F81FD0307C}</a:tableStyleId>
              </a:tblPr>
              <a:tblGrid>
                <a:gridCol w="3423321">
                  <a:extLst>
                    <a:ext uri="{9D8B030D-6E8A-4147-A177-3AD203B41FA5}">
                      <a16:colId xmlns:a16="http://schemas.microsoft.com/office/drawing/2014/main" val="3891547026"/>
                    </a:ext>
                  </a:extLst>
                </a:gridCol>
                <a:gridCol w="3423321">
                  <a:extLst>
                    <a:ext uri="{9D8B030D-6E8A-4147-A177-3AD203B41FA5}">
                      <a16:colId xmlns:a16="http://schemas.microsoft.com/office/drawing/2014/main" val="4140323770"/>
                    </a:ext>
                  </a:extLst>
                </a:gridCol>
              </a:tblGrid>
              <a:tr h="370840">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a:solidFill>
                            <a:srgbClr val="1F4766"/>
                          </a:solidFill>
                          <a:latin typeface="Lato" panose="020F0502020204030203" pitchFamily="34" charset="0"/>
                          <a:ea typeface="Lato" panose="020F0502020204030203" pitchFamily="34" charset="0"/>
                          <a:cs typeface="Lato" panose="020F0502020204030203" pitchFamily="34" charset="0"/>
                        </a:rPr>
                        <a:t>EL - Other Fees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a:solidFill>
                            <a:srgbClr val="1F4766"/>
                          </a:solidFill>
                          <a:effectLst/>
                          <a:latin typeface="Lato" panose="020F0502020204030203" pitchFamily="34" charset="0"/>
                          <a:ea typeface="Lato" panose="020F0502020204030203" pitchFamily="34" charset="0"/>
                          <a:cs typeface="Lato" panose="020F0502020204030203" pitchFamily="34" charset="0"/>
                        </a:rPr>
                        <a:t>EL – </a:t>
                      </a:r>
                      <a:r>
                        <a:rPr lang="en-US" sz="1800">
                          <a:solidFill>
                            <a:srgbClr val="1F4766"/>
                          </a:solidFill>
                          <a:latin typeface="Lato" panose="020F0502020204030203" pitchFamily="34" charset="0"/>
                          <a:ea typeface="Lato" panose="020F0502020204030203" pitchFamily="34" charset="0"/>
                          <a:cs typeface="Lato" panose="020F0502020204030203" pitchFamily="34" charset="0"/>
                        </a:rPr>
                        <a:t>Tuition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50379872"/>
                  </a:ext>
                </a:extLst>
              </a:tr>
              <a:tr h="370840">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a:solidFill>
                            <a:srgbClr val="1F4766"/>
                          </a:solidFill>
                          <a:effectLst/>
                          <a:latin typeface="Lato" panose="020F0502020204030203" pitchFamily="34" charset="0"/>
                          <a:ea typeface="Lato" panose="020F0502020204030203" pitchFamily="34" charset="0"/>
                          <a:cs typeface="Lato" panose="020F0502020204030203" pitchFamily="34" charset="0"/>
                        </a:rPr>
                        <a:t>EL - School Supplies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a:solidFill>
                            <a:srgbClr val="1F4766"/>
                          </a:solidFill>
                          <a:effectLst/>
                          <a:latin typeface="Lato" panose="020F0502020204030203" pitchFamily="34" charset="0"/>
                          <a:ea typeface="Lato" panose="020F0502020204030203" pitchFamily="34" charset="0"/>
                          <a:cs typeface="Lato" panose="020F0502020204030203" pitchFamily="34" charset="0"/>
                        </a:rPr>
                        <a:t>EL – Uniform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44239726"/>
                  </a:ext>
                </a:extLst>
              </a:tr>
              <a:tr h="370840">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a:solidFill>
                            <a:srgbClr val="1F4766"/>
                          </a:solidFill>
                          <a:effectLst/>
                          <a:latin typeface="Lato" panose="020F0502020204030203" pitchFamily="34" charset="0"/>
                          <a:ea typeface="Lato" panose="020F0502020204030203" pitchFamily="34" charset="0"/>
                          <a:cs typeface="Lato" panose="020F0502020204030203" pitchFamily="34" charset="0"/>
                        </a:rPr>
                        <a:t>EL - </a:t>
                      </a:r>
                      <a:r>
                        <a:rPr lang="en-US" sz="1800">
                          <a:solidFill>
                            <a:srgbClr val="1F4766"/>
                          </a:solidFill>
                          <a:latin typeface="Lato" panose="020F0502020204030203" pitchFamily="34" charset="0"/>
                          <a:ea typeface="Lato" panose="020F0502020204030203" pitchFamily="34" charset="0"/>
                          <a:cs typeface="Lato" panose="020F0502020204030203" pitchFamily="34" charset="0"/>
                        </a:rPr>
                        <a:t>Tech2Educate</a:t>
                      </a:r>
                      <a:endParaRPr lang="en-US" sz="1800" b="0" i="0">
                        <a:solidFill>
                          <a:srgbClr val="1F4766"/>
                        </a:solidFill>
                        <a:effectLst/>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a:solidFill>
                            <a:srgbClr val="1F4766"/>
                          </a:solidFill>
                          <a:effectLst/>
                          <a:latin typeface="Lato" panose="020F0502020204030203" pitchFamily="34" charset="0"/>
                          <a:ea typeface="Lato" panose="020F0502020204030203" pitchFamily="34" charset="0"/>
                          <a:cs typeface="Lato" panose="020F0502020204030203" pitchFamily="34" charset="0"/>
                        </a:rPr>
                        <a:t>EL – Licensure exam/requirements/fees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12642451"/>
                  </a:ext>
                </a:extLst>
              </a:tr>
              <a:tr h="370840">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800" b="0" i="0">
                        <a:solidFill>
                          <a:srgbClr val="1F4766"/>
                        </a:solidFill>
                        <a:effectLst/>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800" b="0" i="0">
                        <a:solidFill>
                          <a:srgbClr val="1F4766"/>
                        </a:solidFill>
                        <a:effectLst/>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24625118"/>
                  </a:ext>
                </a:extLst>
              </a:tr>
            </a:tbl>
          </a:graphicData>
        </a:graphic>
      </p:graphicFrame>
      <p:sp>
        <p:nvSpPr>
          <p:cNvPr id="6" name="Text Placeholder 2">
            <a:extLst>
              <a:ext uri="{FF2B5EF4-FFF2-40B4-BE49-F238E27FC236}">
                <a16:creationId xmlns:a16="http://schemas.microsoft.com/office/drawing/2014/main" id="{3BF59876-6106-A674-AF5D-2FBF8F68D3B1}"/>
              </a:ext>
            </a:extLst>
          </p:cNvPr>
          <p:cNvSpPr txBox="1">
            <a:spLocks/>
          </p:cNvSpPr>
          <p:nvPr/>
        </p:nvSpPr>
        <p:spPr>
          <a:xfrm>
            <a:off x="337830" y="1440431"/>
            <a:ext cx="6966486" cy="2683893"/>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tint val="75000"/>
                  </a:schemeClr>
                </a:solidFill>
                <a:latin typeface="Lato" panose="020F0502020204030203"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just">
              <a:lnSpc>
                <a:spcPct val="150000"/>
              </a:lnSpc>
            </a:pPr>
            <a:r>
              <a:rPr lang="en-US" sz="1600">
                <a:solidFill>
                  <a:schemeClr val="tx1">
                    <a:lumMod val="95000"/>
                    <a:lumOff val="5000"/>
                  </a:schemeClr>
                </a:solidFill>
                <a:ea typeface="Lato" panose="020F0502020204030203" pitchFamily="34" charset="0"/>
                <a:cs typeface="Lato" panose="020F0502020204030203" pitchFamily="34" charset="0"/>
              </a:rPr>
              <a:t>Loan Product ensures academic success by providing financial support for tuition, fees, textbooks, school supplies, and technology. We support students, including those preparing for licensure exams, and empower students not eligible for the </a:t>
            </a:r>
            <a:r>
              <a:rPr lang="en-US" sz="1600" err="1">
                <a:solidFill>
                  <a:schemeClr val="tx1">
                    <a:lumMod val="95000"/>
                    <a:lumOff val="5000"/>
                  </a:schemeClr>
                </a:solidFill>
                <a:ea typeface="Lato" panose="020F0502020204030203" pitchFamily="34" charset="0"/>
                <a:cs typeface="Lato" panose="020F0502020204030203" pitchFamily="34" charset="0"/>
              </a:rPr>
              <a:t>Bugsay</a:t>
            </a:r>
            <a:r>
              <a:rPr lang="en-US" sz="1600">
                <a:solidFill>
                  <a:schemeClr val="tx1">
                    <a:lumMod val="95000"/>
                    <a:lumOff val="5000"/>
                  </a:schemeClr>
                </a:solidFill>
                <a:ea typeface="Lato" panose="020F0502020204030203" pitchFamily="34" charset="0"/>
                <a:cs typeface="Lato" panose="020F0502020204030203" pitchFamily="34" charset="0"/>
              </a:rPr>
              <a:t> Scholarship Program of RAFI MFI. This ensures that clients and/or their children can attend school, whether in person or through virtual and/or distance learning and successfully complete their education utilizing the following sub-purposes:​</a:t>
            </a:r>
          </a:p>
        </p:txBody>
      </p:sp>
      <p:pic>
        <p:nvPicPr>
          <p:cNvPr id="8" name="Picture 2" descr="A child reading a book&#10;&#10;Description automatically generated">
            <a:extLst>
              <a:ext uri="{FF2B5EF4-FFF2-40B4-BE49-F238E27FC236}">
                <a16:creationId xmlns:a16="http://schemas.microsoft.com/office/drawing/2014/main" id="{3C0893DA-7CB5-1027-DC1B-2DEDAD6D08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98366" y="221856"/>
            <a:ext cx="4693634" cy="574863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Table 8">
            <a:extLst>
              <a:ext uri="{FF2B5EF4-FFF2-40B4-BE49-F238E27FC236}">
                <a16:creationId xmlns:a16="http://schemas.microsoft.com/office/drawing/2014/main" id="{4B12C5C9-81F8-BF2C-F760-3762F0ECDFD5}"/>
              </a:ext>
            </a:extLst>
          </p:cNvPr>
          <p:cNvGraphicFramePr>
            <a:graphicFrameLocks noGrp="1"/>
          </p:cNvGraphicFramePr>
          <p:nvPr>
            <p:extLst>
              <p:ext uri="{D42A27DB-BD31-4B8C-83A1-F6EECF244321}">
                <p14:modId xmlns:p14="http://schemas.microsoft.com/office/powerpoint/2010/main" val="3135052811"/>
              </p:ext>
            </p:extLst>
          </p:nvPr>
        </p:nvGraphicFramePr>
        <p:xfrm>
          <a:off x="457673" y="4303226"/>
          <a:ext cx="6846642" cy="1752600"/>
        </p:xfrm>
        <a:graphic>
          <a:graphicData uri="http://schemas.openxmlformats.org/drawingml/2006/table">
            <a:tbl>
              <a:tblPr firstRow="1" bandRow="1">
                <a:tableStyleId>{2D5ABB26-0587-4C30-8999-92F81FD0307C}</a:tableStyleId>
              </a:tblPr>
              <a:tblGrid>
                <a:gridCol w="3423321">
                  <a:extLst>
                    <a:ext uri="{9D8B030D-6E8A-4147-A177-3AD203B41FA5}">
                      <a16:colId xmlns:a16="http://schemas.microsoft.com/office/drawing/2014/main" val="3891547026"/>
                    </a:ext>
                  </a:extLst>
                </a:gridCol>
                <a:gridCol w="3423321">
                  <a:extLst>
                    <a:ext uri="{9D8B030D-6E8A-4147-A177-3AD203B41FA5}">
                      <a16:colId xmlns:a16="http://schemas.microsoft.com/office/drawing/2014/main" val="4140323770"/>
                    </a:ext>
                  </a:extLst>
                </a:gridCol>
              </a:tblGrid>
              <a:tr h="370840">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a:solidFill>
                            <a:srgbClr val="1F4766"/>
                          </a:solidFill>
                          <a:latin typeface="Lato" panose="020F0502020204030203" pitchFamily="34" charset="0"/>
                          <a:ea typeface="Lato" panose="020F0502020204030203" pitchFamily="34" charset="0"/>
                          <a:cs typeface="Lato" panose="020F0502020204030203" pitchFamily="34" charset="0"/>
                        </a:rPr>
                        <a:t>EL - Other Fees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a:solidFill>
                            <a:srgbClr val="1F4766"/>
                          </a:solidFill>
                          <a:effectLst/>
                          <a:latin typeface="Lato" panose="020F0502020204030203" pitchFamily="34" charset="0"/>
                          <a:ea typeface="Lato" panose="020F0502020204030203" pitchFamily="34" charset="0"/>
                          <a:cs typeface="Lato" panose="020F0502020204030203" pitchFamily="34" charset="0"/>
                        </a:rPr>
                        <a:t>EL – </a:t>
                      </a:r>
                      <a:r>
                        <a:rPr lang="en-US" sz="1800">
                          <a:solidFill>
                            <a:srgbClr val="1F4766"/>
                          </a:solidFill>
                          <a:latin typeface="Lato" panose="020F0502020204030203" pitchFamily="34" charset="0"/>
                          <a:ea typeface="Lato" panose="020F0502020204030203" pitchFamily="34" charset="0"/>
                          <a:cs typeface="Lato" panose="020F0502020204030203" pitchFamily="34" charset="0"/>
                        </a:rPr>
                        <a:t>Tuition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50379872"/>
                  </a:ext>
                </a:extLst>
              </a:tr>
              <a:tr h="370840">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a:solidFill>
                            <a:srgbClr val="1F4766"/>
                          </a:solidFill>
                          <a:effectLst/>
                          <a:latin typeface="Lato" panose="020F0502020204030203" pitchFamily="34" charset="0"/>
                          <a:ea typeface="Lato" panose="020F0502020204030203" pitchFamily="34" charset="0"/>
                          <a:cs typeface="Lato" panose="020F0502020204030203" pitchFamily="34" charset="0"/>
                        </a:rPr>
                        <a:t>EL - School Supplies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a:solidFill>
                            <a:srgbClr val="1F4766"/>
                          </a:solidFill>
                          <a:effectLst/>
                          <a:latin typeface="Lato" panose="020F0502020204030203" pitchFamily="34" charset="0"/>
                          <a:ea typeface="Lato" panose="020F0502020204030203" pitchFamily="34" charset="0"/>
                          <a:cs typeface="Lato" panose="020F0502020204030203" pitchFamily="34" charset="0"/>
                        </a:rPr>
                        <a:t>EL – Uniform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44239726"/>
                  </a:ext>
                </a:extLst>
              </a:tr>
              <a:tr h="370840">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a:solidFill>
                            <a:srgbClr val="1F4766"/>
                          </a:solidFill>
                          <a:effectLst/>
                          <a:latin typeface="Lato" panose="020F0502020204030203" pitchFamily="34" charset="0"/>
                          <a:ea typeface="Lato" panose="020F0502020204030203" pitchFamily="34" charset="0"/>
                          <a:cs typeface="Lato" panose="020F0502020204030203" pitchFamily="34" charset="0"/>
                        </a:rPr>
                        <a:t>EL - </a:t>
                      </a:r>
                      <a:r>
                        <a:rPr lang="en-US" sz="1800">
                          <a:solidFill>
                            <a:srgbClr val="1F4766"/>
                          </a:solidFill>
                          <a:latin typeface="Lato" panose="020F0502020204030203" pitchFamily="34" charset="0"/>
                          <a:ea typeface="Lato" panose="020F0502020204030203" pitchFamily="34" charset="0"/>
                          <a:cs typeface="Lato" panose="020F0502020204030203" pitchFamily="34" charset="0"/>
                        </a:rPr>
                        <a:t>Tech2Educate</a:t>
                      </a:r>
                      <a:endParaRPr lang="en-US" sz="1800" b="0" i="0">
                        <a:solidFill>
                          <a:srgbClr val="1F4766"/>
                        </a:solidFill>
                        <a:effectLst/>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a:solidFill>
                            <a:srgbClr val="1F4766"/>
                          </a:solidFill>
                          <a:effectLst/>
                          <a:latin typeface="Lato" panose="020F0502020204030203" pitchFamily="34" charset="0"/>
                          <a:ea typeface="Lato" panose="020F0502020204030203" pitchFamily="34" charset="0"/>
                          <a:cs typeface="Lato" panose="020F0502020204030203" pitchFamily="34" charset="0"/>
                        </a:rPr>
                        <a:t>EL – Licensure exam/requirements/fees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12642451"/>
                  </a:ext>
                </a:extLst>
              </a:tr>
              <a:tr h="370840">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800" b="0" i="0">
                        <a:solidFill>
                          <a:srgbClr val="1F4766"/>
                        </a:solidFill>
                        <a:effectLst/>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800" b="0" i="0">
                        <a:solidFill>
                          <a:srgbClr val="1F4766"/>
                        </a:solidFill>
                        <a:effectLst/>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24625118"/>
                  </a:ext>
                </a:extLst>
              </a:tr>
            </a:tbl>
          </a:graphicData>
        </a:graphic>
      </p:graphicFrame>
      <p:sp>
        <p:nvSpPr>
          <p:cNvPr id="10" name="Text Placeholder 2">
            <a:extLst>
              <a:ext uri="{FF2B5EF4-FFF2-40B4-BE49-F238E27FC236}">
                <a16:creationId xmlns:a16="http://schemas.microsoft.com/office/drawing/2014/main" id="{DA183B61-E4AD-4593-69EF-1307AF999722}"/>
              </a:ext>
            </a:extLst>
          </p:cNvPr>
          <p:cNvSpPr txBox="1">
            <a:spLocks/>
          </p:cNvSpPr>
          <p:nvPr/>
        </p:nvSpPr>
        <p:spPr>
          <a:xfrm>
            <a:off x="337830" y="1440431"/>
            <a:ext cx="6966486" cy="2683893"/>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tint val="75000"/>
                  </a:schemeClr>
                </a:solidFill>
                <a:latin typeface="Lato" panose="020F0502020204030203"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just">
              <a:lnSpc>
                <a:spcPct val="150000"/>
              </a:lnSpc>
            </a:pPr>
            <a:r>
              <a:rPr lang="en-US" sz="1600">
                <a:solidFill>
                  <a:schemeClr val="tx1">
                    <a:lumMod val="95000"/>
                    <a:lumOff val="5000"/>
                  </a:schemeClr>
                </a:solidFill>
                <a:ea typeface="Lato" panose="020F0502020204030203" pitchFamily="34" charset="0"/>
                <a:cs typeface="Lato" panose="020F0502020204030203" pitchFamily="34" charset="0"/>
              </a:rPr>
              <a:t>Loan Product ensures academic success by providing financial support for tuition, fees, textbooks, school supplies, and technology. We support students, including those preparing for licensure exams, and empower students not eligible for the </a:t>
            </a:r>
            <a:r>
              <a:rPr lang="en-US" sz="1600" err="1">
                <a:solidFill>
                  <a:schemeClr val="tx1">
                    <a:lumMod val="95000"/>
                    <a:lumOff val="5000"/>
                  </a:schemeClr>
                </a:solidFill>
                <a:ea typeface="Lato" panose="020F0502020204030203" pitchFamily="34" charset="0"/>
                <a:cs typeface="Lato" panose="020F0502020204030203" pitchFamily="34" charset="0"/>
              </a:rPr>
              <a:t>Bugsay</a:t>
            </a:r>
            <a:r>
              <a:rPr lang="en-US" sz="1600">
                <a:solidFill>
                  <a:schemeClr val="tx1">
                    <a:lumMod val="95000"/>
                    <a:lumOff val="5000"/>
                  </a:schemeClr>
                </a:solidFill>
                <a:ea typeface="Lato" panose="020F0502020204030203" pitchFamily="34" charset="0"/>
                <a:cs typeface="Lato" panose="020F0502020204030203" pitchFamily="34" charset="0"/>
              </a:rPr>
              <a:t> Scholarship Program of RAFI MFI. This ensures that clients and/or their children can attend school, whether in person or through virtual and/or distance learning and successfully complete their education utilizing the following sub-purposes:​</a:t>
            </a:r>
          </a:p>
        </p:txBody>
      </p:sp>
      <p:pic>
        <p:nvPicPr>
          <p:cNvPr id="12" name="Picture 2" descr="A child reading a book&#10;&#10;Description automatically generated">
            <a:extLst>
              <a:ext uri="{FF2B5EF4-FFF2-40B4-BE49-F238E27FC236}">
                <a16:creationId xmlns:a16="http://schemas.microsoft.com/office/drawing/2014/main" id="{BEE7858D-7E90-3341-2500-F1E3F69756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32650" y="700687"/>
            <a:ext cx="4693634" cy="5456626"/>
          </a:xfrm>
          <a:prstGeom prst="rect">
            <a:avLst/>
          </a:prstGeom>
          <a:noFill/>
          <a:extLst>
            <a:ext uri="{909E8E84-426E-40DD-AFC4-6F175D3DCCD1}">
              <a14:hiddenFill xmlns:a14="http://schemas.microsoft.com/office/drawing/2010/main">
                <a:solidFill>
                  <a:srgbClr val="FFFFFF"/>
                </a:solidFill>
              </a14:hiddenFill>
            </a:ext>
          </a:extLst>
        </p:spPr>
      </p:pic>
      <p:sp>
        <p:nvSpPr>
          <p:cNvPr id="14" name="Arrow: Right 13">
            <a:extLst>
              <a:ext uri="{FF2B5EF4-FFF2-40B4-BE49-F238E27FC236}">
                <a16:creationId xmlns:a16="http://schemas.microsoft.com/office/drawing/2014/main" id="{75BE3EAE-FDC2-21DB-1FAB-A95B8B171CEB}"/>
              </a:ext>
            </a:extLst>
          </p:cNvPr>
          <p:cNvSpPr/>
          <p:nvPr/>
        </p:nvSpPr>
        <p:spPr>
          <a:xfrm>
            <a:off x="161194" y="131267"/>
            <a:ext cx="7143121" cy="1419628"/>
          </a:xfrm>
          <a:prstGeom prst="rightArrow">
            <a:avLst/>
          </a:prstGeom>
          <a:solidFill>
            <a:srgbClr val="FFD92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2800" b="1">
                <a:solidFill>
                  <a:srgbClr val="1F4766"/>
                </a:solidFill>
                <a:latin typeface="Lato" panose="020F0502020204030203" pitchFamily="34" charset="0"/>
                <a:ea typeface="Lato" panose="020F0502020204030203" pitchFamily="34" charset="0"/>
                <a:cs typeface="Lato" panose="020F0502020204030203" pitchFamily="34" charset="0"/>
              </a:rPr>
              <a:t>  </a:t>
            </a:r>
            <a:r>
              <a:rPr lang="en-PH" sz="2800" b="1" i="1">
                <a:solidFill>
                  <a:srgbClr val="1F4766"/>
                </a:solidFill>
                <a:latin typeface="Lato" panose="020F0502020204030203" pitchFamily="34" charset="0"/>
                <a:ea typeface="Lato" panose="020F0502020204030203" pitchFamily="34" charset="0"/>
                <a:cs typeface="Lato" panose="020F0502020204030203" pitchFamily="34" charset="0"/>
              </a:rPr>
              <a:t>Education Loan</a:t>
            </a:r>
          </a:p>
        </p:txBody>
      </p:sp>
      <p:pic>
        <p:nvPicPr>
          <p:cNvPr id="15" name="Picture 14" descr="Shape&#10;&#10;Description automatically generated with medium confidence">
            <a:extLst>
              <a:ext uri="{FF2B5EF4-FFF2-40B4-BE49-F238E27FC236}">
                <a16:creationId xmlns:a16="http://schemas.microsoft.com/office/drawing/2014/main" id="{C455A61C-97D0-F064-D6C7-3D522811E9B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7830" y="471568"/>
            <a:ext cx="1983032" cy="739025"/>
          </a:xfrm>
          <a:prstGeom prst="rect">
            <a:avLst/>
          </a:prstGeom>
        </p:spPr>
      </p:pic>
    </p:spTree>
    <p:extLst>
      <p:ext uri="{BB962C8B-B14F-4D97-AF65-F5344CB8AC3E}">
        <p14:creationId xmlns:p14="http://schemas.microsoft.com/office/powerpoint/2010/main" val="21696580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E013673-3EE0-DDFB-63AE-B8891CECEA51}"/>
              </a:ext>
            </a:extLst>
          </p:cNvPr>
          <p:cNvSpPr>
            <a:spLocks noGrp="1"/>
          </p:cNvSpPr>
          <p:nvPr>
            <p:ph type="sldNum" sz="quarter" idx="12"/>
          </p:nvPr>
        </p:nvSpPr>
        <p:spPr/>
        <p:txBody>
          <a:bodyPr/>
          <a:lstStyle/>
          <a:p>
            <a:fld id="{36D53BC0-5915-4EE6-A8B4-385258777E7F}" type="slidenum">
              <a:rPr lang="en-PH" smtClean="0"/>
              <a:pPr/>
              <a:t>23</a:t>
            </a:fld>
            <a:endParaRPr lang="en-PH"/>
          </a:p>
        </p:txBody>
      </p:sp>
      <p:sp>
        <p:nvSpPr>
          <p:cNvPr id="5" name="Ribbon: Tilted Up 4">
            <a:extLst>
              <a:ext uri="{FF2B5EF4-FFF2-40B4-BE49-F238E27FC236}">
                <a16:creationId xmlns:a16="http://schemas.microsoft.com/office/drawing/2014/main" id="{B6F10C58-7E39-E5A8-54FC-2A63EE51E5AC}"/>
              </a:ext>
            </a:extLst>
          </p:cNvPr>
          <p:cNvSpPr/>
          <p:nvPr/>
        </p:nvSpPr>
        <p:spPr>
          <a:xfrm>
            <a:off x="106046" y="1918646"/>
            <a:ext cx="4131290" cy="1386427"/>
          </a:xfrm>
          <a:prstGeom prst="ribbon2">
            <a:avLst>
              <a:gd name="adj1" fmla="val 16667"/>
              <a:gd name="adj2" fmla="val 75000"/>
            </a:avLst>
          </a:prstGeom>
          <a:noFill/>
          <a:ln w="38100">
            <a:solidFill>
              <a:srgbClr val="FFC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Lato" panose="020F0502020204030203" pitchFamily="34" charset="0"/>
              <a:ea typeface="Lato" panose="020F0502020204030203" pitchFamily="34" charset="0"/>
              <a:cs typeface="Lato" panose="020F0502020204030203" pitchFamily="34" charset="0"/>
            </a:endParaRPr>
          </a:p>
        </p:txBody>
      </p:sp>
      <p:sp>
        <p:nvSpPr>
          <p:cNvPr id="6" name="Title 1">
            <a:extLst>
              <a:ext uri="{FF2B5EF4-FFF2-40B4-BE49-F238E27FC236}">
                <a16:creationId xmlns:a16="http://schemas.microsoft.com/office/drawing/2014/main" id="{9865D65C-D345-55C0-829E-9FA536B959B8}"/>
              </a:ext>
            </a:extLst>
          </p:cNvPr>
          <p:cNvSpPr>
            <a:spLocks noGrp="1"/>
          </p:cNvSpPr>
          <p:nvPr>
            <p:ph type="title"/>
          </p:nvPr>
        </p:nvSpPr>
        <p:spPr>
          <a:xfrm>
            <a:off x="521368" y="705853"/>
            <a:ext cx="3376864" cy="984835"/>
          </a:xfrm>
        </p:spPr>
        <p:txBody>
          <a:bodyPr/>
          <a:lstStyle/>
          <a:p>
            <a:r>
              <a:rPr lang="en-US" sz="3200" b="1">
                <a:highlight>
                  <a:srgbClr val="FFFF00"/>
                </a:highlight>
                <a:ea typeface="Lato" panose="020F0502020204030203" pitchFamily="34" charset="0"/>
                <a:cs typeface="Lato" panose="020F0502020204030203" pitchFamily="34" charset="0"/>
              </a:rPr>
              <a:t>Product Features</a:t>
            </a:r>
          </a:p>
        </p:txBody>
      </p:sp>
      <p:pic>
        <p:nvPicPr>
          <p:cNvPr id="7" name="Picture 6">
            <a:extLst>
              <a:ext uri="{FF2B5EF4-FFF2-40B4-BE49-F238E27FC236}">
                <a16:creationId xmlns:a16="http://schemas.microsoft.com/office/drawing/2014/main" id="{411E26E5-5621-563F-394B-5FF6E5BD3AC2}"/>
              </a:ext>
            </a:extLst>
          </p:cNvPr>
          <p:cNvPicPr>
            <a:picLocks noChangeAspect="1"/>
          </p:cNvPicPr>
          <p:nvPr/>
        </p:nvPicPr>
        <p:blipFill>
          <a:blip r:embed="rId3"/>
          <a:stretch>
            <a:fillRect/>
          </a:stretch>
        </p:blipFill>
        <p:spPr>
          <a:xfrm>
            <a:off x="678870" y="2055136"/>
            <a:ext cx="2985641" cy="1054921"/>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graphicFrame>
        <p:nvGraphicFramePr>
          <p:cNvPr id="8" name="Table 27">
            <a:extLst>
              <a:ext uri="{FF2B5EF4-FFF2-40B4-BE49-F238E27FC236}">
                <a16:creationId xmlns:a16="http://schemas.microsoft.com/office/drawing/2014/main" id="{FF926EC0-425F-B437-D627-F80CF063CCB5}"/>
              </a:ext>
            </a:extLst>
          </p:cNvPr>
          <p:cNvGraphicFramePr>
            <a:graphicFrameLocks noGrp="1"/>
          </p:cNvGraphicFramePr>
          <p:nvPr>
            <p:extLst>
              <p:ext uri="{D42A27DB-BD31-4B8C-83A1-F6EECF244321}">
                <p14:modId xmlns:p14="http://schemas.microsoft.com/office/powerpoint/2010/main" val="1513342226"/>
              </p:ext>
            </p:extLst>
          </p:nvPr>
        </p:nvGraphicFramePr>
        <p:xfrm>
          <a:off x="4576439" y="101053"/>
          <a:ext cx="3550327" cy="6080760"/>
        </p:xfrm>
        <a:graphic>
          <a:graphicData uri="http://schemas.openxmlformats.org/drawingml/2006/table">
            <a:tbl>
              <a:tblPr firstRow="1" bandRow="1">
                <a:tableStyleId>{2D5ABB26-0587-4C30-8999-92F81FD0307C}</a:tableStyleId>
              </a:tblPr>
              <a:tblGrid>
                <a:gridCol w="727739">
                  <a:extLst>
                    <a:ext uri="{9D8B030D-6E8A-4147-A177-3AD203B41FA5}">
                      <a16:colId xmlns:a16="http://schemas.microsoft.com/office/drawing/2014/main" val="1622108729"/>
                    </a:ext>
                  </a:extLst>
                </a:gridCol>
                <a:gridCol w="2822588">
                  <a:extLst>
                    <a:ext uri="{9D8B030D-6E8A-4147-A177-3AD203B41FA5}">
                      <a16:colId xmlns:a16="http://schemas.microsoft.com/office/drawing/2014/main" val="1450379266"/>
                    </a:ext>
                  </a:extLst>
                </a:gridCol>
              </a:tblGrid>
              <a:tr h="0">
                <a:tc rowSpan="2">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a:solidFill>
                            <a:srgbClr val="1F4766"/>
                          </a:solidFill>
                          <a:latin typeface="Lato"/>
                          <a:ea typeface="Lato"/>
                          <a:cs typeface="Lato"/>
                        </a:rPr>
                        <a:t>Loan Amount</a:t>
                      </a:r>
                      <a:endParaRPr lang="en-PH" sz="1800" b="1">
                        <a:solidFill>
                          <a:srgbClr val="1F4766"/>
                        </a:solidFill>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0170993"/>
                  </a:ext>
                </a:extLst>
              </a:tr>
              <a:tr h="0">
                <a:tc vMerge="1">
                  <a:txBody>
                    <a:bodyPr/>
                    <a:lstStyle/>
                    <a:p>
                      <a:endParaRPr lang="en-PH"/>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Wingdings" panose="05000000000000000000" pitchFamily="2" charset="2"/>
                        <a:buChar char="ü"/>
                      </a:pPr>
                      <a:r>
                        <a:rPr lang="en-US" sz="1600">
                          <a:solidFill>
                            <a:srgbClr val="000000"/>
                          </a:solidFill>
                          <a:latin typeface="Lato"/>
                          <a:ea typeface="Lato"/>
                          <a:cs typeface="Lato"/>
                        </a:rPr>
                        <a:t>P2,000 – P30,000</a:t>
                      </a:r>
                    </a:p>
                    <a:p>
                      <a:pPr marL="0" indent="0">
                        <a:buFont typeface="Wingdings" panose="05000000000000000000" pitchFamily="2" charset="2"/>
                        <a:buNone/>
                      </a:pPr>
                      <a:endParaRPr lang="en-US" sz="500">
                        <a:solidFill>
                          <a:srgbClr val="000000"/>
                        </a:solidFill>
                        <a:latin typeface="Lato" panose="020F0502020204030203" pitchFamily="34" charset="0"/>
                        <a:ea typeface="Lato" panose="020F0502020204030203" pitchFamily="34" charset="0"/>
                        <a:cs typeface="Lato" panose="020F0502020204030203" pitchFamily="34" charset="0"/>
                      </a:endParaRPr>
                    </a:p>
                    <a:p>
                      <a:pPr marL="264795"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200" b="0" i="1" u="none" strike="noStrike">
                          <a:solidFill>
                            <a:srgbClr val="09427D"/>
                          </a:solidFill>
                          <a:effectLst/>
                          <a:latin typeface="Lato"/>
                          <a:ea typeface="Lato"/>
                          <a:cs typeface="Lato"/>
                        </a:rPr>
                        <a:t>(</a:t>
                      </a:r>
                      <a:r>
                        <a:rPr lang="en-US" sz="1200" b="0" i="1" u="none" strike="noStrike">
                          <a:effectLst/>
                          <a:latin typeface="Lato"/>
                          <a:ea typeface="Lato"/>
                          <a:cs typeface="Lato"/>
                        </a:rPr>
                        <a:t>should be less than or equal to the amount of production loan but not to exceed P30,000.00)</a:t>
                      </a:r>
                      <a:endParaRPr lang="en-US" sz="1200" i="1">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4695899"/>
                  </a:ext>
                </a:extLst>
              </a:tr>
              <a:tr h="0">
                <a:tc rowSpan="2">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a:solidFill>
                            <a:srgbClr val="1F4766"/>
                          </a:solidFill>
                          <a:latin typeface="Lato"/>
                          <a:ea typeface="Lato"/>
                          <a:cs typeface="Lato"/>
                        </a:rPr>
                        <a:t>Loan Term</a:t>
                      </a:r>
                      <a:endParaRPr lang="en-PH" sz="1800" b="1">
                        <a:solidFill>
                          <a:srgbClr val="1F4766"/>
                        </a:solidFill>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88353520"/>
                  </a:ext>
                </a:extLst>
              </a:tr>
              <a:tr h="0">
                <a:tc vMerge="1">
                  <a:txBody>
                    <a:bodyPr/>
                    <a:lstStyle/>
                    <a:p>
                      <a:endParaRPr lang="en-PH"/>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marR="0" lvl="0" indent="-285750" algn="l" rtl="0" eaLnBrk="1" fontAlgn="auto" latinLnBrk="0" hangingPunct="1">
                        <a:lnSpc>
                          <a:spcPct val="100000"/>
                        </a:lnSpc>
                        <a:spcBef>
                          <a:spcPts val="0"/>
                        </a:spcBef>
                        <a:spcAft>
                          <a:spcPts val="0"/>
                        </a:spcAft>
                        <a:buClrTx/>
                        <a:buSzTx/>
                        <a:buFont typeface="Wingdings" panose="05000000000000000000" pitchFamily="2" charset="2"/>
                        <a:buChar char="ü"/>
                      </a:pPr>
                      <a:r>
                        <a:rPr lang="en-US" sz="1600">
                          <a:solidFill>
                            <a:srgbClr val="000000"/>
                          </a:solidFill>
                          <a:latin typeface="Lato"/>
                          <a:ea typeface="Lato"/>
                          <a:cs typeface="Lato"/>
                        </a:rPr>
                        <a:t>6 or 9 months</a:t>
                      </a:r>
                      <a:r>
                        <a:rPr lang="en-PH" sz="1800" b="0" i="0" kern="1200">
                          <a:solidFill>
                            <a:schemeClr val="tx1"/>
                          </a:solidFill>
                          <a:effectLst/>
                          <a:latin typeface="Lato"/>
                          <a:ea typeface="Lato"/>
                          <a:cs typeface="Lato"/>
                        </a:rPr>
                        <a:t>​ </a:t>
                      </a:r>
                      <a:r>
                        <a:rPr lang="en-PH" sz="1200" b="0" i="1" kern="1200">
                          <a:solidFill>
                            <a:schemeClr val="tx1"/>
                          </a:solidFill>
                          <a:effectLst/>
                          <a:latin typeface="Lato"/>
                          <a:ea typeface="Lato"/>
                          <a:cs typeface="Lato"/>
                        </a:rPr>
                        <a:t>(with grace period (principal only) of maximum of 8 weeks)</a:t>
                      </a:r>
                      <a:endParaRPr lang="en-PH" sz="1800" b="0" i="0" kern="1200">
                        <a:solidFill>
                          <a:schemeClr val="tx1"/>
                        </a:solidFill>
                        <a:effectLst/>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11574103"/>
                  </a:ext>
                </a:extLst>
              </a:tr>
              <a:tr h="0">
                <a:tc rowSpan="2">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b="1">
                          <a:solidFill>
                            <a:srgbClr val="1F4766"/>
                          </a:solidFill>
                          <a:latin typeface="Lato"/>
                          <a:ea typeface="Lato"/>
                          <a:cs typeface="Lato"/>
                        </a:rPr>
                        <a:t>Repayment Frequency</a:t>
                      </a:r>
                      <a:endParaRPr lang="en-PH" sz="1800" b="1">
                        <a:solidFill>
                          <a:srgbClr val="1F4766"/>
                        </a:solidFill>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68837476"/>
                  </a:ext>
                </a:extLst>
              </a:tr>
              <a:tr h="0">
                <a:tc vMerge="1">
                  <a:txBody>
                    <a:bodyPr/>
                    <a:lstStyle/>
                    <a:p>
                      <a:endParaRPr lang="en-PH"/>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600">
                          <a:solidFill>
                            <a:srgbClr val="000000"/>
                          </a:solidFill>
                          <a:latin typeface="Lato"/>
                          <a:ea typeface="Lato"/>
                          <a:cs typeface="Lato"/>
                        </a:rPr>
                        <a:t>Attached to Production Loan</a:t>
                      </a:r>
                      <a:r>
                        <a:rPr lang="en-US" sz="1600">
                          <a:latin typeface="Lato"/>
                          <a:ea typeface="Lato"/>
                          <a:cs typeface="Lato"/>
                        </a:rPr>
                        <a:t> </a:t>
                      </a:r>
                      <a:endParaRPr lang="en-PH" sz="1600">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54832442"/>
                  </a:ext>
                </a:extLst>
              </a:tr>
              <a:tr h="166700">
                <a:tc>
                  <a:txBody>
                    <a:bodyPr/>
                    <a:lstStyle/>
                    <a:p>
                      <a:endParaRPr lang="en-PH" sz="1800">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800" b="1">
                          <a:solidFill>
                            <a:srgbClr val="1F4766"/>
                          </a:solidFill>
                          <a:latin typeface="Lato"/>
                          <a:ea typeface="Lato"/>
                          <a:cs typeface="Lato"/>
                        </a:rPr>
                        <a:t>Minimum CBU Requirement</a:t>
                      </a:r>
                      <a:endParaRPr lang="en-PH" sz="1800" b="1">
                        <a:solidFill>
                          <a:srgbClr val="1F4766"/>
                        </a:solidFill>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22257483"/>
                  </a:ext>
                </a:extLst>
              </a:tr>
              <a:tr h="298229">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600">
                          <a:latin typeface="Lato"/>
                          <a:ea typeface="Lato"/>
                          <a:cs typeface="Lato"/>
                        </a:rPr>
                        <a:t>20% of the loan amount</a:t>
                      </a:r>
                      <a:endParaRPr lang="en-PH" sz="1600">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27866427"/>
                  </a:ext>
                </a:extLst>
              </a:tr>
              <a:tr h="0">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800" b="1">
                          <a:solidFill>
                            <a:srgbClr val="1F4766"/>
                          </a:solidFill>
                          <a:latin typeface="Lato"/>
                          <a:ea typeface="Lato"/>
                          <a:cs typeface="Lato"/>
                        </a:rPr>
                        <a:t>Min. CBU Contribution Requirement</a:t>
                      </a:r>
                      <a:endParaRPr lang="en-PH" sz="1800">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7851786"/>
                  </a:ext>
                </a:extLst>
              </a:tr>
              <a:tr h="725721">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600">
                          <a:latin typeface="Lato"/>
                          <a:ea typeface="Lato"/>
                          <a:cs typeface="Lato"/>
                        </a:rPr>
                        <a:t>P50 for weekly, P375 for bi-monthly and P750 for monthly repayment frequencies​</a:t>
                      </a:r>
                      <a:endParaRPr lang="en-PH" sz="1600">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18026316"/>
                  </a:ext>
                </a:extLst>
              </a:tr>
            </a:tbl>
          </a:graphicData>
        </a:graphic>
      </p:graphicFrame>
      <p:graphicFrame>
        <p:nvGraphicFramePr>
          <p:cNvPr id="9" name="Table 27">
            <a:extLst>
              <a:ext uri="{FF2B5EF4-FFF2-40B4-BE49-F238E27FC236}">
                <a16:creationId xmlns:a16="http://schemas.microsoft.com/office/drawing/2014/main" id="{D7E81CBC-F843-22AB-0A5D-0661BA3A75BC}"/>
              </a:ext>
            </a:extLst>
          </p:cNvPr>
          <p:cNvGraphicFramePr>
            <a:graphicFrameLocks noGrp="1"/>
          </p:cNvGraphicFramePr>
          <p:nvPr>
            <p:extLst>
              <p:ext uri="{D42A27DB-BD31-4B8C-83A1-F6EECF244321}">
                <p14:modId xmlns:p14="http://schemas.microsoft.com/office/powerpoint/2010/main" val="2595575735"/>
              </p:ext>
            </p:extLst>
          </p:nvPr>
        </p:nvGraphicFramePr>
        <p:xfrm>
          <a:off x="8400925" y="215982"/>
          <a:ext cx="3739190" cy="5752204"/>
        </p:xfrm>
        <a:graphic>
          <a:graphicData uri="http://schemas.openxmlformats.org/drawingml/2006/table">
            <a:tbl>
              <a:tblPr firstRow="1" bandRow="1">
                <a:tableStyleId>{2D5ABB26-0587-4C30-8999-92F81FD0307C}</a:tableStyleId>
              </a:tblPr>
              <a:tblGrid>
                <a:gridCol w="589590">
                  <a:extLst>
                    <a:ext uri="{9D8B030D-6E8A-4147-A177-3AD203B41FA5}">
                      <a16:colId xmlns:a16="http://schemas.microsoft.com/office/drawing/2014/main" val="1622108729"/>
                    </a:ext>
                  </a:extLst>
                </a:gridCol>
                <a:gridCol w="3149600">
                  <a:extLst>
                    <a:ext uri="{9D8B030D-6E8A-4147-A177-3AD203B41FA5}">
                      <a16:colId xmlns:a16="http://schemas.microsoft.com/office/drawing/2014/main" val="1450379266"/>
                    </a:ext>
                  </a:extLst>
                </a:gridCol>
              </a:tblGrid>
              <a:tr h="398673">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a:solidFill>
                            <a:srgbClr val="1F4766"/>
                          </a:solidFill>
                          <a:latin typeface="Lato" panose="020F0502020204030203" pitchFamily="34" charset="0"/>
                          <a:ea typeface="Lato" panose="020F0502020204030203" pitchFamily="34" charset="0"/>
                          <a:cs typeface="Lato" panose="020F0502020204030203" pitchFamily="34" charset="0"/>
                        </a:rPr>
                        <a:t>Mode of Payment</a:t>
                      </a:r>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4736254"/>
                  </a:ext>
                </a:extLst>
              </a:tr>
              <a:tr h="398673">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600" b="0">
                          <a:solidFill>
                            <a:schemeClr val="tx1"/>
                          </a:solidFill>
                          <a:latin typeface="Lato" panose="020F0502020204030203" pitchFamily="34" charset="0"/>
                          <a:ea typeface="Lato" panose="020F0502020204030203" pitchFamily="34" charset="0"/>
                          <a:cs typeface="Lato" panose="020F0502020204030203" pitchFamily="34" charset="0"/>
                        </a:rPr>
                        <a:t>Cash</a:t>
                      </a:r>
                      <a:endParaRPr lang="en-PH" sz="1600" b="0">
                        <a:solidFill>
                          <a:schemeClr val="tx1"/>
                        </a:solidFill>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4791629"/>
                  </a:ext>
                </a:extLst>
              </a:tr>
              <a:tr h="398673">
                <a:tc rowSpan="2">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a:solidFill>
                            <a:srgbClr val="1F4766"/>
                          </a:solidFill>
                          <a:latin typeface="Lato" panose="020F0502020204030203" pitchFamily="34" charset="0"/>
                          <a:ea typeface="Lato" panose="020F0502020204030203" pitchFamily="34" charset="0"/>
                          <a:cs typeface="Lato" panose="020F0502020204030203" pitchFamily="34" charset="0"/>
                        </a:rPr>
                        <a:t>Interest</a:t>
                      </a:r>
                      <a:endParaRPr lang="en-PH" sz="1800" b="1">
                        <a:solidFill>
                          <a:srgbClr val="1F4766"/>
                        </a:solidFill>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0170993"/>
                  </a:ext>
                </a:extLst>
              </a:tr>
              <a:tr h="587853">
                <a:tc vMerge="1">
                  <a:txBody>
                    <a:bodyPr/>
                    <a:lstStyle/>
                    <a:p>
                      <a:endParaRPr lang="en-PH"/>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Wingdings" panose="05000000000000000000" pitchFamily="2" charset="2"/>
                        <a:buChar char="ü"/>
                      </a:pPr>
                      <a:r>
                        <a:rPr lang="en-US" sz="1600">
                          <a:latin typeface="Lato" panose="020F0502020204030203" pitchFamily="34" charset="0"/>
                          <a:ea typeface="Lato" panose="020F0502020204030203" pitchFamily="34" charset="0"/>
                          <a:cs typeface="Lato" panose="020F0502020204030203" pitchFamily="34" charset="0"/>
                        </a:rPr>
                        <a:t>2% per month, based on diminishing rate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4695899"/>
                  </a:ext>
                </a:extLst>
              </a:tr>
              <a:tr h="424868">
                <a:tc rowSpan="2">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a:solidFill>
                            <a:srgbClr val="1F4766"/>
                          </a:solidFill>
                          <a:latin typeface="Lato" panose="020F0502020204030203" pitchFamily="34" charset="0"/>
                          <a:ea typeface="Lato" panose="020F0502020204030203" pitchFamily="34" charset="0"/>
                          <a:cs typeface="Lato" panose="020F0502020204030203" pitchFamily="34" charset="0"/>
                        </a:rPr>
                        <a:t>Service Charge</a:t>
                      </a:r>
                      <a:endParaRPr lang="en-PH" sz="1800" b="1">
                        <a:solidFill>
                          <a:srgbClr val="1F4766"/>
                        </a:solidFill>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88353520"/>
                  </a:ext>
                </a:extLst>
              </a:tr>
              <a:tr h="587853">
                <a:tc vMerge="1">
                  <a:txBody>
                    <a:bodyPr/>
                    <a:lstStyle/>
                    <a:p>
                      <a:endParaRPr lang="en-PH"/>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600">
                          <a:solidFill>
                            <a:srgbClr val="000000"/>
                          </a:solidFill>
                          <a:latin typeface="Lato" panose="020F0502020204030203" pitchFamily="34" charset="0"/>
                          <a:ea typeface="Lato" panose="020F0502020204030203" pitchFamily="34" charset="0"/>
                          <a:cs typeface="Lato" panose="020F0502020204030203" pitchFamily="34" charset="0"/>
                        </a:rPr>
                        <a:t>1% of loan amount, pre-deducted</a:t>
                      </a:r>
                      <a:endParaRPr lang="en-US" sz="16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11574103"/>
                  </a:ext>
                </a:extLst>
              </a:tr>
              <a:tr h="670123">
                <a:tc rowSpan="2">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b="1">
                          <a:solidFill>
                            <a:srgbClr val="1F4766"/>
                          </a:solidFill>
                          <a:latin typeface="Lato" panose="020F0502020204030203" pitchFamily="34" charset="0"/>
                          <a:ea typeface="Lato" panose="020F0502020204030203" pitchFamily="34" charset="0"/>
                          <a:cs typeface="Lato" panose="020F0502020204030203" pitchFamily="34" charset="0"/>
                        </a:rPr>
                        <a:t>Micro-Insurance </a:t>
                      </a:r>
                    </a:p>
                    <a:p>
                      <a:r>
                        <a:rPr lang="en-US" sz="1800" b="1">
                          <a:solidFill>
                            <a:srgbClr val="1F4766"/>
                          </a:solidFill>
                          <a:latin typeface="Lato" panose="020F0502020204030203" pitchFamily="34" charset="0"/>
                          <a:ea typeface="Lato" panose="020F0502020204030203" pitchFamily="34" charset="0"/>
                          <a:cs typeface="Lato" panose="020F0502020204030203" pitchFamily="34" charset="0"/>
                        </a:rPr>
                        <a:t>Product Bundle</a:t>
                      </a:r>
                      <a:endParaRPr lang="en-PH" sz="1800" b="1">
                        <a:solidFill>
                          <a:srgbClr val="1F4766"/>
                        </a:solidFill>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68837476"/>
                  </a:ext>
                </a:extLst>
              </a:tr>
              <a:tr h="365248">
                <a:tc vMerge="1">
                  <a:txBody>
                    <a:bodyPr/>
                    <a:lstStyle/>
                    <a:p>
                      <a:endParaRPr lang="en-PH"/>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gn="just">
                        <a:buFont typeface="Wingdings"/>
                        <a:buChar char="ü"/>
                      </a:pPr>
                      <a:r>
                        <a:rPr lang="en-US" sz="1600">
                          <a:latin typeface="Lato" panose="020F0502020204030203" pitchFamily="34" charset="0"/>
                          <a:ea typeface="Lato" panose="020F0502020204030203" pitchFamily="34" charset="0"/>
                          <a:cs typeface="Lato" panose="020F0502020204030203" pitchFamily="34" charset="0"/>
                        </a:rPr>
                        <a:t>Loan Redemption Fund</a:t>
                      </a:r>
                      <a:endParaRPr lang="en-US" sz="1600" b="0" i="0" u="none" strike="noStrike">
                        <a:effectLst/>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54832442"/>
                  </a:ext>
                </a:extLst>
              </a:tr>
              <a:tr h="365248">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b="1">
                          <a:solidFill>
                            <a:srgbClr val="1F4766"/>
                          </a:solidFill>
                          <a:latin typeface="Lato" panose="020F0502020204030203" pitchFamily="34" charset="0"/>
                          <a:ea typeface="Lato" panose="020F0502020204030203" pitchFamily="34" charset="0"/>
                          <a:cs typeface="Lato" panose="020F0502020204030203" pitchFamily="34" charset="0"/>
                        </a:rPr>
                        <a:t>Validity Branches</a:t>
                      </a:r>
                      <a:endParaRPr lang="en-US" sz="1800" b="0" i="0" u="none" strike="noStrike">
                        <a:effectLst/>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26862769"/>
                  </a:ext>
                </a:extLst>
              </a:tr>
              <a:tr h="365248">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lgn="l">
                        <a:buFont typeface="Wingdings"/>
                        <a:buChar char="ü"/>
                      </a:pPr>
                      <a:r>
                        <a:rPr lang="en-US" sz="1600" b="0" i="0" u="none" strike="noStrike">
                          <a:effectLst/>
                          <a:latin typeface="Lato" panose="020F0502020204030203" pitchFamily="34" charset="0"/>
                          <a:ea typeface="Lato" panose="020F0502020204030203" pitchFamily="34" charset="0"/>
                          <a:cs typeface="Lato" panose="020F0502020204030203" pitchFamily="34" charset="0"/>
                        </a:rPr>
                        <a:t>All RAFI MFI branches, regardless of branch age, provided branch does not exceed acceptable branch PAR level and supplemental loan capping​​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50345320"/>
                  </a:ext>
                </a:extLst>
              </a:tr>
            </a:tbl>
          </a:graphicData>
        </a:graphic>
      </p:graphicFrame>
      <p:grpSp>
        <p:nvGrpSpPr>
          <p:cNvPr id="10" name="Group 9">
            <a:extLst>
              <a:ext uri="{FF2B5EF4-FFF2-40B4-BE49-F238E27FC236}">
                <a16:creationId xmlns:a16="http://schemas.microsoft.com/office/drawing/2014/main" id="{3B41CF0A-B2A6-01D6-C381-C0B8D586C07D}"/>
              </a:ext>
            </a:extLst>
          </p:cNvPr>
          <p:cNvGrpSpPr/>
          <p:nvPr/>
        </p:nvGrpSpPr>
        <p:grpSpPr>
          <a:xfrm>
            <a:off x="4650957" y="164489"/>
            <a:ext cx="572700" cy="572700"/>
            <a:chOff x="771614" y="1895768"/>
            <a:chExt cx="572700" cy="572700"/>
          </a:xfrm>
        </p:grpSpPr>
        <p:sp>
          <p:nvSpPr>
            <p:cNvPr id="11" name="Google Shape;839;p61">
              <a:extLst>
                <a:ext uri="{FF2B5EF4-FFF2-40B4-BE49-F238E27FC236}">
                  <a16:creationId xmlns:a16="http://schemas.microsoft.com/office/drawing/2014/main" id="{3CB571DB-6B82-121B-1D0E-8CBA4E704FE3}"/>
                </a:ext>
              </a:extLst>
            </p:cNvPr>
            <p:cNvSpPr/>
            <p:nvPr/>
          </p:nvSpPr>
          <p:spPr>
            <a:xfrm>
              <a:off x="771614" y="1895768"/>
              <a:ext cx="572700" cy="572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nvGrpSpPr>
            <p:cNvPr id="12" name="Google Shape;17106;p127">
              <a:extLst>
                <a:ext uri="{FF2B5EF4-FFF2-40B4-BE49-F238E27FC236}">
                  <a16:creationId xmlns:a16="http://schemas.microsoft.com/office/drawing/2014/main" id="{B4BA9F13-52EF-361D-E3FC-9B539150E7B4}"/>
                </a:ext>
              </a:extLst>
            </p:cNvPr>
            <p:cNvGrpSpPr/>
            <p:nvPr/>
          </p:nvGrpSpPr>
          <p:grpSpPr>
            <a:xfrm>
              <a:off x="843708" y="1973049"/>
              <a:ext cx="428511" cy="383186"/>
              <a:chOff x="5744051" y="3766250"/>
              <a:chExt cx="428511" cy="383186"/>
            </a:xfrm>
          </p:grpSpPr>
          <p:sp>
            <p:nvSpPr>
              <p:cNvPr id="13" name="Google Shape;17107;p127">
                <a:extLst>
                  <a:ext uri="{FF2B5EF4-FFF2-40B4-BE49-F238E27FC236}">
                    <a16:creationId xmlns:a16="http://schemas.microsoft.com/office/drawing/2014/main" id="{D9E8C51A-AFF5-72A4-55ED-E282958C0ABB}"/>
                  </a:ext>
                </a:extLst>
              </p:cNvPr>
              <p:cNvSpPr/>
              <p:nvPr/>
            </p:nvSpPr>
            <p:spPr>
              <a:xfrm>
                <a:off x="5872489" y="3804510"/>
                <a:ext cx="130696" cy="130460"/>
              </a:xfrm>
              <a:custGeom>
                <a:avLst/>
                <a:gdLst/>
                <a:ahLst/>
                <a:cxnLst/>
                <a:rect l="l" t="t" r="r" b="b"/>
                <a:pathLst>
                  <a:path w="4977" h="4968" extrusionOk="0">
                    <a:moveTo>
                      <a:pt x="2480" y="0"/>
                    </a:moveTo>
                    <a:cubicBezTo>
                      <a:pt x="1110" y="0"/>
                      <a:pt x="0" y="1107"/>
                      <a:pt x="0" y="2479"/>
                    </a:cubicBezTo>
                    <a:cubicBezTo>
                      <a:pt x="0" y="3847"/>
                      <a:pt x="1110" y="4967"/>
                      <a:pt x="2479" y="4967"/>
                    </a:cubicBezTo>
                    <a:cubicBezTo>
                      <a:pt x="2485" y="4967"/>
                      <a:pt x="2491" y="4967"/>
                      <a:pt x="2496" y="4967"/>
                    </a:cubicBezTo>
                    <a:cubicBezTo>
                      <a:pt x="3866" y="4967"/>
                      <a:pt x="4967" y="3861"/>
                      <a:pt x="4977" y="2488"/>
                    </a:cubicBezTo>
                    <a:cubicBezTo>
                      <a:pt x="4977" y="1120"/>
                      <a:pt x="3866" y="0"/>
                      <a:pt x="2498" y="0"/>
                    </a:cubicBezTo>
                    <a:cubicBezTo>
                      <a:pt x="2492" y="0"/>
                      <a:pt x="2486" y="0"/>
                      <a:pt x="2480" y="0"/>
                    </a:cubicBezTo>
                    <a:close/>
                  </a:path>
                </a:pathLst>
              </a:custGeom>
              <a:solidFill>
                <a:srgbClr val="ACBDC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4" name="Google Shape;17108;p127">
                <a:extLst>
                  <a:ext uri="{FF2B5EF4-FFF2-40B4-BE49-F238E27FC236}">
                    <a16:creationId xmlns:a16="http://schemas.microsoft.com/office/drawing/2014/main" id="{A8774279-87B2-90CC-0746-04F46C933744}"/>
                  </a:ext>
                </a:extLst>
              </p:cNvPr>
              <p:cNvSpPr/>
              <p:nvPr/>
            </p:nvSpPr>
            <p:spPr>
              <a:xfrm>
                <a:off x="5871963" y="3804169"/>
                <a:ext cx="74185" cy="130775"/>
              </a:xfrm>
              <a:custGeom>
                <a:avLst/>
                <a:gdLst/>
                <a:ahLst/>
                <a:cxnLst/>
                <a:rect l="l" t="t" r="r" b="b"/>
                <a:pathLst>
                  <a:path w="2825" h="4980" extrusionOk="0">
                    <a:moveTo>
                      <a:pt x="2487" y="0"/>
                    </a:moveTo>
                    <a:cubicBezTo>
                      <a:pt x="1138" y="0"/>
                      <a:pt x="10" y="1094"/>
                      <a:pt x="1" y="2482"/>
                    </a:cubicBezTo>
                    <a:cubicBezTo>
                      <a:pt x="1" y="3880"/>
                      <a:pt x="1144" y="4980"/>
                      <a:pt x="2498" y="4980"/>
                    </a:cubicBezTo>
                    <a:cubicBezTo>
                      <a:pt x="2599" y="4980"/>
                      <a:pt x="2702" y="4974"/>
                      <a:pt x="2805" y="4961"/>
                    </a:cubicBezTo>
                    <a:cubicBezTo>
                      <a:pt x="1570" y="4789"/>
                      <a:pt x="642" y="3736"/>
                      <a:pt x="642" y="2482"/>
                    </a:cubicBezTo>
                    <a:cubicBezTo>
                      <a:pt x="652" y="1238"/>
                      <a:pt x="1580" y="185"/>
                      <a:pt x="2824" y="23"/>
                    </a:cubicBezTo>
                    <a:cubicBezTo>
                      <a:pt x="2710" y="8"/>
                      <a:pt x="2598" y="0"/>
                      <a:pt x="2487" y="0"/>
                    </a:cubicBezTo>
                    <a:close/>
                  </a:path>
                </a:pathLst>
              </a:custGeom>
              <a:solidFill>
                <a:srgbClr val="96AB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5" name="Google Shape;17109;p127">
                <a:extLst>
                  <a:ext uri="{FF2B5EF4-FFF2-40B4-BE49-F238E27FC236}">
                    <a16:creationId xmlns:a16="http://schemas.microsoft.com/office/drawing/2014/main" id="{CE5F4726-F35A-BF0D-D2AC-3E42A6BB0673}"/>
                  </a:ext>
                </a:extLst>
              </p:cNvPr>
              <p:cNvSpPr/>
              <p:nvPr/>
            </p:nvSpPr>
            <p:spPr>
              <a:xfrm>
                <a:off x="5893339" y="3825361"/>
                <a:ext cx="88995" cy="88733"/>
              </a:xfrm>
              <a:custGeom>
                <a:avLst/>
                <a:gdLst/>
                <a:ahLst/>
                <a:cxnLst/>
                <a:rect l="l" t="t" r="r" b="b"/>
                <a:pathLst>
                  <a:path w="3389" h="3379" extrusionOk="0">
                    <a:moveTo>
                      <a:pt x="1677" y="0"/>
                    </a:moveTo>
                    <a:cubicBezTo>
                      <a:pt x="756" y="0"/>
                      <a:pt x="0" y="753"/>
                      <a:pt x="0" y="1685"/>
                    </a:cubicBezTo>
                    <a:cubicBezTo>
                      <a:pt x="0" y="2623"/>
                      <a:pt x="756" y="3379"/>
                      <a:pt x="1685" y="3379"/>
                    </a:cubicBezTo>
                    <a:cubicBezTo>
                      <a:pt x="1691" y="3379"/>
                      <a:pt x="1696" y="3379"/>
                      <a:pt x="1702" y="3379"/>
                    </a:cubicBezTo>
                    <a:cubicBezTo>
                      <a:pt x="2632" y="3379"/>
                      <a:pt x="3379" y="2627"/>
                      <a:pt x="3388" y="1694"/>
                    </a:cubicBezTo>
                    <a:cubicBezTo>
                      <a:pt x="3388" y="757"/>
                      <a:pt x="2632" y="1"/>
                      <a:pt x="1694" y="1"/>
                    </a:cubicBezTo>
                    <a:cubicBezTo>
                      <a:pt x="1688" y="1"/>
                      <a:pt x="1683" y="0"/>
                      <a:pt x="1677" y="0"/>
                    </a:cubicBezTo>
                    <a:close/>
                  </a:path>
                </a:pathLst>
              </a:custGeom>
              <a:solidFill>
                <a:srgbClr val="D2DB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6" name="Google Shape;17110;p127">
                <a:extLst>
                  <a:ext uri="{FF2B5EF4-FFF2-40B4-BE49-F238E27FC236}">
                    <a16:creationId xmlns:a16="http://schemas.microsoft.com/office/drawing/2014/main" id="{A2868FCF-ED82-9C51-C8A7-0D3B0D5AA406}"/>
                  </a:ext>
                </a:extLst>
              </p:cNvPr>
              <p:cNvSpPr/>
              <p:nvPr/>
            </p:nvSpPr>
            <p:spPr>
              <a:xfrm>
                <a:off x="5892840" y="3824993"/>
                <a:ext cx="53308" cy="88995"/>
              </a:xfrm>
              <a:custGeom>
                <a:avLst/>
                <a:gdLst/>
                <a:ahLst/>
                <a:cxnLst/>
                <a:rect l="l" t="t" r="r" b="b"/>
                <a:pathLst>
                  <a:path w="2030" h="3389" extrusionOk="0">
                    <a:moveTo>
                      <a:pt x="1694" y="0"/>
                    </a:moveTo>
                    <a:cubicBezTo>
                      <a:pt x="786" y="0"/>
                      <a:pt x="9" y="742"/>
                      <a:pt x="0" y="1689"/>
                    </a:cubicBezTo>
                    <a:cubicBezTo>
                      <a:pt x="0" y="2645"/>
                      <a:pt x="777" y="3388"/>
                      <a:pt x="1685" y="3388"/>
                    </a:cubicBezTo>
                    <a:cubicBezTo>
                      <a:pt x="1795" y="3388"/>
                      <a:pt x="1907" y="3377"/>
                      <a:pt x="2020" y="3355"/>
                    </a:cubicBezTo>
                    <a:cubicBezTo>
                      <a:pt x="1225" y="3201"/>
                      <a:pt x="661" y="2503"/>
                      <a:pt x="661" y="1689"/>
                    </a:cubicBezTo>
                    <a:cubicBezTo>
                      <a:pt x="661" y="885"/>
                      <a:pt x="1235" y="187"/>
                      <a:pt x="2029" y="34"/>
                    </a:cubicBezTo>
                    <a:cubicBezTo>
                      <a:pt x="1916" y="11"/>
                      <a:pt x="1804" y="0"/>
                      <a:pt x="1694" y="0"/>
                    </a:cubicBezTo>
                    <a:close/>
                  </a:path>
                </a:pathLst>
              </a:custGeom>
              <a:solidFill>
                <a:srgbClr val="C1CE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7" name="Google Shape;17111;p127">
                <a:extLst>
                  <a:ext uri="{FF2B5EF4-FFF2-40B4-BE49-F238E27FC236}">
                    <a16:creationId xmlns:a16="http://schemas.microsoft.com/office/drawing/2014/main" id="{3A6726F8-0021-4A20-0FFA-841528F9DA9E}"/>
                  </a:ext>
                </a:extLst>
              </p:cNvPr>
              <p:cNvSpPr/>
              <p:nvPr/>
            </p:nvSpPr>
            <p:spPr>
              <a:xfrm>
                <a:off x="5919231" y="3839436"/>
                <a:ext cx="35714" cy="61107"/>
              </a:xfrm>
              <a:custGeom>
                <a:avLst/>
                <a:gdLst/>
                <a:ahLst/>
                <a:cxnLst/>
                <a:rect l="l" t="t" r="r" b="b"/>
                <a:pathLst>
                  <a:path w="1360" h="2327" extrusionOk="0">
                    <a:moveTo>
                      <a:pt x="651" y="469"/>
                    </a:moveTo>
                    <a:lnTo>
                      <a:pt x="651" y="900"/>
                    </a:lnTo>
                    <a:cubicBezTo>
                      <a:pt x="469" y="833"/>
                      <a:pt x="421" y="776"/>
                      <a:pt x="421" y="670"/>
                    </a:cubicBezTo>
                    <a:cubicBezTo>
                      <a:pt x="421" y="546"/>
                      <a:pt x="526" y="489"/>
                      <a:pt x="651" y="469"/>
                    </a:cubicBezTo>
                    <a:close/>
                    <a:moveTo>
                      <a:pt x="794" y="1350"/>
                    </a:moveTo>
                    <a:cubicBezTo>
                      <a:pt x="967" y="1426"/>
                      <a:pt x="1005" y="1503"/>
                      <a:pt x="1005" y="1608"/>
                    </a:cubicBezTo>
                    <a:cubicBezTo>
                      <a:pt x="1005" y="1723"/>
                      <a:pt x="909" y="1828"/>
                      <a:pt x="794" y="1838"/>
                    </a:cubicBezTo>
                    <a:lnTo>
                      <a:pt x="794" y="1350"/>
                    </a:lnTo>
                    <a:close/>
                    <a:moveTo>
                      <a:pt x="718" y="0"/>
                    </a:moveTo>
                    <a:cubicBezTo>
                      <a:pt x="670" y="0"/>
                      <a:pt x="622" y="29"/>
                      <a:pt x="622" y="77"/>
                    </a:cubicBezTo>
                    <a:lnTo>
                      <a:pt x="622" y="154"/>
                    </a:lnTo>
                    <a:cubicBezTo>
                      <a:pt x="287" y="192"/>
                      <a:pt x="67" y="374"/>
                      <a:pt x="67" y="709"/>
                    </a:cubicBezTo>
                    <a:cubicBezTo>
                      <a:pt x="67" y="1063"/>
                      <a:pt x="345" y="1168"/>
                      <a:pt x="613" y="1273"/>
                    </a:cubicBezTo>
                    <a:lnTo>
                      <a:pt x="613" y="1838"/>
                    </a:lnTo>
                    <a:cubicBezTo>
                      <a:pt x="479" y="1819"/>
                      <a:pt x="354" y="1752"/>
                      <a:pt x="258" y="1656"/>
                    </a:cubicBezTo>
                    <a:cubicBezTo>
                      <a:pt x="236" y="1633"/>
                      <a:pt x="206" y="1623"/>
                      <a:pt x="176" y="1623"/>
                    </a:cubicBezTo>
                    <a:cubicBezTo>
                      <a:pt x="130" y="1623"/>
                      <a:pt x="84" y="1648"/>
                      <a:pt x="67" y="1694"/>
                    </a:cubicBezTo>
                    <a:cubicBezTo>
                      <a:pt x="0" y="1771"/>
                      <a:pt x="0" y="1876"/>
                      <a:pt x="67" y="1943"/>
                    </a:cubicBezTo>
                    <a:cubicBezTo>
                      <a:pt x="203" y="2089"/>
                      <a:pt x="392" y="2174"/>
                      <a:pt x="590" y="2174"/>
                    </a:cubicBezTo>
                    <a:cubicBezTo>
                      <a:pt x="601" y="2174"/>
                      <a:pt x="612" y="2173"/>
                      <a:pt x="622" y="2173"/>
                    </a:cubicBezTo>
                    <a:lnTo>
                      <a:pt x="622" y="2173"/>
                    </a:lnTo>
                    <a:lnTo>
                      <a:pt x="613" y="2183"/>
                    </a:lnTo>
                    <a:lnTo>
                      <a:pt x="613" y="2259"/>
                    </a:lnTo>
                    <a:cubicBezTo>
                      <a:pt x="613" y="2297"/>
                      <a:pt x="670" y="2326"/>
                      <a:pt x="708" y="2326"/>
                    </a:cubicBezTo>
                    <a:cubicBezTo>
                      <a:pt x="756" y="2326"/>
                      <a:pt x="804" y="2297"/>
                      <a:pt x="804" y="2259"/>
                    </a:cubicBezTo>
                    <a:lnTo>
                      <a:pt x="804" y="2173"/>
                    </a:lnTo>
                    <a:cubicBezTo>
                      <a:pt x="1120" y="2154"/>
                      <a:pt x="1359" y="1886"/>
                      <a:pt x="1340" y="1570"/>
                    </a:cubicBezTo>
                    <a:cubicBezTo>
                      <a:pt x="1340" y="1235"/>
                      <a:pt x="1129" y="1082"/>
                      <a:pt x="814" y="967"/>
                    </a:cubicBezTo>
                    <a:lnTo>
                      <a:pt x="814" y="469"/>
                    </a:lnTo>
                    <a:cubicBezTo>
                      <a:pt x="909" y="479"/>
                      <a:pt x="1005" y="508"/>
                      <a:pt x="1082" y="556"/>
                    </a:cubicBezTo>
                    <a:cubicBezTo>
                      <a:pt x="1102" y="567"/>
                      <a:pt x="1123" y="573"/>
                      <a:pt x="1144" y="573"/>
                    </a:cubicBezTo>
                    <a:cubicBezTo>
                      <a:pt x="1191" y="573"/>
                      <a:pt x="1234" y="545"/>
                      <a:pt x="1254" y="498"/>
                    </a:cubicBezTo>
                    <a:cubicBezTo>
                      <a:pt x="1311" y="431"/>
                      <a:pt x="1302" y="335"/>
                      <a:pt x="1244" y="278"/>
                    </a:cubicBezTo>
                    <a:cubicBezTo>
                      <a:pt x="1130" y="199"/>
                      <a:pt x="992" y="152"/>
                      <a:pt x="852" y="152"/>
                    </a:cubicBezTo>
                    <a:cubicBezTo>
                      <a:pt x="839" y="152"/>
                      <a:pt x="827" y="153"/>
                      <a:pt x="814" y="154"/>
                    </a:cubicBezTo>
                    <a:lnTo>
                      <a:pt x="814" y="77"/>
                    </a:lnTo>
                    <a:cubicBezTo>
                      <a:pt x="814" y="39"/>
                      <a:pt x="766" y="0"/>
                      <a:pt x="718" y="0"/>
                    </a:cubicBezTo>
                    <a:close/>
                  </a:path>
                </a:pathLst>
              </a:custGeom>
              <a:solidFill>
                <a:srgbClr val="E6EB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8" name="Google Shape;17112;p127">
                <a:extLst>
                  <a:ext uri="{FF2B5EF4-FFF2-40B4-BE49-F238E27FC236}">
                    <a16:creationId xmlns:a16="http://schemas.microsoft.com/office/drawing/2014/main" id="{8DCF6BBE-DA0E-84EC-0340-5C4BA17473E0}"/>
                  </a:ext>
                </a:extLst>
              </p:cNvPr>
              <p:cNvSpPr/>
              <p:nvPr/>
            </p:nvSpPr>
            <p:spPr>
              <a:xfrm>
                <a:off x="5973747" y="3766565"/>
                <a:ext cx="130959" cy="130460"/>
              </a:xfrm>
              <a:custGeom>
                <a:avLst/>
                <a:gdLst/>
                <a:ahLst/>
                <a:cxnLst/>
                <a:rect l="l" t="t" r="r" b="b"/>
                <a:pathLst>
                  <a:path w="4987" h="4968" extrusionOk="0">
                    <a:moveTo>
                      <a:pt x="2481" y="0"/>
                    </a:moveTo>
                    <a:cubicBezTo>
                      <a:pt x="1121" y="0"/>
                      <a:pt x="10" y="1107"/>
                      <a:pt x="1" y="2479"/>
                    </a:cubicBezTo>
                    <a:cubicBezTo>
                      <a:pt x="1" y="3847"/>
                      <a:pt x="1111" y="4967"/>
                      <a:pt x="2489" y="4967"/>
                    </a:cubicBezTo>
                    <a:cubicBezTo>
                      <a:pt x="2495" y="4967"/>
                      <a:pt x="2501" y="4967"/>
                      <a:pt x="2507" y="4967"/>
                    </a:cubicBezTo>
                    <a:cubicBezTo>
                      <a:pt x="3867" y="4967"/>
                      <a:pt x="4977" y="3861"/>
                      <a:pt x="4977" y="2488"/>
                    </a:cubicBezTo>
                    <a:cubicBezTo>
                      <a:pt x="4987" y="1120"/>
                      <a:pt x="3877" y="0"/>
                      <a:pt x="2499" y="0"/>
                    </a:cubicBezTo>
                    <a:cubicBezTo>
                      <a:pt x="2493" y="0"/>
                      <a:pt x="2487" y="0"/>
                      <a:pt x="2481" y="0"/>
                    </a:cubicBezTo>
                    <a:close/>
                  </a:path>
                </a:pathLst>
              </a:custGeom>
              <a:solidFill>
                <a:srgbClr val="ACBDC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9" name="Google Shape;17113;p127">
                <a:extLst>
                  <a:ext uri="{FF2B5EF4-FFF2-40B4-BE49-F238E27FC236}">
                    <a16:creationId xmlns:a16="http://schemas.microsoft.com/office/drawing/2014/main" id="{1A30BEED-5205-8635-34E0-C303B8816ED3}"/>
                  </a:ext>
                </a:extLst>
              </p:cNvPr>
              <p:cNvSpPr/>
              <p:nvPr/>
            </p:nvSpPr>
            <p:spPr>
              <a:xfrm>
                <a:off x="5973274" y="3766250"/>
                <a:ext cx="74132" cy="130801"/>
              </a:xfrm>
              <a:custGeom>
                <a:avLst/>
                <a:gdLst/>
                <a:ahLst/>
                <a:cxnLst/>
                <a:rect l="l" t="t" r="r" b="b"/>
                <a:pathLst>
                  <a:path w="2823" h="4981" extrusionOk="0">
                    <a:moveTo>
                      <a:pt x="2497" y="1"/>
                    </a:moveTo>
                    <a:cubicBezTo>
                      <a:pt x="1143" y="1"/>
                      <a:pt x="9" y="1089"/>
                      <a:pt x="9" y="2481"/>
                    </a:cubicBezTo>
                    <a:cubicBezTo>
                      <a:pt x="0" y="3875"/>
                      <a:pt x="1136" y="4981"/>
                      <a:pt x="2492" y="4981"/>
                    </a:cubicBezTo>
                    <a:cubicBezTo>
                      <a:pt x="2598" y="4981"/>
                      <a:pt x="2705" y="4974"/>
                      <a:pt x="2813" y="4960"/>
                    </a:cubicBezTo>
                    <a:cubicBezTo>
                      <a:pt x="1569" y="4797"/>
                      <a:pt x="641" y="3735"/>
                      <a:pt x="650" y="2481"/>
                    </a:cubicBezTo>
                    <a:cubicBezTo>
                      <a:pt x="650" y="1237"/>
                      <a:pt x="1579" y="184"/>
                      <a:pt x="2823" y="22"/>
                    </a:cubicBezTo>
                    <a:cubicBezTo>
                      <a:pt x="2713" y="8"/>
                      <a:pt x="2605" y="1"/>
                      <a:pt x="2497" y="1"/>
                    </a:cubicBezTo>
                    <a:close/>
                  </a:path>
                </a:pathLst>
              </a:custGeom>
              <a:solidFill>
                <a:srgbClr val="96AB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20" name="Google Shape;17114;p127">
                <a:extLst>
                  <a:ext uri="{FF2B5EF4-FFF2-40B4-BE49-F238E27FC236}">
                    <a16:creationId xmlns:a16="http://schemas.microsoft.com/office/drawing/2014/main" id="{C8DD91C2-F5C8-3A01-5DB9-4789B002F9F9}"/>
                  </a:ext>
                </a:extLst>
              </p:cNvPr>
              <p:cNvSpPr/>
              <p:nvPr/>
            </p:nvSpPr>
            <p:spPr>
              <a:xfrm>
                <a:off x="5994624" y="3787415"/>
                <a:ext cx="89231" cy="88733"/>
              </a:xfrm>
              <a:custGeom>
                <a:avLst/>
                <a:gdLst/>
                <a:ahLst/>
                <a:cxnLst/>
                <a:rect l="l" t="t" r="r" b="b"/>
                <a:pathLst>
                  <a:path w="3398" h="3379" extrusionOk="0">
                    <a:moveTo>
                      <a:pt x="1686" y="0"/>
                    </a:moveTo>
                    <a:cubicBezTo>
                      <a:pt x="756" y="0"/>
                      <a:pt x="10" y="753"/>
                      <a:pt x="0" y="1685"/>
                    </a:cubicBezTo>
                    <a:cubicBezTo>
                      <a:pt x="0" y="2623"/>
                      <a:pt x="756" y="3379"/>
                      <a:pt x="1694" y="3379"/>
                    </a:cubicBezTo>
                    <a:cubicBezTo>
                      <a:pt x="1700" y="3379"/>
                      <a:pt x="1706" y="3379"/>
                      <a:pt x="1712" y="3379"/>
                    </a:cubicBezTo>
                    <a:cubicBezTo>
                      <a:pt x="2641" y="3379"/>
                      <a:pt x="3388" y="2626"/>
                      <a:pt x="3388" y="1694"/>
                    </a:cubicBezTo>
                    <a:cubicBezTo>
                      <a:pt x="3398" y="757"/>
                      <a:pt x="2642" y="0"/>
                      <a:pt x="1704" y="0"/>
                    </a:cubicBezTo>
                    <a:cubicBezTo>
                      <a:pt x="1698" y="0"/>
                      <a:pt x="1692" y="0"/>
                      <a:pt x="1686" y="0"/>
                    </a:cubicBezTo>
                    <a:close/>
                  </a:path>
                </a:pathLst>
              </a:custGeom>
              <a:solidFill>
                <a:srgbClr val="D2DB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21" name="Google Shape;17115;p127">
                <a:extLst>
                  <a:ext uri="{FF2B5EF4-FFF2-40B4-BE49-F238E27FC236}">
                    <a16:creationId xmlns:a16="http://schemas.microsoft.com/office/drawing/2014/main" id="{237612C3-290C-7F56-2198-3522FAAB872E}"/>
                  </a:ext>
                </a:extLst>
              </p:cNvPr>
              <p:cNvSpPr/>
              <p:nvPr/>
            </p:nvSpPr>
            <p:spPr>
              <a:xfrm>
                <a:off x="5994361" y="3787284"/>
                <a:ext cx="53308" cy="88916"/>
              </a:xfrm>
              <a:custGeom>
                <a:avLst/>
                <a:gdLst/>
                <a:ahLst/>
                <a:cxnLst/>
                <a:rect l="l" t="t" r="r" b="b"/>
                <a:pathLst>
                  <a:path w="2030" h="3386" extrusionOk="0">
                    <a:moveTo>
                      <a:pt x="1689" y="0"/>
                    </a:moveTo>
                    <a:cubicBezTo>
                      <a:pt x="775" y="0"/>
                      <a:pt x="1" y="734"/>
                      <a:pt x="1" y="1680"/>
                    </a:cubicBezTo>
                    <a:cubicBezTo>
                      <a:pt x="1" y="2641"/>
                      <a:pt x="777" y="3386"/>
                      <a:pt x="1695" y="3386"/>
                    </a:cubicBezTo>
                    <a:cubicBezTo>
                      <a:pt x="1802" y="3386"/>
                      <a:pt x="1910" y="3376"/>
                      <a:pt x="2020" y="3355"/>
                    </a:cubicBezTo>
                    <a:cubicBezTo>
                      <a:pt x="1226" y="3192"/>
                      <a:pt x="651" y="2494"/>
                      <a:pt x="661" y="1690"/>
                    </a:cubicBezTo>
                    <a:cubicBezTo>
                      <a:pt x="661" y="876"/>
                      <a:pt x="1235" y="187"/>
                      <a:pt x="2030" y="34"/>
                    </a:cubicBezTo>
                    <a:cubicBezTo>
                      <a:pt x="1915" y="11"/>
                      <a:pt x="1801" y="0"/>
                      <a:pt x="1689" y="0"/>
                    </a:cubicBezTo>
                    <a:close/>
                  </a:path>
                </a:pathLst>
              </a:custGeom>
              <a:solidFill>
                <a:srgbClr val="C1CE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22" name="Google Shape;17116;p127">
                <a:extLst>
                  <a:ext uri="{FF2B5EF4-FFF2-40B4-BE49-F238E27FC236}">
                    <a16:creationId xmlns:a16="http://schemas.microsoft.com/office/drawing/2014/main" id="{25A239AD-18F1-37C5-29EF-35534B153872}"/>
                  </a:ext>
                </a:extLst>
              </p:cNvPr>
              <p:cNvSpPr/>
              <p:nvPr/>
            </p:nvSpPr>
            <p:spPr>
              <a:xfrm>
                <a:off x="6020753" y="3801727"/>
                <a:ext cx="35451" cy="60844"/>
              </a:xfrm>
              <a:custGeom>
                <a:avLst/>
                <a:gdLst/>
                <a:ahLst/>
                <a:cxnLst/>
                <a:rect l="l" t="t" r="r" b="b"/>
                <a:pathLst>
                  <a:path w="1350" h="2317" extrusionOk="0">
                    <a:moveTo>
                      <a:pt x="642" y="470"/>
                    </a:moveTo>
                    <a:lnTo>
                      <a:pt x="642" y="891"/>
                    </a:lnTo>
                    <a:cubicBezTo>
                      <a:pt x="460" y="824"/>
                      <a:pt x="412" y="767"/>
                      <a:pt x="412" y="661"/>
                    </a:cubicBezTo>
                    <a:cubicBezTo>
                      <a:pt x="412" y="537"/>
                      <a:pt x="517" y="489"/>
                      <a:pt x="642" y="470"/>
                    </a:cubicBezTo>
                    <a:close/>
                    <a:moveTo>
                      <a:pt x="785" y="1341"/>
                    </a:moveTo>
                    <a:cubicBezTo>
                      <a:pt x="967" y="1417"/>
                      <a:pt x="996" y="1503"/>
                      <a:pt x="996" y="1599"/>
                    </a:cubicBezTo>
                    <a:cubicBezTo>
                      <a:pt x="996" y="1724"/>
                      <a:pt x="910" y="1819"/>
                      <a:pt x="785" y="1829"/>
                    </a:cubicBezTo>
                    <a:lnTo>
                      <a:pt x="785" y="1341"/>
                    </a:lnTo>
                    <a:close/>
                    <a:moveTo>
                      <a:pt x="709" y="1"/>
                    </a:moveTo>
                    <a:cubicBezTo>
                      <a:pt x="661" y="1"/>
                      <a:pt x="613" y="30"/>
                      <a:pt x="613" y="68"/>
                    </a:cubicBezTo>
                    <a:lnTo>
                      <a:pt x="613" y="145"/>
                    </a:lnTo>
                    <a:cubicBezTo>
                      <a:pt x="278" y="192"/>
                      <a:pt x="67" y="365"/>
                      <a:pt x="67" y="700"/>
                    </a:cubicBezTo>
                    <a:cubicBezTo>
                      <a:pt x="58" y="1054"/>
                      <a:pt x="335" y="1169"/>
                      <a:pt x="613" y="1274"/>
                    </a:cubicBezTo>
                    <a:lnTo>
                      <a:pt x="613" y="1829"/>
                    </a:lnTo>
                    <a:cubicBezTo>
                      <a:pt x="479" y="1810"/>
                      <a:pt x="355" y="1743"/>
                      <a:pt x="249" y="1647"/>
                    </a:cubicBezTo>
                    <a:cubicBezTo>
                      <a:pt x="227" y="1624"/>
                      <a:pt x="198" y="1614"/>
                      <a:pt x="169" y="1614"/>
                    </a:cubicBezTo>
                    <a:cubicBezTo>
                      <a:pt x="125" y="1614"/>
                      <a:pt x="81" y="1639"/>
                      <a:pt x="58" y="1685"/>
                    </a:cubicBezTo>
                    <a:cubicBezTo>
                      <a:pt x="0" y="1762"/>
                      <a:pt x="0" y="1867"/>
                      <a:pt x="58" y="1944"/>
                    </a:cubicBezTo>
                    <a:cubicBezTo>
                      <a:pt x="201" y="2097"/>
                      <a:pt x="402" y="2173"/>
                      <a:pt x="613" y="2173"/>
                    </a:cubicBezTo>
                    <a:lnTo>
                      <a:pt x="603" y="2250"/>
                    </a:lnTo>
                    <a:cubicBezTo>
                      <a:pt x="603" y="2288"/>
                      <a:pt x="661" y="2317"/>
                      <a:pt x="699" y="2317"/>
                    </a:cubicBezTo>
                    <a:cubicBezTo>
                      <a:pt x="747" y="2317"/>
                      <a:pt x="804" y="2288"/>
                      <a:pt x="804" y="2250"/>
                    </a:cubicBezTo>
                    <a:lnTo>
                      <a:pt x="804" y="2164"/>
                    </a:lnTo>
                    <a:cubicBezTo>
                      <a:pt x="1111" y="2145"/>
                      <a:pt x="1350" y="1877"/>
                      <a:pt x="1340" y="1561"/>
                    </a:cubicBezTo>
                    <a:cubicBezTo>
                      <a:pt x="1340" y="1207"/>
                      <a:pt x="1101" y="1063"/>
                      <a:pt x="804" y="958"/>
                    </a:cubicBezTo>
                    <a:lnTo>
                      <a:pt x="804" y="460"/>
                    </a:lnTo>
                    <a:cubicBezTo>
                      <a:pt x="996" y="470"/>
                      <a:pt x="1063" y="566"/>
                      <a:pt x="1139" y="566"/>
                    </a:cubicBezTo>
                    <a:cubicBezTo>
                      <a:pt x="1216" y="566"/>
                      <a:pt x="1264" y="489"/>
                      <a:pt x="1283" y="422"/>
                    </a:cubicBezTo>
                    <a:cubicBezTo>
                      <a:pt x="1312" y="298"/>
                      <a:pt x="1235" y="240"/>
                      <a:pt x="1120" y="192"/>
                    </a:cubicBezTo>
                    <a:cubicBezTo>
                      <a:pt x="1015" y="164"/>
                      <a:pt x="910" y="145"/>
                      <a:pt x="804" y="145"/>
                    </a:cubicBezTo>
                    <a:lnTo>
                      <a:pt x="804" y="68"/>
                    </a:lnTo>
                    <a:cubicBezTo>
                      <a:pt x="804" y="30"/>
                      <a:pt x="757" y="1"/>
                      <a:pt x="709" y="1"/>
                    </a:cubicBezTo>
                    <a:close/>
                  </a:path>
                </a:pathLst>
              </a:custGeom>
              <a:solidFill>
                <a:srgbClr val="E6EB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23" name="Google Shape;17117;p127">
                <a:extLst>
                  <a:ext uri="{FF2B5EF4-FFF2-40B4-BE49-F238E27FC236}">
                    <a16:creationId xmlns:a16="http://schemas.microsoft.com/office/drawing/2014/main" id="{E8F48C05-D689-2C50-D17D-238E61B03247}"/>
                  </a:ext>
                </a:extLst>
              </p:cNvPr>
              <p:cNvSpPr/>
              <p:nvPr/>
            </p:nvSpPr>
            <p:spPr>
              <a:xfrm>
                <a:off x="5744051" y="3983945"/>
                <a:ext cx="147056" cy="165491"/>
              </a:xfrm>
              <a:custGeom>
                <a:avLst/>
                <a:gdLst/>
                <a:ahLst/>
                <a:cxnLst/>
                <a:rect l="l" t="t" r="r" b="b"/>
                <a:pathLst>
                  <a:path w="5600" h="6302" extrusionOk="0">
                    <a:moveTo>
                      <a:pt x="3733" y="0"/>
                    </a:moveTo>
                    <a:lnTo>
                      <a:pt x="269" y="1292"/>
                    </a:lnTo>
                    <a:cubicBezTo>
                      <a:pt x="96" y="1359"/>
                      <a:pt x="1" y="1560"/>
                      <a:pt x="68" y="1733"/>
                    </a:cubicBezTo>
                    <a:lnTo>
                      <a:pt x="1695" y="6078"/>
                    </a:lnTo>
                    <a:cubicBezTo>
                      <a:pt x="1746" y="6218"/>
                      <a:pt x="1872" y="6301"/>
                      <a:pt x="2010" y="6301"/>
                    </a:cubicBezTo>
                    <a:cubicBezTo>
                      <a:pt x="2051" y="6301"/>
                      <a:pt x="2093" y="6294"/>
                      <a:pt x="2135" y="6278"/>
                    </a:cubicBezTo>
                    <a:lnTo>
                      <a:pt x="5599" y="4986"/>
                    </a:lnTo>
                    <a:lnTo>
                      <a:pt x="37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24" name="Google Shape;17118;p127">
                <a:extLst>
                  <a:ext uri="{FF2B5EF4-FFF2-40B4-BE49-F238E27FC236}">
                    <a16:creationId xmlns:a16="http://schemas.microsoft.com/office/drawing/2014/main" id="{33C5332F-631E-962D-44F8-A18E87366764}"/>
                  </a:ext>
                </a:extLst>
              </p:cNvPr>
              <p:cNvSpPr/>
              <p:nvPr/>
            </p:nvSpPr>
            <p:spPr>
              <a:xfrm>
                <a:off x="5784754" y="4095786"/>
                <a:ext cx="106353" cy="53597"/>
              </a:xfrm>
              <a:custGeom>
                <a:avLst/>
                <a:gdLst/>
                <a:ahLst/>
                <a:cxnLst/>
                <a:rect l="l" t="t" r="r" b="b"/>
                <a:pathLst>
                  <a:path w="4050" h="2041" extrusionOk="0">
                    <a:moveTo>
                      <a:pt x="3781" y="0"/>
                    </a:moveTo>
                    <a:lnTo>
                      <a:pt x="3714" y="29"/>
                    </a:lnTo>
                    <a:lnTo>
                      <a:pt x="1" y="1417"/>
                    </a:lnTo>
                    <a:lnTo>
                      <a:pt x="145" y="1819"/>
                    </a:lnTo>
                    <a:cubicBezTo>
                      <a:pt x="197" y="1953"/>
                      <a:pt x="331" y="2041"/>
                      <a:pt x="469" y="2041"/>
                    </a:cubicBezTo>
                    <a:cubicBezTo>
                      <a:pt x="508" y="2041"/>
                      <a:pt x="547" y="2034"/>
                      <a:pt x="585" y="2019"/>
                    </a:cubicBezTo>
                    <a:lnTo>
                      <a:pt x="4049" y="727"/>
                    </a:lnTo>
                    <a:lnTo>
                      <a:pt x="3781" y="0"/>
                    </a:lnTo>
                    <a:close/>
                  </a:path>
                </a:pathLst>
              </a:custGeom>
              <a:solidFill>
                <a:srgbClr val="6E82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25" name="Google Shape;17119;p127">
                <a:extLst>
                  <a:ext uri="{FF2B5EF4-FFF2-40B4-BE49-F238E27FC236}">
                    <a16:creationId xmlns:a16="http://schemas.microsoft.com/office/drawing/2014/main" id="{8227B051-9CA4-5EBA-4518-EB7042EE5F51}"/>
                  </a:ext>
                </a:extLst>
              </p:cNvPr>
              <p:cNvSpPr/>
              <p:nvPr/>
            </p:nvSpPr>
            <p:spPr>
              <a:xfrm>
                <a:off x="5886538" y="3909550"/>
                <a:ext cx="286024" cy="176441"/>
              </a:xfrm>
              <a:custGeom>
                <a:avLst/>
                <a:gdLst/>
                <a:ahLst/>
                <a:cxnLst/>
                <a:rect l="l" t="t" r="r" b="b"/>
                <a:pathLst>
                  <a:path w="10892" h="6719" extrusionOk="0">
                    <a:moveTo>
                      <a:pt x="9693" y="1"/>
                    </a:moveTo>
                    <a:cubicBezTo>
                      <a:pt x="9260" y="1"/>
                      <a:pt x="8912" y="344"/>
                      <a:pt x="8873" y="383"/>
                    </a:cubicBezTo>
                    <a:lnTo>
                      <a:pt x="6002" y="2747"/>
                    </a:lnTo>
                    <a:cubicBezTo>
                      <a:pt x="6002" y="2747"/>
                      <a:pt x="5963" y="1934"/>
                      <a:pt x="5111" y="1934"/>
                    </a:cubicBezTo>
                    <a:cubicBezTo>
                      <a:pt x="4317" y="1931"/>
                      <a:pt x="3755" y="1924"/>
                      <a:pt x="3338" y="1924"/>
                    </a:cubicBezTo>
                    <a:cubicBezTo>
                      <a:pt x="2505" y="1924"/>
                      <a:pt x="2256" y="1950"/>
                      <a:pt x="1905" y="2077"/>
                    </a:cubicBezTo>
                    <a:lnTo>
                      <a:pt x="1" y="2862"/>
                    </a:lnTo>
                    <a:lnTo>
                      <a:pt x="1436" y="6719"/>
                    </a:lnTo>
                    <a:cubicBezTo>
                      <a:pt x="2585" y="6243"/>
                      <a:pt x="2514" y="6187"/>
                      <a:pt x="3650" y="6187"/>
                    </a:cubicBezTo>
                    <a:cubicBezTo>
                      <a:pt x="3999" y="6187"/>
                      <a:pt x="4463" y="6193"/>
                      <a:pt x="5111" y="6193"/>
                    </a:cubicBezTo>
                    <a:cubicBezTo>
                      <a:pt x="5724" y="6173"/>
                      <a:pt x="6308" y="5905"/>
                      <a:pt x="6719" y="5446"/>
                    </a:cubicBezTo>
                    <a:lnTo>
                      <a:pt x="10251" y="1675"/>
                    </a:lnTo>
                    <a:cubicBezTo>
                      <a:pt x="10356" y="1551"/>
                      <a:pt x="10892" y="843"/>
                      <a:pt x="10299" y="259"/>
                    </a:cubicBezTo>
                    <a:cubicBezTo>
                      <a:pt x="10093" y="68"/>
                      <a:pt x="9884" y="1"/>
                      <a:pt x="96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26" name="Google Shape;17120;p127">
                <a:extLst>
                  <a:ext uri="{FF2B5EF4-FFF2-40B4-BE49-F238E27FC236}">
                    <a16:creationId xmlns:a16="http://schemas.microsoft.com/office/drawing/2014/main" id="{5AB0964B-93AA-8340-7B9F-2A30FC472699}"/>
                  </a:ext>
                </a:extLst>
              </p:cNvPr>
              <p:cNvSpPr/>
              <p:nvPr/>
            </p:nvSpPr>
            <p:spPr>
              <a:xfrm>
                <a:off x="5886538" y="3976408"/>
                <a:ext cx="57851" cy="109347"/>
              </a:xfrm>
              <a:custGeom>
                <a:avLst/>
                <a:gdLst/>
                <a:ahLst/>
                <a:cxnLst/>
                <a:rect l="l" t="t" r="r" b="b"/>
                <a:pathLst>
                  <a:path w="2203" h="4164" extrusionOk="0">
                    <a:moveTo>
                      <a:pt x="767" y="0"/>
                    </a:moveTo>
                    <a:lnTo>
                      <a:pt x="1" y="307"/>
                    </a:lnTo>
                    <a:lnTo>
                      <a:pt x="1446" y="4163"/>
                    </a:lnTo>
                    <a:lnTo>
                      <a:pt x="2202" y="3848"/>
                    </a:lnTo>
                    <a:lnTo>
                      <a:pt x="767" y="0"/>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27" name="Google Shape;17121;p127">
                <a:extLst>
                  <a:ext uri="{FF2B5EF4-FFF2-40B4-BE49-F238E27FC236}">
                    <a16:creationId xmlns:a16="http://schemas.microsoft.com/office/drawing/2014/main" id="{1F620C47-C565-E509-F16C-48ADDE15E675}"/>
                  </a:ext>
                </a:extLst>
              </p:cNvPr>
              <p:cNvSpPr/>
              <p:nvPr/>
            </p:nvSpPr>
            <p:spPr>
              <a:xfrm>
                <a:off x="5961956" y="3961335"/>
                <a:ext cx="82456" cy="52467"/>
              </a:xfrm>
              <a:custGeom>
                <a:avLst/>
                <a:gdLst/>
                <a:ahLst/>
                <a:cxnLst/>
                <a:rect l="l" t="t" r="r" b="b"/>
                <a:pathLst>
                  <a:path w="3140" h="1998" extrusionOk="0">
                    <a:moveTo>
                      <a:pt x="2565" y="0"/>
                    </a:moveTo>
                    <a:lnTo>
                      <a:pt x="2565" y="0"/>
                    </a:lnTo>
                    <a:cubicBezTo>
                      <a:pt x="2641" y="345"/>
                      <a:pt x="2708" y="948"/>
                      <a:pt x="2488" y="1263"/>
                    </a:cubicBezTo>
                    <a:cubicBezTo>
                      <a:pt x="2355" y="1454"/>
                      <a:pt x="2176" y="1495"/>
                      <a:pt x="1704" y="1495"/>
                    </a:cubicBezTo>
                    <a:cubicBezTo>
                      <a:pt x="1396" y="1495"/>
                      <a:pt x="962" y="1478"/>
                      <a:pt x="335" y="1474"/>
                    </a:cubicBezTo>
                    <a:cubicBezTo>
                      <a:pt x="0" y="1474"/>
                      <a:pt x="0" y="1981"/>
                      <a:pt x="335" y="1981"/>
                    </a:cubicBezTo>
                    <a:cubicBezTo>
                      <a:pt x="868" y="1981"/>
                      <a:pt x="1286" y="1997"/>
                      <a:pt x="1621" y="1997"/>
                    </a:cubicBezTo>
                    <a:cubicBezTo>
                      <a:pt x="2292" y="1997"/>
                      <a:pt x="2632" y="1933"/>
                      <a:pt x="2900" y="1550"/>
                    </a:cubicBezTo>
                    <a:cubicBezTo>
                      <a:pt x="3053" y="1311"/>
                      <a:pt x="3130" y="1034"/>
                      <a:pt x="3139" y="756"/>
                    </a:cubicBezTo>
                    <a:cubicBezTo>
                      <a:pt x="3130" y="651"/>
                      <a:pt x="3053" y="153"/>
                      <a:pt x="256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28" name="Google Shape;17122;p127">
                <a:extLst>
                  <a:ext uri="{FF2B5EF4-FFF2-40B4-BE49-F238E27FC236}">
                    <a16:creationId xmlns:a16="http://schemas.microsoft.com/office/drawing/2014/main" id="{3D30F5FD-1392-BCF2-1E68-11F03C664A83}"/>
                  </a:ext>
                </a:extLst>
              </p:cNvPr>
              <p:cNvSpPr/>
              <p:nvPr/>
            </p:nvSpPr>
            <p:spPr>
              <a:xfrm>
                <a:off x="5840556" y="3971235"/>
                <a:ext cx="89258" cy="144167"/>
              </a:xfrm>
              <a:custGeom>
                <a:avLst/>
                <a:gdLst/>
                <a:ahLst/>
                <a:cxnLst/>
                <a:rect l="l" t="t" r="r" b="b"/>
                <a:pathLst>
                  <a:path w="3399" h="5490" extrusionOk="0">
                    <a:moveTo>
                      <a:pt x="1413" y="1"/>
                    </a:moveTo>
                    <a:cubicBezTo>
                      <a:pt x="1374" y="1"/>
                      <a:pt x="1333" y="8"/>
                      <a:pt x="1293" y="25"/>
                    </a:cubicBezTo>
                    <a:lnTo>
                      <a:pt x="1" y="504"/>
                    </a:lnTo>
                    <a:lnTo>
                      <a:pt x="1867" y="5490"/>
                    </a:lnTo>
                    <a:lnTo>
                      <a:pt x="3159" y="5002"/>
                    </a:lnTo>
                    <a:cubicBezTo>
                      <a:pt x="3312" y="4944"/>
                      <a:pt x="3398" y="4772"/>
                      <a:pt x="3341" y="4619"/>
                    </a:cubicBezTo>
                    <a:lnTo>
                      <a:pt x="1685" y="188"/>
                    </a:lnTo>
                    <a:cubicBezTo>
                      <a:pt x="1642" y="73"/>
                      <a:pt x="1534" y="1"/>
                      <a:pt x="1413" y="1"/>
                    </a:cubicBezTo>
                    <a:close/>
                  </a:path>
                </a:pathLst>
              </a:custGeom>
              <a:solidFill>
                <a:srgbClr val="E6EB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29" name="Google Shape;17123;p127">
                <a:extLst>
                  <a:ext uri="{FF2B5EF4-FFF2-40B4-BE49-F238E27FC236}">
                    <a16:creationId xmlns:a16="http://schemas.microsoft.com/office/drawing/2014/main" id="{8477EA0C-0CF4-477A-4B1C-9462323FD651}"/>
                  </a:ext>
                </a:extLst>
              </p:cNvPr>
              <p:cNvSpPr/>
              <p:nvPr/>
            </p:nvSpPr>
            <p:spPr>
              <a:xfrm>
                <a:off x="5882284" y="4079689"/>
                <a:ext cx="47531" cy="35714"/>
              </a:xfrm>
              <a:custGeom>
                <a:avLst/>
                <a:gdLst/>
                <a:ahLst/>
                <a:cxnLst/>
                <a:rect l="l" t="t" r="r" b="b"/>
                <a:pathLst>
                  <a:path w="1810" h="1360" extrusionOk="0">
                    <a:moveTo>
                      <a:pt x="1570" y="1"/>
                    </a:moveTo>
                    <a:cubicBezTo>
                      <a:pt x="1532" y="49"/>
                      <a:pt x="1484" y="87"/>
                      <a:pt x="1426" y="106"/>
                    </a:cubicBezTo>
                    <a:lnTo>
                      <a:pt x="0" y="632"/>
                    </a:lnTo>
                    <a:lnTo>
                      <a:pt x="268" y="1360"/>
                    </a:lnTo>
                    <a:lnTo>
                      <a:pt x="1570" y="881"/>
                    </a:lnTo>
                    <a:cubicBezTo>
                      <a:pt x="1723" y="814"/>
                      <a:pt x="1809" y="642"/>
                      <a:pt x="1752" y="489"/>
                    </a:cubicBezTo>
                    <a:lnTo>
                      <a:pt x="1570"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grpSp>
      <p:grpSp>
        <p:nvGrpSpPr>
          <p:cNvPr id="30" name="Group 29">
            <a:extLst>
              <a:ext uri="{FF2B5EF4-FFF2-40B4-BE49-F238E27FC236}">
                <a16:creationId xmlns:a16="http://schemas.microsoft.com/office/drawing/2014/main" id="{5DA9B8AF-273B-C82E-9994-BFE49EA787E7}"/>
              </a:ext>
            </a:extLst>
          </p:cNvPr>
          <p:cNvGrpSpPr/>
          <p:nvPr/>
        </p:nvGrpSpPr>
        <p:grpSpPr>
          <a:xfrm>
            <a:off x="4650957" y="1362723"/>
            <a:ext cx="572700" cy="572700"/>
            <a:chOff x="648098" y="2998277"/>
            <a:chExt cx="572700" cy="572700"/>
          </a:xfrm>
        </p:grpSpPr>
        <p:sp>
          <p:nvSpPr>
            <p:cNvPr id="31" name="Google Shape;839;p61">
              <a:extLst>
                <a:ext uri="{FF2B5EF4-FFF2-40B4-BE49-F238E27FC236}">
                  <a16:creationId xmlns:a16="http://schemas.microsoft.com/office/drawing/2014/main" id="{92F0407E-9DF8-82C7-C68C-69206DF2EAD0}"/>
                </a:ext>
              </a:extLst>
            </p:cNvPr>
            <p:cNvSpPr/>
            <p:nvPr/>
          </p:nvSpPr>
          <p:spPr>
            <a:xfrm>
              <a:off x="648098" y="2998277"/>
              <a:ext cx="572700" cy="572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nvGrpSpPr>
            <p:cNvPr id="32" name="Google Shape;15501;p127">
              <a:extLst>
                <a:ext uri="{FF2B5EF4-FFF2-40B4-BE49-F238E27FC236}">
                  <a16:creationId xmlns:a16="http://schemas.microsoft.com/office/drawing/2014/main" id="{B0162AC0-86F8-FF9D-0933-4C701BF070D3}"/>
                </a:ext>
              </a:extLst>
            </p:cNvPr>
            <p:cNvGrpSpPr/>
            <p:nvPr/>
          </p:nvGrpSpPr>
          <p:grpSpPr>
            <a:xfrm>
              <a:off x="772614" y="3097170"/>
              <a:ext cx="362677" cy="362677"/>
              <a:chOff x="1751901" y="1502716"/>
              <a:chExt cx="362677" cy="362677"/>
            </a:xfrm>
          </p:grpSpPr>
          <p:sp>
            <p:nvSpPr>
              <p:cNvPr id="33" name="Google Shape;15502;p127">
                <a:extLst>
                  <a:ext uri="{FF2B5EF4-FFF2-40B4-BE49-F238E27FC236}">
                    <a16:creationId xmlns:a16="http://schemas.microsoft.com/office/drawing/2014/main" id="{F1D54519-194A-C0F9-BE4E-C441E731323E}"/>
                  </a:ext>
                </a:extLst>
              </p:cNvPr>
              <p:cNvSpPr/>
              <p:nvPr/>
            </p:nvSpPr>
            <p:spPr>
              <a:xfrm>
                <a:off x="1751901" y="1502716"/>
                <a:ext cx="362677" cy="362677"/>
              </a:xfrm>
              <a:custGeom>
                <a:avLst/>
                <a:gdLst/>
                <a:ahLst/>
                <a:cxnLst/>
                <a:rect l="l" t="t" r="r" b="b"/>
                <a:pathLst>
                  <a:path w="13811" h="13811" extrusionOk="0">
                    <a:moveTo>
                      <a:pt x="6901" y="0"/>
                    </a:moveTo>
                    <a:cubicBezTo>
                      <a:pt x="3092" y="0"/>
                      <a:pt x="0" y="3091"/>
                      <a:pt x="0" y="6900"/>
                    </a:cubicBezTo>
                    <a:cubicBezTo>
                      <a:pt x="0" y="10719"/>
                      <a:pt x="3092" y="13810"/>
                      <a:pt x="6901" y="13810"/>
                    </a:cubicBezTo>
                    <a:cubicBezTo>
                      <a:pt x="10719" y="13810"/>
                      <a:pt x="13810" y="10719"/>
                      <a:pt x="13810" y="6900"/>
                    </a:cubicBezTo>
                    <a:cubicBezTo>
                      <a:pt x="13810" y="3091"/>
                      <a:pt x="10719" y="0"/>
                      <a:pt x="6901" y="0"/>
                    </a:cubicBezTo>
                    <a:close/>
                  </a:path>
                </a:pathLst>
              </a:custGeom>
              <a:solidFill>
                <a:srgbClr val="C3CD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34" name="Google Shape;15503;p127">
                <a:extLst>
                  <a:ext uri="{FF2B5EF4-FFF2-40B4-BE49-F238E27FC236}">
                    <a16:creationId xmlns:a16="http://schemas.microsoft.com/office/drawing/2014/main" id="{F1D43A5A-F5AA-7349-6AE0-E649BF3F517A}"/>
                  </a:ext>
                </a:extLst>
              </p:cNvPr>
              <p:cNvSpPr/>
              <p:nvPr/>
            </p:nvSpPr>
            <p:spPr>
              <a:xfrm>
                <a:off x="1780937" y="1524056"/>
                <a:ext cx="308397" cy="308397"/>
              </a:xfrm>
              <a:custGeom>
                <a:avLst/>
                <a:gdLst/>
                <a:ahLst/>
                <a:cxnLst/>
                <a:rect l="l" t="t" r="r" b="b"/>
                <a:pathLst>
                  <a:path w="11744" h="11744" extrusionOk="0">
                    <a:moveTo>
                      <a:pt x="5868" y="1"/>
                    </a:moveTo>
                    <a:cubicBezTo>
                      <a:pt x="2633" y="1"/>
                      <a:pt x="1" y="2633"/>
                      <a:pt x="1" y="5867"/>
                    </a:cubicBezTo>
                    <a:cubicBezTo>
                      <a:pt x="1" y="9112"/>
                      <a:pt x="2633" y="11744"/>
                      <a:pt x="5868" y="11744"/>
                    </a:cubicBezTo>
                    <a:cubicBezTo>
                      <a:pt x="9112" y="11744"/>
                      <a:pt x="11744" y="9112"/>
                      <a:pt x="11744" y="5867"/>
                    </a:cubicBezTo>
                    <a:cubicBezTo>
                      <a:pt x="11744" y="2633"/>
                      <a:pt x="9112" y="1"/>
                      <a:pt x="5868" y="1"/>
                    </a:cubicBez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35" name="Google Shape;15504;p127">
                <a:extLst>
                  <a:ext uri="{FF2B5EF4-FFF2-40B4-BE49-F238E27FC236}">
                    <a16:creationId xmlns:a16="http://schemas.microsoft.com/office/drawing/2014/main" id="{9E271CB9-284A-D11D-7B79-8D4558E06FBF}"/>
                  </a:ext>
                </a:extLst>
              </p:cNvPr>
              <p:cNvSpPr/>
              <p:nvPr/>
            </p:nvSpPr>
            <p:spPr>
              <a:xfrm>
                <a:off x="1927816" y="1551035"/>
                <a:ext cx="10845" cy="138416"/>
              </a:xfrm>
              <a:custGeom>
                <a:avLst/>
                <a:gdLst/>
                <a:ahLst/>
                <a:cxnLst/>
                <a:rect l="l" t="t" r="r" b="b"/>
                <a:pathLst>
                  <a:path w="413" h="5271" extrusionOk="0">
                    <a:moveTo>
                      <a:pt x="206" y="0"/>
                    </a:moveTo>
                    <a:cubicBezTo>
                      <a:pt x="103" y="0"/>
                      <a:pt x="1" y="70"/>
                      <a:pt x="1" y="208"/>
                    </a:cubicBezTo>
                    <a:lnTo>
                      <a:pt x="1" y="5060"/>
                    </a:lnTo>
                    <a:cubicBezTo>
                      <a:pt x="1" y="5175"/>
                      <a:pt x="87" y="5271"/>
                      <a:pt x="202" y="5271"/>
                    </a:cubicBezTo>
                    <a:cubicBezTo>
                      <a:pt x="316" y="5271"/>
                      <a:pt x="412" y="5175"/>
                      <a:pt x="412" y="5060"/>
                    </a:cubicBezTo>
                    <a:lnTo>
                      <a:pt x="412" y="208"/>
                    </a:lnTo>
                    <a:cubicBezTo>
                      <a:pt x="412" y="70"/>
                      <a:pt x="309" y="0"/>
                      <a:pt x="206" y="0"/>
                    </a:cubicBezTo>
                    <a:close/>
                  </a:path>
                </a:pathLst>
              </a:custGeom>
              <a:solidFill>
                <a:srgbClr val="65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36" name="Google Shape;15505;p127">
                <a:extLst>
                  <a:ext uri="{FF2B5EF4-FFF2-40B4-BE49-F238E27FC236}">
                    <a16:creationId xmlns:a16="http://schemas.microsoft.com/office/drawing/2014/main" id="{DC1DE0B8-9392-521D-224B-1895D92F80C8}"/>
                  </a:ext>
                </a:extLst>
              </p:cNvPr>
              <p:cNvSpPr/>
              <p:nvPr/>
            </p:nvSpPr>
            <p:spPr>
              <a:xfrm>
                <a:off x="1925821" y="1678632"/>
                <a:ext cx="142014" cy="10819"/>
              </a:xfrm>
              <a:custGeom>
                <a:avLst/>
                <a:gdLst/>
                <a:ahLst/>
                <a:cxnLst/>
                <a:rect l="l" t="t" r="r" b="b"/>
                <a:pathLst>
                  <a:path w="5408" h="412" extrusionOk="0">
                    <a:moveTo>
                      <a:pt x="278" y="0"/>
                    </a:moveTo>
                    <a:cubicBezTo>
                      <a:pt x="0" y="0"/>
                      <a:pt x="0" y="412"/>
                      <a:pt x="278" y="412"/>
                    </a:cubicBezTo>
                    <a:lnTo>
                      <a:pt x="5130" y="412"/>
                    </a:lnTo>
                    <a:cubicBezTo>
                      <a:pt x="5407" y="412"/>
                      <a:pt x="5407" y="0"/>
                      <a:pt x="5130" y="0"/>
                    </a:cubicBezTo>
                    <a:close/>
                  </a:path>
                </a:pathLst>
              </a:custGeom>
              <a:solidFill>
                <a:srgbClr val="65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37" name="Google Shape;15506;p127">
                <a:extLst>
                  <a:ext uri="{FF2B5EF4-FFF2-40B4-BE49-F238E27FC236}">
                    <a16:creationId xmlns:a16="http://schemas.microsoft.com/office/drawing/2014/main" id="{3D96AFE4-B590-B4BC-B3DF-AF4AA5B28171}"/>
                  </a:ext>
                </a:extLst>
              </p:cNvPr>
              <p:cNvSpPr/>
              <p:nvPr/>
            </p:nvSpPr>
            <p:spPr>
              <a:xfrm>
                <a:off x="1816999" y="1567789"/>
                <a:ext cx="288020" cy="270215"/>
              </a:xfrm>
              <a:custGeom>
                <a:avLst/>
                <a:gdLst/>
                <a:ahLst/>
                <a:cxnLst/>
                <a:rect l="l" t="t" r="r" b="b"/>
                <a:pathLst>
                  <a:path w="10968" h="10290" extrusionOk="0">
                    <a:moveTo>
                      <a:pt x="8278" y="1"/>
                    </a:moveTo>
                    <a:lnTo>
                      <a:pt x="8278" y="1"/>
                    </a:lnTo>
                    <a:cubicBezTo>
                      <a:pt x="10317" y="2327"/>
                      <a:pt x="10192" y="5829"/>
                      <a:pt x="8010" y="8011"/>
                    </a:cubicBezTo>
                    <a:cubicBezTo>
                      <a:pt x="6869" y="9153"/>
                      <a:pt x="5365" y="9731"/>
                      <a:pt x="3858" y="9731"/>
                    </a:cubicBezTo>
                    <a:cubicBezTo>
                      <a:pt x="2485" y="9731"/>
                      <a:pt x="1109" y="9251"/>
                      <a:pt x="0" y="8279"/>
                    </a:cubicBezTo>
                    <a:lnTo>
                      <a:pt x="0" y="8279"/>
                    </a:lnTo>
                    <a:cubicBezTo>
                      <a:pt x="1167" y="9616"/>
                      <a:pt x="2795" y="10290"/>
                      <a:pt x="4426" y="10290"/>
                    </a:cubicBezTo>
                    <a:cubicBezTo>
                      <a:pt x="5924" y="10290"/>
                      <a:pt x="7425" y="9721"/>
                      <a:pt x="8575" y="8576"/>
                    </a:cubicBezTo>
                    <a:cubicBezTo>
                      <a:pt x="10968" y="6174"/>
                      <a:pt x="10843" y="2240"/>
                      <a:pt x="8278" y="1"/>
                    </a:cubicBezTo>
                    <a:close/>
                  </a:path>
                </a:pathLst>
              </a:custGeom>
              <a:solidFill>
                <a:srgbClr val="EBEF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38" name="Google Shape;15507;p127">
                <a:extLst>
                  <a:ext uri="{FF2B5EF4-FFF2-40B4-BE49-F238E27FC236}">
                    <a16:creationId xmlns:a16="http://schemas.microsoft.com/office/drawing/2014/main" id="{5B76C4B8-1673-5CDD-3C23-A5D2BE00B86B}"/>
                  </a:ext>
                </a:extLst>
              </p:cNvPr>
              <p:cNvSpPr/>
              <p:nvPr/>
            </p:nvSpPr>
            <p:spPr>
              <a:xfrm>
                <a:off x="1798644" y="1678632"/>
                <a:ext cx="22400" cy="10819"/>
              </a:xfrm>
              <a:custGeom>
                <a:avLst/>
                <a:gdLst/>
                <a:ahLst/>
                <a:cxnLst/>
                <a:rect l="l" t="t" r="r" b="b"/>
                <a:pathLst>
                  <a:path w="853" h="412" extrusionOk="0">
                    <a:moveTo>
                      <a:pt x="278" y="0"/>
                    </a:moveTo>
                    <a:cubicBezTo>
                      <a:pt x="0" y="0"/>
                      <a:pt x="0" y="412"/>
                      <a:pt x="278" y="412"/>
                    </a:cubicBezTo>
                    <a:lnTo>
                      <a:pt x="575" y="412"/>
                    </a:lnTo>
                    <a:cubicBezTo>
                      <a:pt x="852" y="412"/>
                      <a:pt x="852" y="0"/>
                      <a:pt x="575" y="0"/>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39" name="Google Shape;15508;p127">
                <a:extLst>
                  <a:ext uri="{FF2B5EF4-FFF2-40B4-BE49-F238E27FC236}">
                    <a16:creationId xmlns:a16="http://schemas.microsoft.com/office/drawing/2014/main" id="{ADAB53B5-CCC3-C151-0F72-17480981D818}"/>
                  </a:ext>
                </a:extLst>
              </p:cNvPr>
              <p:cNvSpPr/>
              <p:nvPr/>
            </p:nvSpPr>
            <p:spPr>
              <a:xfrm>
                <a:off x="1927816" y="1798063"/>
                <a:ext cx="10845" cy="18828"/>
              </a:xfrm>
              <a:custGeom>
                <a:avLst/>
                <a:gdLst/>
                <a:ahLst/>
                <a:cxnLst/>
                <a:rect l="l" t="t" r="r" b="b"/>
                <a:pathLst>
                  <a:path w="413" h="717" extrusionOk="0">
                    <a:moveTo>
                      <a:pt x="206" y="1"/>
                    </a:moveTo>
                    <a:cubicBezTo>
                      <a:pt x="103" y="1"/>
                      <a:pt x="1" y="70"/>
                      <a:pt x="1" y="209"/>
                    </a:cubicBezTo>
                    <a:lnTo>
                      <a:pt x="1" y="506"/>
                    </a:lnTo>
                    <a:cubicBezTo>
                      <a:pt x="1" y="620"/>
                      <a:pt x="87" y="716"/>
                      <a:pt x="202" y="716"/>
                    </a:cubicBezTo>
                    <a:cubicBezTo>
                      <a:pt x="316" y="716"/>
                      <a:pt x="412" y="620"/>
                      <a:pt x="412" y="506"/>
                    </a:cubicBezTo>
                    <a:lnTo>
                      <a:pt x="412" y="209"/>
                    </a:lnTo>
                    <a:cubicBezTo>
                      <a:pt x="412" y="70"/>
                      <a:pt x="309" y="1"/>
                      <a:pt x="206" y="1"/>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0" name="Google Shape;15509;p127">
                <a:extLst>
                  <a:ext uri="{FF2B5EF4-FFF2-40B4-BE49-F238E27FC236}">
                    <a16:creationId xmlns:a16="http://schemas.microsoft.com/office/drawing/2014/main" id="{D453BB4C-15DD-3650-CC11-25F7A0BB9827}"/>
                  </a:ext>
                </a:extLst>
              </p:cNvPr>
              <p:cNvSpPr/>
              <p:nvPr/>
            </p:nvSpPr>
            <p:spPr>
              <a:xfrm>
                <a:off x="1835486" y="1588508"/>
                <a:ext cx="20667" cy="16518"/>
              </a:xfrm>
              <a:custGeom>
                <a:avLst/>
                <a:gdLst/>
                <a:ahLst/>
                <a:cxnLst/>
                <a:rect l="l" t="t" r="r" b="b"/>
                <a:pathLst>
                  <a:path w="787" h="629" extrusionOk="0">
                    <a:moveTo>
                      <a:pt x="293" y="1"/>
                    </a:moveTo>
                    <a:cubicBezTo>
                      <a:pt x="136" y="1"/>
                      <a:pt x="1" y="204"/>
                      <a:pt x="148" y="351"/>
                    </a:cubicBezTo>
                    <a:lnTo>
                      <a:pt x="358" y="571"/>
                    </a:lnTo>
                    <a:cubicBezTo>
                      <a:pt x="397" y="609"/>
                      <a:pt x="445" y="628"/>
                      <a:pt x="502" y="628"/>
                    </a:cubicBezTo>
                    <a:cubicBezTo>
                      <a:pt x="506" y="629"/>
                      <a:pt x="509" y="629"/>
                      <a:pt x="513" y="629"/>
                    </a:cubicBezTo>
                    <a:cubicBezTo>
                      <a:pt x="697" y="629"/>
                      <a:pt x="786" y="396"/>
                      <a:pt x="645" y="274"/>
                    </a:cubicBezTo>
                    <a:lnTo>
                      <a:pt x="435" y="64"/>
                    </a:lnTo>
                    <a:cubicBezTo>
                      <a:pt x="390" y="19"/>
                      <a:pt x="341" y="1"/>
                      <a:pt x="293" y="1"/>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1" name="Google Shape;15510;p127">
                <a:extLst>
                  <a:ext uri="{FF2B5EF4-FFF2-40B4-BE49-F238E27FC236}">
                    <a16:creationId xmlns:a16="http://schemas.microsoft.com/office/drawing/2014/main" id="{D26C70EA-9A0F-C989-465E-A989700ADB45}"/>
                  </a:ext>
                </a:extLst>
              </p:cNvPr>
              <p:cNvSpPr/>
              <p:nvPr/>
            </p:nvSpPr>
            <p:spPr>
              <a:xfrm>
                <a:off x="2009958" y="1763189"/>
                <a:ext cx="20667" cy="16491"/>
              </a:xfrm>
              <a:custGeom>
                <a:avLst/>
                <a:gdLst/>
                <a:ahLst/>
                <a:cxnLst/>
                <a:rect l="l" t="t" r="r" b="b"/>
                <a:pathLst>
                  <a:path w="787" h="628" extrusionOk="0">
                    <a:moveTo>
                      <a:pt x="332" y="1"/>
                    </a:moveTo>
                    <a:cubicBezTo>
                      <a:pt x="177" y="1"/>
                      <a:pt x="1" y="236"/>
                      <a:pt x="146" y="350"/>
                    </a:cubicBezTo>
                    <a:lnTo>
                      <a:pt x="356" y="561"/>
                    </a:lnTo>
                    <a:cubicBezTo>
                      <a:pt x="394" y="599"/>
                      <a:pt x="452" y="618"/>
                      <a:pt x="509" y="628"/>
                    </a:cubicBezTo>
                    <a:cubicBezTo>
                      <a:pt x="701" y="628"/>
                      <a:pt x="787" y="398"/>
                      <a:pt x="653" y="264"/>
                    </a:cubicBezTo>
                    <a:lnTo>
                      <a:pt x="442" y="53"/>
                    </a:lnTo>
                    <a:cubicBezTo>
                      <a:pt x="411" y="16"/>
                      <a:pt x="372" y="1"/>
                      <a:pt x="332" y="1"/>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2" name="Google Shape;15511;p127">
                <a:extLst>
                  <a:ext uri="{FF2B5EF4-FFF2-40B4-BE49-F238E27FC236}">
                    <a16:creationId xmlns:a16="http://schemas.microsoft.com/office/drawing/2014/main" id="{6C52649A-2A9F-BDFF-A261-445CC8AFE7B5}"/>
                  </a:ext>
                </a:extLst>
              </p:cNvPr>
              <p:cNvSpPr/>
              <p:nvPr/>
            </p:nvSpPr>
            <p:spPr>
              <a:xfrm>
                <a:off x="2010247" y="1588193"/>
                <a:ext cx="21113" cy="16833"/>
              </a:xfrm>
              <a:custGeom>
                <a:avLst/>
                <a:gdLst/>
                <a:ahLst/>
                <a:cxnLst/>
                <a:rect l="l" t="t" r="r" b="b"/>
                <a:pathLst>
                  <a:path w="804" h="641" extrusionOk="0">
                    <a:moveTo>
                      <a:pt x="493" y="0"/>
                    </a:moveTo>
                    <a:cubicBezTo>
                      <a:pt x="444" y="0"/>
                      <a:pt x="392" y="20"/>
                      <a:pt x="345" y="66"/>
                    </a:cubicBezTo>
                    <a:lnTo>
                      <a:pt x="135" y="277"/>
                    </a:lnTo>
                    <a:cubicBezTo>
                      <a:pt x="1" y="411"/>
                      <a:pt x="96" y="640"/>
                      <a:pt x="288" y="640"/>
                    </a:cubicBezTo>
                    <a:cubicBezTo>
                      <a:pt x="336" y="640"/>
                      <a:pt x="393" y="612"/>
                      <a:pt x="431" y="583"/>
                    </a:cubicBezTo>
                    <a:lnTo>
                      <a:pt x="642" y="363"/>
                    </a:lnTo>
                    <a:cubicBezTo>
                      <a:pt x="804" y="216"/>
                      <a:pt x="660" y="0"/>
                      <a:pt x="493" y="0"/>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3" name="Google Shape;15512;p127">
                <a:extLst>
                  <a:ext uri="{FF2B5EF4-FFF2-40B4-BE49-F238E27FC236}">
                    <a16:creationId xmlns:a16="http://schemas.microsoft.com/office/drawing/2014/main" id="{B400E8F3-DB13-EEDC-2E69-58A7565503E2}"/>
                  </a:ext>
                </a:extLst>
              </p:cNvPr>
              <p:cNvSpPr/>
              <p:nvPr/>
            </p:nvSpPr>
            <p:spPr>
              <a:xfrm>
                <a:off x="1835591" y="1762927"/>
                <a:ext cx="20719" cy="16754"/>
              </a:xfrm>
              <a:custGeom>
                <a:avLst/>
                <a:gdLst/>
                <a:ahLst/>
                <a:cxnLst/>
                <a:rect l="l" t="t" r="r" b="b"/>
                <a:pathLst>
                  <a:path w="789" h="638" extrusionOk="0">
                    <a:moveTo>
                      <a:pt x="496" y="0"/>
                    </a:moveTo>
                    <a:cubicBezTo>
                      <a:pt x="448" y="0"/>
                      <a:pt x="399" y="19"/>
                      <a:pt x="354" y="63"/>
                    </a:cubicBezTo>
                    <a:lnTo>
                      <a:pt x="144" y="274"/>
                    </a:lnTo>
                    <a:cubicBezTo>
                      <a:pt x="0" y="408"/>
                      <a:pt x="96" y="638"/>
                      <a:pt x="287" y="638"/>
                    </a:cubicBezTo>
                    <a:cubicBezTo>
                      <a:pt x="345" y="628"/>
                      <a:pt x="393" y="609"/>
                      <a:pt x="431" y="571"/>
                    </a:cubicBezTo>
                    <a:lnTo>
                      <a:pt x="641" y="360"/>
                    </a:lnTo>
                    <a:cubicBezTo>
                      <a:pt x="789" y="206"/>
                      <a:pt x="653" y="0"/>
                      <a:pt x="496" y="0"/>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4" name="Google Shape;15513;p127">
                <a:extLst>
                  <a:ext uri="{FF2B5EF4-FFF2-40B4-BE49-F238E27FC236}">
                    <a16:creationId xmlns:a16="http://schemas.microsoft.com/office/drawing/2014/main" id="{C9F80608-BEF8-2914-4D7C-BCF47F5FBB08}"/>
                  </a:ext>
                </a:extLst>
              </p:cNvPr>
              <p:cNvSpPr/>
              <p:nvPr/>
            </p:nvSpPr>
            <p:spPr>
              <a:xfrm>
                <a:off x="1808018" y="1628581"/>
                <a:ext cx="22820" cy="14128"/>
              </a:xfrm>
              <a:custGeom>
                <a:avLst/>
                <a:gdLst/>
                <a:ahLst/>
                <a:cxnLst/>
                <a:rect l="l" t="t" r="r" b="b"/>
                <a:pathLst>
                  <a:path w="869" h="538" extrusionOk="0">
                    <a:moveTo>
                      <a:pt x="291" y="0"/>
                    </a:moveTo>
                    <a:cubicBezTo>
                      <a:pt x="97" y="0"/>
                      <a:pt x="0" y="312"/>
                      <a:pt x="218" y="404"/>
                    </a:cubicBezTo>
                    <a:lnTo>
                      <a:pt x="495" y="519"/>
                    </a:lnTo>
                    <a:cubicBezTo>
                      <a:pt x="524" y="538"/>
                      <a:pt x="553" y="538"/>
                      <a:pt x="581" y="538"/>
                    </a:cubicBezTo>
                    <a:cubicBezTo>
                      <a:pt x="811" y="538"/>
                      <a:pt x="868" y="222"/>
                      <a:pt x="658" y="136"/>
                    </a:cubicBezTo>
                    <a:lnTo>
                      <a:pt x="380" y="21"/>
                    </a:lnTo>
                    <a:cubicBezTo>
                      <a:pt x="349" y="7"/>
                      <a:pt x="319" y="0"/>
                      <a:pt x="291" y="0"/>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5" name="Google Shape;15514;p127">
                <a:extLst>
                  <a:ext uri="{FF2B5EF4-FFF2-40B4-BE49-F238E27FC236}">
                    <a16:creationId xmlns:a16="http://schemas.microsoft.com/office/drawing/2014/main" id="{5F0B0893-2D23-6B7F-C268-4B6B221996C4}"/>
                  </a:ext>
                </a:extLst>
              </p:cNvPr>
              <p:cNvSpPr/>
              <p:nvPr/>
            </p:nvSpPr>
            <p:spPr>
              <a:xfrm>
                <a:off x="2035194" y="1725139"/>
                <a:ext cx="23004" cy="14102"/>
              </a:xfrm>
              <a:custGeom>
                <a:avLst/>
                <a:gdLst/>
                <a:ahLst/>
                <a:cxnLst/>
                <a:rect l="l" t="t" r="r" b="b"/>
                <a:pathLst>
                  <a:path w="876" h="537" extrusionOk="0">
                    <a:moveTo>
                      <a:pt x="303" y="1"/>
                    </a:moveTo>
                    <a:cubicBezTo>
                      <a:pt x="99" y="1"/>
                      <a:pt x="0" y="309"/>
                      <a:pt x="228" y="402"/>
                    </a:cubicBezTo>
                    <a:lnTo>
                      <a:pt x="496" y="526"/>
                    </a:lnTo>
                    <a:cubicBezTo>
                      <a:pt x="524" y="536"/>
                      <a:pt x="553" y="536"/>
                      <a:pt x="582" y="536"/>
                    </a:cubicBezTo>
                    <a:cubicBezTo>
                      <a:pt x="585" y="536"/>
                      <a:pt x="589" y="536"/>
                      <a:pt x="592" y="536"/>
                    </a:cubicBezTo>
                    <a:cubicBezTo>
                      <a:pt x="814" y="536"/>
                      <a:pt x="875" y="228"/>
                      <a:pt x="658" y="144"/>
                    </a:cubicBezTo>
                    <a:lnTo>
                      <a:pt x="390" y="19"/>
                    </a:lnTo>
                    <a:cubicBezTo>
                      <a:pt x="360" y="7"/>
                      <a:pt x="330" y="1"/>
                      <a:pt x="303" y="1"/>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6" name="Google Shape;15515;p127">
                <a:extLst>
                  <a:ext uri="{FF2B5EF4-FFF2-40B4-BE49-F238E27FC236}">
                    <a16:creationId xmlns:a16="http://schemas.microsoft.com/office/drawing/2014/main" id="{6A9EF4D0-DE58-5B44-FA90-11D02DF5BBF6}"/>
                  </a:ext>
                </a:extLst>
              </p:cNvPr>
              <p:cNvSpPr/>
              <p:nvPr/>
            </p:nvSpPr>
            <p:spPr>
              <a:xfrm>
                <a:off x="1973299" y="1561276"/>
                <a:ext cx="16649" cy="18119"/>
              </a:xfrm>
              <a:custGeom>
                <a:avLst/>
                <a:gdLst/>
                <a:ahLst/>
                <a:cxnLst/>
                <a:rect l="l" t="t" r="r" b="b"/>
                <a:pathLst>
                  <a:path w="634" h="690" extrusionOk="0">
                    <a:moveTo>
                      <a:pt x="363" y="1"/>
                    </a:moveTo>
                    <a:cubicBezTo>
                      <a:pt x="291" y="1"/>
                      <a:pt x="220" y="37"/>
                      <a:pt x="183" y="125"/>
                    </a:cubicBezTo>
                    <a:lnTo>
                      <a:pt x="58" y="402"/>
                    </a:lnTo>
                    <a:cubicBezTo>
                      <a:pt x="1" y="536"/>
                      <a:pt x="106" y="689"/>
                      <a:pt x="250" y="689"/>
                    </a:cubicBezTo>
                    <a:cubicBezTo>
                      <a:pt x="336" y="689"/>
                      <a:pt x="412" y="641"/>
                      <a:pt x="451" y="565"/>
                    </a:cubicBezTo>
                    <a:lnTo>
                      <a:pt x="565" y="287"/>
                    </a:lnTo>
                    <a:cubicBezTo>
                      <a:pt x="634" y="126"/>
                      <a:pt x="497" y="1"/>
                      <a:pt x="363" y="1"/>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7" name="Google Shape;15516;p127">
                <a:extLst>
                  <a:ext uri="{FF2B5EF4-FFF2-40B4-BE49-F238E27FC236}">
                    <a16:creationId xmlns:a16="http://schemas.microsoft.com/office/drawing/2014/main" id="{D7AC1A27-CE78-8EBB-A6B3-A17253C1BF36}"/>
                  </a:ext>
                </a:extLst>
              </p:cNvPr>
              <p:cNvSpPr/>
              <p:nvPr/>
            </p:nvSpPr>
            <p:spPr>
              <a:xfrm>
                <a:off x="1876557" y="1788557"/>
                <a:ext cx="16623" cy="18277"/>
              </a:xfrm>
              <a:custGeom>
                <a:avLst/>
                <a:gdLst/>
                <a:ahLst/>
                <a:cxnLst/>
                <a:rect l="l" t="t" r="r" b="b"/>
                <a:pathLst>
                  <a:path w="633" h="696" extrusionOk="0">
                    <a:moveTo>
                      <a:pt x="365" y="0"/>
                    </a:moveTo>
                    <a:cubicBezTo>
                      <a:pt x="292" y="0"/>
                      <a:pt x="220" y="39"/>
                      <a:pt x="182" y="131"/>
                    </a:cubicBezTo>
                    <a:lnTo>
                      <a:pt x="58" y="399"/>
                    </a:lnTo>
                    <a:cubicBezTo>
                      <a:pt x="0" y="542"/>
                      <a:pt x="106" y="695"/>
                      <a:pt x="259" y="695"/>
                    </a:cubicBezTo>
                    <a:cubicBezTo>
                      <a:pt x="335" y="695"/>
                      <a:pt x="412" y="638"/>
                      <a:pt x="450" y="561"/>
                    </a:cubicBezTo>
                    <a:lnTo>
                      <a:pt x="565" y="293"/>
                    </a:lnTo>
                    <a:cubicBezTo>
                      <a:pt x="633" y="127"/>
                      <a:pt x="498" y="0"/>
                      <a:pt x="365" y="0"/>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8" name="Google Shape;15517;p127">
                <a:extLst>
                  <a:ext uri="{FF2B5EF4-FFF2-40B4-BE49-F238E27FC236}">
                    <a16:creationId xmlns:a16="http://schemas.microsoft.com/office/drawing/2014/main" id="{398B18A6-E127-BA06-43D7-6F852570A290}"/>
                  </a:ext>
                </a:extLst>
              </p:cNvPr>
              <p:cNvSpPr/>
              <p:nvPr/>
            </p:nvSpPr>
            <p:spPr>
              <a:xfrm>
                <a:off x="1878710" y="1560541"/>
                <a:ext cx="15966" cy="18093"/>
              </a:xfrm>
              <a:custGeom>
                <a:avLst/>
                <a:gdLst/>
                <a:ahLst/>
                <a:cxnLst/>
                <a:rect l="l" t="t" r="r" b="b"/>
                <a:pathLst>
                  <a:path w="608" h="689" extrusionOk="0">
                    <a:moveTo>
                      <a:pt x="266" y="0"/>
                    </a:moveTo>
                    <a:cubicBezTo>
                      <a:pt x="134" y="0"/>
                      <a:pt x="1" y="122"/>
                      <a:pt x="62" y="287"/>
                    </a:cubicBezTo>
                    <a:lnTo>
                      <a:pt x="177" y="564"/>
                    </a:lnTo>
                    <a:cubicBezTo>
                      <a:pt x="215" y="641"/>
                      <a:pt x="291" y="688"/>
                      <a:pt x="368" y="688"/>
                    </a:cubicBezTo>
                    <a:cubicBezTo>
                      <a:pt x="512" y="679"/>
                      <a:pt x="607" y="545"/>
                      <a:pt x="569" y="411"/>
                    </a:cubicBezTo>
                    <a:lnTo>
                      <a:pt x="454" y="133"/>
                    </a:lnTo>
                    <a:cubicBezTo>
                      <a:pt x="416" y="40"/>
                      <a:pt x="341" y="0"/>
                      <a:pt x="266" y="0"/>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49" name="Google Shape;15518;p127">
                <a:extLst>
                  <a:ext uri="{FF2B5EF4-FFF2-40B4-BE49-F238E27FC236}">
                    <a16:creationId xmlns:a16="http://schemas.microsoft.com/office/drawing/2014/main" id="{DF5F376B-4D74-E7DA-4EA0-3ABD833835EE}"/>
                  </a:ext>
                </a:extLst>
              </p:cNvPr>
              <p:cNvSpPr/>
              <p:nvPr/>
            </p:nvSpPr>
            <p:spPr>
              <a:xfrm>
                <a:off x="1971014" y="1789292"/>
                <a:ext cx="16386" cy="18277"/>
              </a:xfrm>
              <a:custGeom>
                <a:avLst/>
                <a:gdLst/>
                <a:ahLst/>
                <a:cxnLst/>
                <a:rect l="l" t="t" r="r" b="b"/>
                <a:pathLst>
                  <a:path w="624" h="696" extrusionOk="0">
                    <a:moveTo>
                      <a:pt x="272" y="1"/>
                    </a:moveTo>
                    <a:cubicBezTo>
                      <a:pt x="140" y="1"/>
                      <a:pt x="1" y="128"/>
                      <a:pt x="69" y="294"/>
                    </a:cubicBezTo>
                    <a:lnTo>
                      <a:pt x="184" y="572"/>
                    </a:lnTo>
                    <a:cubicBezTo>
                      <a:pt x="212" y="648"/>
                      <a:pt x="289" y="696"/>
                      <a:pt x="375" y="696"/>
                    </a:cubicBezTo>
                    <a:cubicBezTo>
                      <a:pt x="518" y="696"/>
                      <a:pt x="624" y="552"/>
                      <a:pt x="566" y="409"/>
                    </a:cubicBezTo>
                    <a:lnTo>
                      <a:pt x="451" y="131"/>
                    </a:lnTo>
                    <a:cubicBezTo>
                      <a:pt x="417" y="39"/>
                      <a:pt x="346" y="1"/>
                      <a:pt x="272" y="1"/>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0" name="Google Shape;15519;p127">
                <a:extLst>
                  <a:ext uri="{FF2B5EF4-FFF2-40B4-BE49-F238E27FC236}">
                    <a16:creationId xmlns:a16="http://schemas.microsoft.com/office/drawing/2014/main" id="{30891046-3B90-CDF1-E5F7-9E4CC6ED1E3F}"/>
                  </a:ext>
                </a:extLst>
              </p:cNvPr>
              <p:cNvSpPr/>
              <p:nvPr/>
            </p:nvSpPr>
            <p:spPr>
              <a:xfrm>
                <a:off x="2036375" y="1630734"/>
                <a:ext cx="22951" cy="13997"/>
              </a:xfrm>
              <a:custGeom>
                <a:avLst/>
                <a:gdLst/>
                <a:ahLst/>
                <a:cxnLst/>
                <a:rect l="l" t="t" r="r" b="b"/>
                <a:pathLst>
                  <a:path w="874" h="533" extrusionOk="0">
                    <a:moveTo>
                      <a:pt x="570" y="0"/>
                    </a:moveTo>
                    <a:cubicBezTo>
                      <a:pt x="544" y="0"/>
                      <a:pt x="517" y="5"/>
                      <a:pt x="489" y="16"/>
                    </a:cubicBezTo>
                    <a:lnTo>
                      <a:pt x="212" y="131"/>
                    </a:lnTo>
                    <a:cubicBezTo>
                      <a:pt x="1" y="217"/>
                      <a:pt x="58" y="532"/>
                      <a:pt x="288" y="532"/>
                    </a:cubicBezTo>
                    <a:cubicBezTo>
                      <a:pt x="317" y="532"/>
                      <a:pt x="345" y="532"/>
                      <a:pt x="374" y="523"/>
                    </a:cubicBezTo>
                    <a:lnTo>
                      <a:pt x="652" y="408"/>
                    </a:lnTo>
                    <a:cubicBezTo>
                      <a:pt x="873" y="314"/>
                      <a:pt x="776" y="0"/>
                      <a:pt x="570" y="0"/>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1" name="Google Shape;15520;p127">
                <a:extLst>
                  <a:ext uri="{FF2B5EF4-FFF2-40B4-BE49-F238E27FC236}">
                    <a16:creationId xmlns:a16="http://schemas.microsoft.com/office/drawing/2014/main" id="{5B3BB3D9-BF86-A2D7-3929-DFCD129AC6C0}"/>
                  </a:ext>
                </a:extLst>
              </p:cNvPr>
              <p:cNvSpPr/>
              <p:nvPr/>
            </p:nvSpPr>
            <p:spPr>
              <a:xfrm>
                <a:off x="1807441" y="1723143"/>
                <a:ext cx="22846" cy="14075"/>
              </a:xfrm>
              <a:custGeom>
                <a:avLst/>
                <a:gdLst/>
                <a:ahLst/>
                <a:cxnLst/>
                <a:rect l="l" t="t" r="r" b="b"/>
                <a:pathLst>
                  <a:path w="870" h="536" extrusionOk="0">
                    <a:moveTo>
                      <a:pt x="574" y="1"/>
                    </a:moveTo>
                    <a:cubicBezTo>
                      <a:pt x="547" y="1"/>
                      <a:pt x="519" y="6"/>
                      <a:pt x="488" y="19"/>
                    </a:cubicBezTo>
                    <a:lnTo>
                      <a:pt x="211" y="133"/>
                    </a:lnTo>
                    <a:cubicBezTo>
                      <a:pt x="0" y="220"/>
                      <a:pt x="58" y="535"/>
                      <a:pt x="288" y="535"/>
                    </a:cubicBezTo>
                    <a:cubicBezTo>
                      <a:pt x="316" y="535"/>
                      <a:pt x="345" y="526"/>
                      <a:pt x="364" y="516"/>
                    </a:cubicBezTo>
                    <a:lnTo>
                      <a:pt x="642" y="401"/>
                    </a:lnTo>
                    <a:cubicBezTo>
                      <a:pt x="870" y="317"/>
                      <a:pt x="777" y="1"/>
                      <a:pt x="574" y="1"/>
                    </a:cubicBezTo>
                    <a:close/>
                  </a:path>
                </a:pathLst>
              </a:custGeom>
              <a:solidFill>
                <a:srgbClr val="95A6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grpSp>
      <p:grpSp>
        <p:nvGrpSpPr>
          <p:cNvPr id="52" name="Group 51">
            <a:extLst>
              <a:ext uri="{FF2B5EF4-FFF2-40B4-BE49-F238E27FC236}">
                <a16:creationId xmlns:a16="http://schemas.microsoft.com/office/drawing/2014/main" id="{CBB6C4B2-F3DD-C7F8-16D9-B829655EA255}"/>
              </a:ext>
            </a:extLst>
          </p:cNvPr>
          <p:cNvGrpSpPr/>
          <p:nvPr/>
        </p:nvGrpSpPr>
        <p:grpSpPr>
          <a:xfrm>
            <a:off x="4639076" y="2506037"/>
            <a:ext cx="572700" cy="572700"/>
            <a:chOff x="941935" y="4454968"/>
            <a:chExt cx="572700" cy="572700"/>
          </a:xfrm>
        </p:grpSpPr>
        <p:sp>
          <p:nvSpPr>
            <p:cNvPr id="53" name="Google Shape;839;p61">
              <a:extLst>
                <a:ext uri="{FF2B5EF4-FFF2-40B4-BE49-F238E27FC236}">
                  <a16:creationId xmlns:a16="http://schemas.microsoft.com/office/drawing/2014/main" id="{5F7F354B-05D5-541D-A46D-9EDC8C8048D5}"/>
                </a:ext>
              </a:extLst>
            </p:cNvPr>
            <p:cNvSpPr/>
            <p:nvPr/>
          </p:nvSpPr>
          <p:spPr>
            <a:xfrm>
              <a:off x="941935" y="4454968"/>
              <a:ext cx="572700" cy="572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nvGrpSpPr>
            <p:cNvPr id="54" name="Google Shape;16037;p127">
              <a:extLst>
                <a:ext uri="{FF2B5EF4-FFF2-40B4-BE49-F238E27FC236}">
                  <a16:creationId xmlns:a16="http://schemas.microsoft.com/office/drawing/2014/main" id="{B396B2BF-4AE7-186C-743A-FAA99DF52DB9}"/>
                </a:ext>
              </a:extLst>
            </p:cNvPr>
            <p:cNvGrpSpPr/>
            <p:nvPr/>
          </p:nvGrpSpPr>
          <p:grpSpPr>
            <a:xfrm>
              <a:off x="1079143" y="4545575"/>
              <a:ext cx="341065" cy="341065"/>
              <a:chOff x="3117788" y="3812546"/>
              <a:chExt cx="341065" cy="341065"/>
            </a:xfrm>
          </p:grpSpPr>
          <p:sp>
            <p:nvSpPr>
              <p:cNvPr id="55" name="Google Shape;16038;p127">
                <a:extLst>
                  <a:ext uri="{FF2B5EF4-FFF2-40B4-BE49-F238E27FC236}">
                    <a16:creationId xmlns:a16="http://schemas.microsoft.com/office/drawing/2014/main" id="{838A9C7A-8405-8366-6AAB-1DCF53C9F982}"/>
                  </a:ext>
                </a:extLst>
              </p:cNvPr>
              <p:cNvSpPr/>
              <p:nvPr/>
            </p:nvSpPr>
            <p:spPr>
              <a:xfrm>
                <a:off x="3117788" y="3812546"/>
                <a:ext cx="259396" cy="259370"/>
              </a:xfrm>
              <a:custGeom>
                <a:avLst/>
                <a:gdLst/>
                <a:ahLst/>
                <a:cxnLst/>
                <a:rect l="l" t="t" r="r" b="b"/>
                <a:pathLst>
                  <a:path w="9878" h="9877" extrusionOk="0">
                    <a:moveTo>
                      <a:pt x="4633" y="0"/>
                    </a:moveTo>
                    <a:cubicBezTo>
                      <a:pt x="4422" y="0"/>
                      <a:pt x="4231" y="154"/>
                      <a:pt x="4193" y="355"/>
                    </a:cubicBezTo>
                    <a:lnTo>
                      <a:pt x="3963" y="1474"/>
                    </a:lnTo>
                    <a:cubicBezTo>
                      <a:pt x="3695" y="1560"/>
                      <a:pt x="3427" y="1666"/>
                      <a:pt x="3178" y="1809"/>
                    </a:cubicBezTo>
                    <a:lnTo>
                      <a:pt x="2221" y="1168"/>
                    </a:lnTo>
                    <a:cubicBezTo>
                      <a:pt x="2149" y="1120"/>
                      <a:pt x="2066" y="1097"/>
                      <a:pt x="1982" y="1097"/>
                    </a:cubicBezTo>
                    <a:cubicBezTo>
                      <a:pt x="1864" y="1097"/>
                      <a:pt x="1746" y="1142"/>
                      <a:pt x="1657" y="1225"/>
                    </a:cubicBezTo>
                    <a:lnTo>
                      <a:pt x="1226" y="1666"/>
                    </a:lnTo>
                    <a:cubicBezTo>
                      <a:pt x="1073" y="1809"/>
                      <a:pt x="1054" y="2049"/>
                      <a:pt x="1169" y="2230"/>
                    </a:cubicBezTo>
                    <a:lnTo>
                      <a:pt x="1800" y="3178"/>
                    </a:lnTo>
                    <a:cubicBezTo>
                      <a:pt x="1666" y="3427"/>
                      <a:pt x="1551" y="3695"/>
                      <a:pt x="1475" y="3972"/>
                    </a:cubicBezTo>
                    <a:lnTo>
                      <a:pt x="355" y="4192"/>
                    </a:lnTo>
                    <a:cubicBezTo>
                      <a:pt x="145" y="4240"/>
                      <a:pt x="1" y="4422"/>
                      <a:pt x="1" y="4632"/>
                    </a:cubicBezTo>
                    <a:lnTo>
                      <a:pt x="1" y="5245"/>
                    </a:lnTo>
                    <a:cubicBezTo>
                      <a:pt x="1" y="5456"/>
                      <a:pt x="145" y="5637"/>
                      <a:pt x="355" y="5685"/>
                    </a:cubicBezTo>
                    <a:lnTo>
                      <a:pt x="1475" y="5905"/>
                    </a:lnTo>
                    <a:cubicBezTo>
                      <a:pt x="1551" y="6183"/>
                      <a:pt x="1666" y="6451"/>
                      <a:pt x="1800" y="6700"/>
                    </a:cubicBezTo>
                    <a:lnTo>
                      <a:pt x="1169" y="7647"/>
                    </a:lnTo>
                    <a:cubicBezTo>
                      <a:pt x="1054" y="7829"/>
                      <a:pt x="1073" y="8068"/>
                      <a:pt x="1226" y="8221"/>
                    </a:cubicBezTo>
                    <a:lnTo>
                      <a:pt x="1657" y="8652"/>
                    </a:lnTo>
                    <a:cubicBezTo>
                      <a:pt x="1744" y="8739"/>
                      <a:pt x="1860" y="8783"/>
                      <a:pt x="1975" y="8783"/>
                    </a:cubicBezTo>
                    <a:cubicBezTo>
                      <a:pt x="2061" y="8783"/>
                      <a:pt x="2147" y="8759"/>
                      <a:pt x="2221" y="8709"/>
                    </a:cubicBezTo>
                    <a:lnTo>
                      <a:pt x="3178" y="8068"/>
                    </a:lnTo>
                    <a:cubicBezTo>
                      <a:pt x="3427" y="8212"/>
                      <a:pt x="3695" y="8327"/>
                      <a:pt x="3963" y="8403"/>
                    </a:cubicBezTo>
                    <a:lnTo>
                      <a:pt x="4193" y="9523"/>
                    </a:lnTo>
                    <a:cubicBezTo>
                      <a:pt x="4231" y="9724"/>
                      <a:pt x="4422" y="9877"/>
                      <a:pt x="4633" y="9877"/>
                    </a:cubicBezTo>
                    <a:lnTo>
                      <a:pt x="5245" y="9877"/>
                    </a:lnTo>
                    <a:cubicBezTo>
                      <a:pt x="5456" y="9877"/>
                      <a:pt x="5638" y="9724"/>
                      <a:pt x="5686" y="9523"/>
                    </a:cubicBezTo>
                    <a:lnTo>
                      <a:pt x="5906" y="8403"/>
                    </a:lnTo>
                    <a:cubicBezTo>
                      <a:pt x="6183" y="8327"/>
                      <a:pt x="6451" y="8212"/>
                      <a:pt x="6700" y="8068"/>
                    </a:cubicBezTo>
                    <a:lnTo>
                      <a:pt x="7648" y="8709"/>
                    </a:lnTo>
                    <a:cubicBezTo>
                      <a:pt x="7726" y="8759"/>
                      <a:pt x="7814" y="8783"/>
                      <a:pt x="7901" y="8783"/>
                    </a:cubicBezTo>
                    <a:cubicBezTo>
                      <a:pt x="8017" y="8783"/>
                      <a:pt x="8130" y="8739"/>
                      <a:pt x="8212" y="8652"/>
                    </a:cubicBezTo>
                    <a:lnTo>
                      <a:pt x="8643" y="8221"/>
                    </a:lnTo>
                    <a:cubicBezTo>
                      <a:pt x="8796" y="8068"/>
                      <a:pt x="8825" y="7829"/>
                      <a:pt x="8700" y="7647"/>
                    </a:cubicBezTo>
                    <a:lnTo>
                      <a:pt x="8069" y="6700"/>
                    </a:lnTo>
                    <a:cubicBezTo>
                      <a:pt x="8212" y="6451"/>
                      <a:pt x="8318" y="6183"/>
                      <a:pt x="8394" y="5905"/>
                    </a:cubicBezTo>
                    <a:lnTo>
                      <a:pt x="9514" y="5685"/>
                    </a:lnTo>
                    <a:cubicBezTo>
                      <a:pt x="9724" y="5637"/>
                      <a:pt x="9878" y="5456"/>
                      <a:pt x="9878" y="5245"/>
                    </a:cubicBezTo>
                    <a:lnTo>
                      <a:pt x="9878" y="4632"/>
                    </a:lnTo>
                    <a:cubicBezTo>
                      <a:pt x="9878" y="4422"/>
                      <a:pt x="9724" y="4240"/>
                      <a:pt x="9514" y="4192"/>
                    </a:cubicBezTo>
                    <a:lnTo>
                      <a:pt x="8394" y="3972"/>
                    </a:lnTo>
                    <a:cubicBezTo>
                      <a:pt x="8318" y="3695"/>
                      <a:pt x="8212" y="3427"/>
                      <a:pt x="8069" y="3178"/>
                    </a:cubicBezTo>
                    <a:lnTo>
                      <a:pt x="8700" y="2230"/>
                    </a:lnTo>
                    <a:cubicBezTo>
                      <a:pt x="8825" y="2049"/>
                      <a:pt x="8796" y="1809"/>
                      <a:pt x="8643" y="1666"/>
                    </a:cubicBezTo>
                    <a:lnTo>
                      <a:pt x="8212" y="1225"/>
                    </a:lnTo>
                    <a:cubicBezTo>
                      <a:pt x="8129" y="1142"/>
                      <a:pt x="8013" y="1097"/>
                      <a:pt x="7894" y="1097"/>
                    </a:cubicBezTo>
                    <a:cubicBezTo>
                      <a:pt x="7809" y="1097"/>
                      <a:pt x="7724" y="1120"/>
                      <a:pt x="7648" y="1168"/>
                    </a:cubicBezTo>
                    <a:lnTo>
                      <a:pt x="6700" y="1809"/>
                    </a:lnTo>
                    <a:cubicBezTo>
                      <a:pt x="6451" y="1666"/>
                      <a:pt x="6183" y="1560"/>
                      <a:pt x="5906" y="1474"/>
                    </a:cubicBezTo>
                    <a:lnTo>
                      <a:pt x="5686" y="355"/>
                    </a:lnTo>
                    <a:cubicBezTo>
                      <a:pt x="5638" y="154"/>
                      <a:pt x="5456" y="0"/>
                      <a:pt x="5245" y="0"/>
                    </a:cubicBezTo>
                    <a:close/>
                  </a:path>
                </a:pathLst>
              </a:custGeom>
              <a:solidFill>
                <a:srgbClr val="00B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6" name="Google Shape;16039;p127">
                <a:extLst>
                  <a:ext uri="{FF2B5EF4-FFF2-40B4-BE49-F238E27FC236}">
                    <a16:creationId xmlns:a16="http://schemas.microsoft.com/office/drawing/2014/main" id="{8FC155DC-C6C4-7F09-A362-65622EF14929}"/>
                  </a:ext>
                </a:extLst>
              </p:cNvPr>
              <p:cNvSpPr/>
              <p:nvPr/>
            </p:nvSpPr>
            <p:spPr>
              <a:xfrm>
                <a:off x="3171332" y="3885181"/>
                <a:ext cx="132981" cy="114126"/>
              </a:xfrm>
              <a:custGeom>
                <a:avLst/>
                <a:gdLst/>
                <a:ahLst/>
                <a:cxnLst/>
                <a:rect l="l" t="t" r="r" b="b"/>
                <a:pathLst>
                  <a:path w="5064" h="4346" extrusionOk="0">
                    <a:moveTo>
                      <a:pt x="2900" y="0"/>
                    </a:moveTo>
                    <a:cubicBezTo>
                      <a:pt x="967" y="0"/>
                      <a:pt x="0" y="2335"/>
                      <a:pt x="1359" y="3704"/>
                    </a:cubicBezTo>
                    <a:cubicBezTo>
                      <a:pt x="1802" y="4147"/>
                      <a:pt x="2347" y="4345"/>
                      <a:pt x="2880" y="4345"/>
                    </a:cubicBezTo>
                    <a:cubicBezTo>
                      <a:pt x="3995" y="4345"/>
                      <a:pt x="5063" y="3480"/>
                      <a:pt x="5063" y="2173"/>
                    </a:cubicBezTo>
                    <a:cubicBezTo>
                      <a:pt x="5063" y="976"/>
                      <a:pt x="4097" y="0"/>
                      <a:pt x="2900" y="0"/>
                    </a:cubicBezTo>
                    <a:close/>
                  </a:path>
                </a:pathLst>
              </a:custGeom>
              <a:solidFill>
                <a:srgbClr val="E3E8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7" name="Google Shape;16040;p127">
                <a:extLst>
                  <a:ext uri="{FF2B5EF4-FFF2-40B4-BE49-F238E27FC236}">
                    <a16:creationId xmlns:a16="http://schemas.microsoft.com/office/drawing/2014/main" id="{4852B5FA-8787-9538-D556-D884AFFB22E5}"/>
                  </a:ext>
                </a:extLst>
              </p:cNvPr>
              <p:cNvSpPr/>
              <p:nvPr/>
            </p:nvSpPr>
            <p:spPr>
              <a:xfrm>
                <a:off x="3209541" y="3914067"/>
                <a:ext cx="66123" cy="56485"/>
              </a:xfrm>
              <a:custGeom>
                <a:avLst/>
                <a:gdLst/>
                <a:ahLst/>
                <a:cxnLst/>
                <a:rect l="l" t="t" r="r" b="b"/>
                <a:pathLst>
                  <a:path w="2518" h="2151" extrusionOk="0">
                    <a:moveTo>
                      <a:pt x="1445" y="1"/>
                    </a:moveTo>
                    <a:cubicBezTo>
                      <a:pt x="479" y="1"/>
                      <a:pt x="0" y="1159"/>
                      <a:pt x="680" y="1838"/>
                    </a:cubicBezTo>
                    <a:cubicBezTo>
                      <a:pt x="898" y="2054"/>
                      <a:pt x="1167" y="2151"/>
                      <a:pt x="1430" y="2151"/>
                    </a:cubicBezTo>
                    <a:cubicBezTo>
                      <a:pt x="1985" y="2151"/>
                      <a:pt x="2517" y="1722"/>
                      <a:pt x="2517" y="1073"/>
                    </a:cubicBezTo>
                    <a:cubicBezTo>
                      <a:pt x="2517" y="479"/>
                      <a:pt x="2039" y="1"/>
                      <a:pt x="1445" y="1"/>
                    </a:cubicBezTo>
                    <a:close/>
                  </a:path>
                </a:pathLst>
              </a:custGeom>
              <a:solidFill>
                <a:srgbClr val="364F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8" name="Google Shape;16041;p127">
                <a:extLst>
                  <a:ext uri="{FF2B5EF4-FFF2-40B4-BE49-F238E27FC236}">
                    <a16:creationId xmlns:a16="http://schemas.microsoft.com/office/drawing/2014/main" id="{FB225155-2189-061F-5AD6-DF35D4BBB6F8}"/>
                  </a:ext>
                </a:extLst>
              </p:cNvPr>
              <p:cNvSpPr/>
              <p:nvPr/>
            </p:nvSpPr>
            <p:spPr>
              <a:xfrm>
                <a:off x="3288189" y="3982947"/>
                <a:ext cx="170664" cy="170664"/>
              </a:xfrm>
              <a:custGeom>
                <a:avLst/>
                <a:gdLst/>
                <a:ahLst/>
                <a:cxnLst/>
                <a:rect l="l" t="t" r="r" b="b"/>
                <a:pathLst>
                  <a:path w="6499" h="6499" extrusionOk="0">
                    <a:moveTo>
                      <a:pt x="3044" y="0"/>
                    </a:moveTo>
                    <a:cubicBezTo>
                      <a:pt x="2900" y="0"/>
                      <a:pt x="2786" y="105"/>
                      <a:pt x="2757" y="239"/>
                    </a:cubicBezTo>
                    <a:lnTo>
                      <a:pt x="2613" y="976"/>
                    </a:lnTo>
                    <a:cubicBezTo>
                      <a:pt x="2431" y="1034"/>
                      <a:pt x="2250" y="1101"/>
                      <a:pt x="2087" y="1196"/>
                    </a:cubicBezTo>
                    <a:lnTo>
                      <a:pt x="1465" y="775"/>
                    </a:lnTo>
                    <a:cubicBezTo>
                      <a:pt x="1417" y="743"/>
                      <a:pt x="1362" y="728"/>
                      <a:pt x="1307" y="728"/>
                    </a:cubicBezTo>
                    <a:cubicBezTo>
                      <a:pt x="1231" y="728"/>
                      <a:pt x="1153" y="758"/>
                      <a:pt x="1092" y="814"/>
                    </a:cubicBezTo>
                    <a:lnTo>
                      <a:pt x="814" y="1101"/>
                    </a:lnTo>
                    <a:cubicBezTo>
                      <a:pt x="709" y="1196"/>
                      <a:pt x="699" y="1350"/>
                      <a:pt x="776" y="1474"/>
                    </a:cubicBezTo>
                    <a:lnTo>
                      <a:pt x="1187" y="2096"/>
                    </a:lnTo>
                    <a:cubicBezTo>
                      <a:pt x="1092" y="2259"/>
                      <a:pt x="1025" y="2431"/>
                      <a:pt x="977" y="2613"/>
                    </a:cubicBezTo>
                    <a:lnTo>
                      <a:pt x="240" y="2766"/>
                    </a:lnTo>
                    <a:cubicBezTo>
                      <a:pt x="96" y="2785"/>
                      <a:pt x="1" y="2909"/>
                      <a:pt x="1" y="3053"/>
                    </a:cubicBezTo>
                    <a:lnTo>
                      <a:pt x="1" y="3455"/>
                    </a:lnTo>
                    <a:cubicBezTo>
                      <a:pt x="1" y="3599"/>
                      <a:pt x="96" y="3713"/>
                      <a:pt x="240" y="3742"/>
                    </a:cubicBezTo>
                    <a:lnTo>
                      <a:pt x="977" y="3886"/>
                    </a:lnTo>
                    <a:cubicBezTo>
                      <a:pt x="1025" y="4067"/>
                      <a:pt x="1092" y="4249"/>
                      <a:pt x="1187" y="4412"/>
                    </a:cubicBezTo>
                    <a:lnTo>
                      <a:pt x="776" y="5034"/>
                    </a:lnTo>
                    <a:cubicBezTo>
                      <a:pt x="699" y="5149"/>
                      <a:pt x="709" y="5302"/>
                      <a:pt x="814" y="5407"/>
                    </a:cubicBezTo>
                    <a:lnTo>
                      <a:pt x="1092" y="5685"/>
                    </a:lnTo>
                    <a:cubicBezTo>
                      <a:pt x="1146" y="5744"/>
                      <a:pt x="1218" y="5773"/>
                      <a:pt x="1294" y="5773"/>
                    </a:cubicBezTo>
                    <a:cubicBezTo>
                      <a:pt x="1351" y="5773"/>
                      <a:pt x="1411" y="5756"/>
                      <a:pt x="1465" y="5723"/>
                    </a:cubicBezTo>
                    <a:lnTo>
                      <a:pt x="2087" y="5312"/>
                    </a:lnTo>
                    <a:cubicBezTo>
                      <a:pt x="2250" y="5398"/>
                      <a:pt x="2422" y="5474"/>
                      <a:pt x="2604" y="5522"/>
                    </a:cubicBezTo>
                    <a:lnTo>
                      <a:pt x="2747" y="6259"/>
                    </a:lnTo>
                    <a:cubicBezTo>
                      <a:pt x="2776" y="6403"/>
                      <a:pt x="2900" y="6498"/>
                      <a:pt x="3044" y="6498"/>
                    </a:cubicBezTo>
                    <a:lnTo>
                      <a:pt x="3446" y="6498"/>
                    </a:lnTo>
                    <a:cubicBezTo>
                      <a:pt x="3580" y="6498"/>
                      <a:pt x="3704" y="6403"/>
                      <a:pt x="3733" y="6259"/>
                    </a:cubicBezTo>
                    <a:lnTo>
                      <a:pt x="3877" y="5522"/>
                    </a:lnTo>
                    <a:cubicBezTo>
                      <a:pt x="4058" y="5474"/>
                      <a:pt x="4231" y="5398"/>
                      <a:pt x="4403" y="5312"/>
                    </a:cubicBezTo>
                    <a:lnTo>
                      <a:pt x="5025" y="5733"/>
                    </a:lnTo>
                    <a:cubicBezTo>
                      <a:pt x="5077" y="5765"/>
                      <a:pt x="5134" y="5780"/>
                      <a:pt x="5190" y="5780"/>
                    </a:cubicBezTo>
                    <a:cubicBezTo>
                      <a:pt x="5267" y="5780"/>
                      <a:pt x="5343" y="5750"/>
                      <a:pt x="5398" y="5694"/>
                    </a:cubicBezTo>
                    <a:lnTo>
                      <a:pt x="5685" y="5407"/>
                    </a:lnTo>
                    <a:cubicBezTo>
                      <a:pt x="5781" y="5302"/>
                      <a:pt x="5800" y="5149"/>
                      <a:pt x="5724" y="5034"/>
                    </a:cubicBezTo>
                    <a:lnTo>
                      <a:pt x="5303" y="4412"/>
                    </a:lnTo>
                    <a:cubicBezTo>
                      <a:pt x="5398" y="4240"/>
                      <a:pt x="5465" y="4067"/>
                      <a:pt x="5523" y="3886"/>
                    </a:cubicBezTo>
                    <a:lnTo>
                      <a:pt x="6260" y="3742"/>
                    </a:lnTo>
                    <a:cubicBezTo>
                      <a:pt x="6394" y="3713"/>
                      <a:pt x="6489" y="3589"/>
                      <a:pt x="6499" y="3455"/>
                    </a:cubicBezTo>
                    <a:lnTo>
                      <a:pt x="6499" y="3053"/>
                    </a:lnTo>
                    <a:cubicBezTo>
                      <a:pt x="6489" y="2909"/>
                      <a:pt x="6394" y="2785"/>
                      <a:pt x="6250" y="2766"/>
                    </a:cubicBezTo>
                    <a:lnTo>
                      <a:pt x="5513" y="2613"/>
                    </a:lnTo>
                    <a:cubicBezTo>
                      <a:pt x="5465" y="2431"/>
                      <a:pt x="5389" y="2259"/>
                      <a:pt x="5303" y="2096"/>
                    </a:cubicBezTo>
                    <a:lnTo>
                      <a:pt x="5714" y="1474"/>
                    </a:lnTo>
                    <a:cubicBezTo>
                      <a:pt x="5791" y="1350"/>
                      <a:pt x="5772" y="1196"/>
                      <a:pt x="5676" y="1101"/>
                    </a:cubicBezTo>
                    <a:lnTo>
                      <a:pt x="5398" y="814"/>
                    </a:lnTo>
                    <a:cubicBezTo>
                      <a:pt x="5337" y="758"/>
                      <a:pt x="5259" y="728"/>
                      <a:pt x="5183" y="728"/>
                    </a:cubicBezTo>
                    <a:cubicBezTo>
                      <a:pt x="5128" y="728"/>
                      <a:pt x="5073" y="743"/>
                      <a:pt x="5025" y="775"/>
                    </a:cubicBezTo>
                    <a:lnTo>
                      <a:pt x="4393" y="1196"/>
                    </a:lnTo>
                    <a:cubicBezTo>
                      <a:pt x="4231" y="1101"/>
                      <a:pt x="4058" y="1034"/>
                      <a:pt x="3877" y="976"/>
                    </a:cubicBezTo>
                    <a:lnTo>
                      <a:pt x="3733" y="239"/>
                    </a:lnTo>
                    <a:cubicBezTo>
                      <a:pt x="3704" y="105"/>
                      <a:pt x="3580" y="0"/>
                      <a:pt x="3446" y="0"/>
                    </a:cubicBezTo>
                    <a:close/>
                  </a:path>
                </a:pathLst>
              </a:custGeom>
              <a:solidFill>
                <a:srgbClr val="00B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59" name="Google Shape;16042;p127">
                <a:extLst>
                  <a:ext uri="{FF2B5EF4-FFF2-40B4-BE49-F238E27FC236}">
                    <a16:creationId xmlns:a16="http://schemas.microsoft.com/office/drawing/2014/main" id="{2E9AE965-4B33-C852-8CA3-38E845BA138A}"/>
                  </a:ext>
                </a:extLst>
              </p:cNvPr>
              <p:cNvSpPr/>
              <p:nvPr/>
            </p:nvSpPr>
            <p:spPr>
              <a:xfrm>
                <a:off x="3316340" y="4025672"/>
                <a:ext cx="99788" cy="85371"/>
              </a:xfrm>
              <a:custGeom>
                <a:avLst/>
                <a:gdLst/>
                <a:ahLst/>
                <a:cxnLst/>
                <a:rect l="l" t="t" r="r" b="b"/>
                <a:pathLst>
                  <a:path w="3800" h="3251" extrusionOk="0">
                    <a:moveTo>
                      <a:pt x="2173" y="0"/>
                    </a:moveTo>
                    <a:cubicBezTo>
                      <a:pt x="728" y="0"/>
                      <a:pt x="0" y="1751"/>
                      <a:pt x="1025" y="2775"/>
                    </a:cubicBezTo>
                    <a:cubicBezTo>
                      <a:pt x="1355" y="3103"/>
                      <a:pt x="1762" y="3250"/>
                      <a:pt x="2161" y="3250"/>
                    </a:cubicBezTo>
                    <a:cubicBezTo>
                      <a:pt x="2997" y="3250"/>
                      <a:pt x="3800" y="2605"/>
                      <a:pt x="3800" y="1627"/>
                    </a:cubicBezTo>
                    <a:cubicBezTo>
                      <a:pt x="3800" y="727"/>
                      <a:pt x="3073" y="0"/>
                      <a:pt x="2173" y="0"/>
                    </a:cubicBezTo>
                    <a:close/>
                  </a:path>
                </a:pathLst>
              </a:custGeom>
              <a:solidFill>
                <a:srgbClr val="C6CF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60" name="Google Shape;16043;p127">
                <a:extLst>
                  <a:ext uri="{FF2B5EF4-FFF2-40B4-BE49-F238E27FC236}">
                    <a16:creationId xmlns:a16="http://schemas.microsoft.com/office/drawing/2014/main" id="{C6C5AEF0-E908-D7C8-9A76-81A94F790C91}"/>
                  </a:ext>
                </a:extLst>
              </p:cNvPr>
              <p:cNvSpPr/>
              <p:nvPr/>
            </p:nvSpPr>
            <p:spPr>
              <a:xfrm>
                <a:off x="3339213" y="4042741"/>
                <a:ext cx="59847" cy="51260"/>
              </a:xfrm>
              <a:custGeom>
                <a:avLst/>
                <a:gdLst/>
                <a:ahLst/>
                <a:cxnLst/>
                <a:rect l="l" t="t" r="r" b="b"/>
                <a:pathLst>
                  <a:path w="2279" h="1952" extrusionOk="0">
                    <a:moveTo>
                      <a:pt x="1302" y="1"/>
                    </a:moveTo>
                    <a:cubicBezTo>
                      <a:pt x="431" y="1"/>
                      <a:pt x="0" y="1044"/>
                      <a:pt x="613" y="1666"/>
                    </a:cubicBezTo>
                    <a:cubicBezTo>
                      <a:pt x="810" y="1863"/>
                      <a:pt x="1053" y="1951"/>
                      <a:pt x="1292" y="1951"/>
                    </a:cubicBezTo>
                    <a:cubicBezTo>
                      <a:pt x="1794" y="1951"/>
                      <a:pt x="2278" y="1561"/>
                      <a:pt x="2278" y="977"/>
                    </a:cubicBezTo>
                    <a:cubicBezTo>
                      <a:pt x="2278" y="431"/>
                      <a:pt x="1838" y="1"/>
                      <a:pt x="1302" y="1"/>
                    </a:cubicBezTo>
                    <a:close/>
                  </a:path>
                </a:pathLst>
              </a:custGeom>
              <a:solidFill>
                <a:srgbClr val="4B63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grpSp>
      <p:grpSp>
        <p:nvGrpSpPr>
          <p:cNvPr id="61" name="Group 60">
            <a:extLst>
              <a:ext uri="{FF2B5EF4-FFF2-40B4-BE49-F238E27FC236}">
                <a16:creationId xmlns:a16="http://schemas.microsoft.com/office/drawing/2014/main" id="{3F3CF4A7-8817-2A1B-652C-9834DF9449E1}"/>
              </a:ext>
            </a:extLst>
          </p:cNvPr>
          <p:cNvGrpSpPr/>
          <p:nvPr/>
        </p:nvGrpSpPr>
        <p:grpSpPr>
          <a:xfrm>
            <a:off x="8292147" y="1003993"/>
            <a:ext cx="605372" cy="566406"/>
            <a:chOff x="6233774" y="1425062"/>
            <a:chExt cx="572700" cy="572700"/>
          </a:xfrm>
        </p:grpSpPr>
        <p:sp>
          <p:nvSpPr>
            <p:cNvPr id="62" name="Google Shape;839;p61">
              <a:extLst>
                <a:ext uri="{FF2B5EF4-FFF2-40B4-BE49-F238E27FC236}">
                  <a16:creationId xmlns:a16="http://schemas.microsoft.com/office/drawing/2014/main" id="{BE0D258A-633A-DE01-8408-C4CE66395896}"/>
                </a:ext>
              </a:extLst>
            </p:cNvPr>
            <p:cNvSpPr/>
            <p:nvPr/>
          </p:nvSpPr>
          <p:spPr>
            <a:xfrm>
              <a:off x="6233774" y="1425062"/>
              <a:ext cx="572700" cy="572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nvGrpSpPr>
            <p:cNvPr id="63" name="Google Shape;16450;p127">
              <a:extLst>
                <a:ext uri="{FF2B5EF4-FFF2-40B4-BE49-F238E27FC236}">
                  <a16:creationId xmlns:a16="http://schemas.microsoft.com/office/drawing/2014/main" id="{6AD27EAD-7256-72E4-5402-B3D53BCFAB61}"/>
                </a:ext>
              </a:extLst>
            </p:cNvPr>
            <p:cNvGrpSpPr/>
            <p:nvPr/>
          </p:nvGrpSpPr>
          <p:grpSpPr>
            <a:xfrm>
              <a:off x="6348052" y="1531964"/>
              <a:ext cx="342824" cy="351228"/>
              <a:chOff x="870773" y="3357985"/>
              <a:chExt cx="342824" cy="351228"/>
            </a:xfrm>
          </p:grpSpPr>
          <p:sp>
            <p:nvSpPr>
              <p:cNvPr id="64" name="Google Shape;16451;p127">
                <a:extLst>
                  <a:ext uri="{FF2B5EF4-FFF2-40B4-BE49-F238E27FC236}">
                    <a16:creationId xmlns:a16="http://schemas.microsoft.com/office/drawing/2014/main" id="{F1B6180B-5032-539F-0423-5FD7FB39C620}"/>
                  </a:ext>
                </a:extLst>
              </p:cNvPr>
              <p:cNvSpPr/>
              <p:nvPr/>
            </p:nvSpPr>
            <p:spPr>
              <a:xfrm>
                <a:off x="870773" y="3357985"/>
                <a:ext cx="342824" cy="351228"/>
              </a:xfrm>
              <a:custGeom>
                <a:avLst/>
                <a:gdLst/>
                <a:ahLst/>
                <a:cxnLst/>
                <a:rect l="l" t="t" r="r" b="b"/>
                <a:pathLst>
                  <a:path w="13055" h="13375" extrusionOk="0">
                    <a:moveTo>
                      <a:pt x="6523" y="0"/>
                    </a:moveTo>
                    <a:cubicBezTo>
                      <a:pt x="6339" y="0"/>
                      <a:pt x="6155" y="89"/>
                      <a:pt x="6049" y="266"/>
                    </a:cubicBezTo>
                    <a:lnTo>
                      <a:pt x="5255" y="1606"/>
                    </a:lnTo>
                    <a:cubicBezTo>
                      <a:pt x="5152" y="1777"/>
                      <a:pt x="4972" y="1874"/>
                      <a:pt x="4786" y="1874"/>
                    </a:cubicBezTo>
                    <a:cubicBezTo>
                      <a:pt x="4712" y="1874"/>
                      <a:pt x="4637" y="1859"/>
                      <a:pt x="4566" y="1826"/>
                    </a:cubicBezTo>
                    <a:lnTo>
                      <a:pt x="3130" y="1213"/>
                    </a:lnTo>
                    <a:cubicBezTo>
                      <a:pt x="3059" y="1183"/>
                      <a:pt x="2986" y="1169"/>
                      <a:pt x="2915" y="1169"/>
                    </a:cubicBezTo>
                    <a:cubicBezTo>
                      <a:pt x="2606" y="1169"/>
                      <a:pt x="2334" y="1434"/>
                      <a:pt x="2365" y="1768"/>
                    </a:cubicBezTo>
                    <a:lnTo>
                      <a:pt x="2508" y="3328"/>
                    </a:lnTo>
                    <a:cubicBezTo>
                      <a:pt x="2527" y="3606"/>
                      <a:pt x="2346" y="3855"/>
                      <a:pt x="2078" y="3912"/>
                    </a:cubicBezTo>
                    <a:lnTo>
                      <a:pt x="566" y="4257"/>
                    </a:lnTo>
                    <a:cubicBezTo>
                      <a:pt x="154" y="4343"/>
                      <a:pt x="1" y="4840"/>
                      <a:pt x="278" y="5156"/>
                    </a:cubicBezTo>
                    <a:lnTo>
                      <a:pt x="1302" y="6324"/>
                    </a:lnTo>
                    <a:cubicBezTo>
                      <a:pt x="1484" y="6534"/>
                      <a:pt x="1484" y="6841"/>
                      <a:pt x="1302" y="7051"/>
                    </a:cubicBezTo>
                    <a:lnTo>
                      <a:pt x="278" y="8219"/>
                    </a:lnTo>
                    <a:cubicBezTo>
                      <a:pt x="1" y="8535"/>
                      <a:pt x="154" y="9023"/>
                      <a:pt x="566" y="9118"/>
                    </a:cubicBezTo>
                    <a:lnTo>
                      <a:pt x="2078" y="9463"/>
                    </a:lnTo>
                    <a:cubicBezTo>
                      <a:pt x="2355" y="9520"/>
                      <a:pt x="2537" y="9779"/>
                      <a:pt x="2508" y="10047"/>
                    </a:cubicBezTo>
                    <a:lnTo>
                      <a:pt x="2365" y="11607"/>
                    </a:lnTo>
                    <a:cubicBezTo>
                      <a:pt x="2334" y="11941"/>
                      <a:pt x="2606" y="12206"/>
                      <a:pt x="2915" y="12206"/>
                    </a:cubicBezTo>
                    <a:cubicBezTo>
                      <a:pt x="2986" y="12206"/>
                      <a:pt x="3059" y="12192"/>
                      <a:pt x="3130" y="12162"/>
                    </a:cubicBezTo>
                    <a:lnTo>
                      <a:pt x="4566" y="11549"/>
                    </a:lnTo>
                    <a:cubicBezTo>
                      <a:pt x="4637" y="11520"/>
                      <a:pt x="4711" y="11507"/>
                      <a:pt x="4783" y="11507"/>
                    </a:cubicBezTo>
                    <a:cubicBezTo>
                      <a:pt x="4975" y="11507"/>
                      <a:pt x="5158" y="11603"/>
                      <a:pt x="5255" y="11769"/>
                    </a:cubicBezTo>
                    <a:lnTo>
                      <a:pt x="6049" y="13109"/>
                    </a:lnTo>
                    <a:cubicBezTo>
                      <a:pt x="6155" y="13286"/>
                      <a:pt x="6339" y="13375"/>
                      <a:pt x="6523" y="13375"/>
                    </a:cubicBezTo>
                    <a:cubicBezTo>
                      <a:pt x="6707" y="13375"/>
                      <a:pt x="6892" y="13286"/>
                      <a:pt x="6997" y="13109"/>
                    </a:cubicBezTo>
                    <a:lnTo>
                      <a:pt x="7791" y="11769"/>
                    </a:lnTo>
                    <a:cubicBezTo>
                      <a:pt x="7894" y="11598"/>
                      <a:pt x="8076" y="11505"/>
                      <a:pt x="8262" y="11505"/>
                    </a:cubicBezTo>
                    <a:cubicBezTo>
                      <a:pt x="8336" y="11505"/>
                      <a:pt x="8410" y="11519"/>
                      <a:pt x="8480" y="11549"/>
                    </a:cubicBezTo>
                    <a:lnTo>
                      <a:pt x="9916" y="12162"/>
                    </a:lnTo>
                    <a:cubicBezTo>
                      <a:pt x="9987" y="12192"/>
                      <a:pt x="10060" y="12206"/>
                      <a:pt x="10131" y="12206"/>
                    </a:cubicBezTo>
                    <a:cubicBezTo>
                      <a:pt x="10440" y="12206"/>
                      <a:pt x="10712" y="11941"/>
                      <a:pt x="10681" y="11607"/>
                    </a:cubicBezTo>
                    <a:lnTo>
                      <a:pt x="10547" y="10056"/>
                    </a:lnTo>
                    <a:cubicBezTo>
                      <a:pt x="10519" y="9779"/>
                      <a:pt x="10701" y="9520"/>
                      <a:pt x="10968" y="9463"/>
                    </a:cubicBezTo>
                    <a:lnTo>
                      <a:pt x="12490" y="9118"/>
                    </a:lnTo>
                    <a:cubicBezTo>
                      <a:pt x="12892" y="9023"/>
                      <a:pt x="13055" y="8535"/>
                      <a:pt x="12777" y="8219"/>
                    </a:cubicBezTo>
                    <a:lnTo>
                      <a:pt x="11753" y="7051"/>
                    </a:lnTo>
                    <a:cubicBezTo>
                      <a:pt x="11571" y="6841"/>
                      <a:pt x="11571" y="6534"/>
                      <a:pt x="11753" y="6324"/>
                    </a:cubicBezTo>
                    <a:lnTo>
                      <a:pt x="12777" y="5156"/>
                    </a:lnTo>
                    <a:cubicBezTo>
                      <a:pt x="13055" y="4840"/>
                      <a:pt x="12892" y="4343"/>
                      <a:pt x="12481" y="4257"/>
                    </a:cubicBezTo>
                    <a:lnTo>
                      <a:pt x="10968" y="3912"/>
                    </a:lnTo>
                    <a:cubicBezTo>
                      <a:pt x="10701" y="3845"/>
                      <a:pt x="10519" y="3596"/>
                      <a:pt x="10538" y="3319"/>
                    </a:cubicBezTo>
                    <a:lnTo>
                      <a:pt x="10681" y="1768"/>
                    </a:lnTo>
                    <a:cubicBezTo>
                      <a:pt x="10712" y="1429"/>
                      <a:pt x="10445" y="1164"/>
                      <a:pt x="10140" y="1164"/>
                    </a:cubicBezTo>
                    <a:cubicBezTo>
                      <a:pt x="10066" y="1164"/>
                      <a:pt x="9990" y="1180"/>
                      <a:pt x="9916" y="1213"/>
                    </a:cubicBezTo>
                    <a:lnTo>
                      <a:pt x="8480" y="1826"/>
                    </a:lnTo>
                    <a:cubicBezTo>
                      <a:pt x="8410" y="1854"/>
                      <a:pt x="8337" y="1868"/>
                      <a:pt x="8264" y="1868"/>
                    </a:cubicBezTo>
                    <a:cubicBezTo>
                      <a:pt x="8072" y="1868"/>
                      <a:pt x="7889" y="1770"/>
                      <a:pt x="7791" y="1596"/>
                    </a:cubicBezTo>
                    <a:lnTo>
                      <a:pt x="6997" y="266"/>
                    </a:lnTo>
                    <a:cubicBezTo>
                      <a:pt x="6892" y="89"/>
                      <a:pt x="6707" y="0"/>
                      <a:pt x="6523" y="0"/>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65" name="Google Shape;16452;p127">
                <a:extLst>
                  <a:ext uri="{FF2B5EF4-FFF2-40B4-BE49-F238E27FC236}">
                    <a16:creationId xmlns:a16="http://schemas.microsoft.com/office/drawing/2014/main" id="{664635B8-E1FE-ABB0-A438-34E13BD9E90B}"/>
                  </a:ext>
                </a:extLst>
              </p:cNvPr>
              <p:cNvSpPr/>
              <p:nvPr/>
            </p:nvSpPr>
            <p:spPr>
              <a:xfrm>
                <a:off x="1024577" y="3357985"/>
                <a:ext cx="50288" cy="49238"/>
              </a:xfrm>
              <a:custGeom>
                <a:avLst/>
                <a:gdLst/>
                <a:ahLst/>
                <a:cxnLst/>
                <a:rect l="l" t="t" r="r" b="b"/>
                <a:pathLst>
                  <a:path w="1915" h="1875" extrusionOk="0">
                    <a:moveTo>
                      <a:pt x="666" y="0"/>
                    </a:moveTo>
                    <a:cubicBezTo>
                      <a:pt x="482" y="0"/>
                      <a:pt x="298" y="89"/>
                      <a:pt x="192" y="266"/>
                    </a:cubicBezTo>
                    <a:lnTo>
                      <a:pt x="1" y="591"/>
                    </a:lnTo>
                    <a:lnTo>
                      <a:pt x="604" y="1606"/>
                    </a:lnTo>
                    <a:cubicBezTo>
                      <a:pt x="706" y="1777"/>
                      <a:pt x="887" y="1874"/>
                      <a:pt x="1073" y="1874"/>
                    </a:cubicBezTo>
                    <a:cubicBezTo>
                      <a:pt x="1147" y="1874"/>
                      <a:pt x="1222" y="1859"/>
                      <a:pt x="1293" y="1826"/>
                    </a:cubicBezTo>
                    <a:lnTo>
                      <a:pt x="1915" y="1567"/>
                    </a:lnTo>
                    <a:lnTo>
                      <a:pt x="1140" y="266"/>
                    </a:lnTo>
                    <a:cubicBezTo>
                      <a:pt x="1035" y="89"/>
                      <a:pt x="850" y="0"/>
                      <a:pt x="666" y="0"/>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66" name="Google Shape;16453;p127">
                <a:extLst>
                  <a:ext uri="{FF2B5EF4-FFF2-40B4-BE49-F238E27FC236}">
                    <a16:creationId xmlns:a16="http://schemas.microsoft.com/office/drawing/2014/main" id="{1E64059D-ADB7-1DE3-93B0-1C459F1CA034}"/>
                  </a:ext>
                </a:extLst>
              </p:cNvPr>
              <p:cNvSpPr/>
              <p:nvPr/>
            </p:nvSpPr>
            <p:spPr>
              <a:xfrm>
                <a:off x="1111787" y="3388552"/>
                <a:ext cx="101810" cy="289832"/>
              </a:xfrm>
              <a:custGeom>
                <a:avLst/>
                <a:gdLst/>
                <a:ahLst/>
                <a:cxnLst/>
                <a:rect l="l" t="t" r="r" b="b"/>
                <a:pathLst>
                  <a:path w="3877" h="11037" extrusionOk="0">
                    <a:moveTo>
                      <a:pt x="962" y="0"/>
                    </a:moveTo>
                    <a:cubicBezTo>
                      <a:pt x="888" y="0"/>
                      <a:pt x="812" y="16"/>
                      <a:pt x="738" y="49"/>
                    </a:cubicBezTo>
                    <a:lnTo>
                      <a:pt x="116" y="308"/>
                    </a:lnTo>
                    <a:cubicBezTo>
                      <a:pt x="164" y="403"/>
                      <a:pt x="183" y="499"/>
                      <a:pt x="173" y="604"/>
                    </a:cubicBezTo>
                    <a:lnTo>
                      <a:pt x="30" y="2155"/>
                    </a:lnTo>
                    <a:cubicBezTo>
                      <a:pt x="1" y="2432"/>
                      <a:pt x="183" y="2681"/>
                      <a:pt x="460" y="2748"/>
                    </a:cubicBezTo>
                    <a:lnTo>
                      <a:pt x="1972" y="3093"/>
                    </a:lnTo>
                    <a:cubicBezTo>
                      <a:pt x="2384" y="3179"/>
                      <a:pt x="2537" y="3676"/>
                      <a:pt x="2269" y="3992"/>
                    </a:cubicBezTo>
                    <a:lnTo>
                      <a:pt x="1245" y="5160"/>
                    </a:lnTo>
                    <a:cubicBezTo>
                      <a:pt x="1054" y="5361"/>
                      <a:pt x="1054" y="5677"/>
                      <a:pt x="1245" y="5887"/>
                    </a:cubicBezTo>
                    <a:lnTo>
                      <a:pt x="2269" y="7055"/>
                    </a:lnTo>
                    <a:cubicBezTo>
                      <a:pt x="2537" y="7371"/>
                      <a:pt x="2384" y="7859"/>
                      <a:pt x="1972" y="7954"/>
                    </a:cubicBezTo>
                    <a:lnTo>
                      <a:pt x="460" y="8299"/>
                    </a:lnTo>
                    <a:cubicBezTo>
                      <a:pt x="183" y="8356"/>
                      <a:pt x="1" y="8615"/>
                      <a:pt x="30" y="8883"/>
                    </a:cubicBezTo>
                    <a:lnTo>
                      <a:pt x="173" y="10433"/>
                    </a:lnTo>
                    <a:cubicBezTo>
                      <a:pt x="183" y="10538"/>
                      <a:pt x="164" y="10634"/>
                      <a:pt x="116" y="10730"/>
                    </a:cubicBezTo>
                    <a:lnTo>
                      <a:pt x="738" y="10988"/>
                    </a:lnTo>
                    <a:cubicBezTo>
                      <a:pt x="812" y="11022"/>
                      <a:pt x="888" y="11037"/>
                      <a:pt x="962" y="11037"/>
                    </a:cubicBezTo>
                    <a:cubicBezTo>
                      <a:pt x="1267" y="11037"/>
                      <a:pt x="1534" y="10772"/>
                      <a:pt x="1503" y="10433"/>
                    </a:cubicBezTo>
                    <a:lnTo>
                      <a:pt x="1360" y="8892"/>
                    </a:lnTo>
                    <a:cubicBezTo>
                      <a:pt x="1331" y="8615"/>
                      <a:pt x="1513" y="8356"/>
                      <a:pt x="1790" y="8299"/>
                    </a:cubicBezTo>
                    <a:lnTo>
                      <a:pt x="3303" y="7954"/>
                    </a:lnTo>
                    <a:cubicBezTo>
                      <a:pt x="3714" y="7859"/>
                      <a:pt x="3867" y="7371"/>
                      <a:pt x="3599" y="7055"/>
                    </a:cubicBezTo>
                    <a:lnTo>
                      <a:pt x="2575" y="5887"/>
                    </a:lnTo>
                    <a:cubicBezTo>
                      <a:pt x="2393" y="5677"/>
                      <a:pt x="2393" y="5370"/>
                      <a:pt x="2575" y="5160"/>
                    </a:cubicBezTo>
                    <a:lnTo>
                      <a:pt x="3599" y="3992"/>
                    </a:lnTo>
                    <a:cubicBezTo>
                      <a:pt x="3877" y="3676"/>
                      <a:pt x="3714" y="3179"/>
                      <a:pt x="3303" y="3093"/>
                    </a:cubicBezTo>
                    <a:lnTo>
                      <a:pt x="1790" y="2748"/>
                    </a:lnTo>
                    <a:cubicBezTo>
                      <a:pt x="1523" y="2681"/>
                      <a:pt x="1341" y="2432"/>
                      <a:pt x="1360" y="2155"/>
                    </a:cubicBezTo>
                    <a:lnTo>
                      <a:pt x="1503" y="604"/>
                    </a:lnTo>
                    <a:cubicBezTo>
                      <a:pt x="1534" y="265"/>
                      <a:pt x="1267" y="0"/>
                      <a:pt x="962" y="0"/>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67" name="Google Shape;16454;p127">
                <a:extLst>
                  <a:ext uri="{FF2B5EF4-FFF2-40B4-BE49-F238E27FC236}">
                    <a16:creationId xmlns:a16="http://schemas.microsoft.com/office/drawing/2014/main" id="{58E4C3A4-82EB-DBF9-6CA6-4F58FF1D17D9}"/>
                  </a:ext>
                </a:extLst>
              </p:cNvPr>
              <p:cNvSpPr/>
              <p:nvPr/>
            </p:nvSpPr>
            <p:spPr>
              <a:xfrm>
                <a:off x="1024840" y="3660133"/>
                <a:ext cx="50025" cy="49080"/>
              </a:xfrm>
              <a:custGeom>
                <a:avLst/>
                <a:gdLst/>
                <a:ahLst/>
                <a:cxnLst/>
                <a:rect l="l" t="t" r="r" b="b"/>
                <a:pathLst>
                  <a:path w="1905" h="1869" extrusionOk="0">
                    <a:moveTo>
                      <a:pt x="1071" y="1"/>
                    </a:moveTo>
                    <a:cubicBezTo>
                      <a:pt x="883" y="1"/>
                      <a:pt x="698" y="97"/>
                      <a:pt x="594" y="263"/>
                    </a:cubicBezTo>
                    <a:lnTo>
                      <a:pt x="0" y="1278"/>
                    </a:lnTo>
                    <a:lnTo>
                      <a:pt x="192" y="1603"/>
                    </a:lnTo>
                    <a:cubicBezTo>
                      <a:pt x="297" y="1780"/>
                      <a:pt x="479" y="1869"/>
                      <a:pt x="662" y="1869"/>
                    </a:cubicBezTo>
                    <a:cubicBezTo>
                      <a:pt x="845" y="1869"/>
                      <a:pt x="1029" y="1780"/>
                      <a:pt x="1139" y="1603"/>
                    </a:cubicBezTo>
                    <a:lnTo>
                      <a:pt x="1905" y="311"/>
                    </a:lnTo>
                    <a:lnTo>
                      <a:pt x="1283" y="43"/>
                    </a:lnTo>
                    <a:cubicBezTo>
                      <a:pt x="1215" y="14"/>
                      <a:pt x="1143" y="1"/>
                      <a:pt x="1071" y="1"/>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68" name="Google Shape;16455;p127">
                <a:extLst>
                  <a:ext uri="{FF2B5EF4-FFF2-40B4-BE49-F238E27FC236}">
                    <a16:creationId xmlns:a16="http://schemas.microsoft.com/office/drawing/2014/main" id="{A5EDBFF1-280E-19C1-2DE1-971C8E5479D3}"/>
                  </a:ext>
                </a:extLst>
              </p:cNvPr>
              <p:cNvSpPr/>
              <p:nvPr/>
            </p:nvSpPr>
            <p:spPr>
              <a:xfrm>
                <a:off x="939390" y="3431067"/>
                <a:ext cx="211892" cy="205222"/>
              </a:xfrm>
              <a:custGeom>
                <a:avLst/>
                <a:gdLst/>
                <a:ahLst/>
                <a:cxnLst/>
                <a:rect l="l" t="t" r="r" b="b"/>
                <a:pathLst>
                  <a:path w="8069" h="7815" extrusionOk="0">
                    <a:moveTo>
                      <a:pt x="3916" y="0"/>
                    </a:moveTo>
                    <a:cubicBezTo>
                      <a:pt x="1659" y="0"/>
                      <a:pt x="1" y="1823"/>
                      <a:pt x="1" y="3895"/>
                    </a:cubicBezTo>
                    <a:cubicBezTo>
                      <a:pt x="1" y="6224"/>
                      <a:pt x="1910" y="7814"/>
                      <a:pt x="3928" y="7814"/>
                    </a:cubicBezTo>
                    <a:cubicBezTo>
                      <a:pt x="4771" y="7814"/>
                      <a:pt x="5634" y="7537"/>
                      <a:pt x="6384" y="6919"/>
                    </a:cubicBezTo>
                    <a:cubicBezTo>
                      <a:pt x="7561" y="5962"/>
                      <a:pt x="8068" y="4421"/>
                      <a:pt x="7695" y="2947"/>
                    </a:cubicBezTo>
                    <a:cubicBezTo>
                      <a:pt x="7331" y="1483"/>
                      <a:pt x="6154" y="363"/>
                      <a:pt x="4671" y="67"/>
                    </a:cubicBezTo>
                    <a:cubicBezTo>
                      <a:pt x="4413" y="22"/>
                      <a:pt x="4161" y="0"/>
                      <a:pt x="3916" y="0"/>
                    </a:cubicBezTo>
                    <a:close/>
                  </a:path>
                </a:pathLst>
              </a:custGeom>
              <a:solidFill>
                <a:srgbClr val="C1C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69" name="Google Shape;16456;p127">
                <a:extLst>
                  <a:ext uri="{FF2B5EF4-FFF2-40B4-BE49-F238E27FC236}">
                    <a16:creationId xmlns:a16="http://schemas.microsoft.com/office/drawing/2014/main" id="{27CE6773-65DE-F5C8-69B7-CD993E1565EB}"/>
                  </a:ext>
                </a:extLst>
              </p:cNvPr>
              <p:cNvSpPr/>
              <p:nvPr/>
            </p:nvSpPr>
            <p:spPr>
              <a:xfrm>
                <a:off x="970561" y="3470641"/>
                <a:ext cx="60345" cy="51653"/>
              </a:xfrm>
              <a:custGeom>
                <a:avLst/>
                <a:gdLst/>
                <a:ahLst/>
                <a:cxnLst/>
                <a:rect l="l" t="t" r="r" b="b"/>
                <a:pathLst>
                  <a:path w="2298" h="1967" extrusionOk="0">
                    <a:moveTo>
                      <a:pt x="1315" y="409"/>
                    </a:moveTo>
                    <a:cubicBezTo>
                      <a:pt x="1456" y="409"/>
                      <a:pt x="1599" y="461"/>
                      <a:pt x="1713" y="579"/>
                    </a:cubicBezTo>
                    <a:cubicBezTo>
                      <a:pt x="2077" y="943"/>
                      <a:pt x="1819" y="1555"/>
                      <a:pt x="1311" y="1555"/>
                    </a:cubicBezTo>
                    <a:cubicBezTo>
                      <a:pt x="996" y="1555"/>
                      <a:pt x="737" y="1297"/>
                      <a:pt x="737" y="981"/>
                    </a:cubicBezTo>
                    <a:cubicBezTo>
                      <a:pt x="737" y="638"/>
                      <a:pt x="1022" y="409"/>
                      <a:pt x="1315" y="409"/>
                    </a:cubicBezTo>
                    <a:close/>
                    <a:moveTo>
                      <a:pt x="1308" y="0"/>
                    </a:moveTo>
                    <a:cubicBezTo>
                      <a:pt x="1067" y="0"/>
                      <a:pt x="821" y="90"/>
                      <a:pt x="622" y="292"/>
                    </a:cubicBezTo>
                    <a:cubicBezTo>
                      <a:pt x="0" y="905"/>
                      <a:pt x="441" y="1967"/>
                      <a:pt x="1311" y="1967"/>
                    </a:cubicBezTo>
                    <a:cubicBezTo>
                      <a:pt x="1857" y="1967"/>
                      <a:pt x="2288" y="1527"/>
                      <a:pt x="2297" y="981"/>
                    </a:cubicBezTo>
                    <a:cubicBezTo>
                      <a:pt x="2297" y="392"/>
                      <a:pt x="1812" y="0"/>
                      <a:pt x="1308" y="0"/>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70" name="Google Shape;16457;p127">
                <a:extLst>
                  <a:ext uri="{FF2B5EF4-FFF2-40B4-BE49-F238E27FC236}">
                    <a16:creationId xmlns:a16="http://schemas.microsoft.com/office/drawing/2014/main" id="{0E7054B1-EFAA-6331-E447-486EB84EF014}"/>
                  </a:ext>
                </a:extLst>
              </p:cNvPr>
              <p:cNvSpPr/>
              <p:nvPr/>
            </p:nvSpPr>
            <p:spPr>
              <a:xfrm>
                <a:off x="1053332" y="3545140"/>
                <a:ext cx="60188" cy="51417"/>
              </a:xfrm>
              <a:custGeom>
                <a:avLst/>
                <a:gdLst/>
                <a:ahLst/>
                <a:cxnLst/>
                <a:rect l="l" t="t" r="r" b="b"/>
                <a:pathLst>
                  <a:path w="2292" h="1958" extrusionOk="0">
                    <a:moveTo>
                      <a:pt x="983" y="393"/>
                    </a:moveTo>
                    <a:cubicBezTo>
                      <a:pt x="1299" y="403"/>
                      <a:pt x="1557" y="652"/>
                      <a:pt x="1557" y="967"/>
                    </a:cubicBezTo>
                    <a:cubicBezTo>
                      <a:pt x="1557" y="1317"/>
                      <a:pt x="1276" y="1549"/>
                      <a:pt x="982" y="1549"/>
                    </a:cubicBezTo>
                    <a:cubicBezTo>
                      <a:pt x="841" y="1549"/>
                      <a:pt x="698" y="1496"/>
                      <a:pt x="581" y="1379"/>
                    </a:cubicBezTo>
                    <a:cubicBezTo>
                      <a:pt x="217" y="1015"/>
                      <a:pt x="475" y="393"/>
                      <a:pt x="983" y="393"/>
                    </a:cubicBezTo>
                    <a:close/>
                    <a:moveTo>
                      <a:pt x="994" y="1"/>
                    </a:moveTo>
                    <a:cubicBezTo>
                      <a:pt x="991" y="1"/>
                      <a:pt x="987" y="1"/>
                      <a:pt x="983" y="1"/>
                    </a:cubicBezTo>
                    <a:cubicBezTo>
                      <a:pt x="437" y="1"/>
                      <a:pt x="7" y="431"/>
                      <a:pt x="7" y="967"/>
                    </a:cubicBezTo>
                    <a:cubicBezTo>
                      <a:pt x="0" y="1563"/>
                      <a:pt x="484" y="1957"/>
                      <a:pt x="991" y="1957"/>
                    </a:cubicBezTo>
                    <a:cubicBezTo>
                      <a:pt x="1233" y="1957"/>
                      <a:pt x="1480" y="1867"/>
                      <a:pt x="1681" y="1666"/>
                    </a:cubicBezTo>
                    <a:cubicBezTo>
                      <a:pt x="2291" y="1047"/>
                      <a:pt x="1858" y="1"/>
                      <a:pt x="994" y="1"/>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71" name="Google Shape;16458;p127">
                <a:extLst>
                  <a:ext uri="{FF2B5EF4-FFF2-40B4-BE49-F238E27FC236}">
                    <a16:creationId xmlns:a16="http://schemas.microsoft.com/office/drawing/2014/main" id="{FF8A33C2-D6C6-7085-C0DA-EACBE6F474D2}"/>
                  </a:ext>
                </a:extLst>
              </p:cNvPr>
              <p:cNvSpPr/>
              <p:nvPr/>
            </p:nvSpPr>
            <p:spPr>
              <a:xfrm>
                <a:off x="992330" y="3479595"/>
                <a:ext cx="106090" cy="101836"/>
              </a:xfrm>
              <a:custGeom>
                <a:avLst/>
                <a:gdLst/>
                <a:ahLst/>
                <a:cxnLst/>
                <a:rect l="l" t="t" r="r" b="b"/>
                <a:pathLst>
                  <a:path w="4040" h="3878" extrusionOk="0">
                    <a:moveTo>
                      <a:pt x="3742" y="0"/>
                    </a:moveTo>
                    <a:cubicBezTo>
                      <a:pt x="3692" y="0"/>
                      <a:pt x="3639" y="22"/>
                      <a:pt x="3593" y="75"/>
                    </a:cubicBezTo>
                    <a:lnTo>
                      <a:pt x="128" y="3540"/>
                    </a:lnTo>
                    <a:cubicBezTo>
                      <a:pt x="1" y="3682"/>
                      <a:pt x="132" y="3877"/>
                      <a:pt x="286" y="3877"/>
                    </a:cubicBezTo>
                    <a:cubicBezTo>
                      <a:pt x="329" y="3877"/>
                      <a:pt x="374" y="3862"/>
                      <a:pt x="415" y="3827"/>
                    </a:cubicBezTo>
                    <a:lnTo>
                      <a:pt x="3880" y="363"/>
                    </a:lnTo>
                    <a:cubicBezTo>
                      <a:pt x="4040" y="217"/>
                      <a:pt x="3902" y="0"/>
                      <a:pt x="3742" y="0"/>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grpSp>
      <p:grpSp>
        <p:nvGrpSpPr>
          <p:cNvPr id="72" name="Group 71">
            <a:extLst>
              <a:ext uri="{FF2B5EF4-FFF2-40B4-BE49-F238E27FC236}">
                <a16:creationId xmlns:a16="http://schemas.microsoft.com/office/drawing/2014/main" id="{3334AA98-2482-618A-19C4-3877119B8EC1}"/>
              </a:ext>
            </a:extLst>
          </p:cNvPr>
          <p:cNvGrpSpPr/>
          <p:nvPr/>
        </p:nvGrpSpPr>
        <p:grpSpPr>
          <a:xfrm>
            <a:off x="8297881" y="2043330"/>
            <a:ext cx="572700" cy="572700"/>
            <a:chOff x="6292023" y="2842332"/>
            <a:chExt cx="572700" cy="572700"/>
          </a:xfrm>
        </p:grpSpPr>
        <p:sp>
          <p:nvSpPr>
            <p:cNvPr id="73" name="Google Shape;839;p61">
              <a:extLst>
                <a:ext uri="{FF2B5EF4-FFF2-40B4-BE49-F238E27FC236}">
                  <a16:creationId xmlns:a16="http://schemas.microsoft.com/office/drawing/2014/main" id="{0F82AA07-887A-4E7F-509B-A4874BBD50FC}"/>
                </a:ext>
              </a:extLst>
            </p:cNvPr>
            <p:cNvSpPr/>
            <p:nvPr/>
          </p:nvSpPr>
          <p:spPr>
            <a:xfrm>
              <a:off x="6292023" y="2842332"/>
              <a:ext cx="572700" cy="572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nvGrpSpPr>
            <p:cNvPr id="74" name="Google Shape;15664;p127">
              <a:extLst>
                <a:ext uri="{FF2B5EF4-FFF2-40B4-BE49-F238E27FC236}">
                  <a16:creationId xmlns:a16="http://schemas.microsoft.com/office/drawing/2014/main" id="{FAC4EBFA-0C54-6CBC-676D-914BF7223308}"/>
                </a:ext>
              </a:extLst>
            </p:cNvPr>
            <p:cNvGrpSpPr/>
            <p:nvPr/>
          </p:nvGrpSpPr>
          <p:grpSpPr>
            <a:xfrm>
              <a:off x="6401110" y="2988677"/>
              <a:ext cx="319191" cy="271240"/>
              <a:chOff x="2659157" y="2017412"/>
              <a:chExt cx="319191" cy="271240"/>
            </a:xfrm>
          </p:grpSpPr>
          <p:sp>
            <p:nvSpPr>
              <p:cNvPr id="75" name="Google Shape;15665;p127">
                <a:extLst>
                  <a:ext uri="{FF2B5EF4-FFF2-40B4-BE49-F238E27FC236}">
                    <a16:creationId xmlns:a16="http://schemas.microsoft.com/office/drawing/2014/main" id="{26FDD4E3-D368-A932-874B-16D35612CE9C}"/>
                  </a:ext>
                </a:extLst>
              </p:cNvPr>
              <p:cNvSpPr/>
              <p:nvPr/>
            </p:nvSpPr>
            <p:spPr>
              <a:xfrm>
                <a:off x="2808183" y="2086765"/>
                <a:ext cx="164125" cy="149314"/>
              </a:xfrm>
              <a:custGeom>
                <a:avLst/>
                <a:gdLst/>
                <a:ahLst/>
                <a:cxnLst/>
                <a:rect l="l" t="t" r="r" b="b"/>
                <a:pathLst>
                  <a:path w="6250" h="5686" extrusionOk="0">
                    <a:moveTo>
                      <a:pt x="3934" y="1"/>
                    </a:moveTo>
                    <a:lnTo>
                      <a:pt x="2728" y="919"/>
                    </a:lnTo>
                    <a:lnTo>
                      <a:pt x="1733" y="584"/>
                    </a:lnTo>
                    <a:lnTo>
                      <a:pt x="0" y="1991"/>
                    </a:lnTo>
                    <a:lnTo>
                      <a:pt x="2670" y="5685"/>
                    </a:lnTo>
                    <a:lnTo>
                      <a:pt x="6250" y="3140"/>
                    </a:lnTo>
                    <a:lnTo>
                      <a:pt x="3934" y="1"/>
                    </a:lnTo>
                    <a:close/>
                  </a:path>
                </a:pathLst>
              </a:custGeom>
              <a:solidFill>
                <a:srgbClr val="CE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76" name="Google Shape;15666;p127">
                <a:extLst>
                  <a:ext uri="{FF2B5EF4-FFF2-40B4-BE49-F238E27FC236}">
                    <a16:creationId xmlns:a16="http://schemas.microsoft.com/office/drawing/2014/main" id="{7815FE23-5F8E-AE5B-B1CC-480B5E11C9CE}"/>
                  </a:ext>
                </a:extLst>
              </p:cNvPr>
              <p:cNvSpPr/>
              <p:nvPr/>
            </p:nvSpPr>
            <p:spPr>
              <a:xfrm>
                <a:off x="2881816" y="2017412"/>
                <a:ext cx="96532" cy="177334"/>
              </a:xfrm>
              <a:custGeom>
                <a:avLst/>
                <a:gdLst/>
                <a:ahLst/>
                <a:cxnLst/>
                <a:rect l="l" t="t" r="r" b="b"/>
                <a:pathLst>
                  <a:path w="3676" h="6753" extrusionOk="0">
                    <a:moveTo>
                      <a:pt x="3675" y="0"/>
                    </a:moveTo>
                    <a:lnTo>
                      <a:pt x="106" y="2536"/>
                    </a:lnTo>
                    <a:cubicBezTo>
                      <a:pt x="10" y="2594"/>
                      <a:pt x="0" y="2718"/>
                      <a:pt x="58" y="2804"/>
                    </a:cubicBezTo>
                    <a:lnTo>
                      <a:pt x="3063" y="6680"/>
                    </a:lnTo>
                    <a:cubicBezTo>
                      <a:pt x="3101" y="6729"/>
                      <a:pt x="3153" y="6753"/>
                      <a:pt x="3208" y="6753"/>
                    </a:cubicBezTo>
                    <a:cubicBezTo>
                      <a:pt x="3250" y="6753"/>
                      <a:pt x="3293" y="6738"/>
                      <a:pt x="3331" y="6709"/>
                    </a:cubicBezTo>
                    <a:lnTo>
                      <a:pt x="3675" y="6441"/>
                    </a:lnTo>
                    <a:lnTo>
                      <a:pt x="3675" y="0"/>
                    </a:lnTo>
                    <a:close/>
                  </a:path>
                </a:pathLst>
              </a:custGeom>
              <a:solidFill>
                <a:srgbClr val="65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77" name="Google Shape;15667;p127">
                <a:extLst>
                  <a:ext uri="{FF2B5EF4-FFF2-40B4-BE49-F238E27FC236}">
                    <a16:creationId xmlns:a16="http://schemas.microsoft.com/office/drawing/2014/main" id="{22ED4BC5-869D-C5F2-C534-B1182EC7523A}"/>
                  </a:ext>
                </a:extLst>
              </p:cNvPr>
              <p:cNvSpPr/>
              <p:nvPr/>
            </p:nvSpPr>
            <p:spPr>
              <a:xfrm>
                <a:off x="2947650" y="2150603"/>
                <a:ext cx="30698" cy="44196"/>
              </a:xfrm>
              <a:custGeom>
                <a:avLst/>
                <a:gdLst/>
                <a:ahLst/>
                <a:cxnLst/>
                <a:rect l="l" t="t" r="r" b="b"/>
                <a:pathLst>
                  <a:path w="1169" h="1683" extrusionOk="0">
                    <a:moveTo>
                      <a:pt x="1168" y="0"/>
                    </a:moveTo>
                    <a:lnTo>
                      <a:pt x="1" y="890"/>
                    </a:lnTo>
                    <a:lnTo>
                      <a:pt x="556" y="1608"/>
                    </a:lnTo>
                    <a:cubicBezTo>
                      <a:pt x="595" y="1658"/>
                      <a:pt x="650" y="1683"/>
                      <a:pt x="707" y="1683"/>
                    </a:cubicBezTo>
                    <a:cubicBezTo>
                      <a:pt x="747" y="1683"/>
                      <a:pt x="788" y="1670"/>
                      <a:pt x="824" y="1646"/>
                    </a:cubicBezTo>
                    <a:lnTo>
                      <a:pt x="1168" y="1369"/>
                    </a:lnTo>
                    <a:lnTo>
                      <a:pt x="1168" y="0"/>
                    </a:lnTo>
                    <a:close/>
                  </a:path>
                </a:pathLst>
              </a:custGeom>
              <a:solidFill>
                <a:srgbClr val="65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78" name="Google Shape;15668;p127">
                <a:extLst>
                  <a:ext uri="{FF2B5EF4-FFF2-40B4-BE49-F238E27FC236}">
                    <a16:creationId xmlns:a16="http://schemas.microsoft.com/office/drawing/2014/main" id="{EE95E5A1-1033-79D7-3D8B-484BBD7C833E}"/>
                  </a:ext>
                </a:extLst>
              </p:cNvPr>
              <p:cNvSpPr/>
              <p:nvPr/>
            </p:nvSpPr>
            <p:spPr>
              <a:xfrm>
                <a:off x="2818976" y="2136029"/>
                <a:ext cx="124682" cy="83034"/>
              </a:xfrm>
              <a:custGeom>
                <a:avLst/>
                <a:gdLst/>
                <a:ahLst/>
                <a:cxnLst/>
                <a:rect l="l" t="t" r="r" b="b"/>
                <a:pathLst>
                  <a:path w="4748" h="3162" extrusionOk="0">
                    <a:moveTo>
                      <a:pt x="546" y="0"/>
                    </a:moveTo>
                    <a:lnTo>
                      <a:pt x="1" y="1005"/>
                    </a:lnTo>
                    <a:lnTo>
                      <a:pt x="3829" y="3092"/>
                    </a:lnTo>
                    <a:cubicBezTo>
                      <a:pt x="3916" y="3139"/>
                      <a:pt x="4009" y="3162"/>
                      <a:pt x="4101" y="3162"/>
                    </a:cubicBezTo>
                    <a:cubicBezTo>
                      <a:pt x="4303" y="3162"/>
                      <a:pt x="4499" y="3053"/>
                      <a:pt x="4604" y="2862"/>
                    </a:cubicBezTo>
                    <a:cubicBezTo>
                      <a:pt x="4748" y="2584"/>
                      <a:pt x="4652" y="2240"/>
                      <a:pt x="4374" y="2087"/>
                    </a:cubicBezTo>
                    <a:lnTo>
                      <a:pt x="546" y="0"/>
                    </a:lnTo>
                    <a:close/>
                  </a:path>
                </a:pathLst>
              </a:custGeom>
              <a:solidFill>
                <a:srgbClr val="47C6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79" name="Google Shape;15669;p127">
                <a:extLst>
                  <a:ext uri="{FF2B5EF4-FFF2-40B4-BE49-F238E27FC236}">
                    <a16:creationId xmlns:a16="http://schemas.microsoft.com/office/drawing/2014/main" id="{E2EA8952-9671-3F89-AE79-259D71CE1779}"/>
                  </a:ext>
                </a:extLst>
              </p:cNvPr>
              <p:cNvSpPr/>
              <p:nvPr/>
            </p:nvSpPr>
            <p:spPr>
              <a:xfrm>
                <a:off x="2867741" y="2177730"/>
                <a:ext cx="73160" cy="41360"/>
              </a:xfrm>
              <a:custGeom>
                <a:avLst/>
                <a:gdLst/>
                <a:ahLst/>
                <a:cxnLst/>
                <a:rect l="l" t="t" r="r" b="b"/>
                <a:pathLst>
                  <a:path w="2786" h="1575" extrusionOk="0">
                    <a:moveTo>
                      <a:pt x="240" y="1"/>
                    </a:moveTo>
                    <a:lnTo>
                      <a:pt x="1" y="432"/>
                    </a:lnTo>
                    <a:lnTo>
                      <a:pt x="1972" y="1504"/>
                    </a:lnTo>
                    <a:cubicBezTo>
                      <a:pt x="2058" y="1552"/>
                      <a:pt x="2152" y="1575"/>
                      <a:pt x="2244" y="1575"/>
                    </a:cubicBezTo>
                    <a:cubicBezTo>
                      <a:pt x="2478" y="1575"/>
                      <a:pt x="2703" y="1428"/>
                      <a:pt x="2785" y="1188"/>
                    </a:cubicBezTo>
                    <a:lnTo>
                      <a:pt x="2785" y="1188"/>
                    </a:lnTo>
                    <a:cubicBezTo>
                      <a:pt x="2729" y="1205"/>
                      <a:pt x="2672" y="1214"/>
                      <a:pt x="2615" y="1214"/>
                    </a:cubicBezTo>
                    <a:cubicBezTo>
                      <a:pt x="2517" y="1214"/>
                      <a:pt x="2421" y="1188"/>
                      <a:pt x="2336" y="1140"/>
                    </a:cubicBezTo>
                    <a:lnTo>
                      <a:pt x="240" y="1"/>
                    </a:lnTo>
                    <a:close/>
                  </a:path>
                </a:pathLst>
              </a:custGeom>
              <a:solidFill>
                <a:srgbClr val="CE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80" name="Google Shape;15670;p127">
                <a:extLst>
                  <a:ext uri="{FF2B5EF4-FFF2-40B4-BE49-F238E27FC236}">
                    <a16:creationId xmlns:a16="http://schemas.microsoft.com/office/drawing/2014/main" id="{3C9BFFE8-167A-5C9E-FA03-94D45D962B8B}"/>
                  </a:ext>
                </a:extLst>
              </p:cNvPr>
              <p:cNvSpPr/>
              <p:nvPr/>
            </p:nvSpPr>
            <p:spPr>
              <a:xfrm>
                <a:off x="2795867" y="2157641"/>
                <a:ext cx="124919" cy="82798"/>
              </a:xfrm>
              <a:custGeom>
                <a:avLst/>
                <a:gdLst/>
                <a:ahLst/>
                <a:cxnLst/>
                <a:rect l="l" t="t" r="r" b="b"/>
                <a:pathLst>
                  <a:path w="4757" h="3153" extrusionOk="0">
                    <a:moveTo>
                      <a:pt x="546" y="0"/>
                    </a:moveTo>
                    <a:lnTo>
                      <a:pt x="0" y="996"/>
                    </a:lnTo>
                    <a:lnTo>
                      <a:pt x="3829" y="3082"/>
                    </a:lnTo>
                    <a:cubicBezTo>
                      <a:pt x="3916" y="3130"/>
                      <a:pt x="4010" y="3153"/>
                      <a:pt x="4102" y="3153"/>
                    </a:cubicBezTo>
                    <a:cubicBezTo>
                      <a:pt x="4304" y="3153"/>
                      <a:pt x="4499" y="3046"/>
                      <a:pt x="4604" y="2862"/>
                    </a:cubicBezTo>
                    <a:cubicBezTo>
                      <a:pt x="4757" y="2584"/>
                      <a:pt x="4652" y="2240"/>
                      <a:pt x="4374" y="2087"/>
                    </a:cubicBezTo>
                    <a:lnTo>
                      <a:pt x="546" y="0"/>
                    </a:lnTo>
                    <a:close/>
                  </a:path>
                </a:pathLst>
              </a:custGeom>
              <a:solidFill>
                <a:srgbClr val="47C6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81" name="Google Shape;15671;p127">
                <a:extLst>
                  <a:ext uri="{FF2B5EF4-FFF2-40B4-BE49-F238E27FC236}">
                    <a16:creationId xmlns:a16="http://schemas.microsoft.com/office/drawing/2014/main" id="{4FF69F1B-20E8-A867-5ED5-560447F7881E}"/>
                  </a:ext>
                </a:extLst>
              </p:cNvPr>
              <p:cNvSpPr/>
              <p:nvPr/>
            </p:nvSpPr>
            <p:spPr>
              <a:xfrm>
                <a:off x="2852667" y="2204620"/>
                <a:ext cx="65099" cy="35845"/>
              </a:xfrm>
              <a:custGeom>
                <a:avLst/>
                <a:gdLst/>
                <a:ahLst/>
                <a:cxnLst/>
                <a:rect l="l" t="t" r="r" b="b"/>
                <a:pathLst>
                  <a:path w="2479" h="1365" extrusionOk="0">
                    <a:moveTo>
                      <a:pt x="220" y="1"/>
                    </a:moveTo>
                    <a:lnTo>
                      <a:pt x="0" y="384"/>
                    </a:lnTo>
                    <a:lnTo>
                      <a:pt x="1666" y="1293"/>
                    </a:lnTo>
                    <a:cubicBezTo>
                      <a:pt x="1752" y="1342"/>
                      <a:pt x="1845" y="1364"/>
                      <a:pt x="1937" y="1364"/>
                    </a:cubicBezTo>
                    <a:cubicBezTo>
                      <a:pt x="2171" y="1364"/>
                      <a:pt x="2397" y="1218"/>
                      <a:pt x="2479" y="977"/>
                    </a:cubicBezTo>
                    <a:lnTo>
                      <a:pt x="2479" y="977"/>
                    </a:lnTo>
                    <a:cubicBezTo>
                      <a:pt x="2405" y="1012"/>
                      <a:pt x="2325" y="1029"/>
                      <a:pt x="2245" y="1029"/>
                    </a:cubicBezTo>
                    <a:cubicBezTo>
                      <a:pt x="2150" y="1029"/>
                      <a:pt x="2055" y="1005"/>
                      <a:pt x="1972" y="958"/>
                    </a:cubicBezTo>
                    <a:lnTo>
                      <a:pt x="220" y="1"/>
                    </a:lnTo>
                    <a:close/>
                  </a:path>
                </a:pathLst>
              </a:custGeom>
              <a:solidFill>
                <a:srgbClr val="CE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82" name="Google Shape;15672;p127">
                <a:extLst>
                  <a:ext uri="{FF2B5EF4-FFF2-40B4-BE49-F238E27FC236}">
                    <a16:creationId xmlns:a16="http://schemas.microsoft.com/office/drawing/2014/main" id="{E3D16177-CEC4-4B18-1ABE-DB565EAEBF15}"/>
                  </a:ext>
                </a:extLst>
              </p:cNvPr>
              <p:cNvSpPr/>
              <p:nvPr/>
            </p:nvSpPr>
            <p:spPr>
              <a:xfrm>
                <a:off x="2772732" y="2178990"/>
                <a:ext cx="124945" cy="83060"/>
              </a:xfrm>
              <a:custGeom>
                <a:avLst/>
                <a:gdLst/>
                <a:ahLst/>
                <a:cxnLst/>
                <a:rect l="l" t="t" r="r" b="b"/>
                <a:pathLst>
                  <a:path w="4758" h="3163" extrusionOk="0">
                    <a:moveTo>
                      <a:pt x="546" y="1"/>
                    </a:moveTo>
                    <a:lnTo>
                      <a:pt x="1" y="1006"/>
                    </a:lnTo>
                    <a:lnTo>
                      <a:pt x="3829" y="3092"/>
                    </a:lnTo>
                    <a:cubicBezTo>
                      <a:pt x="3916" y="3140"/>
                      <a:pt x="4009" y="3163"/>
                      <a:pt x="4101" y="3163"/>
                    </a:cubicBezTo>
                    <a:cubicBezTo>
                      <a:pt x="4303" y="3163"/>
                      <a:pt x="4499" y="3053"/>
                      <a:pt x="4604" y="2862"/>
                    </a:cubicBezTo>
                    <a:cubicBezTo>
                      <a:pt x="4757" y="2585"/>
                      <a:pt x="4652" y="2240"/>
                      <a:pt x="4375" y="2097"/>
                    </a:cubicBezTo>
                    <a:lnTo>
                      <a:pt x="546" y="1"/>
                    </a:lnTo>
                    <a:close/>
                  </a:path>
                </a:pathLst>
              </a:custGeom>
              <a:solidFill>
                <a:srgbClr val="47C6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83" name="Google Shape;15673;p127">
                <a:extLst>
                  <a:ext uri="{FF2B5EF4-FFF2-40B4-BE49-F238E27FC236}">
                    <a16:creationId xmlns:a16="http://schemas.microsoft.com/office/drawing/2014/main" id="{F9352132-E250-D760-D81A-9681E80809D0}"/>
                  </a:ext>
                </a:extLst>
              </p:cNvPr>
              <p:cNvSpPr/>
              <p:nvPr/>
            </p:nvSpPr>
            <p:spPr>
              <a:xfrm>
                <a:off x="2837594" y="2231011"/>
                <a:ext cx="56800" cy="31013"/>
              </a:xfrm>
              <a:custGeom>
                <a:avLst/>
                <a:gdLst/>
                <a:ahLst/>
                <a:cxnLst/>
                <a:rect l="l" t="t" r="r" b="b"/>
                <a:pathLst>
                  <a:path w="2163" h="1181" extrusionOk="0">
                    <a:moveTo>
                      <a:pt x="211" y="1"/>
                    </a:moveTo>
                    <a:lnTo>
                      <a:pt x="0" y="365"/>
                    </a:lnTo>
                    <a:lnTo>
                      <a:pt x="1359" y="1111"/>
                    </a:lnTo>
                    <a:cubicBezTo>
                      <a:pt x="1445" y="1158"/>
                      <a:pt x="1539" y="1181"/>
                      <a:pt x="1631" y="1181"/>
                    </a:cubicBezTo>
                    <a:cubicBezTo>
                      <a:pt x="1856" y="1181"/>
                      <a:pt x="2075" y="1048"/>
                      <a:pt x="2163" y="824"/>
                    </a:cubicBezTo>
                    <a:lnTo>
                      <a:pt x="2163" y="824"/>
                    </a:lnTo>
                    <a:cubicBezTo>
                      <a:pt x="2092" y="853"/>
                      <a:pt x="2019" y="868"/>
                      <a:pt x="1946" y="868"/>
                    </a:cubicBezTo>
                    <a:cubicBezTo>
                      <a:pt x="1853" y="868"/>
                      <a:pt x="1761" y="844"/>
                      <a:pt x="1675" y="795"/>
                    </a:cubicBezTo>
                    <a:lnTo>
                      <a:pt x="211" y="1"/>
                    </a:lnTo>
                    <a:close/>
                  </a:path>
                </a:pathLst>
              </a:custGeom>
              <a:solidFill>
                <a:srgbClr val="CE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84" name="Google Shape;15674;p127">
                <a:extLst>
                  <a:ext uri="{FF2B5EF4-FFF2-40B4-BE49-F238E27FC236}">
                    <a16:creationId xmlns:a16="http://schemas.microsoft.com/office/drawing/2014/main" id="{6FCBDA70-11D0-C8A1-E492-D4B45D9A4C0B}"/>
                  </a:ext>
                </a:extLst>
              </p:cNvPr>
              <p:cNvSpPr/>
              <p:nvPr/>
            </p:nvSpPr>
            <p:spPr>
              <a:xfrm>
                <a:off x="2749623" y="2200602"/>
                <a:ext cx="124919" cy="82955"/>
              </a:xfrm>
              <a:custGeom>
                <a:avLst/>
                <a:gdLst/>
                <a:ahLst/>
                <a:cxnLst/>
                <a:rect l="l" t="t" r="r" b="b"/>
                <a:pathLst>
                  <a:path w="4757" h="3159" extrusionOk="0">
                    <a:moveTo>
                      <a:pt x="546" y="1"/>
                    </a:moveTo>
                    <a:lnTo>
                      <a:pt x="0" y="996"/>
                    </a:lnTo>
                    <a:lnTo>
                      <a:pt x="3829" y="3092"/>
                    </a:lnTo>
                    <a:cubicBezTo>
                      <a:pt x="3915" y="3137"/>
                      <a:pt x="4008" y="3158"/>
                      <a:pt x="4100" y="3158"/>
                    </a:cubicBezTo>
                    <a:cubicBezTo>
                      <a:pt x="4302" y="3158"/>
                      <a:pt x="4498" y="3053"/>
                      <a:pt x="4604" y="2862"/>
                    </a:cubicBezTo>
                    <a:cubicBezTo>
                      <a:pt x="4757" y="2585"/>
                      <a:pt x="4652" y="2240"/>
                      <a:pt x="4374" y="2087"/>
                    </a:cubicBezTo>
                    <a:lnTo>
                      <a:pt x="546" y="1"/>
                    </a:lnTo>
                    <a:close/>
                  </a:path>
                </a:pathLst>
              </a:custGeom>
              <a:solidFill>
                <a:srgbClr val="47C6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85" name="Google Shape;15675;p127">
                <a:extLst>
                  <a:ext uri="{FF2B5EF4-FFF2-40B4-BE49-F238E27FC236}">
                    <a16:creationId xmlns:a16="http://schemas.microsoft.com/office/drawing/2014/main" id="{044B3605-273E-61DF-AA78-7B0993EB5DAB}"/>
                  </a:ext>
                </a:extLst>
              </p:cNvPr>
              <p:cNvSpPr/>
              <p:nvPr/>
            </p:nvSpPr>
            <p:spPr>
              <a:xfrm>
                <a:off x="2822495" y="2255906"/>
                <a:ext cx="49054" cy="27494"/>
              </a:xfrm>
              <a:custGeom>
                <a:avLst/>
                <a:gdLst/>
                <a:ahLst/>
                <a:cxnLst/>
                <a:rect l="l" t="t" r="r" b="b"/>
                <a:pathLst>
                  <a:path w="1868" h="1047" extrusionOk="0">
                    <a:moveTo>
                      <a:pt x="240" y="0"/>
                    </a:moveTo>
                    <a:lnTo>
                      <a:pt x="1" y="402"/>
                    </a:lnTo>
                    <a:lnTo>
                      <a:pt x="1054" y="976"/>
                    </a:lnTo>
                    <a:cubicBezTo>
                      <a:pt x="1140" y="1024"/>
                      <a:pt x="1234" y="1047"/>
                      <a:pt x="1326" y="1047"/>
                    </a:cubicBezTo>
                    <a:cubicBezTo>
                      <a:pt x="1528" y="1047"/>
                      <a:pt x="1724" y="938"/>
                      <a:pt x="1829" y="747"/>
                    </a:cubicBezTo>
                    <a:cubicBezTo>
                      <a:pt x="1848" y="728"/>
                      <a:pt x="1857" y="699"/>
                      <a:pt x="1867" y="670"/>
                    </a:cubicBezTo>
                    <a:lnTo>
                      <a:pt x="1867" y="670"/>
                    </a:lnTo>
                    <a:cubicBezTo>
                      <a:pt x="1801" y="695"/>
                      <a:pt x="1732" y="707"/>
                      <a:pt x="1663" y="707"/>
                    </a:cubicBezTo>
                    <a:cubicBezTo>
                      <a:pt x="1572" y="707"/>
                      <a:pt x="1480" y="685"/>
                      <a:pt x="1398" y="642"/>
                    </a:cubicBezTo>
                    <a:lnTo>
                      <a:pt x="240" y="0"/>
                    </a:lnTo>
                    <a:close/>
                  </a:path>
                </a:pathLst>
              </a:custGeom>
              <a:solidFill>
                <a:srgbClr val="CE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86" name="Google Shape;15676;p127">
                <a:extLst>
                  <a:ext uri="{FF2B5EF4-FFF2-40B4-BE49-F238E27FC236}">
                    <a16:creationId xmlns:a16="http://schemas.microsoft.com/office/drawing/2014/main" id="{7604E196-F90C-EF23-1D9C-A37956E0EB2F}"/>
                  </a:ext>
                </a:extLst>
              </p:cNvPr>
              <p:cNvSpPr/>
              <p:nvPr/>
            </p:nvSpPr>
            <p:spPr>
              <a:xfrm>
                <a:off x="2673968" y="2097059"/>
                <a:ext cx="159109" cy="144036"/>
              </a:xfrm>
              <a:custGeom>
                <a:avLst/>
                <a:gdLst/>
                <a:ahLst/>
                <a:cxnLst/>
                <a:rect l="l" t="t" r="r" b="b"/>
                <a:pathLst>
                  <a:path w="6059" h="5485" extrusionOk="0">
                    <a:moveTo>
                      <a:pt x="1896" y="1"/>
                    </a:moveTo>
                    <a:lnTo>
                      <a:pt x="1" y="3418"/>
                    </a:lnTo>
                    <a:lnTo>
                      <a:pt x="3877" y="5485"/>
                    </a:lnTo>
                    <a:lnTo>
                      <a:pt x="6059" y="1484"/>
                    </a:lnTo>
                    <a:lnTo>
                      <a:pt x="4145" y="680"/>
                    </a:lnTo>
                    <a:cubicBezTo>
                      <a:pt x="4106" y="661"/>
                      <a:pt x="4078" y="661"/>
                      <a:pt x="4039" y="661"/>
                    </a:cubicBezTo>
                    <a:lnTo>
                      <a:pt x="3274" y="757"/>
                    </a:lnTo>
                    <a:cubicBezTo>
                      <a:pt x="3226" y="757"/>
                      <a:pt x="3188" y="747"/>
                      <a:pt x="3149" y="728"/>
                    </a:cubicBezTo>
                    <a:lnTo>
                      <a:pt x="1896" y="1"/>
                    </a:lnTo>
                    <a:close/>
                  </a:path>
                </a:pathLst>
              </a:custGeom>
              <a:solidFill>
                <a:srgbClr val="47C6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87" name="Google Shape;15677;p127">
                <a:extLst>
                  <a:ext uri="{FF2B5EF4-FFF2-40B4-BE49-F238E27FC236}">
                    <a16:creationId xmlns:a16="http://schemas.microsoft.com/office/drawing/2014/main" id="{A247A794-2565-6D7A-F68A-38499097B651}"/>
                  </a:ext>
                </a:extLst>
              </p:cNvPr>
              <p:cNvSpPr/>
              <p:nvPr/>
            </p:nvSpPr>
            <p:spPr>
              <a:xfrm>
                <a:off x="2659157" y="2039261"/>
                <a:ext cx="98528" cy="170191"/>
              </a:xfrm>
              <a:custGeom>
                <a:avLst/>
                <a:gdLst/>
                <a:ahLst/>
                <a:cxnLst/>
                <a:rect l="l" t="t" r="r" b="b"/>
                <a:pathLst>
                  <a:path w="3752" h="6481" extrusionOk="0">
                    <a:moveTo>
                      <a:pt x="0" y="1"/>
                    </a:moveTo>
                    <a:lnTo>
                      <a:pt x="0" y="5810"/>
                    </a:lnTo>
                    <a:lnTo>
                      <a:pt x="1101" y="6451"/>
                    </a:lnTo>
                    <a:cubicBezTo>
                      <a:pt x="1133" y="6471"/>
                      <a:pt x="1170" y="6480"/>
                      <a:pt x="1207" y="6480"/>
                    </a:cubicBezTo>
                    <a:cubicBezTo>
                      <a:pt x="1279" y="6480"/>
                      <a:pt x="1350" y="6444"/>
                      <a:pt x="1388" y="6375"/>
                    </a:cubicBezTo>
                    <a:lnTo>
                      <a:pt x="3694" y="2384"/>
                    </a:lnTo>
                    <a:cubicBezTo>
                      <a:pt x="3752" y="2288"/>
                      <a:pt x="3713" y="2154"/>
                      <a:pt x="3618" y="2097"/>
                    </a:cubicBezTo>
                    <a:lnTo>
                      <a:pt x="0" y="1"/>
                    </a:lnTo>
                    <a:close/>
                  </a:path>
                </a:pathLst>
              </a:custGeom>
              <a:solidFill>
                <a:srgbClr val="F4F6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88" name="Google Shape;15678;p127">
                <a:extLst>
                  <a:ext uri="{FF2B5EF4-FFF2-40B4-BE49-F238E27FC236}">
                    <a16:creationId xmlns:a16="http://schemas.microsoft.com/office/drawing/2014/main" id="{D5AA0FEC-4529-9A74-130A-351ABB3FEC4D}"/>
                  </a:ext>
                </a:extLst>
              </p:cNvPr>
              <p:cNvSpPr/>
              <p:nvPr/>
            </p:nvSpPr>
            <p:spPr>
              <a:xfrm>
                <a:off x="2659157" y="2039261"/>
                <a:ext cx="75918" cy="159109"/>
              </a:xfrm>
              <a:custGeom>
                <a:avLst/>
                <a:gdLst/>
                <a:ahLst/>
                <a:cxnLst/>
                <a:rect l="l" t="t" r="r" b="b"/>
                <a:pathLst>
                  <a:path w="2891" h="6059" extrusionOk="0">
                    <a:moveTo>
                      <a:pt x="0" y="1"/>
                    </a:moveTo>
                    <a:lnTo>
                      <a:pt x="0" y="5810"/>
                    </a:lnTo>
                    <a:lnTo>
                      <a:pt x="431" y="6059"/>
                    </a:lnTo>
                    <a:lnTo>
                      <a:pt x="2890" y="1676"/>
                    </a:lnTo>
                    <a:lnTo>
                      <a:pt x="0" y="1"/>
                    </a:lnTo>
                    <a:close/>
                  </a:path>
                </a:pathLst>
              </a:custGeom>
              <a:solidFill>
                <a:srgbClr val="058D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89" name="Google Shape;15679;p127">
                <a:extLst>
                  <a:ext uri="{FF2B5EF4-FFF2-40B4-BE49-F238E27FC236}">
                    <a16:creationId xmlns:a16="http://schemas.microsoft.com/office/drawing/2014/main" id="{09A7315D-B4FA-6E43-49D2-EE830272AF82}"/>
                  </a:ext>
                </a:extLst>
              </p:cNvPr>
              <p:cNvSpPr/>
              <p:nvPr/>
            </p:nvSpPr>
            <p:spPr>
              <a:xfrm>
                <a:off x="2659157" y="2159138"/>
                <a:ext cx="47268" cy="50314"/>
              </a:xfrm>
              <a:custGeom>
                <a:avLst/>
                <a:gdLst/>
                <a:ahLst/>
                <a:cxnLst/>
                <a:rect l="l" t="t" r="r" b="b"/>
                <a:pathLst>
                  <a:path w="1800" h="1916" extrusionOk="0">
                    <a:moveTo>
                      <a:pt x="0" y="1"/>
                    </a:moveTo>
                    <a:lnTo>
                      <a:pt x="0" y="1245"/>
                    </a:lnTo>
                    <a:lnTo>
                      <a:pt x="1101" y="1886"/>
                    </a:lnTo>
                    <a:cubicBezTo>
                      <a:pt x="1133" y="1906"/>
                      <a:pt x="1170" y="1915"/>
                      <a:pt x="1207" y="1915"/>
                    </a:cubicBezTo>
                    <a:cubicBezTo>
                      <a:pt x="1279" y="1915"/>
                      <a:pt x="1350" y="1879"/>
                      <a:pt x="1388" y="1810"/>
                    </a:cubicBezTo>
                    <a:lnTo>
                      <a:pt x="1799" y="1092"/>
                    </a:lnTo>
                    <a:lnTo>
                      <a:pt x="0" y="1"/>
                    </a:lnTo>
                    <a:close/>
                  </a:path>
                </a:pathLst>
              </a:custGeom>
              <a:solidFill>
                <a:srgbClr val="E8ED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90" name="Google Shape;15680;p127">
                <a:extLst>
                  <a:ext uri="{FF2B5EF4-FFF2-40B4-BE49-F238E27FC236}">
                    <a16:creationId xmlns:a16="http://schemas.microsoft.com/office/drawing/2014/main" id="{373F00D7-CBE0-1BDB-535B-DD412AA79FC0}"/>
                  </a:ext>
                </a:extLst>
              </p:cNvPr>
              <p:cNvSpPr/>
              <p:nvPr/>
            </p:nvSpPr>
            <p:spPr>
              <a:xfrm>
                <a:off x="2659157" y="2159138"/>
                <a:ext cx="24894" cy="39232"/>
              </a:xfrm>
              <a:custGeom>
                <a:avLst/>
                <a:gdLst/>
                <a:ahLst/>
                <a:cxnLst/>
                <a:rect l="l" t="t" r="r" b="b"/>
                <a:pathLst>
                  <a:path w="948" h="1494" extrusionOk="0">
                    <a:moveTo>
                      <a:pt x="0" y="1"/>
                    </a:moveTo>
                    <a:lnTo>
                      <a:pt x="0" y="1245"/>
                    </a:lnTo>
                    <a:lnTo>
                      <a:pt x="431" y="1494"/>
                    </a:lnTo>
                    <a:lnTo>
                      <a:pt x="948" y="575"/>
                    </a:lnTo>
                    <a:lnTo>
                      <a:pt x="0" y="1"/>
                    </a:lnTo>
                    <a:close/>
                  </a:path>
                </a:pathLst>
              </a:custGeom>
              <a:solidFill>
                <a:srgbClr val="465C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91" name="Google Shape;15681;p127">
                <a:extLst>
                  <a:ext uri="{FF2B5EF4-FFF2-40B4-BE49-F238E27FC236}">
                    <a16:creationId xmlns:a16="http://schemas.microsoft.com/office/drawing/2014/main" id="{19F397E7-9CD7-C28B-2DC5-421B4CEC7918}"/>
                  </a:ext>
                </a:extLst>
              </p:cNvPr>
              <p:cNvSpPr/>
              <p:nvPr/>
            </p:nvSpPr>
            <p:spPr>
              <a:xfrm>
                <a:off x="2706898" y="2179463"/>
                <a:ext cx="67121" cy="53859"/>
              </a:xfrm>
              <a:custGeom>
                <a:avLst/>
                <a:gdLst/>
                <a:ahLst/>
                <a:cxnLst/>
                <a:rect l="l" t="t" r="r" b="b"/>
                <a:pathLst>
                  <a:path w="2556" h="2051" extrusionOk="0">
                    <a:moveTo>
                      <a:pt x="1902" y="1"/>
                    </a:moveTo>
                    <a:cubicBezTo>
                      <a:pt x="1788" y="1"/>
                      <a:pt x="1672" y="35"/>
                      <a:pt x="1570" y="107"/>
                    </a:cubicBezTo>
                    <a:lnTo>
                      <a:pt x="316" y="1016"/>
                    </a:lnTo>
                    <a:cubicBezTo>
                      <a:pt x="58" y="1198"/>
                      <a:pt x="1" y="1562"/>
                      <a:pt x="192" y="1811"/>
                    </a:cubicBezTo>
                    <a:cubicBezTo>
                      <a:pt x="302" y="1968"/>
                      <a:pt x="477" y="2051"/>
                      <a:pt x="654" y="2051"/>
                    </a:cubicBezTo>
                    <a:cubicBezTo>
                      <a:pt x="769" y="2051"/>
                      <a:pt x="885" y="2016"/>
                      <a:pt x="986" y="1945"/>
                    </a:cubicBezTo>
                    <a:lnTo>
                      <a:pt x="2240" y="1045"/>
                    </a:lnTo>
                    <a:cubicBezTo>
                      <a:pt x="2508" y="854"/>
                      <a:pt x="2556" y="490"/>
                      <a:pt x="2364" y="232"/>
                    </a:cubicBezTo>
                    <a:cubicBezTo>
                      <a:pt x="2249" y="81"/>
                      <a:pt x="2077" y="1"/>
                      <a:pt x="1902" y="1"/>
                    </a:cubicBezTo>
                    <a:close/>
                  </a:path>
                </a:pathLst>
              </a:custGeom>
              <a:solidFill>
                <a:srgbClr val="CE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92" name="Google Shape;15682;p127">
                <a:extLst>
                  <a:ext uri="{FF2B5EF4-FFF2-40B4-BE49-F238E27FC236}">
                    <a16:creationId xmlns:a16="http://schemas.microsoft.com/office/drawing/2014/main" id="{C80CD14C-38F9-CE10-99EB-6ACFEF0A401B}"/>
                  </a:ext>
                </a:extLst>
              </p:cNvPr>
              <p:cNvSpPr/>
              <p:nvPr/>
            </p:nvSpPr>
            <p:spPr>
              <a:xfrm>
                <a:off x="2710154" y="2180513"/>
                <a:ext cx="63864" cy="52914"/>
              </a:xfrm>
              <a:custGeom>
                <a:avLst/>
                <a:gdLst/>
                <a:ahLst/>
                <a:cxnLst/>
                <a:rect l="l" t="t" r="r" b="b"/>
                <a:pathLst>
                  <a:path w="2432" h="2015" extrusionOk="0">
                    <a:moveTo>
                      <a:pt x="2001" y="0"/>
                    </a:moveTo>
                    <a:lnTo>
                      <a:pt x="2001" y="0"/>
                    </a:lnTo>
                    <a:cubicBezTo>
                      <a:pt x="2097" y="249"/>
                      <a:pt x="2011" y="527"/>
                      <a:pt x="1800" y="680"/>
                    </a:cubicBezTo>
                    <a:lnTo>
                      <a:pt x="546" y="1589"/>
                    </a:lnTo>
                    <a:cubicBezTo>
                      <a:pt x="445" y="1661"/>
                      <a:pt x="329" y="1699"/>
                      <a:pt x="211" y="1699"/>
                    </a:cubicBezTo>
                    <a:cubicBezTo>
                      <a:pt x="141" y="1699"/>
                      <a:pt x="69" y="1685"/>
                      <a:pt x="1" y="1656"/>
                    </a:cubicBezTo>
                    <a:lnTo>
                      <a:pt x="1" y="1656"/>
                    </a:lnTo>
                    <a:cubicBezTo>
                      <a:pt x="89" y="1883"/>
                      <a:pt x="303" y="2015"/>
                      <a:pt x="525" y="2015"/>
                    </a:cubicBezTo>
                    <a:cubicBezTo>
                      <a:pt x="640" y="2015"/>
                      <a:pt x="758" y="1980"/>
                      <a:pt x="862" y="1905"/>
                    </a:cubicBezTo>
                    <a:lnTo>
                      <a:pt x="2116" y="1005"/>
                    </a:lnTo>
                    <a:cubicBezTo>
                      <a:pt x="2384" y="814"/>
                      <a:pt x="2432" y="440"/>
                      <a:pt x="2240" y="192"/>
                    </a:cubicBezTo>
                    <a:cubicBezTo>
                      <a:pt x="2173" y="106"/>
                      <a:pt x="2097" y="39"/>
                      <a:pt x="2001" y="0"/>
                    </a:cubicBezTo>
                    <a:close/>
                  </a:path>
                </a:pathLst>
              </a:custGeom>
              <a:solidFill>
                <a:srgbClr val="A9B4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93" name="Google Shape;15683;p127">
                <a:extLst>
                  <a:ext uri="{FF2B5EF4-FFF2-40B4-BE49-F238E27FC236}">
                    <a16:creationId xmlns:a16="http://schemas.microsoft.com/office/drawing/2014/main" id="{0380ADBA-AAD6-D92B-5023-8C28BFA8C929}"/>
                  </a:ext>
                </a:extLst>
              </p:cNvPr>
              <p:cNvSpPr/>
              <p:nvPr/>
            </p:nvSpPr>
            <p:spPr>
              <a:xfrm>
                <a:off x="2732528" y="2203254"/>
                <a:ext cx="59847" cy="48528"/>
              </a:xfrm>
              <a:custGeom>
                <a:avLst/>
                <a:gdLst/>
                <a:ahLst/>
                <a:cxnLst/>
                <a:rect l="l" t="t" r="r" b="b"/>
                <a:pathLst>
                  <a:path w="2279" h="1848" extrusionOk="0">
                    <a:moveTo>
                      <a:pt x="1629" y="1"/>
                    </a:moveTo>
                    <a:cubicBezTo>
                      <a:pt x="1512" y="1"/>
                      <a:pt x="1394" y="37"/>
                      <a:pt x="1293" y="110"/>
                    </a:cubicBezTo>
                    <a:lnTo>
                      <a:pt x="326" y="809"/>
                    </a:lnTo>
                    <a:cubicBezTo>
                      <a:pt x="68" y="1000"/>
                      <a:pt x="1" y="1364"/>
                      <a:pt x="192" y="1623"/>
                    </a:cubicBezTo>
                    <a:cubicBezTo>
                      <a:pt x="306" y="1770"/>
                      <a:pt x="473" y="1847"/>
                      <a:pt x="643" y="1847"/>
                    </a:cubicBezTo>
                    <a:cubicBezTo>
                      <a:pt x="759" y="1847"/>
                      <a:pt x="876" y="1811"/>
                      <a:pt x="977" y="1737"/>
                    </a:cubicBezTo>
                    <a:lnTo>
                      <a:pt x="1963" y="1039"/>
                    </a:lnTo>
                    <a:cubicBezTo>
                      <a:pt x="2221" y="847"/>
                      <a:pt x="2278" y="484"/>
                      <a:pt x="2077" y="225"/>
                    </a:cubicBezTo>
                    <a:cubicBezTo>
                      <a:pt x="1969" y="77"/>
                      <a:pt x="1801" y="1"/>
                      <a:pt x="1629" y="1"/>
                    </a:cubicBezTo>
                    <a:close/>
                  </a:path>
                </a:pathLst>
              </a:custGeom>
              <a:solidFill>
                <a:srgbClr val="CE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94" name="Google Shape;15684;p127">
                <a:extLst>
                  <a:ext uri="{FF2B5EF4-FFF2-40B4-BE49-F238E27FC236}">
                    <a16:creationId xmlns:a16="http://schemas.microsoft.com/office/drawing/2014/main" id="{87CF96C1-886C-8D9F-E056-4F24F57F8585}"/>
                  </a:ext>
                </a:extLst>
              </p:cNvPr>
              <p:cNvSpPr/>
              <p:nvPr/>
            </p:nvSpPr>
            <p:spPr>
              <a:xfrm>
                <a:off x="2735810" y="2204384"/>
                <a:ext cx="56564" cy="47399"/>
              </a:xfrm>
              <a:custGeom>
                <a:avLst/>
                <a:gdLst/>
                <a:ahLst/>
                <a:cxnLst/>
                <a:rect l="l" t="t" r="r" b="b"/>
                <a:pathLst>
                  <a:path w="2154" h="1805" extrusionOk="0">
                    <a:moveTo>
                      <a:pt x="1713" y="0"/>
                    </a:moveTo>
                    <a:lnTo>
                      <a:pt x="1713" y="0"/>
                    </a:lnTo>
                    <a:cubicBezTo>
                      <a:pt x="1809" y="240"/>
                      <a:pt x="1732" y="517"/>
                      <a:pt x="1522" y="670"/>
                    </a:cubicBezTo>
                    <a:lnTo>
                      <a:pt x="546" y="1379"/>
                    </a:lnTo>
                    <a:cubicBezTo>
                      <a:pt x="444" y="1450"/>
                      <a:pt x="328" y="1488"/>
                      <a:pt x="211" y="1488"/>
                    </a:cubicBezTo>
                    <a:cubicBezTo>
                      <a:pt x="140" y="1488"/>
                      <a:pt x="69" y="1474"/>
                      <a:pt x="0" y="1446"/>
                    </a:cubicBezTo>
                    <a:lnTo>
                      <a:pt x="0" y="1446"/>
                    </a:lnTo>
                    <a:cubicBezTo>
                      <a:pt x="19" y="1493"/>
                      <a:pt x="38" y="1541"/>
                      <a:pt x="67" y="1580"/>
                    </a:cubicBezTo>
                    <a:cubicBezTo>
                      <a:pt x="181" y="1727"/>
                      <a:pt x="348" y="1804"/>
                      <a:pt x="520" y="1804"/>
                    </a:cubicBezTo>
                    <a:cubicBezTo>
                      <a:pt x="637" y="1804"/>
                      <a:pt x="756" y="1768"/>
                      <a:pt x="861" y="1694"/>
                    </a:cubicBezTo>
                    <a:lnTo>
                      <a:pt x="1838" y="996"/>
                    </a:lnTo>
                    <a:cubicBezTo>
                      <a:pt x="2096" y="804"/>
                      <a:pt x="2153" y="441"/>
                      <a:pt x="1952" y="182"/>
                    </a:cubicBezTo>
                    <a:cubicBezTo>
                      <a:pt x="1895" y="106"/>
                      <a:pt x="1809" y="39"/>
                      <a:pt x="1713" y="0"/>
                    </a:cubicBezTo>
                    <a:close/>
                  </a:path>
                </a:pathLst>
              </a:custGeom>
              <a:solidFill>
                <a:srgbClr val="A9B4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95" name="Google Shape;15685;p127">
                <a:extLst>
                  <a:ext uri="{FF2B5EF4-FFF2-40B4-BE49-F238E27FC236}">
                    <a16:creationId xmlns:a16="http://schemas.microsoft.com/office/drawing/2014/main" id="{196CB1DB-235A-E718-EFA2-42CA878CD511}"/>
                  </a:ext>
                </a:extLst>
              </p:cNvPr>
              <p:cNvSpPr/>
              <p:nvPr/>
            </p:nvSpPr>
            <p:spPr>
              <a:xfrm>
                <a:off x="2758158" y="2226967"/>
                <a:ext cx="52310" cy="43303"/>
              </a:xfrm>
              <a:custGeom>
                <a:avLst/>
                <a:gdLst/>
                <a:ahLst/>
                <a:cxnLst/>
                <a:rect l="l" t="t" r="r" b="b"/>
                <a:pathLst>
                  <a:path w="1992" h="1649" extrusionOk="0">
                    <a:moveTo>
                      <a:pt x="1340" y="1"/>
                    </a:moveTo>
                    <a:cubicBezTo>
                      <a:pt x="1227" y="1"/>
                      <a:pt x="1114" y="35"/>
                      <a:pt x="1015" y="107"/>
                    </a:cubicBezTo>
                    <a:lnTo>
                      <a:pt x="317" y="614"/>
                    </a:lnTo>
                    <a:cubicBezTo>
                      <a:pt x="58" y="796"/>
                      <a:pt x="1" y="1160"/>
                      <a:pt x="183" y="1409"/>
                    </a:cubicBezTo>
                    <a:cubicBezTo>
                      <a:pt x="299" y="1566"/>
                      <a:pt x="475" y="1648"/>
                      <a:pt x="652" y="1648"/>
                    </a:cubicBezTo>
                    <a:cubicBezTo>
                      <a:pt x="766" y="1648"/>
                      <a:pt x="879" y="1614"/>
                      <a:pt x="977" y="1543"/>
                    </a:cubicBezTo>
                    <a:lnTo>
                      <a:pt x="1676" y="1035"/>
                    </a:lnTo>
                    <a:cubicBezTo>
                      <a:pt x="1944" y="844"/>
                      <a:pt x="1991" y="480"/>
                      <a:pt x="1800" y="231"/>
                    </a:cubicBezTo>
                    <a:cubicBezTo>
                      <a:pt x="1684" y="81"/>
                      <a:pt x="1513" y="1"/>
                      <a:pt x="1340" y="1"/>
                    </a:cubicBezTo>
                    <a:close/>
                  </a:path>
                </a:pathLst>
              </a:custGeom>
              <a:solidFill>
                <a:srgbClr val="CE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96" name="Google Shape;15686;p127">
                <a:extLst>
                  <a:ext uri="{FF2B5EF4-FFF2-40B4-BE49-F238E27FC236}">
                    <a16:creationId xmlns:a16="http://schemas.microsoft.com/office/drawing/2014/main" id="{452A3243-6C0B-E3C3-0C4B-565733A37B9E}"/>
                  </a:ext>
                </a:extLst>
              </p:cNvPr>
              <p:cNvSpPr/>
              <p:nvPr/>
            </p:nvSpPr>
            <p:spPr>
              <a:xfrm>
                <a:off x="2761178" y="2228018"/>
                <a:ext cx="49290" cy="42252"/>
              </a:xfrm>
              <a:custGeom>
                <a:avLst/>
                <a:gdLst/>
                <a:ahLst/>
                <a:cxnLst/>
                <a:rect l="l" t="t" r="r" b="b"/>
                <a:pathLst>
                  <a:path w="1877" h="1609" extrusionOk="0">
                    <a:moveTo>
                      <a:pt x="1417" y="0"/>
                    </a:moveTo>
                    <a:cubicBezTo>
                      <a:pt x="1503" y="230"/>
                      <a:pt x="1417" y="498"/>
                      <a:pt x="1216" y="651"/>
                    </a:cubicBezTo>
                    <a:lnTo>
                      <a:pt x="517" y="1148"/>
                    </a:lnTo>
                    <a:cubicBezTo>
                      <a:pt x="419" y="1222"/>
                      <a:pt x="305" y="1261"/>
                      <a:pt x="190" y="1261"/>
                    </a:cubicBezTo>
                    <a:cubicBezTo>
                      <a:pt x="126" y="1261"/>
                      <a:pt x="62" y="1249"/>
                      <a:pt x="1" y="1225"/>
                    </a:cubicBezTo>
                    <a:lnTo>
                      <a:pt x="1" y="1225"/>
                    </a:lnTo>
                    <a:cubicBezTo>
                      <a:pt x="20" y="1273"/>
                      <a:pt x="39" y="1321"/>
                      <a:pt x="68" y="1369"/>
                    </a:cubicBezTo>
                    <a:cubicBezTo>
                      <a:pt x="184" y="1526"/>
                      <a:pt x="360" y="1608"/>
                      <a:pt x="539" y="1608"/>
                    </a:cubicBezTo>
                    <a:cubicBezTo>
                      <a:pt x="654" y="1608"/>
                      <a:pt x="770" y="1574"/>
                      <a:pt x="872" y="1503"/>
                    </a:cubicBezTo>
                    <a:lnTo>
                      <a:pt x="1561" y="995"/>
                    </a:lnTo>
                    <a:cubicBezTo>
                      <a:pt x="1829" y="804"/>
                      <a:pt x="1876" y="440"/>
                      <a:pt x="1685" y="182"/>
                    </a:cubicBezTo>
                    <a:cubicBezTo>
                      <a:pt x="1618" y="96"/>
                      <a:pt x="1522" y="29"/>
                      <a:pt x="1417" y="0"/>
                    </a:cubicBezTo>
                    <a:close/>
                  </a:path>
                </a:pathLst>
              </a:custGeom>
              <a:solidFill>
                <a:srgbClr val="A9B4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97" name="Google Shape;15687;p127">
                <a:extLst>
                  <a:ext uri="{FF2B5EF4-FFF2-40B4-BE49-F238E27FC236}">
                    <a16:creationId xmlns:a16="http://schemas.microsoft.com/office/drawing/2014/main" id="{CE4CCEF8-9B4F-123E-63BF-23BAADEDADC4}"/>
                  </a:ext>
                </a:extLst>
              </p:cNvPr>
              <p:cNvSpPr/>
              <p:nvPr/>
            </p:nvSpPr>
            <p:spPr>
              <a:xfrm>
                <a:off x="2783814" y="2250706"/>
                <a:ext cx="45010" cy="37919"/>
              </a:xfrm>
              <a:custGeom>
                <a:avLst/>
                <a:gdLst/>
                <a:ahLst/>
                <a:cxnLst/>
                <a:rect l="l" t="t" r="r" b="b"/>
                <a:pathLst>
                  <a:path w="1714" h="1444" extrusionOk="0">
                    <a:moveTo>
                      <a:pt x="1057" y="0"/>
                    </a:moveTo>
                    <a:cubicBezTo>
                      <a:pt x="942" y="0"/>
                      <a:pt x="826" y="34"/>
                      <a:pt x="727" y="103"/>
                    </a:cubicBezTo>
                    <a:lnTo>
                      <a:pt x="316" y="409"/>
                    </a:lnTo>
                    <a:cubicBezTo>
                      <a:pt x="57" y="600"/>
                      <a:pt x="0" y="954"/>
                      <a:pt x="182" y="1203"/>
                    </a:cubicBezTo>
                    <a:cubicBezTo>
                      <a:pt x="298" y="1360"/>
                      <a:pt x="475" y="1443"/>
                      <a:pt x="651" y="1443"/>
                    </a:cubicBezTo>
                    <a:cubicBezTo>
                      <a:pt x="765" y="1443"/>
                      <a:pt x="879" y="1409"/>
                      <a:pt x="976" y="1337"/>
                    </a:cubicBezTo>
                    <a:lnTo>
                      <a:pt x="1397" y="1031"/>
                    </a:lnTo>
                    <a:cubicBezTo>
                      <a:pt x="1656" y="849"/>
                      <a:pt x="1713" y="485"/>
                      <a:pt x="1512" y="227"/>
                    </a:cubicBezTo>
                    <a:cubicBezTo>
                      <a:pt x="1403" y="77"/>
                      <a:pt x="1231" y="0"/>
                      <a:pt x="1057" y="0"/>
                    </a:cubicBezTo>
                    <a:close/>
                  </a:path>
                </a:pathLst>
              </a:custGeom>
              <a:solidFill>
                <a:srgbClr val="CE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98" name="Google Shape;15688;p127">
                <a:extLst>
                  <a:ext uri="{FF2B5EF4-FFF2-40B4-BE49-F238E27FC236}">
                    <a16:creationId xmlns:a16="http://schemas.microsoft.com/office/drawing/2014/main" id="{007B8EC6-FE2B-8B85-B822-269B2AF0A52C}"/>
                  </a:ext>
                </a:extLst>
              </p:cNvPr>
              <p:cNvSpPr/>
              <p:nvPr/>
            </p:nvSpPr>
            <p:spPr>
              <a:xfrm>
                <a:off x="2786807" y="2251888"/>
                <a:ext cx="42016" cy="36764"/>
              </a:xfrm>
              <a:custGeom>
                <a:avLst/>
                <a:gdLst/>
                <a:ahLst/>
                <a:cxnLst/>
                <a:rect l="l" t="t" r="r" b="b"/>
                <a:pathLst>
                  <a:path w="1600" h="1400" extrusionOk="0">
                    <a:moveTo>
                      <a:pt x="1149" y="0"/>
                    </a:moveTo>
                    <a:lnTo>
                      <a:pt x="1149" y="0"/>
                    </a:lnTo>
                    <a:cubicBezTo>
                      <a:pt x="1245" y="239"/>
                      <a:pt x="1168" y="517"/>
                      <a:pt x="958" y="661"/>
                    </a:cubicBezTo>
                    <a:lnTo>
                      <a:pt x="537" y="967"/>
                    </a:lnTo>
                    <a:cubicBezTo>
                      <a:pt x="442" y="1038"/>
                      <a:pt x="329" y="1072"/>
                      <a:pt x="213" y="1072"/>
                    </a:cubicBezTo>
                    <a:cubicBezTo>
                      <a:pt x="142" y="1072"/>
                      <a:pt x="70" y="1059"/>
                      <a:pt x="1" y="1034"/>
                    </a:cubicBezTo>
                    <a:lnTo>
                      <a:pt x="1" y="1034"/>
                    </a:lnTo>
                    <a:cubicBezTo>
                      <a:pt x="90" y="1263"/>
                      <a:pt x="311" y="1400"/>
                      <a:pt x="537" y="1400"/>
                    </a:cubicBezTo>
                    <a:cubicBezTo>
                      <a:pt x="650" y="1400"/>
                      <a:pt x="763" y="1366"/>
                      <a:pt x="862" y="1292"/>
                    </a:cubicBezTo>
                    <a:lnTo>
                      <a:pt x="1283" y="986"/>
                    </a:lnTo>
                    <a:cubicBezTo>
                      <a:pt x="1542" y="804"/>
                      <a:pt x="1599" y="431"/>
                      <a:pt x="1398" y="182"/>
                    </a:cubicBezTo>
                    <a:cubicBezTo>
                      <a:pt x="1331" y="96"/>
                      <a:pt x="1255" y="38"/>
                      <a:pt x="1149" y="0"/>
                    </a:cubicBezTo>
                    <a:close/>
                  </a:path>
                </a:pathLst>
              </a:custGeom>
              <a:solidFill>
                <a:srgbClr val="A9B4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99" name="Google Shape;15689;p127">
                <a:extLst>
                  <a:ext uri="{FF2B5EF4-FFF2-40B4-BE49-F238E27FC236}">
                    <a16:creationId xmlns:a16="http://schemas.microsoft.com/office/drawing/2014/main" id="{34159C92-7DBA-46E0-1BC0-0E1C9C2DA0B2}"/>
                  </a:ext>
                </a:extLst>
              </p:cNvPr>
              <p:cNvSpPr/>
              <p:nvPr/>
            </p:nvSpPr>
            <p:spPr>
              <a:xfrm>
                <a:off x="2788829" y="2102101"/>
                <a:ext cx="64862" cy="99788"/>
              </a:xfrm>
              <a:custGeom>
                <a:avLst/>
                <a:gdLst/>
                <a:ahLst/>
                <a:cxnLst/>
                <a:rect l="l" t="t" r="r" b="b"/>
                <a:pathLst>
                  <a:path w="2470" h="3800" extrusionOk="0">
                    <a:moveTo>
                      <a:pt x="527" y="0"/>
                    </a:moveTo>
                    <a:cubicBezTo>
                      <a:pt x="441" y="0"/>
                      <a:pt x="364" y="58"/>
                      <a:pt x="345" y="144"/>
                    </a:cubicBezTo>
                    <a:lnTo>
                      <a:pt x="0" y="1522"/>
                    </a:lnTo>
                    <a:lnTo>
                      <a:pt x="0" y="3034"/>
                    </a:lnTo>
                    <a:cubicBezTo>
                      <a:pt x="0" y="3455"/>
                      <a:pt x="345" y="3800"/>
                      <a:pt x="766" y="3800"/>
                    </a:cubicBezTo>
                    <a:cubicBezTo>
                      <a:pt x="1178" y="3800"/>
                      <a:pt x="1522" y="3455"/>
                      <a:pt x="1522" y="3034"/>
                    </a:cubicBezTo>
                    <a:lnTo>
                      <a:pt x="1522" y="1895"/>
                    </a:lnTo>
                    <a:lnTo>
                      <a:pt x="2470" y="0"/>
                    </a:lnTo>
                    <a:close/>
                  </a:path>
                </a:pathLst>
              </a:custGeom>
              <a:solidFill>
                <a:srgbClr val="CE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00" name="Google Shape;15690;p127">
                <a:extLst>
                  <a:ext uri="{FF2B5EF4-FFF2-40B4-BE49-F238E27FC236}">
                    <a16:creationId xmlns:a16="http://schemas.microsoft.com/office/drawing/2014/main" id="{CF36EB05-324F-F085-A15C-EDD0EB38EF06}"/>
                  </a:ext>
                </a:extLst>
              </p:cNvPr>
              <p:cNvSpPr/>
              <p:nvPr/>
            </p:nvSpPr>
            <p:spPr>
              <a:xfrm>
                <a:off x="2788829" y="2102101"/>
                <a:ext cx="27415" cy="99788"/>
              </a:xfrm>
              <a:custGeom>
                <a:avLst/>
                <a:gdLst/>
                <a:ahLst/>
                <a:cxnLst/>
                <a:rect l="l" t="t" r="r" b="b"/>
                <a:pathLst>
                  <a:path w="1044" h="3800" extrusionOk="0">
                    <a:moveTo>
                      <a:pt x="527" y="0"/>
                    </a:moveTo>
                    <a:cubicBezTo>
                      <a:pt x="441" y="0"/>
                      <a:pt x="364" y="58"/>
                      <a:pt x="335" y="144"/>
                    </a:cubicBezTo>
                    <a:lnTo>
                      <a:pt x="0" y="1512"/>
                    </a:lnTo>
                    <a:lnTo>
                      <a:pt x="0" y="3034"/>
                    </a:lnTo>
                    <a:cubicBezTo>
                      <a:pt x="0" y="3455"/>
                      <a:pt x="335" y="3800"/>
                      <a:pt x="756" y="3800"/>
                    </a:cubicBezTo>
                    <a:cubicBezTo>
                      <a:pt x="852" y="3800"/>
                      <a:pt x="948" y="3781"/>
                      <a:pt x="1044" y="3742"/>
                    </a:cubicBezTo>
                    <a:cubicBezTo>
                      <a:pt x="756" y="3627"/>
                      <a:pt x="565" y="3350"/>
                      <a:pt x="565" y="3034"/>
                    </a:cubicBezTo>
                    <a:lnTo>
                      <a:pt x="565" y="1522"/>
                    </a:lnTo>
                    <a:lnTo>
                      <a:pt x="948" y="0"/>
                    </a:lnTo>
                    <a:close/>
                  </a:path>
                </a:pathLst>
              </a:custGeom>
              <a:solidFill>
                <a:srgbClr val="A9B4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grpSp>
      <p:grpSp>
        <p:nvGrpSpPr>
          <p:cNvPr id="101" name="Group 100">
            <a:extLst>
              <a:ext uri="{FF2B5EF4-FFF2-40B4-BE49-F238E27FC236}">
                <a16:creationId xmlns:a16="http://schemas.microsoft.com/office/drawing/2014/main" id="{2741B7D2-47DD-10E8-C4C4-B15175DDC3EC}"/>
              </a:ext>
            </a:extLst>
          </p:cNvPr>
          <p:cNvGrpSpPr/>
          <p:nvPr/>
        </p:nvGrpSpPr>
        <p:grpSpPr>
          <a:xfrm>
            <a:off x="8305627" y="3106352"/>
            <a:ext cx="572700" cy="572700"/>
            <a:chOff x="6390826" y="4149966"/>
            <a:chExt cx="572700" cy="572700"/>
          </a:xfrm>
        </p:grpSpPr>
        <p:sp>
          <p:nvSpPr>
            <p:cNvPr id="102" name="Google Shape;839;p61">
              <a:extLst>
                <a:ext uri="{FF2B5EF4-FFF2-40B4-BE49-F238E27FC236}">
                  <a16:creationId xmlns:a16="http://schemas.microsoft.com/office/drawing/2014/main" id="{4C862B7C-F6AB-81EA-D1D6-3B5591A94F07}"/>
                </a:ext>
              </a:extLst>
            </p:cNvPr>
            <p:cNvSpPr/>
            <p:nvPr/>
          </p:nvSpPr>
          <p:spPr>
            <a:xfrm>
              <a:off x="6390826" y="4149966"/>
              <a:ext cx="572700" cy="572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nvGrpSpPr>
            <p:cNvPr id="103" name="Google Shape;16591;p127">
              <a:extLst>
                <a:ext uri="{FF2B5EF4-FFF2-40B4-BE49-F238E27FC236}">
                  <a16:creationId xmlns:a16="http://schemas.microsoft.com/office/drawing/2014/main" id="{24BEDFA0-2480-05E9-E915-B0A3FDFC2B38}"/>
                </a:ext>
              </a:extLst>
            </p:cNvPr>
            <p:cNvGrpSpPr/>
            <p:nvPr/>
          </p:nvGrpSpPr>
          <p:grpSpPr>
            <a:xfrm>
              <a:off x="6514212" y="4270070"/>
              <a:ext cx="337284" cy="380192"/>
              <a:chOff x="7556043" y="1499959"/>
              <a:chExt cx="337284" cy="380192"/>
            </a:xfrm>
          </p:grpSpPr>
          <p:sp>
            <p:nvSpPr>
              <p:cNvPr id="104" name="Google Shape;16592;p127">
                <a:extLst>
                  <a:ext uri="{FF2B5EF4-FFF2-40B4-BE49-F238E27FC236}">
                    <a16:creationId xmlns:a16="http://schemas.microsoft.com/office/drawing/2014/main" id="{2407D941-05AA-21FB-F1B0-FA60B48F7A2B}"/>
                  </a:ext>
                </a:extLst>
              </p:cNvPr>
              <p:cNvSpPr/>
              <p:nvPr/>
            </p:nvSpPr>
            <p:spPr>
              <a:xfrm>
                <a:off x="7556043" y="1499959"/>
                <a:ext cx="337283" cy="380140"/>
              </a:xfrm>
              <a:custGeom>
                <a:avLst/>
                <a:gdLst/>
                <a:ahLst/>
                <a:cxnLst/>
                <a:rect l="l" t="t" r="r" b="b"/>
                <a:pathLst>
                  <a:path w="12844" h="14476" extrusionOk="0">
                    <a:moveTo>
                      <a:pt x="6423" y="0"/>
                    </a:moveTo>
                    <a:cubicBezTo>
                      <a:pt x="6386" y="0"/>
                      <a:pt x="6350" y="10"/>
                      <a:pt x="6317" y="29"/>
                    </a:cubicBezTo>
                    <a:cubicBezTo>
                      <a:pt x="6279" y="48"/>
                      <a:pt x="2948" y="2038"/>
                      <a:pt x="431" y="2038"/>
                    </a:cubicBezTo>
                    <a:cubicBezTo>
                      <a:pt x="326" y="2038"/>
                      <a:pt x="240" y="2105"/>
                      <a:pt x="221" y="2211"/>
                    </a:cubicBezTo>
                    <a:cubicBezTo>
                      <a:pt x="0" y="3933"/>
                      <a:pt x="67" y="5666"/>
                      <a:pt x="412" y="7369"/>
                    </a:cubicBezTo>
                    <a:cubicBezTo>
                      <a:pt x="747" y="8958"/>
                      <a:pt x="1331" y="10336"/>
                      <a:pt x="2154" y="11465"/>
                    </a:cubicBezTo>
                    <a:cubicBezTo>
                      <a:pt x="3197" y="12872"/>
                      <a:pt x="4604" y="13886"/>
                      <a:pt x="6355" y="14461"/>
                    </a:cubicBezTo>
                    <a:cubicBezTo>
                      <a:pt x="6379" y="14470"/>
                      <a:pt x="6403" y="14475"/>
                      <a:pt x="6426" y="14475"/>
                    </a:cubicBezTo>
                    <a:cubicBezTo>
                      <a:pt x="6448" y="14475"/>
                      <a:pt x="6470" y="14470"/>
                      <a:pt x="6489" y="14461"/>
                    </a:cubicBezTo>
                    <a:cubicBezTo>
                      <a:pt x="8240" y="13886"/>
                      <a:pt x="9657" y="12872"/>
                      <a:pt x="10690" y="11465"/>
                    </a:cubicBezTo>
                    <a:cubicBezTo>
                      <a:pt x="11514" y="10336"/>
                      <a:pt x="12097" y="8958"/>
                      <a:pt x="12432" y="7369"/>
                    </a:cubicBezTo>
                    <a:cubicBezTo>
                      <a:pt x="12777" y="5666"/>
                      <a:pt x="12844" y="3933"/>
                      <a:pt x="12624" y="2211"/>
                    </a:cubicBezTo>
                    <a:cubicBezTo>
                      <a:pt x="12605" y="2105"/>
                      <a:pt x="12518" y="2038"/>
                      <a:pt x="12413" y="2038"/>
                    </a:cubicBezTo>
                    <a:cubicBezTo>
                      <a:pt x="9896" y="2038"/>
                      <a:pt x="6566" y="48"/>
                      <a:pt x="6537" y="29"/>
                    </a:cubicBezTo>
                    <a:cubicBezTo>
                      <a:pt x="6499" y="10"/>
                      <a:pt x="6460" y="0"/>
                      <a:pt x="6423" y="0"/>
                    </a:cubicBezTo>
                    <a:close/>
                  </a:path>
                </a:pathLst>
              </a:cu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05" name="Google Shape;16593;p127">
                <a:extLst>
                  <a:ext uri="{FF2B5EF4-FFF2-40B4-BE49-F238E27FC236}">
                    <a16:creationId xmlns:a16="http://schemas.microsoft.com/office/drawing/2014/main" id="{C949DF6D-DC13-C2A8-BC11-E0A281C9EBF8}"/>
                  </a:ext>
                </a:extLst>
              </p:cNvPr>
              <p:cNvSpPr/>
              <p:nvPr/>
            </p:nvSpPr>
            <p:spPr>
              <a:xfrm>
                <a:off x="7714628" y="1552479"/>
                <a:ext cx="178699" cy="327672"/>
              </a:xfrm>
              <a:custGeom>
                <a:avLst/>
                <a:gdLst/>
                <a:ahLst/>
                <a:cxnLst/>
                <a:rect l="l" t="t" r="r" b="b"/>
                <a:pathLst>
                  <a:path w="6805" h="12478" extrusionOk="0">
                    <a:moveTo>
                      <a:pt x="5800" y="0"/>
                    </a:moveTo>
                    <a:lnTo>
                      <a:pt x="5800" y="0"/>
                    </a:lnTo>
                    <a:cubicBezTo>
                      <a:pt x="5991" y="1732"/>
                      <a:pt x="5924" y="3493"/>
                      <a:pt x="5580" y="5206"/>
                    </a:cubicBezTo>
                    <a:cubicBezTo>
                      <a:pt x="5235" y="6862"/>
                      <a:pt x="4623" y="8288"/>
                      <a:pt x="3761" y="9456"/>
                    </a:cubicBezTo>
                    <a:cubicBezTo>
                      <a:pt x="2814" y="10757"/>
                      <a:pt x="1503" y="11762"/>
                      <a:pt x="0" y="12355"/>
                    </a:cubicBezTo>
                    <a:cubicBezTo>
                      <a:pt x="106" y="12394"/>
                      <a:pt x="211" y="12432"/>
                      <a:pt x="316" y="12470"/>
                    </a:cubicBezTo>
                    <a:cubicBezTo>
                      <a:pt x="340" y="12475"/>
                      <a:pt x="362" y="12477"/>
                      <a:pt x="383" y="12477"/>
                    </a:cubicBezTo>
                    <a:cubicBezTo>
                      <a:pt x="405" y="12477"/>
                      <a:pt x="426" y="12475"/>
                      <a:pt x="450" y="12470"/>
                    </a:cubicBezTo>
                    <a:cubicBezTo>
                      <a:pt x="2201" y="11886"/>
                      <a:pt x="3618" y="10872"/>
                      <a:pt x="4651" y="9465"/>
                    </a:cubicBezTo>
                    <a:cubicBezTo>
                      <a:pt x="5475" y="8336"/>
                      <a:pt x="6058" y="6958"/>
                      <a:pt x="6393" y="5369"/>
                    </a:cubicBezTo>
                    <a:cubicBezTo>
                      <a:pt x="6738" y="3666"/>
                      <a:pt x="6805" y="1933"/>
                      <a:pt x="6585" y="211"/>
                    </a:cubicBezTo>
                    <a:cubicBezTo>
                      <a:pt x="6566" y="105"/>
                      <a:pt x="6479" y="38"/>
                      <a:pt x="6374" y="38"/>
                    </a:cubicBezTo>
                    <a:cubicBezTo>
                      <a:pt x="6183" y="29"/>
                      <a:pt x="5991" y="19"/>
                      <a:pt x="5800" y="0"/>
                    </a:cubicBezTo>
                    <a:close/>
                  </a:path>
                </a:pathLst>
              </a:cu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06" name="Google Shape;16594;p127">
                <a:extLst>
                  <a:ext uri="{FF2B5EF4-FFF2-40B4-BE49-F238E27FC236}">
                    <a16:creationId xmlns:a16="http://schemas.microsoft.com/office/drawing/2014/main" id="{A4288682-73A8-4A00-6269-93EE7D1ED37B}"/>
                  </a:ext>
                </a:extLst>
              </p:cNvPr>
              <p:cNvSpPr/>
              <p:nvPr/>
            </p:nvSpPr>
            <p:spPr>
              <a:xfrm>
                <a:off x="7588974" y="1536382"/>
                <a:ext cx="271450" cy="305824"/>
              </a:xfrm>
              <a:custGeom>
                <a:avLst/>
                <a:gdLst/>
                <a:ahLst/>
                <a:cxnLst/>
                <a:rect l="l" t="t" r="r" b="b"/>
                <a:pathLst>
                  <a:path w="10337" h="11646" extrusionOk="0">
                    <a:moveTo>
                      <a:pt x="5168" y="1"/>
                    </a:moveTo>
                    <a:cubicBezTo>
                      <a:pt x="5132" y="1"/>
                      <a:pt x="5096" y="10"/>
                      <a:pt x="5063" y="29"/>
                    </a:cubicBezTo>
                    <a:cubicBezTo>
                      <a:pt x="5034" y="39"/>
                      <a:pt x="2383" y="1618"/>
                      <a:pt x="383" y="1618"/>
                    </a:cubicBezTo>
                    <a:cubicBezTo>
                      <a:pt x="278" y="1618"/>
                      <a:pt x="192" y="1695"/>
                      <a:pt x="172" y="1800"/>
                    </a:cubicBezTo>
                    <a:cubicBezTo>
                      <a:pt x="0" y="3178"/>
                      <a:pt x="48" y="4575"/>
                      <a:pt x="326" y="5934"/>
                    </a:cubicBezTo>
                    <a:cubicBezTo>
                      <a:pt x="594" y="7207"/>
                      <a:pt x="1062" y="8317"/>
                      <a:pt x="1723" y="9217"/>
                    </a:cubicBezTo>
                    <a:cubicBezTo>
                      <a:pt x="2565" y="10356"/>
                      <a:pt x="3752" y="11207"/>
                      <a:pt x="5101" y="11638"/>
                    </a:cubicBezTo>
                    <a:cubicBezTo>
                      <a:pt x="5125" y="11643"/>
                      <a:pt x="5147" y="11645"/>
                      <a:pt x="5168" y="11645"/>
                    </a:cubicBezTo>
                    <a:cubicBezTo>
                      <a:pt x="5190" y="11645"/>
                      <a:pt x="5211" y="11643"/>
                      <a:pt x="5235" y="11638"/>
                    </a:cubicBezTo>
                    <a:cubicBezTo>
                      <a:pt x="6585" y="11207"/>
                      <a:pt x="7771" y="10356"/>
                      <a:pt x="8613" y="9217"/>
                    </a:cubicBezTo>
                    <a:cubicBezTo>
                      <a:pt x="9274" y="8317"/>
                      <a:pt x="9743" y="7207"/>
                      <a:pt x="10011" y="5934"/>
                    </a:cubicBezTo>
                    <a:cubicBezTo>
                      <a:pt x="10288" y="4575"/>
                      <a:pt x="10336" y="3178"/>
                      <a:pt x="10164" y="1800"/>
                    </a:cubicBezTo>
                    <a:cubicBezTo>
                      <a:pt x="10145" y="1695"/>
                      <a:pt x="10059" y="1618"/>
                      <a:pt x="9953" y="1618"/>
                    </a:cubicBezTo>
                    <a:cubicBezTo>
                      <a:pt x="7953" y="1618"/>
                      <a:pt x="5302" y="39"/>
                      <a:pt x="5273" y="29"/>
                    </a:cubicBezTo>
                    <a:cubicBezTo>
                      <a:pt x="5240" y="10"/>
                      <a:pt x="5204" y="1"/>
                      <a:pt x="51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07" name="Google Shape;16595;p127">
                <a:extLst>
                  <a:ext uri="{FF2B5EF4-FFF2-40B4-BE49-F238E27FC236}">
                    <a16:creationId xmlns:a16="http://schemas.microsoft.com/office/drawing/2014/main" id="{1200BD0A-F328-EC16-0B19-BF02F4649302}"/>
                  </a:ext>
                </a:extLst>
              </p:cNvPr>
              <p:cNvSpPr/>
              <p:nvPr/>
            </p:nvSpPr>
            <p:spPr>
              <a:xfrm>
                <a:off x="7719906" y="1577846"/>
                <a:ext cx="140517" cy="264281"/>
              </a:xfrm>
              <a:custGeom>
                <a:avLst/>
                <a:gdLst/>
                <a:ahLst/>
                <a:cxnLst/>
                <a:rect l="l" t="t" r="r" b="b"/>
                <a:pathLst>
                  <a:path w="5351" h="10064" extrusionOk="0">
                    <a:moveTo>
                      <a:pt x="4393" y="1"/>
                    </a:moveTo>
                    <a:lnTo>
                      <a:pt x="4393" y="1"/>
                    </a:lnTo>
                    <a:cubicBezTo>
                      <a:pt x="4537" y="1408"/>
                      <a:pt x="4470" y="2834"/>
                      <a:pt x="4192" y="4221"/>
                    </a:cubicBezTo>
                    <a:cubicBezTo>
                      <a:pt x="3905" y="5609"/>
                      <a:pt x="3388" y="6815"/>
                      <a:pt x="2670" y="7791"/>
                    </a:cubicBezTo>
                    <a:cubicBezTo>
                      <a:pt x="1972" y="8738"/>
                      <a:pt x="1063" y="9504"/>
                      <a:pt x="0" y="10011"/>
                    </a:cubicBezTo>
                    <a:lnTo>
                      <a:pt x="115" y="10050"/>
                    </a:lnTo>
                    <a:cubicBezTo>
                      <a:pt x="139" y="10059"/>
                      <a:pt x="163" y="10064"/>
                      <a:pt x="186" y="10064"/>
                    </a:cubicBezTo>
                    <a:cubicBezTo>
                      <a:pt x="208" y="10064"/>
                      <a:pt x="230" y="10059"/>
                      <a:pt x="249" y="10050"/>
                    </a:cubicBezTo>
                    <a:cubicBezTo>
                      <a:pt x="1599" y="9628"/>
                      <a:pt x="2785" y="8777"/>
                      <a:pt x="3627" y="7638"/>
                    </a:cubicBezTo>
                    <a:cubicBezTo>
                      <a:pt x="4288" y="6738"/>
                      <a:pt x="4757" y="5628"/>
                      <a:pt x="5025" y="4355"/>
                    </a:cubicBezTo>
                    <a:cubicBezTo>
                      <a:pt x="5302" y="2987"/>
                      <a:pt x="5350" y="1599"/>
                      <a:pt x="5178" y="221"/>
                    </a:cubicBezTo>
                    <a:cubicBezTo>
                      <a:pt x="5159" y="116"/>
                      <a:pt x="5073" y="39"/>
                      <a:pt x="4967" y="39"/>
                    </a:cubicBezTo>
                    <a:cubicBezTo>
                      <a:pt x="4776" y="39"/>
                      <a:pt x="4584" y="29"/>
                      <a:pt x="4393"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08" name="Google Shape;16596;p127">
                <a:extLst>
                  <a:ext uri="{FF2B5EF4-FFF2-40B4-BE49-F238E27FC236}">
                    <a16:creationId xmlns:a16="http://schemas.microsoft.com/office/drawing/2014/main" id="{E54EC351-6477-A2A1-2D8B-9834E0A34E05}"/>
                  </a:ext>
                </a:extLst>
              </p:cNvPr>
              <p:cNvSpPr/>
              <p:nvPr/>
            </p:nvSpPr>
            <p:spPr>
              <a:xfrm>
                <a:off x="7657565" y="1674352"/>
                <a:ext cx="134477" cy="90518"/>
              </a:xfrm>
              <a:custGeom>
                <a:avLst/>
                <a:gdLst/>
                <a:ahLst/>
                <a:cxnLst/>
                <a:rect l="l" t="t" r="r" b="b"/>
                <a:pathLst>
                  <a:path w="5121" h="3447" extrusionOk="0">
                    <a:moveTo>
                      <a:pt x="2556" y="1"/>
                    </a:moveTo>
                    <a:cubicBezTo>
                      <a:pt x="1178" y="20"/>
                      <a:pt x="1" y="1159"/>
                      <a:pt x="1" y="2479"/>
                    </a:cubicBezTo>
                    <a:lnTo>
                      <a:pt x="1" y="3236"/>
                    </a:lnTo>
                    <a:cubicBezTo>
                      <a:pt x="1" y="3350"/>
                      <a:pt x="97" y="3446"/>
                      <a:pt x="221" y="3446"/>
                    </a:cubicBezTo>
                    <a:lnTo>
                      <a:pt x="4910" y="3446"/>
                    </a:lnTo>
                    <a:cubicBezTo>
                      <a:pt x="5025" y="3446"/>
                      <a:pt x="5121" y="3350"/>
                      <a:pt x="5121" y="3236"/>
                    </a:cubicBezTo>
                    <a:lnTo>
                      <a:pt x="5121" y="2479"/>
                    </a:lnTo>
                    <a:cubicBezTo>
                      <a:pt x="5111" y="1159"/>
                      <a:pt x="3944" y="20"/>
                      <a:pt x="2556" y="1"/>
                    </a:cubicBezTo>
                    <a:close/>
                  </a:path>
                </a:pathLst>
              </a:cu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09" name="Google Shape;16597;p127">
                <a:extLst>
                  <a:ext uri="{FF2B5EF4-FFF2-40B4-BE49-F238E27FC236}">
                    <a16:creationId xmlns:a16="http://schemas.microsoft.com/office/drawing/2014/main" id="{6A223B40-3F62-F076-AE44-7E3C79ECEB3D}"/>
                  </a:ext>
                </a:extLst>
              </p:cNvPr>
              <p:cNvSpPr/>
              <p:nvPr/>
            </p:nvSpPr>
            <p:spPr>
              <a:xfrm>
                <a:off x="7714365" y="1674352"/>
                <a:ext cx="77677" cy="90518"/>
              </a:xfrm>
              <a:custGeom>
                <a:avLst/>
                <a:gdLst/>
                <a:ahLst/>
                <a:cxnLst/>
                <a:rect l="l" t="t" r="r" b="b"/>
                <a:pathLst>
                  <a:path w="2958" h="3447" extrusionOk="0">
                    <a:moveTo>
                      <a:pt x="393" y="1"/>
                    </a:moveTo>
                    <a:cubicBezTo>
                      <a:pt x="259" y="1"/>
                      <a:pt x="135" y="20"/>
                      <a:pt x="1" y="39"/>
                    </a:cubicBezTo>
                    <a:cubicBezTo>
                      <a:pt x="1207" y="240"/>
                      <a:pt x="2164" y="1283"/>
                      <a:pt x="2164" y="2479"/>
                    </a:cubicBezTo>
                    <a:lnTo>
                      <a:pt x="2164" y="3236"/>
                    </a:lnTo>
                    <a:cubicBezTo>
                      <a:pt x="2164" y="3350"/>
                      <a:pt x="2068" y="3446"/>
                      <a:pt x="1953" y="3446"/>
                    </a:cubicBezTo>
                    <a:lnTo>
                      <a:pt x="2747" y="3446"/>
                    </a:lnTo>
                    <a:cubicBezTo>
                      <a:pt x="2862" y="3446"/>
                      <a:pt x="2958" y="3350"/>
                      <a:pt x="2958" y="3236"/>
                    </a:cubicBezTo>
                    <a:lnTo>
                      <a:pt x="2958" y="2479"/>
                    </a:lnTo>
                    <a:cubicBezTo>
                      <a:pt x="2948" y="1159"/>
                      <a:pt x="1781" y="20"/>
                      <a:pt x="393" y="1"/>
                    </a:cubicBezTo>
                    <a:close/>
                  </a:path>
                </a:pathLst>
              </a:custGeom>
              <a:solidFill>
                <a:srgbClr val="6A7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10" name="Google Shape;16598;p127">
                <a:extLst>
                  <a:ext uri="{FF2B5EF4-FFF2-40B4-BE49-F238E27FC236}">
                    <a16:creationId xmlns:a16="http://schemas.microsoft.com/office/drawing/2014/main" id="{11F1E995-EC49-6C72-04A1-19F420271042}"/>
                  </a:ext>
                </a:extLst>
              </p:cNvPr>
              <p:cNvSpPr/>
              <p:nvPr/>
            </p:nvSpPr>
            <p:spPr>
              <a:xfrm>
                <a:off x="7709586" y="1680076"/>
                <a:ext cx="30199" cy="17437"/>
              </a:xfrm>
              <a:custGeom>
                <a:avLst/>
                <a:gdLst/>
                <a:ahLst/>
                <a:cxnLst/>
                <a:rect l="l" t="t" r="r" b="b"/>
                <a:pathLst>
                  <a:path w="1150" h="664" extrusionOk="0">
                    <a:moveTo>
                      <a:pt x="575" y="0"/>
                    </a:moveTo>
                    <a:cubicBezTo>
                      <a:pt x="381" y="0"/>
                      <a:pt x="188" y="27"/>
                      <a:pt x="1" y="79"/>
                    </a:cubicBezTo>
                    <a:lnTo>
                      <a:pt x="307" y="663"/>
                    </a:lnTo>
                    <a:lnTo>
                      <a:pt x="843" y="663"/>
                    </a:lnTo>
                    <a:lnTo>
                      <a:pt x="1149" y="79"/>
                    </a:lnTo>
                    <a:cubicBezTo>
                      <a:pt x="963" y="27"/>
                      <a:pt x="769" y="0"/>
                      <a:pt x="57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11" name="Google Shape;16599;p127">
                <a:extLst>
                  <a:ext uri="{FF2B5EF4-FFF2-40B4-BE49-F238E27FC236}">
                    <a16:creationId xmlns:a16="http://schemas.microsoft.com/office/drawing/2014/main" id="{4B033A5B-0087-6D14-81D9-3ABB6FDBE1EF}"/>
                  </a:ext>
                </a:extLst>
              </p:cNvPr>
              <p:cNvSpPr/>
              <p:nvPr/>
            </p:nvSpPr>
            <p:spPr>
              <a:xfrm>
                <a:off x="7702811" y="1690686"/>
                <a:ext cx="43749" cy="62866"/>
              </a:xfrm>
              <a:custGeom>
                <a:avLst/>
                <a:gdLst/>
                <a:ahLst/>
                <a:cxnLst/>
                <a:rect l="l" t="t" r="r" b="b"/>
                <a:pathLst>
                  <a:path w="1666" h="2394" extrusionOk="0">
                    <a:moveTo>
                      <a:pt x="556" y="1"/>
                    </a:moveTo>
                    <a:cubicBezTo>
                      <a:pt x="450" y="1"/>
                      <a:pt x="364" y="77"/>
                      <a:pt x="335" y="173"/>
                    </a:cubicBezTo>
                    <a:lnTo>
                      <a:pt x="20" y="1580"/>
                    </a:lnTo>
                    <a:cubicBezTo>
                      <a:pt x="1" y="1656"/>
                      <a:pt x="20" y="1733"/>
                      <a:pt x="87" y="1790"/>
                    </a:cubicBezTo>
                    <a:lnTo>
                      <a:pt x="680" y="2336"/>
                    </a:lnTo>
                    <a:cubicBezTo>
                      <a:pt x="723" y="2374"/>
                      <a:pt x="776" y="2393"/>
                      <a:pt x="828" y="2393"/>
                    </a:cubicBezTo>
                    <a:cubicBezTo>
                      <a:pt x="881" y="2393"/>
                      <a:pt x="934" y="2374"/>
                      <a:pt x="977" y="2336"/>
                    </a:cubicBezTo>
                    <a:lnTo>
                      <a:pt x="1580" y="1790"/>
                    </a:lnTo>
                    <a:cubicBezTo>
                      <a:pt x="1637" y="1733"/>
                      <a:pt x="1666" y="1656"/>
                      <a:pt x="1647" y="1580"/>
                    </a:cubicBezTo>
                    <a:lnTo>
                      <a:pt x="1321" y="173"/>
                    </a:lnTo>
                    <a:cubicBezTo>
                      <a:pt x="1302" y="77"/>
                      <a:pt x="1216" y="1"/>
                      <a:pt x="111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12" name="Google Shape;16600;p127">
                <a:extLst>
                  <a:ext uri="{FF2B5EF4-FFF2-40B4-BE49-F238E27FC236}">
                    <a16:creationId xmlns:a16="http://schemas.microsoft.com/office/drawing/2014/main" id="{2ADECDF1-FE7C-1054-9933-8257593589FF}"/>
                  </a:ext>
                </a:extLst>
              </p:cNvPr>
              <p:cNvSpPr/>
              <p:nvPr/>
            </p:nvSpPr>
            <p:spPr>
              <a:xfrm>
                <a:off x="7714365" y="1690922"/>
                <a:ext cx="31958" cy="62630"/>
              </a:xfrm>
              <a:custGeom>
                <a:avLst/>
                <a:gdLst/>
                <a:ahLst/>
                <a:cxnLst/>
                <a:rect l="l" t="t" r="r" b="b"/>
                <a:pathLst>
                  <a:path w="1217" h="2385" extrusionOk="0">
                    <a:moveTo>
                      <a:pt x="688" y="1"/>
                    </a:moveTo>
                    <a:cubicBezTo>
                      <a:pt x="683" y="1"/>
                      <a:pt x="677" y="1"/>
                      <a:pt x="671" y="1"/>
                    </a:cubicBezTo>
                    <a:lnTo>
                      <a:pt x="364" y="1"/>
                    </a:lnTo>
                    <a:lnTo>
                      <a:pt x="240" y="250"/>
                    </a:lnTo>
                    <a:lnTo>
                      <a:pt x="546" y="1600"/>
                    </a:lnTo>
                    <a:lnTo>
                      <a:pt x="1" y="2107"/>
                    </a:lnTo>
                    <a:lnTo>
                      <a:pt x="240" y="2327"/>
                    </a:lnTo>
                    <a:cubicBezTo>
                      <a:pt x="283" y="2365"/>
                      <a:pt x="336" y="2384"/>
                      <a:pt x="388" y="2384"/>
                    </a:cubicBezTo>
                    <a:cubicBezTo>
                      <a:pt x="441" y="2384"/>
                      <a:pt x="494" y="2365"/>
                      <a:pt x="537" y="2327"/>
                    </a:cubicBezTo>
                    <a:lnTo>
                      <a:pt x="1140" y="1781"/>
                    </a:lnTo>
                    <a:cubicBezTo>
                      <a:pt x="1197" y="1724"/>
                      <a:pt x="1216" y="1647"/>
                      <a:pt x="1207" y="1571"/>
                    </a:cubicBezTo>
                    <a:lnTo>
                      <a:pt x="881" y="164"/>
                    </a:lnTo>
                    <a:cubicBezTo>
                      <a:pt x="863" y="74"/>
                      <a:pt x="786" y="1"/>
                      <a:pt x="68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13" name="Google Shape;16601;p127">
                <a:extLst>
                  <a:ext uri="{FF2B5EF4-FFF2-40B4-BE49-F238E27FC236}">
                    <a16:creationId xmlns:a16="http://schemas.microsoft.com/office/drawing/2014/main" id="{9454C9CA-2574-46C5-4C66-C79EFD125CE3}"/>
                  </a:ext>
                </a:extLst>
              </p:cNvPr>
              <p:cNvSpPr/>
              <p:nvPr/>
            </p:nvSpPr>
            <p:spPr>
              <a:xfrm>
                <a:off x="7701813" y="1674352"/>
                <a:ext cx="45745" cy="23161"/>
              </a:xfrm>
              <a:custGeom>
                <a:avLst/>
                <a:gdLst/>
                <a:ahLst/>
                <a:cxnLst/>
                <a:rect l="l" t="t" r="r" b="b"/>
                <a:pathLst>
                  <a:path w="1742" h="882" extrusionOk="0">
                    <a:moveTo>
                      <a:pt x="871" y="1"/>
                    </a:moveTo>
                    <a:cubicBezTo>
                      <a:pt x="574" y="10"/>
                      <a:pt x="278" y="58"/>
                      <a:pt x="0" y="163"/>
                    </a:cubicBezTo>
                    <a:lnTo>
                      <a:pt x="373" y="881"/>
                    </a:lnTo>
                    <a:lnTo>
                      <a:pt x="1388" y="881"/>
                    </a:lnTo>
                    <a:lnTo>
                      <a:pt x="1742" y="163"/>
                    </a:lnTo>
                    <a:cubicBezTo>
                      <a:pt x="1464" y="58"/>
                      <a:pt x="1168" y="1"/>
                      <a:pt x="87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14" name="Google Shape;16602;p127">
                <a:extLst>
                  <a:ext uri="{FF2B5EF4-FFF2-40B4-BE49-F238E27FC236}">
                    <a16:creationId xmlns:a16="http://schemas.microsoft.com/office/drawing/2014/main" id="{B2CB9FE6-65BA-9A68-54C5-EE30EC616B92}"/>
                  </a:ext>
                </a:extLst>
              </p:cNvPr>
              <p:cNvSpPr/>
              <p:nvPr/>
            </p:nvSpPr>
            <p:spPr>
              <a:xfrm>
                <a:off x="7720667" y="1674851"/>
                <a:ext cx="26890" cy="22662"/>
              </a:xfrm>
              <a:custGeom>
                <a:avLst/>
                <a:gdLst/>
                <a:ahLst/>
                <a:cxnLst/>
                <a:rect l="l" t="t" r="r" b="b"/>
                <a:pathLst>
                  <a:path w="1024" h="863" extrusionOk="0">
                    <a:moveTo>
                      <a:pt x="431" y="1"/>
                    </a:moveTo>
                    <a:lnTo>
                      <a:pt x="0" y="862"/>
                    </a:lnTo>
                    <a:lnTo>
                      <a:pt x="660" y="862"/>
                    </a:lnTo>
                    <a:lnTo>
                      <a:pt x="1024" y="144"/>
                    </a:lnTo>
                    <a:cubicBezTo>
                      <a:pt x="833" y="68"/>
                      <a:pt x="632" y="30"/>
                      <a:pt x="43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15" name="Google Shape;16603;p127">
                <a:extLst>
                  <a:ext uri="{FF2B5EF4-FFF2-40B4-BE49-F238E27FC236}">
                    <a16:creationId xmlns:a16="http://schemas.microsoft.com/office/drawing/2014/main" id="{D727C3C0-648C-1BD0-16A5-0BC175D543F6}"/>
                  </a:ext>
                </a:extLst>
              </p:cNvPr>
              <p:cNvSpPr/>
              <p:nvPr/>
            </p:nvSpPr>
            <p:spPr>
              <a:xfrm>
                <a:off x="7689733" y="1590162"/>
                <a:ext cx="69904" cy="95534"/>
              </a:xfrm>
              <a:custGeom>
                <a:avLst/>
                <a:gdLst/>
                <a:ahLst/>
                <a:cxnLst/>
                <a:rect l="l" t="t" r="r" b="b"/>
                <a:pathLst>
                  <a:path w="2662" h="3638" extrusionOk="0">
                    <a:moveTo>
                      <a:pt x="1331" y="1"/>
                    </a:moveTo>
                    <a:cubicBezTo>
                      <a:pt x="594" y="1"/>
                      <a:pt x="1" y="604"/>
                      <a:pt x="1" y="1341"/>
                    </a:cubicBezTo>
                    <a:lnTo>
                      <a:pt x="1" y="2307"/>
                    </a:lnTo>
                    <a:cubicBezTo>
                      <a:pt x="1" y="3044"/>
                      <a:pt x="594" y="3637"/>
                      <a:pt x="1331" y="3637"/>
                    </a:cubicBezTo>
                    <a:cubicBezTo>
                      <a:pt x="2068" y="3637"/>
                      <a:pt x="2661" y="3044"/>
                      <a:pt x="2661" y="2307"/>
                    </a:cubicBezTo>
                    <a:lnTo>
                      <a:pt x="2661" y="1341"/>
                    </a:lnTo>
                    <a:cubicBezTo>
                      <a:pt x="2661" y="604"/>
                      <a:pt x="2068" y="1"/>
                      <a:pt x="1331" y="1"/>
                    </a:cubicBezTo>
                    <a:close/>
                  </a:path>
                </a:pathLst>
              </a:custGeom>
              <a:solidFill>
                <a:srgbClr val="CCD7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16" name="Google Shape;16604;p127">
                <a:extLst>
                  <a:ext uri="{FF2B5EF4-FFF2-40B4-BE49-F238E27FC236}">
                    <a16:creationId xmlns:a16="http://schemas.microsoft.com/office/drawing/2014/main" id="{AABDF7FC-FF00-8D74-8EAB-E0C7EC9BA311}"/>
                  </a:ext>
                </a:extLst>
              </p:cNvPr>
              <p:cNvSpPr/>
              <p:nvPr/>
            </p:nvSpPr>
            <p:spPr>
              <a:xfrm>
                <a:off x="7714365" y="1590162"/>
                <a:ext cx="45272" cy="95534"/>
              </a:xfrm>
              <a:custGeom>
                <a:avLst/>
                <a:gdLst/>
                <a:ahLst/>
                <a:cxnLst/>
                <a:rect l="l" t="t" r="r" b="b"/>
                <a:pathLst>
                  <a:path w="1724" h="3638" extrusionOk="0">
                    <a:moveTo>
                      <a:pt x="393" y="1"/>
                    </a:moveTo>
                    <a:cubicBezTo>
                      <a:pt x="259" y="1"/>
                      <a:pt x="125" y="20"/>
                      <a:pt x="1" y="58"/>
                    </a:cubicBezTo>
                    <a:cubicBezTo>
                      <a:pt x="565" y="230"/>
                      <a:pt x="939" y="747"/>
                      <a:pt x="948" y="1331"/>
                    </a:cubicBezTo>
                    <a:lnTo>
                      <a:pt x="948" y="2307"/>
                    </a:lnTo>
                    <a:cubicBezTo>
                      <a:pt x="939" y="2891"/>
                      <a:pt x="565" y="3408"/>
                      <a:pt x="1" y="3580"/>
                    </a:cubicBezTo>
                    <a:cubicBezTo>
                      <a:pt x="125" y="3618"/>
                      <a:pt x="259" y="3637"/>
                      <a:pt x="393" y="3637"/>
                    </a:cubicBezTo>
                    <a:cubicBezTo>
                      <a:pt x="1130" y="3637"/>
                      <a:pt x="1723" y="3044"/>
                      <a:pt x="1723" y="2307"/>
                    </a:cubicBezTo>
                    <a:lnTo>
                      <a:pt x="1723" y="1341"/>
                    </a:lnTo>
                    <a:cubicBezTo>
                      <a:pt x="1723" y="604"/>
                      <a:pt x="1130" y="1"/>
                      <a:pt x="393" y="1"/>
                    </a:cubicBezTo>
                    <a:close/>
                  </a:path>
                </a:pathLst>
              </a:custGeom>
              <a:solidFill>
                <a:srgbClr val="B4C3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17" name="Google Shape;16605;p127">
                <a:extLst>
                  <a:ext uri="{FF2B5EF4-FFF2-40B4-BE49-F238E27FC236}">
                    <a16:creationId xmlns:a16="http://schemas.microsoft.com/office/drawing/2014/main" id="{C3D692EF-1123-50FE-61BB-E767D5B8FF9C}"/>
                  </a:ext>
                </a:extLst>
              </p:cNvPr>
              <p:cNvSpPr/>
              <p:nvPr/>
            </p:nvSpPr>
            <p:spPr>
              <a:xfrm>
                <a:off x="7689733" y="1591423"/>
                <a:ext cx="69904" cy="46533"/>
              </a:xfrm>
              <a:custGeom>
                <a:avLst/>
                <a:gdLst/>
                <a:ahLst/>
                <a:cxnLst/>
                <a:rect l="l" t="t" r="r" b="b"/>
                <a:pathLst>
                  <a:path w="2662" h="1772" extrusionOk="0">
                    <a:moveTo>
                      <a:pt x="1331" y="1"/>
                    </a:moveTo>
                    <a:cubicBezTo>
                      <a:pt x="613" y="1"/>
                      <a:pt x="20" y="575"/>
                      <a:pt x="1" y="1293"/>
                    </a:cubicBezTo>
                    <a:lnTo>
                      <a:pt x="1" y="1771"/>
                    </a:lnTo>
                    <a:lnTo>
                      <a:pt x="211" y="1771"/>
                    </a:lnTo>
                    <a:cubicBezTo>
                      <a:pt x="1188" y="1771"/>
                      <a:pt x="1551" y="1111"/>
                      <a:pt x="1551" y="1111"/>
                    </a:cubicBezTo>
                    <a:cubicBezTo>
                      <a:pt x="1551" y="1111"/>
                      <a:pt x="1800" y="1771"/>
                      <a:pt x="2451" y="1771"/>
                    </a:cubicBezTo>
                    <a:lnTo>
                      <a:pt x="2661" y="1771"/>
                    </a:lnTo>
                    <a:lnTo>
                      <a:pt x="2661" y="1293"/>
                    </a:lnTo>
                    <a:cubicBezTo>
                      <a:pt x="2642" y="575"/>
                      <a:pt x="2049" y="1"/>
                      <a:pt x="1331" y="1"/>
                    </a:cubicBezTo>
                    <a:close/>
                  </a:path>
                </a:pathLst>
              </a:cu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grpSp>
      <p:grpSp>
        <p:nvGrpSpPr>
          <p:cNvPr id="118" name="Group 117">
            <a:extLst>
              <a:ext uri="{FF2B5EF4-FFF2-40B4-BE49-F238E27FC236}">
                <a16:creationId xmlns:a16="http://schemas.microsoft.com/office/drawing/2014/main" id="{B23359AD-E426-FBF0-40D9-11C1B9AC3645}"/>
              </a:ext>
            </a:extLst>
          </p:cNvPr>
          <p:cNvGrpSpPr/>
          <p:nvPr/>
        </p:nvGrpSpPr>
        <p:grpSpPr>
          <a:xfrm>
            <a:off x="4643728" y="3640823"/>
            <a:ext cx="572700" cy="572700"/>
            <a:chOff x="4573634" y="4693756"/>
            <a:chExt cx="572700" cy="572700"/>
          </a:xfrm>
        </p:grpSpPr>
        <p:sp>
          <p:nvSpPr>
            <p:cNvPr id="119" name="Google Shape;839;p61">
              <a:extLst>
                <a:ext uri="{FF2B5EF4-FFF2-40B4-BE49-F238E27FC236}">
                  <a16:creationId xmlns:a16="http://schemas.microsoft.com/office/drawing/2014/main" id="{314C8693-161E-5AB2-7089-BFE1144E9249}"/>
                </a:ext>
              </a:extLst>
            </p:cNvPr>
            <p:cNvSpPr/>
            <p:nvPr/>
          </p:nvSpPr>
          <p:spPr>
            <a:xfrm>
              <a:off x="4573634" y="4693756"/>
              <a:ext cx="572700" cy="572700"/>
            </a:xfrm>
            <a:prstGeom prst="ellipse">
              <a:avLst/>
            </a:prstGeom>
            <a:solidFill>
              <a:schemeClr val="lt2"/>
            </a:solid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pic>
          <p:nvPicPr>
            <p:cNvPr id="120" name="Picture 119" descr="A hand holding a stack of coins and a clock&#10;&#10;Description automatically generated">
              <a:extLst>
                <a:ext uri="{FF2B5EF4-FFF2-40B4-BE49-F238E27FC236}">
                  <a16:creationId xmlns:a16="http://schemas.microsoft.com/office/drawing/2014/main" id="{CEFC6286-17D4-2444-85FB-9D4861BE741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44712" y="4762579"/>
              <a:ext cx="430544" cy="430544"/>
            </a:xfrm>
            <a:prstGeom prst="rect">
              <a:avLst/>
            </a:prstGeom>
          </p:spPr>
        </p:pic>
      </p:grpSp>
      <p:grpSp>
        <p:nvGrpSpPr>
          <p:cNvPr id="121" name="Group 120">
            <a:extLst>
              <a:ext uri="{FF2B5EF4-FFF2-40B4-BE49-F238E27FC236}">
                <a16:creationId xmlns:a16="http://schemas.microsoft.com/office/drawing/2014/main" id="{894C112C-0331-40A0-5C37-D6ACC3EDCC52}"/>
              </a:ext>
            </a:extLst>
          </p:cNvPr>
          <p:cNvGrpSpPr/>
          <p:nvPr/>
        </p:nvGrpSpPr>
        <p:grpSpPr>
          <a:xfrm>
            <a:off x="8334177" y="155847"/>
            <a:ext cx="572700" cy="578374"/>
            <a:chOff x="4562865" y="5634546"/>
            <a:chExt cx="572700" cy="578374"/>
          </a:xfrm>
        </p:grpSpPr>
        <p:sp>
          <p:nvSpPr>
            <p:cNvPr id="122" name="Google Shape;839;p61">
              <a:extLst>
                <a:ext uri="{FF2B5EF4-FFF2-40B4-BE49-F238E27FC236}">
                  <a16:creationId xmlns:a16="http://schemas.microsoft.com/office/drawing/2014/main" id="{5DA31ED5-DD70-ACF0-65BF-3B0CD5C4D6C5}"/>
                </a:ext>
              </a:extLst>
            </p:cNvPr>
            <p:cNvSpPr/>
            <p:nvPr/>
          </p:nvSpPr>
          <p:spPr>
            <a:xfrm>
              <a:off x="4562865" y="5634546"/>
              <a:ext cx="572700" cy="572700"/>
            </a:xfrm>
            <a:prstGeom prst="ellipse">
              <a:avLst/>
            </a:prstGeom>
            <a:solidFill>
              <a:schemeClr val="lt2"/>
            </a:solid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pic>
          <p:nvPicPr>
            <p:cNvPr id="123" name="Picture 122">
              <a:extLst>
                <a:ext uri="{FF2B5EF4-FFF2-40B4-BE49-F238E27FC236}">
                  <a16:creationId xmlns:a16="http://schemas.microsoft.com/office/drawing/2014/main" id="{5EE02CF6-330A-A442-050B-CCD9C4E0C80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28439" y="5718177"/>
              <a:ext cx="494743" cy="494743"/>
            </a:xfrm>
            <a:prstGeom prst="rect">
              <a:avLst/>
            </a:prstGeom>
          </p:spPr>
        </p:pic>
      </p:grpSp>
      <p:grpSp>
        <p:nvGrpSpPr>
          <p:cNvPr id="124" name="Group 123">
            <a:extLst>
              <a:ext uri="{FF2B5EF4-FFF2-40B4-BE49-F238E27FC236}">
                <a16:creationId xmlns:a16="http://schemas.microsoft.com/office/drawing/2014/main" id="{E0A6E360-F3DA-0C0B-F635-43497E7EA781}"/>
              </a:ext>
            </a:extLst>
          </p:cNvPr>
          <p:cNvGrpSpPr/>
          <p:nvPr/>
        </p:nvGrpSpPr>
        <p:grpSpPr>
          <a:xfrm>
            <a:off x="8288433" y="4106855"/>
            <a:ext cx="572700" cy="572700"/>
            <a:chOff x="8182738" y="3921290"/>
            <a:chExt cx="572700" cy="572700"/>
          </a:xfrm>
        </p:grpSpPr>
        <p:sp>
          <p:nvSpPr>
            <p:cNvPr id="125" name="Google Shape;839;p61">
              <a:extLst>
                <a:ext uri="{FF2B5EF4-FFF2-40B4-BE49-F238E27FC236}">
                  <a16:creationId xmlns:a16="http://schemas.microsoft.com/office/drawing/2014/main" id="{91169AB7-756D-0382-7837-B444F052836C}"/>
                </a:ext>
              </a:extLst>
            </p:cNvPr>
            <p:cNvSpPr/>
            <p:nvPr/>
          </p:nvSpPr>
          <p:spPr>
            <a:xfrm>
              <a:off x="8182738" y="3921290"/>
              <a:ext cx="572700" cy="572700"/>
            </a:xfrm>
            <a:prstGeom prst="ellipse">
              <a:avLst/>
            </a:prstGeom>
            <a:solidFill>
              <a:schemeClr val="lt2"/>
            </a:solid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pic>
          <p:nvPicPr>
            <p:cNvPr id="126" name="Picture 125" descr="A building with a red and white awning&#10;&#10;Description automatically generated">
              <a:extLst>
                <a:ext uri="{FF2B5EF4-FFF2-40B4-BE49-F238E27FC236}">
                  <a16:creationId xmlns:a16="http://schemas.microsoft.com/office/drawing/2014/main" id="{CACDD321-89A4-9589-D631-2E3DA2BBB5F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295230" y="4020480"/>
              <a:ext cx="374320" cy="374320"/>
            </a:xfrm>
            <a:prstGeom prst="rect">
              <a:avLst/>
            </a:prstGeom>
          </p:spPr>
        </p:pic>
      </p:grpSp>
      <p:grpSp>
        <p:nvGrpSpPr>
          <p:cNvPr id="127" name="Group 126">
            <a:extLst>
              <a:ext uri="{FF2B5EF4-FFF2-40B4-BE49-F238E27FC236}">
                <a16:creationId xmlns:a16="http://schemas.microsoft.com/office/drawing/2014/main" id="{75614E1A-0396-9597-DD88-BBE0F92DD911}"/>
              </a:ext>
            </a:extLst>
          </p:cNvPr>
          <p:cNvGrpSpPr/>
          <p:nvPr/>
        </p:nvGrpSpPr>
        <p:grpSpPr>
          <a:xfrm>
            <a:off x="4601705" y="4861570"/>
            <a:ext cx="572700" cy="572700"/>
            <a:chOff x="4573634" y="3572798"/>
            <a:chExt cx="572700" cy="572700"/>
          </a:xfrm>
        </p:grpSpPr>
        <p:sp>
          <p:nvSpPr>
            <p:cNvPr id="128" name="Google Shape;839;p61">
              <a:extLst>
                <a:ext uri="{FF2B5EF4-FFF2-40B4-BE49-F238E27FC236}">
                  <a16:creationId xmlns:a16="http://schemas.microsoft.com/office/drawing/2014/main" id="{F9E53799-3BA8-2E52-3B0A-DABA7EC1A900}"/>
                </a:ext>
              </a:extLst>
            </p:cNvPr>
            <p:cNvSpPr/>
            <p:nvPr/>
          </p:nvSpPr>
          <p:spPr>
            <a:xfrm>
              <a:off x="4573634" y="3572798"/>
              <a:ext cx="572700" cy="572700"/>
            </a:xfrm>
            <a:prstGeom prst="ellipse">
              <a:avLst/>
            </a:prstGeom>
            <a:solidFill>
              <a:schemeClr val="lt2"/>
            </a:solid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pic>
          <p:nvPicPr>
            <p:cNvPr id="129" name="Picture 128" descr="Hands holding a coin&#10;&#10;Description automatically generated">
              <a:extLst>
                <a:ext uri="{FF2B5EF4-FFF2-40B4-BE49-F238E27FC236}">
                  <a16:creationId xmlns:a16="http://schemas.microsoft.com/office/drawing/2014/main" id="{E4A203A6-8091-91E0-8B66-DA2977592B7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654980" y="3659005"/>
              <a:ext cx="411758" cy="411758"/>
            </a:xfrm>
            <a:prstGeom prst="rect">
              <a:avLst/>
            </a:prstGeom>
          </p:spPr>
        </p:pic>
      </p:grpSp>
    </p:spTree>
    <p:extLst>
      <p:ext uri="{BB962C8B-B14F-4D97-AF65-F5344CB8AC3E}">
        <p14:creationId xmlns:p14="http://schemas.microsoft.com/office/powerpoint/2010/main" val="24080483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7A2ED87-0F7F-DF96-35E4-FA0AB5734663}"/>
              </a:ext>
            </a:extLst>
          </p:cNvPr>
          <p:cNvSpPr>
            <a:spLocks noGrp="1"/>
          </p:cNvSpPr>
          <p:nvPr>
            <p:ph type="sldNum" sz="quarter" idx="12"/>
          </p:nvPr>
        </p:nvSpPr>
        <p:spPr/>
        <p:txBody>
          <a:bodyPr/>
          <a:lstStyle/>
          <a:p>
            <a:fld id="{36D53BC0-5915-4EE6-A8B4-385258777E7F}" type="slidenum">
              <a:rPr lang="en-PH" smtClean="0"/>
              <a:pPr/>
              <a:t>24</a:t>
            </a:fld>
            <a:endParaRPr lang="en-PH"/>
          </a:p>
        </p:txBody>
      </p:sp>
      <p:sp>
        <p:nvSpPr>
          <p:cNvPr id="5" name="Text Placeholder 2">
            <a:extLst>
              <a:ext uri="{FF2B5EF4-FFF2-40B4-BE49-F238E27FC236}">
                <a16:creationId xmlns:a16="http://schemas.microsoft.com/office/drawing/2014/main" id="{300BEAF0-FD76-4CA9-2914-36C508D14114}"/>
              </a:ext>
            </a:extLst>
          </p:cNvPr>
          <p:cNvSpPr txBox="1">
            <a:spLocks/>
          </p:cNvSpPr>
          <p:nvPr/>
        </p:nvSpPr>
        <p:spPr>
          <a:xfrm>
            <a:off x="445538" y="1571017"/>
            <a:ext cx="7819490" cy="738139"/>
          </a:xfrm>
          <a:prstGeom prst="rect">
            <a:avLst/>
          </a:prstGeom>
        </p:spPr>
        <p:txBody>
          <a:bodyPr lIns="91440" tIns="45720" rIns="91440" bIns="45720" anchor="t">
            <a:no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tint val="75000"/>
                  </a:schemeClr>
                </a:solidFill>
                <a:latin typeface="Lato" panose="020F0502020204030203"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just">
              <a:lnSpc>
                <a:spcPct val="150000"/>
              </a:lnSpc>
            </a:pPr>
            <a:r>
              <a:rPr lang="en-US" sz="1800" b="1" i="1">
                <a:solidFill>
                  <a:srgbClr val="1F4766"/>
                </a:solidFill>
                <a:latin typeface="Lato"/>
                <a:ea typeface="Lato"/>
                <a:cs typeface="Lato"/>
              </a:rPr>
              <a:t>(Social Assistance Geared for Indigent People Loan)</a:t>
            </a:r>
          </a:p>
          <a:p>
            <a:pPr algn="just">
              <a:lnSpc>
                <a:spcPct val="150000"/>
              </a:lnSpc>
            </a:pPr>
            <a:r>
              <a:rPr lang="en-US" sz="1600">
                <a:solidFill>
                  <a:schemeClr val="tx1"/>
                </a:solidFill>
                <a:latin typeface="Lato"/>
                <a:ea typeface="Lato"/>
                <a:cs typeface="Lato"/>
              </a:rPr>
              <a:t>This is a supplemental loan product designed to provide immediate cash funds to RAFI MFI clients during an emergency such as health/medical concerns, cash flow needs due to seasonal income, calamity/disaster-related expenditures.</a:t>
            </a:r>
            <a:endParaRPr lang="en-US"/>
          </a:p>
        </p:txBody>
      </p:sp>
      <p:graphicFrame>
        <p:nvGraphicFramePr>
          <p:cNvPr id="6" name="Table 5">
            <a:extLst>
              <a:ext uri="{FF2B5EF4-FFF2-40B4-BE49-F238E27FC236}">
                <a16:creationId xmlns:a16="http://schemas.microsoft.com/office/drawing/2014/main" id="{DEC3BFEC-DC1F-A361-04B0-59615B101471}"/>
              </a:ext>
            </a:extLst>
          </p:cNvPr>
          <p:cNvGraphicFramePr>
            <a:graphicFrameLocks noGrp="1"/>
          </p:cNvGraphicFramePr>
          <p:nvPr>
            <p:extLst>
              <p:ext uri="{D42A27DB-BD31-4B8C-83A1-F6EECF244321}">
                <p14:modId xmlns:p14="http://schemas.microsoft.com/office/powerpoint/2010/main" val="1812250720"/>
              </p:ext>
            </p:extLst>
          </p:nvPr>
        </p:nvGraphicFramePr>
        <p:xfrm>
          <a:off x="823500" y="3645528"/>
          <a:ext cx="3909745" cy="2094675"/>
        </p:xfrm>
        <a:graphic>
          <a:graphicData uri="http://schemas.openxmlformats.org/drawingml/2006/table">
            <a:tbl>
              <a:tblPr firstRow="1" bandRow="1">
                <a:tableStyleId>{2D5ABB26-0587-4C30-8999-92F81FD0307C}</a:tableStyleId>
              </a:tblPr>
              <a:tblGrid>
                <a:gridCol w="3909745">
                  <a:extLst>
                    <a:ext uri="{9D8B030D-6E8A-4147-A177-3AD203B41FA5}">
                      <a16:colId xmlns:a16="http://schemas.microsoft.com/office/drawing/2014/main" val="3891547026"/>
                    </a:ext>
                  </a:extLst>
                </a:gridCol>
              </a:tblGrid>
              <a:tr h="1935773">
                <a:tc>
                  <a:txBody>
                    <a:body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800">
                          <a:solidFill>
                            <a:srgbClr val="1F4766"/>
                          </a:solidFill>
                          <a:latin typeface="Lato"/>
                          <a:ea typeface="Lato"/>
                          <a:cs typeface="Lato"/>
                        </a:rPr>
                        <a:t>SL – </a:t>
                      </a:r>
                      <a:r>
                        <a:rPr lang="en-US" sz="1800">
                          <a:solidFill>
                            <a:srgbClr val="1F4766"/>
                          </a:solidFill>
                          <a:latin typeface="Lato" panose="020F0502020204030203" pitchFamily="34" charset="0"/>
                          <a:ea typeface="Lato" panose="020F0502020204030203" pitchFamily="34" charset="0"/>
                          <a:cs typeface="Lato" panose="020F0502020204030203" pitchFamily="34" charset="0"/>
                        </a:rPr>
                        <a:t>Hospital/medical fees</a:t>
                      </a:r>
                      <a:endParaRPr lang="en-US" sz="1800">
                        <a:solidFill>
                          <a:srgbClr val="1F4766"/>
                        </a:solidFill>
                        <a:latin typeface="Lato"/>
                        <a:ea typeface="Lato"/>
                        <a:cs typeface="Lato"/>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800">
                          <a:solidFill>
                            <a:srgbClr val="1F4766"/>
                          </a:solidFill>
                          <a:latin typeface="Lato"/>
                          <a:ea typeface="Lato"/>
                          <a:cs typeface="Lato"/>
                        </a:rPr>
                        <a:t>SL -  Purchase of medicines</a:t>
                      </a:r>
                    </a:p>
                    <a:p>
                      <a:pPr marL="285750" marR="0" lvl="0" indent="-285750" algn="l">
                        <a:lnSpc>
                          <a:spcPct val="150000"/>
                        </a:lnSpc>
                        <a:spcBef>
                          <a:spcPts val="0"/>
                        </a:spcBef>
                        <a:spcAft>
                          <a:spcPts val="0"/>
                        </a:spcAft>
                        <a:buClrTx/>
                        <a:buSzTx/>
                        <a:buFont typeface="Arial" panose="020B0604020202020204" pitchFamily="34" charset="0"/>
                        <a:buChar char="•"/>
                      </a:pPr>
                      <a:r>
                        <a:rPr lang="en-US" sz="1800">
                          <a:solidFill>
                            <a:srgbClr val="1F4766"/>
                          </a:solidFill>
                          <a:latin typeface="Lato"/>
                          <a:ea typeface="Lato"/>
                          <a:cs typeface="Lato"/>
                        </a:rPr>
                        <a:t>SL – Additional Capital</a:t>
                      </a:r>
                    </a:p>
                    <a:p>
                      <a:pPr marL="285750" marR="0" lvl="0" indent="-285750" algn="l">
                        <a:lnSpc>
                          <a:spcPct val="150000"/>
                        </a:lnSpc>
                        <a:spcBef>
                          <a:spcPts val="0"/>
                        </a:spcBef>
                        <a:spcAft>
                          <a:spcPts val="0"/>
                        </a:spcAft>
                        <a:buClrTx/>
                        <a:buSzTx/>
                        <a:buFont typeface="Arial" panose="020B0604020202020204" pitchFamily="34" charset="0"/>
                        <a:buChar char="•"/>
                      </a:pPr>
                      <a:r>
                        <a:rPr lang="en-US" sz="1800">
                          <a:solidFill>
                            <a:srgbClr val="1F4766"/>
                          </a:solidFill>
                          <a:latin typeface="Lato"/>
                          <a:ea typeface="Lato"/>
                          <a:cs typeface="Lato"/>
                        </a:rPr>
                        <a:t>SL – Business Re-capitalization</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800">
                          <a:solidFill>
                            <a:srgbClr val="1F4766"/>
                          </a:solidFill>
                          <a:latin typeface="Lato" panose="020F0502020204030203" pitchFamily="34" charset="0"/>
                          <a:ea typeface="Lato" panose="020F0502020204030203" pitchFamily="34" charset="0"/>
                          <a:cs typeface="Lato" panose="020F0502020204030203" pitchFamily="34" charset="0"/>
                        </a:rPr>
                        <a:t>SL-   Facilities Remediation</a:t>
                      </a:r>
                      <a:endParaRPr lang="en-US" sz="1800" b="0" i="0">
                        <a:solidFill>
                          <a:srgbClr val="1F4766"/>
                        </a:solidFill>
                        <a:effectLst/>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44239726"/>
                  </a:ext>
                </a:extLst>
              </a:tr>
            </a:tbl>
          </a:graphicData>
        </a:graphic>
      </p:graphicFrame>
      <p:sp>
        <p:nvSpPr>
          <p:cNvPr id="7" name="Arrow: Right 6">
            <a:extLst>
              <a:ext uri="{FF2B5EF4-FFF2-40B4-BE49-F238E27FC236}">
                <a16:creationId xmlns:a16="http://schemas.microsoft.com/office/drawing/2014/main" id="{DD6D8EEF-A9B3-19E7-3BF8-0E514E664B60}"/>
              </a:ext>
            </a:extLst>
          </p:cNvPr>
          <p:cNvSpPr/>
          <p:nvPr/>
        </p:nvSpPr>
        <p:spPr>
          <a:xfrm>
            <a:off x="0" y="211951"/>
            <a:ext cx="7304314" cy="1626041"/>
          </a:xfrm>
          <a:prstGeom prst="rightArrow">
            <a:avLst/>
          </a:prstGeom>
          <a:solidFill>
            <a:srgbClr val="FFD92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2800" b="1">
                <a:solidFill>
                  <a:srgbClr val="1F4766"/>
                </a:solidFill>
                <a:latin typeface="Lato" panose="020F0502020204030203" pitchFamily="34" charset="0"/>
                <a:ea typeface="Lato" panose="020F0502020204030203" pitchFamily="34" charset="0"/>
                <a:cs typeface="Lato" panose="020F0502020204030203" pitchFamily="34" charset="0"/>
              </a:rPr>
              <a:t>        </a:t>
            </a:r>
            <a:r>
              <a:rPr lang="en-PH" sz="2800" b="1" i="1">
                <a:solidFill>
                  <a:srgbClr val="1F4766"/>
                </a:solidFill>
                <a:latin typeface="Lato" panose="020F0502020204030203" pitchFamily="34" charset="0"/>
                <a:ea typeface="Lato" panose="020F0502020204030203" pitchFamily="34" charset="0"/>
                <a:cs typeface="Lato" panose="020F0502020204030203" pitchFamily="34" charset="0"/>
              </a:rPr>
              <a:t>SAGIP Loan as Emergency</a:t>
            </a:r>
          </a:p>
        </p:txBody>
      </p:sp>
      <p:pic>
        <p:nvPicPr>
          <p:cNvPr id="8" name="Picture 3" descr="A picture containing icon&#10;&#10;Description automatically generated">
            <a:extLst>
              <a:ext uri="{FF2B5EF4-FFF2-40B4-BE49-F238E27FC236}">
                <a16:creationId xmlns:a16="http://schemas.microsoft.com/office/drawing/2014/main" id="{ADA2BF4C-7738-B506-AC9B-33B81268A6FC}"/>
              </a:ext>
            </a:extLst>
          </p:cNvPr>
          <p:cNvPicPr>
            <a:picLocks noChangeAspect="1"/>
          </p:cNvPicPr>
          <p:nvPr/>
        </p:nvPicPr>
        <p:blipFill>
          <a:blip r:embed="rId2"/>
          <a:stretch>
            <a:fillRect/>
          </a:stretch>
        </p:blipFill>
        <p:spPr>
          <a:xfrm>
            <a:off x="663082" y="656196"/>
            <a:ext cx="891270" cy="738139"/>
          </a:xfrm>
          <a:prstGeom prst="rect">
            <a:avLst/>
          </a:prstGeom>
        </p:spPr>
      </p:pic>
      <p:pic>
        <p:nvPicPr>
          <p:cNvPr id="9" name="Picture 8">
            <a:extLst>
              <a:ext uri="{FF2B5EF4-FFF2-40B4-BE49-F238E27FC236}">
                <a16:creationId xmlns:a16="http://schemas.microsoft.com/office/drawing/2014/main" id="{FCE0CB5B-47AD-5586-EC9A-3922CAD1D076}"/>
              </a:ext>
            </a:extLst>
          </p:cNvPr>
          <p:cNvPicPr>
            <a:picLocks noChangeAspect="1"/>
          </p:cNvPicPr>
          <p:nvPr/>
        </p:nvPicPr>
        <p:blipFill>
          <a:blip r:embed="rId3"/>
          <a:stretch>
            <a:fillRect/>
          </a:stretch>
        </p:blipFill>
        <p:spPr>
          <a:xfrm>
            <a:off x="8264795" y="214144"/>
            <a:ext cx="3829000" cy="5671457"/>
          </a:xfrm>
          <a:prstGeom prst="rect">
            <a:avLst/>
          </a:prstGeom>
        </p:spPr>
      </p:pic>
    </p:spTree>
    <p:extLst>
      <p:ext uri="{BB962C8B-B14F-4D97-AF65-F5344CB8AC3E}">
        <p14:creationId xmlns:p14="http://schemas.microsoft.com/office/powerpoint/2010/main" val="2221085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0B9C3E3-F4A7-126E-0ACF-89E0C070F806}"/>
              </a:ext>
            </a:extLst>
          </p:cNvPr>
          <p:cNvSpPr>
            <a:spLocks noGrp="1"/>
          </p:cNvSpPr>
          <p:nvPr>
            <p:ph type="sldNum" sz="quarter" idx="12"/>
          </p:nvPr>
        </p:nvSpPr>
        <p:spPr/>
        <p:txBody>
          <a:bodyPr/>
          <a:lstStyle/>
          <a:p>
            <a:fld id="{36D53BC0-5915-4EE6-A8B4-385258777E7F}" type="slidenum">
              <a:rPr lang="en-PH" smtClean="0"/>
              <a:pPr/>
              <a:t>25</a:t>
            </a:fld>
            <a:endParaRPr lang="en-PH"/>
          </a:p>
        </p:txBody>
      </p:sp>
      <p:sp>
        <p:nvSpPr>
          <p:cNvPr id="27" name="Title 1">
            <a:extLst>
              <a:ext uri="{FF2B5EF4-FFF2-40B4-BE49-F238E27FC236}">
                <a16:creationId xmlns:a16="http://schemas.microsoft.com/office/drawing/2014/main" id="{41D71FDC-4955-21E8-0F2A-097B00BC3927}"/>
              </a:ext>
            </a:extLst>
          </p:cNvPr>
          <p:cNvSpPr>
            <a:spLocks noGrp="1"/>
          </p:cNvSpPr>
          <p:nvPr>
            <p:ph type="title"/>
          </p:nvPr>
        </p:nvSpPr>
        <p:spPr>
          <a:xfrm>
            <a:off x="521368" y="705853"/>
            <a:ext cx="3376864" cy="633839"/>
          </a:xfrm>
        </p:spPr>
        <p:txBody>
          <a:bodyPr/>
          <a:lstStyle/>
          <a:p>
            <a:r>
              <a:rPr lang="en-US" sz="3200" b="1">
                <a:highlight>
                  <a:srgbClr val="FFFF00"/>
                </a:highlight>
              </a:rPr>
              <a:t>Product Features</a:t>
            </a:r>
          </a:p>
        </p:txBody>
      </p:sp>
      <p:sp>
        <p:nvSpPr>
          <p:cNvPr id="28" name="Oval 27">
            <a:extLst>
              <a:ext uri="{FF2B5EF4-FFF2-40B4-BE49-F238E27FC236}">
                <a16:creationId xmlns:a16="http://schemas.microsoft.com/office/drawing/2014/main" id="{BAFE6D1D-2D4A-F341-4AF8-C292FECB9CB1}"/>
              </a:ext>
            </a:extLst>
          </p:cNvPr>
          <p:cNvSpPr/>
          <p:nvPr/>
        </p:nvSpPr>
        <p:spPr>
          <a:xfrm>
            <a:off x="325361" y="1598399"/>
            <a:ext cx="3668057" cy="3662468"/>
          </a:xfrm>
          <a:prstGeom prst="ellipse">
            <a:avLst/>
          </a:prstGeom>
          <a:noFill/>
          <a:ln w="38100">
            <a:solidFill>
              <a:srgbClr val="FFC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9" name="Cross 28">
            <a:extLst>
              <a:ext uri="{FF2B5EF4-FFF2-40B4-BE49-F238E27FC236}">
                <a16:creationId xmlns:a16="http://schemas.microsoft.com/office/drawing/2014/main" id="{397672EC-A00A-40AA-C258-0D151531166E}"/>
              </a:ext>
            </a:extLst>
          </p:cNvPr>
          <p:cNvSpPr/>
          <p:nvPr/>
        </p:nvSpPr>
        <p:spPr>
          <a:xfrm>
            <a:off x="877269" y="2186355"/>
            <a:ext cx="2504559" cy="2542868"/>
          </a:xfrm>
          <a:prstGeom prst="plus">
            <a:avLst>
              <a:gd name="adj" fmla="val 32374"/>
            </a:avLst>
          </a:prstGeom>
          <a:noFill/>
          <a:ln w="38100">
            <a:solidFill>
              <a:srgbClr val="FFC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30" name="Picture 29">
            <a:extLst>
              <a:ext uri="{FF2B5EF4-FFF2-40B4-BE49-F238E27FC236}">
                <a16:creationId xmlns:a16="http://schemas.microsoft.com/office/drawing/2014/main" id="{46AFEE32-01F4-41D4-2D98-FEE914F71220}"/>
              </a:ext>
            </a:extLst>
          </p:cNvPr>
          <p:cNvPicPr>
            <a:picLocks noChangeAspect="1"/>
          </p:cNvPicPr>
          <p:nvPr/>
        </p:nvPicPr>
        <p:blipFill>
          <a:blip r:embed="rId3"/>
          <a:stretch>
            <a:fillRect/>
          </a:stretch>
        </p:blipFill>
        <p:spPr>
          <a:xfrm>
            <a:off x="1076760" y="2564626"/>
            <a:ext cx="2165257" cy="1828688"/>
          </a:xfrm>
          <a:prstGeom prst="rect">
            <a:avLst/>
          </a:prstGeom>
          <a:effectLst>
            <a:glow rad="139700">
              <a:schemeClr val="accent5">
                <a:satMod val="175000"/>
                <a:alpha val="40000"/>
              </a:schemeClr>
            </a:glow>
          </a:effectLst>
        </p:spPr>
      </p:pic>
      <p:graphicFrame>
        <p:nvGraphicFramePr>
          <p:cNvPr id="31" name="Table 27">
            <a:extLst>
              <a:ext uri="{FF2B5EF4-FFF2-40B4-BE49-F238E27FC236}">
                <a16:creationId xmlns:a16="http://schemas.microsoft.com/office/drawing/2014/main" id="{55E410ED-930B-0A47-A456-DEB6E94A164C}"/>
              </a:ext>
            </a:extLst>
          </p:cNvPr>
          <p:cNvGraphicFramePr>
            <a:graphicFrameLocks noGrp="1"/>
          </p:cNvGraphicFramePr>
          <p:nvPr>
            <p:extLst>
              <p:ext uri="{D42A27DB-BD31-4B8C-83A1-F6EECF244321}">
                <p14:modId xmlns:p14="http://schemas.microsoft.com/office/powerpoint/2010/main" val="616735895"/>
              </p:ext>
            </p:extLst>
          </p:nvPr>
        </p:nvGraphicFramePr>
        <p:xfrm>
          <a:off x="4657504" y="253237"/>
          <a:ext cx="3550327" cy="6055970"/>
        </p:xfrm>
        <a:graphic>
          <a:graphicData uri="http://schemas.openxmlformats.org/drawingml/2006/table">
            <a:tbl>
              <a:tblPr firstRow="1" bandRow="1">
                <a:tableStyleId>{2D5ABB26-0587-4C30-8999-92F81FD0307C}</a:tableStyleId>
              </a:tblPr>
              <a:tblGrid>
                <a:gridCol w="727739">
                  <a:extLst>
                    <a:ext uri="{9D8B030D-6E8A-4147-A177-3AD203B41FA5}">
                      <a16:colId xmlns:a16="http://schemas.microsoft.com/office/drawing/2014/main" val="1622108729"/>
                    </a:ext>
                  </a:extLst>
                </a:gridCol>
                <a:gridCol w="2822588">
                  <a:extLst>
                    <a:ext uri="{9D8B030D-6E8A-4147-A177-3AD203B41FA5}">
                      <a16:colId xmlns:a16="http://schemas.microsoft.com/office/drawing/2014/main" val="1450379266"/>
                    </a:ext>
                  </a:extLst>
                </a:gridCol>
              </a:tblGrid>
              <a:tr h="354610">
                <a:tc rowSpan="2">
                  <a:txBody>
                    <a:bodyPr/>
                    <a:lstStyle/>
                    <a:p>
                      <a:endParaRPr lang="en-PH" sz="2400">
                        <a:solidFill>
                          <a:schemeClr val="tx1"/>
                        </a:solidFill>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a:solidFill>
                            <a:schemeClr val="tx1"/>
                          </a:solidFill>
                          <a:latin typeface="Lato" panose="020F0502020204030203" pitchFamily="34" charset="0"/>
                          <a:ea typeface="Lato" panose="020F0502020204030203" pitchFamily="34" charset="0"/>
                          <a:cs typeface="Lato" panose="020F0502020204030203" pitchFamily="34" charset="0"/>
                        </a:rPr>
                        <a:t>Loan Amount</a:t>
                      </a:r>
                      <a:endParaRPr lang="en-PH" sz="1800" b="1">
                        <a:solidFill>
                          <a:schemeClr val="tx1"/>
                        </a:solidFill>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0170993"/>
                  </a:ext>
                </a:extLst>
              </a:tr>
              <a:tr h="385005">
                <a:tc vMerge="1">
                  <a:txBody>
                    <a:bodyPr/>
                    <a:lstStyle/>
                    <a:p>
                      <a:endParaRPr lang="en-PH"/>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Wingdings" panose="05000000000000000000" pitchFamily="2" charset="2"/>
                        <a:buChar char="ü"/>
                      </a:pPr>
                      <a:r>
                        <a:rPr lang="en-US" sz="1600">
                          <a:solidFill>
                            <a:schemeClr val="tx1"/>
                          </a:solidFill>
                          <a:latin typeface="Lato" panose="020F0502020204030203" pitchFamily="34" charset="0"/>
                          <a:ea typeface="Lato" panose="020F0502020204030203" pitchFamily="34" charset="0"/>
                          <a:cs typeface="Lato" panose="020F0502020204030203" pitchFamily="34" charset="0"/>
                        </a:rPr>
                        <a:t>P2,000-P10,000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4695899"/>
                  </a:ext>
                </a:extLst>
              </a:tr>
              <a:tr h="1292808">
                <a:tc>
                  <a:txBody>
                    <a:bodyPr/>
                    <a:lstStyle/>
                    <a:p>
                      <a:endParaRPr lang="en-PH" sz="2000">
                        <a:solidFill>
                          <a:schemeClr val="tx1"/>
                        </a:solidFill>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273050" indent="0"/>
                      <a:r>
                        <a:rPr lang="en-US" sz="1200" b="0" i="1" dirty="0">
                          <a:solidFill>
                            <a:schemeClr val="tx1"/>
                          </a:solidFill>
                          <a:latin typeface="Lato"/>
                          <a:ea typeface="Lato"/>
                          <a:cs typeface="Lato"/>
                        </a:rPr>
                        <a:t>Maximum loanable amount should be X3 of CBU withdrawable balance, whichever is lower, provided that it shall not exceed the current production loan. </a:t>
                      </a:r>
                    </a:p>
                    <a:p>
                      <a:pPr marL="273050" indent="0"/>
                      <a:endParaRPr lang="en-US" sz="1200" b="0" i="1">
                        <a:solidFill>
                          <a:schemeClr val="tx1"/>
                        </a:solidFill>
                        <a:latin typeface="Lato" panose="020F0502020204030203" pitchFamily="34" charset="0"/>
                        <a:ea typeface="Lato" panose="020F0502020204030203" pitchFamily="34" charset="0"/>
                        <a:cs typeface="Lato" panose="020F0502020204030203" pitchFamily="34" charset="0"/>
                      </a:endParaRPr>
                    </a:p>
                    <a:p>
                      <a:pPr marL="273050" indent="0"/>
                      <a:endParaRPr lang="en-PH" sz="1200" b="0" i="1">
                        <a:solidFill>
                          <a:schemeClr val="tx1"/>
                        </a:solidFill>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97469117"/>
                  </a:ext>
                </a:extLst>
              </a:tr>
              <a:tr h="344749">
                <a:tc rowSpan="2">
                  <a:txBody>
                    <a:bodyPr/>
                    <a:lstStyle/>
                    <a:p>
                      <a:endParaRPr lang="en-PH" sz="1800">
                        <a:solidFill>
                          <a:schemeClr val="tx1"/>
                        </a:solidFill>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a:solidFill>
                            <a:schemeClr val="tx1"/>
                          </a:solidFill>
                          <a:latin typeface="Lato" panose="020F0502020204030203" pitchFamily="34" charset="0"/>
                          <a:ea typeface="Lato" panose="020F0502020204030203" pitchFamily="34" charset="0"/>
                          <a:cs typeface="Lato" panose="020F0502020204030203" pitchFamily="34" charset="0"/>
                        </a:rPr>
                        <a:t>Loan Term</a:t>
                      </a:r>
                      <a:endParaRPr lang="en-PH" sz="1800" b="1">
                        <a:solidFill>
                          <a:schemeClr val="tx1"/>
                        </a:solidFill>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88353520"/>
                  </a:ext>
                </a:extLst>
              </a:tr>
              <a:tr h="1264079">
                <a:tc vMerge="1">
                  <a:txBody>
                    <a:bodyPr/>
                    <a:lstStyle/>
                    <a:p>
                      <a:endParaRPr lang="en-PH"/>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600" b="0" i="0" u="none" strike="noStrike" kern="1200">
                          <a:solidFill>
                            <a:schemeClr val="tx1"/>
                          </a:solidFill>
                          <a:effectLst/>
                          <a:latin typeface="Lato"/>
                          <a:ea typeface="Lato"/>
                          <a:cs typeface="Lato"/>
                        </a:rPr>
                        <a:t>6 months</a:t>
                      </a:r>
                      <a:endParaRPr lang="en-US" sz="1600" b="0" i="1" kern="1200">
                        <a:solidFill>
                          <a:schemeClr val="tx1"/>
                        </a:solidFill>
                        <a:effectLst/>
                        <a:latin typeface="Lato"/>
                        <a:ea typeface="Lato"/>
                        <a:cs typeface="Lato"/>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PH" sz="1600" b="0" i="0" kern="1200">
                          <a:solidFill>
                            <a:schemeClr val="tx1"/>
                          </a:solidFill>
                          <a:effectLst/>
                          <a:latin typeface="Lato" panose="020F0502020204030203" pitchFamily="34" charset="0"/>
                          <a:ea typeface="Lato" panose="020F0502020204030203" pitchFamily="34" charset="0"/>
                          <a:cs typeface="Lato" panose="020F0502020204030203" pitchFamily="34" charset="0"/>
                        </a:rPr>
                        <a:t>​</a:t>
                      </a:r>
                      <a:r>
                        <a:rPr lang="en-US" sz="1600" b="0" i="0" kern="1200">
                          <a:solidFill>
                            <a:schemeClr val="tx1"/>
                          </a:solidFill>
                          <a:effectLst/>
                          <a:latin typeface="Lato" panose="020F0502020204030203" pitchFamily="34" charset="0"/>
                          <a:ea typeface="Lato" panose="020F0502020204030203" pitchFamily="34" charset="0"/>
                          <a:cs typeface="Lato" panose="020F0502020204030203" pitchFamily="34" charset="0"/>
                        </a:rPr>
                        <a:t>With grace period (principal only) of a maximum of 8 weeks</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US" sz="1800" b="0" i="0" kern="1200">
                        <a:solidFill>
                          <a:schemeClr val="tx1"/>
                        </a:solidFill>
                        <a:effectLst/>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11574103"/>
                  </a:ext>
                </a:extLst>
              </a:tr>
              <a:tr h="411467">
                <a:tc rowSpan="2">
                  <a:txBody>
                    <a:bodyPr/>
                    <a:lstStyle/>
                    <a:p>
                      <a:endParaRPr lang="en-PH" sz="2000">
                        <a:solidFill>
                          <a:schemeClr val="tx1"/>
                        </a:solidFill>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b="1">
                          <a:solidFill>
                            <a:schemeClr val="tx1"/>
                          </a:solidFill>
                          <a:latin typeface="Lato" panose="020F0502020204030203" pitchFamily="34" charset="0"/>
                          <a:ea typeface="Lato" panose="020F0502020204030203" pitchFamily="34" charset="0"/>
                          <a:cs typeface="Lato" panose="020F0502020204030203" pitchFamily="34" charset="0"/>
                        </a:rPr>
                        <a:t>Repayment Frequency</a:t>
                      </a:r>
                      <a:endParaRPr lang="en-PH" sz="1800" b="1">
                        <a:solidFill>
                          <a:schemeClr val="tx1"/>
                        </a:solidFill>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68837476"/>
                  </a:ext>
                </a:extLst>
              </a:tr>
              <a:tr h="775685">
                <a:tc vMerge="1">
                  <a:txBody>
                    <a:bodyPr/>
                    <a:lstStyle/>
                    <a:p>
                      <a:endParaRPr lang="en-PH"/>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Wingdings" panose="05000000000000000000" pitchFamily="2" charset="2"/>
                        <a:buChar char="ü"/>
                      </a:pPr>
                      <a:r>
                        <a:rPr lang="en-US" sz="1600" b="0" i="0" u="none" strike="noStrike" kern="1200">
                          <a:solidFill>
                            <a:schemeClr val="tx1"/>
                          </a:solidFill>
                          <a:effectLst/>
                          <a:latin typeface="Lato" panose="020F0502020204030203" pitchFamily="34" charset="0"/>
                          <a:ea typeface="Lato" panose="020F0502020204030203" pitchFamily="34" charset="0"/>
                          <a:cs typeface="Lato" panose="020F0502020204030203" pitchFamily="34" charset="0"/>
                        </a:rPr>
                        <a:t>Depend on the payment frequency of the production loan availed. </a:t>
                      </a:r>
                      <a:endParaRPr lang="en-PH" sz="1600">
                        <a:solidFill>
                          <a:schemeClr val="tx1"/>
                        </a:solidFill>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54832442"/>
                  </a:ext>
                </a:extLst>
              </a:tr>
              <a:tr h="373478">
                <a:tc>
                  <a:txBody>
                    <a:bodyPr/>
                    <a:lstStyle/>
                    <a:p>
                      <a:endParaRPr lang="en-PH" sz="2000">
                        <a:solidFill>
                          <a:schemeClr val="tx1"/>
                        </a:solidFill>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Wingdings" panose="05000000000000000000" pitchFamily="2" charset="2"/>
                        <a:buNone/>
                      </a:pPr>
                      <a:endParaRPr lang="en-PH" sz="1800" b="1" kern="1200">
                        <a:solidFill>
                          <a:schemeClr val="tx1"/>
                        </a:solidFill>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51464506"/>
                  </a:ext>
                </a:extLst>
              </a:tr>
              <a:tr h="596058">
                <a:tc>
                  <a:txBody>
                    <a:bodyPr/>
                    <a:lstStyle/>
                    <a:p>
                      <a:endParaRPr lang="en-PH" sz="2000">
                        <a:solidFill>
                          <a:schemeClr val="tx1"/>
                        </a:solidFill>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buFont typeface="Wingdings" panose="05000000000000000000" pitchFamily="2" charset="2"/>
                        <a:buChar char="ü"/>
                      </a:pPr>
                      <a:endParaRPr lang="en-PH" sz="1800">
                        <a:solidFill>
                          <a:schemeClr val="tx1"/>
                        </a:solidFill>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18271144"/>
                  </a:ext>
                </a:extLst>
              </a:tr>
            </a:tbl>
          </a:graphicData>
        </a:graphic>
      </p:graphicFrame>
      <p:pic>
        <p:nvPicPr>
          <p:cNvPr id="32" name="Picture 31">
            <a:extLst>
              <a:ext uri="{FF2B5EF4-FFF2-40B4-BE49-F238E27FC236}">
                <a16:creationId xmlns:a16="http://schemas.microsoft.com/office/drawing/2014/main" id="{F404AC94-B500-734C-D124-20631F18023A}"/>
              </a:ext>
            </a:extLst>
          </p:cNvPr>
          <p:cNvPicPr>
            <a:picLocks noChangeAspect="1"/>
          </p:cNvPicPr>
          <p:nvPr/>
        </p:nvPicPr>
        <p:blipFill>
          <a:blip r:embed="rId4"/>
          <a:stretch>
            <a:fillRect/>
          </a:stretch>
        </p:blipFill>
        <p:spPr>
          <a:xfrm>
            <a:off x="4571141" y="343964"/>
            <a:ext cx="573074" cy="566977"/>
          </a:xfrm>
          <a:prstGeom prst="rect">
            <a:avLst/>
          </a:prstGeom>
        </p:spPr>
      </p:pic>
      <p:pic>
        <p:nvPicPr>
          <p:cNvPr id="33" name="Picture 32">
            <a:extLst>
              <a:ext uri="{FF2B5EF4-FFF2-40B4-BE49-F238E27FC236}">
                <a16:creationId xmlns:a16="http://schemas.microsoft.com/office/drawing/2014/main" id="{37697AC2-4FEB-2FAB-D394-CE5178B9F932}"/>
              </a:ext>
            </a:extLst>
          </p:cNvPr>
          <p:cNvPicPr>
            <a:picLocks noChangeAspect="1"/>
          </p:cNvPicPr>
          <p:nvPr/>
        </p:nvPicPr>
        <p:blipFill>
          <a:blip r:embed="rId5"/>
          <a:stretch>
            <a:fillRect/>
          </a:stretch>
        </p:blipFill>
        <p:spPr>
          <a:xfrm>
            <a:off x="4640583" y="2411501"/>
            <a:ext cx="573074" cy="573074"/>
          </a:xfrm>
          <a:prstGeom prst="rect">
            <a:avLst/>
          </a:prstGeom>
        </p:spPr>
      </p:pic>
      <p:pic>
        <p:nvPicPr>
          <p:cNvPr id="34" name="Picture 33">
            <a:extLst>
              <a:ext uri="{FF2B5EF4-FFF2-40B4-BE49-F238E27FC236}">
                <a16:creationId xmlns:a16="http://schemas.microsoft.com/office/drawing/2014/main" id="{A2CB4DA0-6E78-D2A8-6E6D-3DE756621255}"/>
              </a:ext>
            </a:extLst>
          </p:cNvPr>
          <p:cNvPicPr>
            <a:picLocks noChangeAspect="1"/>
          </p:cNvPicPr>
          <p:nvPr/>
        </p:nvPicPr>
        <p:blipFill>
          <a:blip r:embed="rId6"/>
          <a:stretch>
            <a:fillRect/>
          </a:stretch>
        </p:blipFill>
        <p:spPr>
          <a:xfrm>
            <a:off x="4657504" y="4156149"/>
            <a:ext cx="573074" cy="573074"/>
          </a:xfrm>
          <a:prstGeom prst="rect">
            <a:avLst/>
          </a:prstGeom>
        </p:spPr>
      </p:pic>
      <p:pic>
        <p:nvPicPr>
          <p:cNvPr id="35" name="Picture 34">
            <a:extLst>
              <a:ext uri="{FF2B5EF4-FFF2-40B4-BE49-F238E27FC236}">
                <a16:creationId xmlns:a16="http://schemas.microsoft.com/office/drawing/2014/main" id="{150381AF-BE44-BAA9-A86F-6B85D543FFED}"/>
              </a:ext>
            </a:extLst>
          </p:cNvPr>
          <p:cNvPicPr>
            <a:picLocks noChangeAspect="1"/>
          </p:cNvPicPr>
          <p:nvPr/>
        </p:nvPicPr>
        <p:blipFill>
          <a:blip r:embed="rId7"/>
          <a:stretch>
            <a:fillRect/>
          </a:stretch>
        </p:blipFill>
        <p:spPr>
          <a:xfrm>
            <a:off x="8277968" y="1713787"/>
            <a:ext cx="573074" cy="573074"/>
          </a:xfrm>
          <a:prstGeom prst="rect">
            <a:avLst/>
          </a:prstGeom>
        </p:spPr>
      </p:pic>
      <p:pic>
        <p:nvPicPr>
          <p:cNvPr id="36" name="Picture 35">
            <a:extLst>
              <a:ext uri="{FF2B5EF4-FFF2-40B4-BE49-F238E27FC236}">
                <a16:creationId xmlns:a16="http://schemas.microsoft.com/office/drawing/2014/main" id="{9D5492C6-2B04-0702-21B3-FD1BFD6B6317}"/>
              </a:ext>
            </a:extLst>
          </p:cNvPr>
          <p:cNvPicPr>
            <a:picLocks noChangeAspect="1"/>
          </p:cNvPicPr>
          <p:nvPr/>
        </p:nvPicPr>
        <p:blipFill>
          <a:blip r:embed="rId8"/>
          <a:stretch>
            <a:fillRect/>
          </a:stretch>
        </p:blipFill>
        <p:spPr>
          <a:xfrm>
            <a:off x="8334588" y="2984575"/>
            <a:ext cx="573074" cy="573074"/>
          </a:xfrm>
          <a:prstGeom prst="rect">
            <a:avLst/>
          </a:prstGeom>
        </p:spPr>
      </p:pic>
      <p:grpSp>
        <p:nvGrpSpPr>
          <p:cNvPr id="37" name="Group 36">
            <a:extLst>
              <a:ext uri="{FF2B5EF4-FFF2-40B4-BE49-F238E27FC236}">
                <a16:creationId xmlns:a16="http://schemas.microsoft.com/office/drawing/2014/main" id="{FDFBF095-58A8-D296-4580-CEA884C935CF}"/>
              </a:ext>
            </a:extLst>
          </p:cNvPr>
          <p:cNvGrpSpPr/>
          <p:nvPr/>
        </p:nvGrpSpPr>
        <p:grpSpPr>
          <a:xfrm>
            <a:off x="8294194" y="242247"/>
            <a:ext cx="572700" cy="572700"/>
            <a:chOff x="6233774" y="1425062"/>
            <a:chExt cx="572700" cy="572700"/>
          </a:xfrm>
        </p:grpSpPr>
        <p:sp>
          <p:nvSpPr>
            <p:cNvPr id="38" name="Google Shape;839;p61">
              <a:extLst>
                <a:ext uri="{FF2B5EF4-FFF2-40B4-BE49-F238E27FC236}">
                  <a16:creationId xmlns:a16="http://schemas.microsoft.com/office/drawing/2014/main" id="{A62EAC44-473D-8910-6B59-83BDF2EDC4A2}"/>
                </a:ext>
              </a:extLst>
            </p:cNvPr>
            <p:cNvSpPr/>
            <p:nvPr/>
          </p:nvSpPr>
          <p:spPr>
            <a:xfrm>
              <a:off x="6233774" y="1425062"/>
              <a:ext cx="572700" cy="572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 name="Google Shape;16450;p127">
              <a:extLst>
                <a:ext uri="{FF2B5EF4-FFF2-40B4-BE49-F238E27FC236}">
                  <a16:creationId xmlns:a16="http://schemas.microsoft.com/office/drawing/2014/main" id="{9E8AD0D6-5E8C-A436-D1F3-EB5EA07A82DB}"/>
                </a:ext>
              </a:extLst>
            </p:cNvPr>
            <p:cNvGrpSpPr/>
            <p:nvPr/>
          </p:nvGrpSpPr>
          <p:grpSpPr>
            <a:xfrm>
              <a:off x="6348052" y="1531964"/>
              <a:ext cx="342824" cy="351228"/>
              <a:chOff x="870773" y="3357985"/>
              <a:chExt cx="342824" cy="351228"/>
            </a:xfrm>
          </p:grpSpPr>
          <p:sp>
            <p:nvSpPr>
              <p:cNvPr id="40" name="Google Shape;16451;p127">
                <a:extLst>
                  <a:ext uri="{FF2B5EF4-FFF2-40B4-BE49-F238E27FC236}">
                    <a16:creationId xmlns:a16="http://schemas.microsoft.com/office/drawing/2014/main" id="{23FECE8C-709A-CA60-6DDF-60B806E26FE5}"/>
                  </a:ext>
                </a:extLst>
              </p:cNvPr>
              <p:cNvSpPr/>
              <p:nvPr/>
            </p:nvSpPr>
            <p:spPr>
              <a:xfrm>
                <a:off x="870773" y="3357985"/>
                <a:ext cx="342824" cy="351228"/>
              </a:xfrm>
              <a:custGeom>
                <a:avLst/>
                <a:gdLst/>
                <a:ahLst/>
                <a:cxnLst/>
                <a:rect l="l" t="t" r="r" b="b"/>
                <a:pathLst>
                  <a:path w="13055" h="13375" extrusionOk="0">
                    <a:moveTo>
                      <a:pt x="6523" y="0"/>
                    </a:moveTo>
                    <a:cubicBezTo>
                      <a:pt x="6339" y="0"/>
                      <a:pt x="6155" y="89"/>
                      <a:pt x="6049" y="266"/>
                    </a:cubicBezTo>
                    <a:lnTo>
                      <a:pt x="5255" y="1606"/>
                    </a:lnTo>
                    <a:cubicBezTo>
                      <a:pt x="5152" y="1777"/>
                      <a:pt x="4972" y="1874"/>
                      <a:pt x="4786" y="1874"/>
                    </a:cubicBezTo>
                    <a:cubicBezTo>
                      <a:pt x="4712" y="1874"/>
                      <a:pt x="4637" y="1859"/>
                      <a:pt x="4566" y="1826"/>
                    </a:cubicBezTo>
                    <a:lnTo>
                      <a:pt x="3130" y="1213"/>
                    </a:lnTo>
                    <a:cubicBezTo>
                      <a:pt x="3059" y="1183"/>
                      <a:pt x="2986" y="1169"/>
                      <a:pt x="2915" y="1169"/>
                    </a:cubicBezTo>
                    <a:cubicBezTo>
                      <a:pt x="2606" y="1169"/>
                      <a:pt x="2334" y="1434"/>
                      <a:pt x="2365" y="1768"/>
                    </a:cubicBezTo>
                    <a:lnTo>
                      <a:pt x="2508" y="3328"/>
                    </a:lnTo>
                    <a:cubicBezTo>
                      <a:pt x="2527" y="3606"/>
                      <a:pt x="2346" y="3855"/>
                      <a:pt x="2078" y="3912"/>
                    </a:cubicBezTo>
                    <a:lnTo>
                      <a:pt x="566" y="4257"/>
                    </a:lnTo>
                    <a:cubicBezTo>
                      <a:pt x="154" y="4343"/>
                      <a:pt x="1" y="4840"/>
                      <a:pt x="278" y="5156"/>
                    </a:cubicBezTo>
                    <a:lnTo>
                      <a:pt x="1302" y="6324"/>
                    </a:lnTo>
                    <a:cubicBezTo>
                      <a:pt x="1484" y="6534"/>
                      <a:pt x="1484" y="6841"/>
                      <a:pt x="1302" y="7051"/>
                    </a:cubicBezTo>
                    <a:lnTo>
                      <a:pt x="278" y="8219"/>
                    </a:lnTo>
                    <a:cubicBezTo>
                      <a:pt x="1" y="8535"/>
                      <a:pt x="154" y="9023"/>
                      <a:pt x="566" y="9118"/>
                    </a:cubicBezTo>
                    <a:lnTo>
                      <a:pt x="2078" y="9463"/>
                    </a:lnTo>
                    <a:cubicBezTo>
                      <a:pt x="2355" y="9520"/>
                      <a:pt x="2537" y="9779"/>
                      <a:pt x="2508" y="10047"/>
                    </a:cubicBezTo>
                    <a:lnTo>
                      <a:pt x="2365" y="11607"/>
                    </a:lnTo>
                    <a:cubicBezTo>
                      <a:pt x="2334" y="11941"/>
                      <a:pt x="2606" y="12206"/>
                      <a:pt x="2915" y="12206"/>
                    </a:cubicBezTo>
                    <a:cubicBezTo>
                      <a:pt x="2986" y="12206"/>
                      <a:pt x="3059" y="12192"/>
                      <a:pt x="3130" y="12162"/>
                    </a:cubicBezTo>
                    <a:lnTo>
                      <a:pt x="4566" y="11549"/>
                    </a:lnTo>
                    <a:cubicBezTo>
                      <a:pt x="4637" y="11520"/>
                      <a:pt x="4711" y="11507"/>
                      <a:pt x="4783" y="11507"/>
                    </a:cubicBezTo>
                    <a:cubicBezTo>
                      <a:pt x="4975" y="11507"/>
                      <a:pt x="5158" y="11603"/>
                      <a:pt x="5255" y="11769"/>
                    </a:cubicBezTo>
                    <a:lnTo>
                      <a:pt x="6049" y="13109"/>
                    </a:lnTo>
                    <a:cubicBezTo>
                      <a:pt x="6155" y="13286"/>
                      <a:pt x="6339" y="13375"/>
                      <a:pt x="6523" y="13375"/>
                    </a:cubicBezTo>
                    <a:cubicBezTo>
                      <a:pt x="6707" y="13375"/>
                      <a:pt x="6892" y="13286"/>
                      <a:pt x="6997" y="13109"/>
                    </a:cubicBezTo>
                    <a:lnTo>
                      <a:pt x="7791" y="11769"/>
                    </a:lnTo>
                    <a:cubicBezTo>
                      <a:pt x="7894" y="11598"/>
                      <a:pt x="8076" y="11505"/>
                      <a:pt x="8262" y="11505"/>
                    </a:cubicBezTo>
                    <a:cubicBezTo>
                      <a:pt x="8336" y="11505"/>
                      <a:pt x="8410" y="11519"/>
                      <a:pt x="8480" y="11549"/>
                    </a:cubicBezTo>
                    <a:lnTo>
                      <a:pt x="9916" y="12162"/>
                    </a:lnTo>
                    <a:cubicBezTo>
                      <a:pt x="9987" y="12192"/>
                      <a:pt x="10060" y="12206"/>
                      <a:pt x="10131" y="12206"/>
                    </a:cubicBezTo>
                    <a:cubicBezTo>
                      <a:pt x="10440" y="12206"/>
                      <a:pt x="10712" y="11941"/>
                      <a:pt x="10681" y="11607"/>
                    </a:cubicBezTo>
                    <a:lnTo>
                      <a:pt x="10547" y="10056"/>
                    </a:lnTo>
                    <a:cubicBezTo>
                      <a:pt x="10519" y="9779"/>
                      <a:pt x="10701" y="9520"/>
                      <a:pt x="10968" y="9463"/>
                    </a:cubicBezTo>
                    <a:lnTo>
                      <a:pt x="12490" y="9118"/>
                    </a:lnTo>
                    <a:cubicBezTo>
                      <a:pt x="12892" y="9023"/>
                      <a:pt x="13055" y="8535"/>
                      <a:pt x="12777" y="8219"/>
                    </a:cubicBezTo>
                    <a:lnTo>
                      <a:pt x="11753" y="7051"/>
                    </a:lnTo>
                    <a:cubicBezTo>
                      <a:pt x="11571" y="6841"/>
                      <a:pt x="11571" y="6534"/>
                      <a:pt x="11753" y="6324"/>
                    </a:cubicBezTo>
                    <a:lnTo>
                      <a:pt x="12777" y="5156"/>
                    </a:lnTo>
                    <a:cubicBezTo>
                      <a:pt x="13055" y="4840"/>
                      <a:pt x="12892" y="4343"/>
                      <a:pt x="12481" y="4257"/>
                    </a:cubicBezTo>
                    <a:lnTo>
                      <a:pt x="10968" y="3912"/>
                    </a:lnTo>
                    <a:cubicBezTo>
                      <a:pt x="10701" y="3845"/>
                      <a:pt x="10519" y="3596"/>
                      <a:pt x="10538" y="3319"/>
                    </a:cubicBezTo>
                    <a:lnTo>
                      <a:pt x="10681" y="1768"/>
                    </a:lnTo>
                    <a:cubicBezTo>
                      <a:pt x="10712" y="1429"/>
                      <a:pt x="10445" y="1164"/>
                      <a:pt x="10140" y="1164"/>
                    </a:cubicBezTo>
                    <a:cubicBezTo>
                      <a:pt x="10066" y="1164"/>
                      <a:pt x="9990" y="1180"/>
                      <a:pt x="9916" y="1213"/>
                    </a:cubicBezTo>
                    <a:lnTo>
                      <a:pt x="8480" y="1826"/>
                    </a:lnTo>
                    <a:cubicBezTo>
                      <a:pt x="8410" y="1854"/>
                      <a:pt x="8337" y="1868"/>
                      <a:pt x="8264" y="1868"/>
                    </a:cubicBezTo>
                    <a:cubicBezTo>
                      <a:pt x="8072" y="1868"/>
                      <a:pt x="7889" y="1770"/>
                      <a:pt x="7791" y="1596"/>
                    </a:cubicBezTo>
                    <a:lnTo>
                      <a:pt x="6997" y="266"/>
                    </a:lnTo>
                    <a:cubicBezTo>
                      <a:pt x="6892" y="89"/>
                      <a:pt x="6707" y="0"/>
                      <a:pt x="6523" y="0"/>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6452;p127">
                <a:extLst>
                  <a:ext uri="{FF2B5EF4-FFF2-40B4-BE49-F238E27FC236}">
                    <a16:creationId xmlns:a16="http://schemas.microsoft.com/office/drawing/2014/main" id="{57B22AD0-E628-B4A4-EC48-7A3537F69226}"/>
                  </a:ext>
                </a:extLst>
              </p:cNvPr>
              <p:cNvSpPr/>
              <p:nvPr/>
            </p:nvSpPr>
            <p:spPr>
              <a:xfrm>
                <a:off x="1024577" y="3357985"/>
                <a:ext cx="50288" cy="49238"/>
              </a:xfrm>
              <a:custGeom>
                <a:avLst/>
                <a:gdLst/>
                <a:ahLst/>
                <a:cxnLst/>
                <a:rect l="l" t="t" r="r" b="b"/>
                <a:pathLst>
                  <a:path w="1915" h="1875" extrusionOk="0">
                    <a:moveTo>
                      <a:pt x="666" y="0"/>
                    </a:moveTo>
                    <a:cubicBezTo>
                      <a:pt x="482" y="0"/>
                      <a:pt x="298" y="89"/>
                      <a:pt x="192" y="266"/>
                    </a:cubicBezTo>
                    <a:lnTo>
                      <a:pt x="1" y="591"/>
                    </a:lnTo>
                    <a:lnTo>
                      <a:pt x="604" y="1606"/>
                    </a:lnTo>
                    <a:cubicBezTo>
                      <a:pt x="706" y="1777"/>
                      <a:pt x="887" y="1874"/>
                      <a:pt x="1073" y="1874"/>
                    </a:cubicBezTo>
                    <a:cubicBezTo>
                      <a:pt x="1147" y="1874"/>
                      <a:pt x="1222" y="1859"/>
                      <a:pt x="1293" y="1826"/>
                    </a:cubicBezTo>
                    <a:lnTo>
                      <a:pt x="1915" y="1567"/>
                    </a:lnTo>
                    <a:lnTo>
                      <a:pt x="1140" y="266"/>
                    </a:lnTo>
                    <a:cubicBezTo>
                      <a:pt x="1035" y="89"/>
                      <a:pt x="850" y="0"/>
                      <a:pt x="666" y="0"/>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6453;p127">
                <a:extLst>
                  <a:ext uri="{FF2B5EF4-FFF2-40B4-BE49-F238E27FC236}">
                    <a16:creationId xmlns:a16="http://schemas.microsoft.com/office/drawing/2014/main" id="{45A41A61-FED5-347D-5A3D-B6E8AFA278D2}"/>
                  </a:ext>
                </a:extLst>
              </p:cNvPr>
              <p:cNvSpPr/>
              <p:nvPr/>
            </p:nvSpPr>
            <p:spPr>
              <a:xfrm>
                <a:off x="1111787" y="3388552"/>
                <a:ext cx="101810" cy="289832"/>
              </a:xfrm>
              <a:custGeom>
                <a:avLst/>
                <a:gdLst/>
                <a:ahLst/>
                <a:cxnLst/>
                <a:rect l="l" t="t" r="r" b="b"/>
                <a:pathLst>
                  <a:path w="3877" h="11037" extrusionOk="0">
                    <a:moveTo>
                      <a:pt x="962" y="0"/>
                    </a:moveTo>
                    <a:cubicBezTo>
                      <a:pt x="888" y="0"/>
                      <a:pt x="812" y="16"/>
                      <a:pt x="738" y="49"/>
                    </a:cubicBezTo>
                    <a:lnTo>
                      <a:pt x="116" y="308"/>
                    </a:lnTo>
                    <a:cubicBezTo>
                      <a:pt x="164" y="403"/>
                      <a:pt x="183" y="499"/>
                      <a:pt x="173" y="604"/>
                    </a:cubicBezTo>
                    <a:lnTo>
                      <a:pt x="30" y="2155"/>
                    </a:lnTo>
                    <a:cubicBezTo>
                      <a:pt x="1" y="2432"/>
                      <a:pt x="183" y="2681"/>
                      <a:pt x="460" y="2748"/>
                    </a:cubicBezTo>
                    <a:lnTo>
                      <a:pt x="1972" y="3093"/>
                    </a:lnTo>
                    <a:cubicBezTo>
                      <a:pt x="2384" y="3179"/>
                      <a:pt x="2537" y="3676"/>
                      <a:pt x="2269" y="3992"/>
                    </a:cubicBezTo>
                    <a:lnTo>
                      <a:pt x="1245" y="5160"/>
                    </a:lnTo>
                    <a:cubicBezTo>
                      <a:pt x="1054" y="5361"/>
                      <a:pt x="1054" y="5677"/>
                      <a:pt x="1245" y="5887"/>
                    </a:cubicBezTo>
                    <a:lnTo>
                      <a:pt x="2269" y="7055"/>
                    </a:lnTo>
                    <a:cubicBezTo>
                      <a:pt x="2537" y="7371"/>
                      <a:pt x="2384" y="7859"/>
                      <a:pt x="1972" y="7954"/>
                    </a:cubicBezTo>
                    <a:lnTo>
                      <a:pt x="460" y="8299"/>
                    </a:lnTo>
                    <a:cubicBezTo>
                      <a:pt x="183" y="8356"/>
                      <a:pt x="1" y="8615"/>
                      <a:pt x="30" y="8883"/>
                    </a:cubicBezTo>
                    <a:lnTo>
                      <a:pt x="173" y="10433"/>
                    </a:lnTo>
                    <a:cubicBezTo>
                      <a:pt x="183" y="10538"/>
                      <a:pt x="164" y="10634"/>
                      <a:pt x="116" y="10730"/>
                    </a:cubicBezTo>
                    <a:lnTo>
                      <a:pt x="738" y="10988"/>
                    </a:lnTo>
                    <a:cubicBezTo>
                      <a:pt x="812" y="11022"/>
                      <a:pt x="888" y="11037"/>
                      <a:pt x="962" y="11037"/>
                    </a:cubicBezTo>
                    <a:cubicBezTo>
                      <a:pt x="1267" y="11037"/>
                      <a:pt x="1534" y="10772"/>
                      <a:pt x="1503" y="10433"/>
                    </a:cubicBezTo>
                    <a:lnTo>
                      <a:pt x="1360" y="8892"/>
                    </a:lnTo>
                    <a:cubicBezTo>
                      <a:pt x="1331" y="8615"/>
                      <a:pt x="1513" y="8356"/>
                      <a:pt x="1790" y="8299"/>
                    </a:cubicBezTo>
                    <a:lnTo>
                      <a:pt x="3303" y="7954"/>
                    </a:lnTo>
                    <a:cubicBezTo>
                      <a:pt x="3714" y="7859"/>
                      <a:pt x="3867" y="7371"/>
                      <a:pt x="3599" y="7055"/>
                    </a:cubicBezTo>
                    <a:lnTo>
                      <a:pt x="2575" y="5887"/>
                    </a:lnTo>
                    <a:cubicBezTo>
                      <a:pt x="2393" y="5677"/>
                      <a:pt x="2393" y="5370"/>
                      <a:pt x="2575" y="5160"/>
                    </a:cubicBezTo>
                    <a:lnTo>
                      <a:pt x="3599" y="3992"/>
                    </a:lnTo>
                    <a:cubicBezTo>
                      <a:pt x="3877" y="3676"/>
                      <a:pt x="3714" y="3179"/>
                      <a:pt x="3303" y="3093"/>
                    </a:cubicBezTo>
                    <a:lnTo>
                      <a:pt x="1790" y="2748"/>
                    </a:lnTo>
                    <a:cubicBezTo>
                      <a:pt x="1523" y="2681"/>
                      <a:pt x="1341" y="2432"/>
                      <a:pt x="1360" y="2155"/>
                    </a:cubicBezTo>
                    <a:lnTo>
                      <a:pt x="1503" y="604"/>
                    </a:lnTo>
                    <a:cubicBezTo>
                      <a:pt x="1534" y="265"/>
                      <a:pt x="1267" y="0"/>
                      <a:pt x="962" y="0"/>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6454;p127">
                <a:extLst>
                  <a:ext uri="{FF2B5EF4-FFF2-40B4-BE49-F238E27FC236}">
                    <a16:creationId xmlns:a16="http://schemas.microsoft.com/office/drawing/2014/main" id="{A5374822-1E5B-D40E-0ADD-D4E5EA1E6813}"/>
                  </a:ext>
                </a:extLst>
              </p:cNvPr>
              <p:cNvSpPr/>
              <p:nvPr/>
            </p:nvSpPr>
            <p:spPr>
              <a:xfrm>
                <a:off x="1024840" y="3660133"/>
                <a:ext cx="50025" cy="49080"/>
              </a:xfrm>
              <a:custGeom>
                <a:avLst/>
                <a:gdLst/>
                <a:ahLst/>
                <a:cxnLst/>
                <a:rect l="l" t="t" r="r" b="b"/>
                <a:pathLst>
                  <a:path w="1905" h="1869" extrusionOk="0">
                    <a:moveTo>
                      <a:pt x="1071" y="1"/>
                    </a:moveTo>
                    <a:cubicBezTo>
                      <a:pt x="883" y="1"/>
                      <a:pt x="698" y="97"/>
                      <a:pt x="594" y="263"/>
                    </a:cubicBezTo>
                    <a:lnTo>
                      <a:pt x="0" y="1278"/>
                    </a:lnTo>
                    <a:lnTo>
                      <a:pt x="192" y="1603"/>
                    </a:lnTo>
                    <a:cubicBezTo>
                      <a:pt x="297" y="1780"/>
                      <a:pt x="479" y="1869"/>
                      <a:pt x="662" y="1869"/>
                    </a:cubicBezTo>
                    <a:cubicBezTo>
                      <a:pt x="845" y="1869"/>
                      <a:pt x="1029" y="1780"/>
                      <a:pt x="1139" y="1603"/>
                    </a:cubicBezTo>
                    <a:lnTo>
                      <a:pt x="1905" y="311"/>
                    </a:lnTo>
                    <a:lnTo>
                      <a:pt x="1283" y="43"/>
                    </a:lnTo>
                    <a:cubicBezTo>
                      <a:pt x="1215" y="14"/>
                      <a:pt x="1143" y="1"/>
                      <a:pt x="1071" y="1"/>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6455;p127">
                <a:extLst>
                  <a:ext uri="{FF2B5EF4-FFF2-40B4-BE49-F238E27FC236}">
                    <a16:creationId xmlns:a16="http://schemas.microsoft.com/office/drawing/2014/main" id="{524F443B-0426-15E2-C859-53F0F5690936}"/>
                  </a:ext>
                </a:extLst>
              </p:cNvPr>
              <p:cNvSpPr/>
              <p:nvPr/>
            </p:nvSpPr>
            <p:spPr>
              <a:xfrm>
                <a:off x="939390" y="3431067"/>
                <a:ext cx="211892" cy="205222"/>
              </a:xfrm>
              <a:custGeom>
                <a:avLst/>
                <a:gdLst/>
                <a:ahLst/>
                <a:cxnLst/>
                <a:rect l="l" t="t" r="r" b="b"/>
                <a:pathLst>
                  <a:path w="8069" h="7815" extrusionOk="0">
                    <a:moveTo>
                      <a:pt x="3916" y="0"/>
                    </a:moveTo>
                    <a:cubicBezTo>
                      <a:pt x="1659" y="0"/>
                      <a:pt x="1" y="1823"/>
                      <a:pt x="1" y="3895"/>
                    </a:cubicBezTo>
                    <a:cubicBezTo>
                      <a:pt x="1" y="6224"/>
                      <a:pt x="1910" y="7814"/>
                      <a:pt x="3928" y="7814"/>
                    </a:cubicBezTo>
                    <a:cubicBezTo>
                      <a:pt x="4771" y="7814"/>
                      <a:pt x="5634" y="7537"/>
                      <a:pt x="6384" y="6919"/>
                    </a:cubicBezTo>
                    <a:cubicBezTo>
                      <a:pt x="7561" y="5962"/>
                      <a:pt x="8068" y="4421"/>
                      <a:pt x="7695" y="2947"/>
                    </a:cubicBezTo>
                    <a:cubicBezTo>
                      <a:pt x="7331" y="1483"/>
                      <a:pt x="6154" y="363"/>
                      <a:pt x="4671" y="67"/>
                    </a:cubicBezTo>
                    <a:cubicBezTo>
                      <a:pt x="4413" y="22"/>
                      <a:pt x="4161" y="0"/>
                      <a:pt x="3916" y="0"/>
                    </a:cubicBezTo>
                    <a:close/>
                  </a:path>
                </a:pathLst>
              </a:custGeom>
              <a:solidFill>
                <a:srgbClr val="C1C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6456;p127">
                <a:extLst>
                  <a:ext uri="{FF2B5EF4-FFF2-40B4-BE49-F238E27FC236}">
                    <a16:creationId xmlns:a16="http://schemas.microsoft.com/office/drawing/2014/main" id="{9814FE15-F4DB-A66A-ACD8-D79B031F0421}"/>
                  </a:ext>
                </a:extLst>
              </p:cNvPr>
              <p:cNvSpPr/>
              <p:nvPr/>
            </p:nvSpPr>
            <p:spPr>
              <a:xfrm>
                <a:off x="970561" y="3470641"/>
                <a:ext cx="60345" cy="51653"/>
              </a:xfrm>
              <a:custGeom>
                <a:avLst/>
                <a:gdLst/>
                <a:ahLst/>
                <a:cxnLst/>
                <a:rect l="l" t="t" r="r" b="b"/>
                <a:pathLst>
                  <a:path w="2298" h="1967" extrusionOk="0">
                    <a:moveTo>
                      <a:pt x="1315" y="409"/>
                    </a:moveTo>
                    <a:cubicBezTo>
                      <a:pt x="1456" y="409"/>
                      <a:pt x="1599" y="461"/>
                      <a:pt x="1713" y="579"/>
                    </a:cubicBezTo>
                    <a:cubicBezTo>
                      <a:pt x="2077" y="943"/>
                      <a:pt x="1819" y="1555"/>
                      <a:pt x="1311" y="1555"/>
                    </a:cubicBezTo>
                    <a:cubicBezTo>
                      <a:pt x="996" y="1555"/>
                      <a:pt x="737" y="1297"/>
                      <a:pt x="737" y="981"/>
                    </a:cubicBezTo>
                    <a:cubicBezTo>
                      <a:pt x="737" y="638"/>
                      <a:pt x="1022" y="409"/>
                      <a:pt x="1315" y="409"/>
                    </a:cubicBezTo>
                    <a:close/>
                    <a:moveTo>
                      <a:pt x="1308" y="0"/>
                    </a:moveTo>
                    <a:cubicBezTo>
                      <a:pt x="1067" y="0"/>
                      <a:pt x="821" y="90"/>
                      <a:pt x="622" y="292"/>
                    </a:cubicBezTo>
                    <a:cubicBezTo>
                      <a:pt x="0" y="905"/>
                      <a:pt x="441" y="1967"/>
                      <a:pt x="1311" y="1967"/>
                    </a:cubicBezTo>
                    <a:cubicBezTo>
                      <a:pt x="1857" y="1967"/>
                      <a:pt x="2288" y="1527"/>
                      <a:pt x="2297" y="981"/>
                    </a:cubicBezTo>
                    <a:cubicBezTo>
                      <a:pt x="2297" y="392"/>
                      <a:pt x="1812" y="0"/>
                      <a:pt x="1308" y="0"/>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6457;p127">
                <a:extLst>
                  <a:ext uri="{FF2B5EF4-FFF2-40B4-BE49-F238E27FC236}">
                    <a16:creationId xmlns:a16="http://schemas.microsoft.com/office/drawing/2014/main" id="{540A14F0-47E3-7077-5E57-082C2897C6EB}"/>
                  </a:ext>
                </a:extLst>
              </p:cNvPr>
              <p:cNvSpPr/>
              <p:nvPr/>
            </p:nvSpPr>
            <p:spPr>
              <a:xfrm>
                <a:off x="1053332" y="3545140"/>
                <a:ext cx="60188" cy="51417"/>
              </a:xfrm>
              <a:custGeom>
                <a:avLst/>
                <a:gdLst/>
                <a:ahLst/>
                <a:cxnLst/>
                <a:rect l="l" t="t" r="r" b="b"/>
                <a:pathLst>
                  <a:path w="2292" h="1958" extrusionOk="0">
                    <a:moveTo>
                      <a:pt x="983" y="393"/>
                    </a:moveTo>
                    <a:cubicBezTo>
                      <a:pt x="1299" y="403"/>
                      <a:pt x="1557" y="652"/>
                      <a:pt x="1557" y="967"/>
                    </a:cubicBezTo>
                    <a:cubicBezTo>
                      <a:pt x="1557" y="1317"/>
                      <a:pt x="1276" y="1549"/>
                      <a:pt x="982" y="1549"/>
                    </a:cubicBezTo>
                    <a:cubicBezTo>
                      <a:pt x="841" y="1549"/>
                      <a:pt x="698" y="1496"/>
                      <a:pt x="581" y="1379"/>
                    </a:cubicBezTo>
                    <a:cubicBezTo>
                      <a:pt x="217" y="1015"/>
                      <a:pt x="475" y="393"/>
                      <a:pt x="983" y="393"/>
                    </a:cubicBezTo>
                    <a:close/>
                    <a:moveTo>
                      <a:pt x="994" y="1"/>
                    </a:moveTo>
                    <a:cubicBezTo>
                      <a:pt x="991" y="1"/>
                      <a:pt x="987" y="1"/>
                      <a:pt x="983" y="1"/>
                    </a:cubicBezTo>
                    <a:cubicBezTo>
                      <a:pt x="437" y="1"/>
                      <a:pt x="7" y="431"/>
                      <a:pt x="7" y="967"/>
                    </a:cubicBezTo>
                    <a:cubicBezTo>
                      <a:pt x="0" y="1563"/>
                      <a:pt x="484" y="1957"/>
                      <a:pt x="991" y="1957"/>
                    </a:cubicBezTo>
                    <a:cubicBezTo>
                      <a:pt x="1233" y="1957"/>
                      <a:pt x="1480" y="1867"/>
                      <a:pt x="1681" y="1666"/>
                    </a:cubicBezTo>
                    <a:cubicBezTo>
                      <a:pt x="2291" y="1047"/>
                      <a:pt x="1858" y="1"/>
                      <a:pt x="994" y="1"/>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6458;p127">
                <a:extLst>
                  <a:ext uri="{FF2B5EF4-FFF2-40B4-BE49-F238E27FC236}">
                    <a16:creationId xmlns:a16="http://schemas.microsoft.com/office/drawing/2014/main" id="{06B983A4-F55F-964C-B505-85DC0265E75B}"/>
                  </a:ext>
                </a:extLst>
              </p:cNvPr>
              <p:cNvSpPr/>
              <p:nvPr/>
            </p:nvSpPr>
            <p:spPr>
              <a:xfrm>
                <a:off x="992330" y="3479595"/>
                <a:ext cx="106090" cy="101836"/>
              </a:xfrm>
              <a:custGeom>
                <a:avLst/>
                <a:gdLst/>
                <a:ahLst/>
                <a:cxnLst/>
                <a:rect l="l" t="t" r="r" b="b"/>
                <a:pathLst>
                  <a:path w="4040" h="3878" extrusionOk="0">
                    <a:moveTo>
                      <a:pt x="3742" y="0"/>
                    </a:moveTo>
                    <a:cubicBezTo>
                      <a:pt x="3692" y="0"/>
                      <a:pt x="3639" y="22"/>
                      <a:pt x="3593" y="75"/>
                    </a:cubicBezTo>
                    <a:lnTo>
                      <a:pt x="128" y="3540"/>
                    </a:lnTo>
                    <a:cubicBezTo>
                      <a:pt x="1" y="3682"/>
                      <a:pt x="132" y="3877"/>
                      <a:pt x="286" y="3877"/>
                    </a:cubicBezTo>
                    <a:cubicBezTo>
                      <a:pt x="329" y="3877"/>
                      <a:pt x="374" y="3862"/>
                      <a:pt x="415" y="3827"/>
                    </a:cubicBezTo>
                    <a:lnTo>
                      <a:pt x="3880" y="363"/>
                    </a:lnTo>
                    <a:cubicBezTo>
                      <a:pt x="4040" y="217"/>
                      <a:pt x="3902" y="0"/>
                      <a:pt x="3742" y="0"/>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aphicFrame>
        <p:nvGraphicFramePr>
          <p:cNvPr id="48" name="Table 47">
            <a:extLst>
              <a:ext uri="{FF2B5EF4-FFF2-40B4-BE49-F238E27FC236}">
                <a16:creationId xmlns:a16="http://schemas.microsoft.com/office/drawing/2014/main" id="{F3EFADBA-DEA3-9390-275F-A1DED71D31A8}"/>
              </a:ext>
            </a:extLst>
          </p:cNvPr>
          <p:cNvGraphicFramePr>
            <a:graphicFrameLocks noGrp="1"/>
          </p:cNvGraphicFramePr>
          <p:nvPr>
            <p:extLst>
              <p:ext uri="{D42A27DB-BD31-4B8C-83A1-F6EECF244321}">
                <p14:modId xmlns:p14="http://schemas.microsoft.com/office/powerpoint/2010/main" val="2842425778"/>
              </p:ext>
            </p:extLst>
          </p:nvPr>
        </p:nvGraphicFramePr>
        <p:xfrm>
          <a:off x="8927896" y="262860"/>
          <a:ext cx="2822588" cy="1093848"/>
        </p:xfrm>
        <a:graphic>
          <a:graphicData uri="http://schemas.openxmlformats.org/drawingml/2006/table">
            <a:tbl>
              <a:tblPr firstRow="1" bandRow="1">
                <a:tableStyleId>{2D5ABB26-0587-4C30-8999-92F81FD0307C}</a:tableStyleId>
              </a:tblPr>
              <a:tblGrid>
                <a:gridCol w="2822588">
                  <a:extLst>
                    <a:ext uri="{9D8B030D-6E8A-4147-A177-3AD203B41FA5}">
                      <a16:colId xmlns:a16="http://schemas.microsoft.com/office/drawing/2014/main" val="2069829143"/>
                    </a:ext>
                  </a:extLst>
                </a:gridCol>
              </a:tblGrid>
              <a:tr h="376663">
                <a:tc>
                  <a:txBody>
                    <a:bodyPr/>
                    <a:lstStyle/>
                    <a:p>
                      <a:pPr marL="0" indent="0">
                        <a:buFont typeface="Wingdings" panose="05000000000000000000" pitchFamily="2" charset="2"/>
                        <a:buNone/>
                      </a:pPr>
                      <a:r>
                        <a:rPr lang="en-PH" sz="1800" b="1" kern="1200">
                          <a:solidFill>
                            <a:schemeClr val="tx1"/>
                          </a:solidFill>
                          <a:latin typeface="Lato" panose="020F0502020204030203" pitchFamily="34" charset="0"/>
                          <a:ea typeface="Lato" panose="020F0502020204030203" pitchFamily="34" charset="0"/>
                          <a:cs typeface="Lato" panose="020F0502020204030203" pitchFamily="34" charset="0"/>
                        </a:rPr>
                        <a:t>Interest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39524794"/>
                  </a:ext>
                </a:extLst>
              </a:tr>
              <a:tr h="717185">
                <a:tc>
                  <a:txBody>
                    <a:bodyPr/>
                    <a:lstStyle/>
                    <a:p>
                      <a:pPr marL="285750" indent="-285750">
                        <a:buFont typeface="Wingdings" panose="05000000000000000000" pitchFamily="2" charset="2"/>
                        <a:buChar char="ü"/>
                      </a:pPr>
                      <a:r>
                        <a:rPr lang="en-US" sz="1600">
                          <a:solidFill>
                            <a:schemeClr val="tx1"/>
                          </a:solidFill>
                          <a:latin typeface="Lato" panose="020F0502020204030203" pitchFamily="34" charset="0"/>
                          <a:ea typeface="Lato" panose="020F0502020204030203" pitchFamily="34" charset="0"/>
                          <a:cs typeface="Lato" panose="020F0502020204030203" pitchFamily="34" charset="0"/>
                        </a:rPr>
                        <a:t>2% per month based on the diminishing rate</a:t>
                      </a:r>
                      <a:endParaRPr lang="en-PH" sz="1600">
                        <a:solidFill>
                          <a:schemeClr val="tx1"/>
                        </a:solidFill>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13863217"/>
                  </a:ext>
                </a:extLst>
              </a:tr>
            </a:tbl>
          </a:graphicData>
        </a:graphic>
      </p:graphicFrame>
      <p:graphicFrame>
        <p:nvGraphicFramePr>
          <p:cNvPr id="49" name="Table 48">
            <a:extLst>
              <a:ext uri="{FF2B5EF4-FFF2-40B4-BE49-F238E27FC236}">
                <a16:creationId xmlns:a16="http://schemas.microsoft.com/office/drawing/2014/main" id="{98E1A022-F70A-1941-A0E5-4E14E3211137}"/>
              </a:ext>
            </a:extLst>
          </p:cNvPr>
          <p:cNvGraphicFramePr>
            <a:graphicFrameLocks noGrp="1"/>
          </p:cNvGraphicFramePr>
          <p:nvPr>
            <p:extLst>
              <p:ext uri="{D42A27DB-BD31-4B8C-83A1-F6EECF244321}">
                <p14:modId xmlns:p14="http://schemas.microsoft.com/office/powerpoint/2010/main" val="2088958934"/>
              </p:ext>
            </p:extLst>
          </p:nvPr>
        </p:nvGraphicFramePr>
        <p:xfrm>
          <a:off x="9042400" y="1433708"/>
          <a:ext cx="3149600" cy="977793"/>
        </p:xfrm>
        <a:graphic>
          <a:graphicData uri="http://schemas.openxmlformats.org/drawingml/2006/table">
            <a:tbl>
              <a:tblPr firstRow="1" bandRow="1">
                <a:tableStyleId>{2D5ABB26-0587-4C30-8999-92F81FD0307C}</a:tableStyleId>
              </a:tblPr>
              <a:tblGrid>
                <a:gridCol w="3149600">
                  <a:extLst>
                    <a:ext uri="{9D8B030D-6E8A-4147-A177-3AD203B41FA5}">
                      <a16:colId xmlns:a16="http://schemas.microsoft.com/office/drawing/2014/main" val="2321275108"/>
                    </a:ext>
                  </a:extLst>
                </a:gridCol>
              </a:tblGrid>
              <a:tr h="3986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a:solidFill>
                            <a:schemeClr val="tx1"/>
                          </a:solidFill>
                          <a:latin typeface="Lato" panose="020F0502020204030203" pitchFamily="34" charset="0"/>
                          <a:ea typeface="Lato" panose="020F0502020204030203" pitchFamily="34" charset="0"/>
                          <a:cs typeface="Lato" panose="020F0502020204030203" pitchFamily="34" charset="0"/>
                        </a:rPr>
                        <a:t>Service Charge</a:t>
                      </a:r>
                      <a:endParaRPr lang="en-PH" sz="1800" b="1">
                        <a:solidFill>
                          <a:schemeClr val="tx1"/>
                        </a:solidFill>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42580473"/>
                  </a:ext>
                </a:extLst>
              </a:tr>
              <a:tr h="464927">
                <a:tc>
                  <a:txBody>
                    <a:bodyPr/>
                    <a:lstStyle/>
                    <a:p>
                      <a:pPr marL="285750" indent="-285750">
                        <a:buFont typeface="Wingdings" panose="05000000000000000000" pitchFamily="2" charset="2"/>
                        <a:buChar char="ü"/>
                      </a:pPr>
                      <a:r>
                        <a:rPr lang="en-US" sz="1600" b="0" i="0" kern="1200">
                          <a:solidFill>
                            <a:schemeClr val="tx1"/>
                          </a:solidFill>
                          <a:effectLst/>
                          <a:latin typeface="Lato" panose="020F0502020204030203" pitchFamily="34" charset="0"/>
                          <a:ea typeface="Lato" panose="020F0502020204030203" pitchFamily="34" charset="0"/>
                          <a:cs typeface="Lato" panose="020F0502020204030203" pitchFamily="34" charset="0"/>
                        </a:rPr>
                        <a:t>1% of loan amount, pre-deducted</a:t>
                      </a:r>
                      <a:endParaRPr lang="en-PH" sz="1600">
                        <a:solidFill>
                          <a:schemeClr val="tx1"/>
                        </a:solidFill>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18822048"/>
                  </a:ext>
                </a:extLst>
              </a:tr>
            </a:tbl>
          </a:graphicData>
        </a:graphic>
      </p:graphicFrame>
      <p:graphicFrame>
        <p:nvGraphicFramePr>
          <p:cNvPr id="50" name="Table 49">
            <a:extLst>
              <a:ext uri="{FF2B5EF4-FFF2-40B4-BE49-F238E27FC236}">
                <a16:creationId xmlns:a16="http://schemas.microsoft.com/office/drawing/2014/main" id="{BC8B0D25-DE53-7A53-4498-CBAA9C830D69}"/>
              </a:ext>
            </a:extLst>
          </p:cNvPr>
          <p:cNvGraphicFramePr>
            <a:graphicFrameLocks noGrp="1"/>
          </p:cNvGraphicFramePr>
          <p:nvPr>
            <p:extLst>
              <p:ext uri="{D42A27DB-BD31-4B8C-83A1-F6EECF244321}">
                <p14:modId xmlns:p14="http://schemas.microsoft.com/office/powerpoint/2010/main" val="460311970"/>
              </p:ext>
            </p:extLst>
          </p:nvPr>
        </p:nvGraphicFramePr>
        <p:xfrm>
          <a:off x="9042400" y="2984575"/>
          <a:ext cx="3149600" cy="1554043"/>
        </p:xfrm>
        <a:graphic>
          <a:graphicData uri="http://schemas.openxmlformats.org/drawingml/2006/table">
            <a:tbl>
              <a:tblPr firstRow="1" bandRow="1">
                <a:tableStyleId>{2D5ABB26-0587-4C30-8999-92F81FD0307C}</a:tableStyleId>
              </a:tblPr>
              <a:tblGrid>
                <a:gridCol w="3149600">
                  <a:extLst>
                    <a:ext uri="{9D8B030D-6E8A-4147-A177-3AD203B41FA5}">
                      <a16:colId xmlns:a16="http://schemas.microsoft.com/office/drawing/2014/main" val="2810722004"/>
                    </a:ext>
                  </a:extLst>
                </a:gridCol>
              </a:tblGrid>
              <a:tr h="670123">
                <a:tc>
                  <a:txBody>
                    <a:bodyPr/>
                    <a:lstStyle/>
                    <a:p>
                      <a:r>
                        <a:rPr lang="en-US" sz="1800" b="1">
                          <a:solidFill>
                            <a:schemeClr val="tx1"/>
                          </a:solidFill>
                          <a:latin typeface="Lato" panose="020F0502020204030203" pitchFamily="34" charset="0"/>
                          <a:ea typeface="Lato" panose="020F0502020204030203" pitchFamily="34" charset="0"/>
                          <a:cs typeface="Lato" panose="020F0502020204030203" pitchFamily="34" charset="0"/>
                        </a:rPr>
                        <a:t>Micro-Insurance </a:t>
                      </a:r>
                    </a:p>
                    <a:p>
                      <a:r>
                        <a:rPr lang="en-US" sz="1800" b="1">
                          <a:solidFill>
                            <a:schemeClr val="tx1"/>
                          </a:solidFill>
                          <a:latin typeface="Lato" panose="020F0502020204030203" pitchFamily="34" charset="0"/>
                          <a:ea typeface="Lato" panose="020F0502020204030203" pitchFamily="34" charset="0"/>
                          <a:cs typeface="Lato" panose="020F0502020204030203" pitchFamily="34" charset="0"/>
                        </a:rPr>
                        <a:t>Product Bundle</a:t>
                      </a:r>
                      <a:endParaRPr lang="en-PH" sz="1800" b="1">
                        <a:solidFill>
                          <a:schemeClr val="tx1"/>
                        </a:solidFill>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98036564"/>
                  </a:ext>
                </a:extLst>
              </a:tr>
              <a:tr h="133593">
                <a:tc>
                  <a:txBody>
                    <a:bodyPr/>
                    <a:lstStyle/>
                    <a:p>
                      <a:pPr marL="285750" indent="-285750" rtl="0" fontAlgn="base">
                        <a:buFont typeface="Wingdings" panose="05000000000000000000" pitchFamily="2" charset="2"/>
                        <a:buChar char="ü"/>
                      </a:pPr>
                      <a:r>
                        <a:rPr lang="en-US" sz="1600" b="0" i="0" u="none" strike="noStrike" kern="1200">
                          <a:solidFill>
                            <a:schemeClr val="tx1"/>
                          </a:solidFill>
                          <a:effectLst/>
                          <a:latin typeface="Lato" panose="020F0502020204030203" pitchFamily="34" charset="0"/>
                          <a:ea typeface="Lato" panose="020F0502020204030203" pitchFamily="34" charset="0"/>
                          <a:cs typeface="Lato" panose="020F0502020204030203" pitchFamily="34" charset="0"/>
                        </a:rPr>
                        <a:t>Loan Redemption Fund</a:t>
                      </a:r>
                      <a:endParaRPr lang="en-US" sz="1600" b="0" i="0" kern="1200">
                        <a:solidFill>
                          <a:schemeClr val="tx1"/>
                        </a:solidFill>
                        <a:effectLst/>
                        <a:latin typeface="Lato" panose="020F0502020204030203" pitchFamily="34" charset="0"/>
                        <a:ea typeface="Lato" panose="020F0502020204030203" pitchFamily="34" charset="0"/>
                        <a:cs typeface="Lato" panose="020F0502020204030203" pitchFamily="34" charset="0"/>
                      </a:endParaRPr>
                    </a:p>
                    <a:p>
                      <a:pPr rtl="0" fontAlgn="base"/>
                      <a:endParaRPr lang="en-US" sz="1200" b="0" i="1" kern="1200">
                        <a:solidFill>
                          <a:schemeClr val="tx1"/>
                        </a:solidFill>
                        <a:effectLst/>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20797058"/>
                  </a:ext>
                </a:extLst>
              </a:tr>
              <a:tr h="0">
                <a:tc>
                  <a:txBody>
                    <a:bodyPr/>
                    <a:lstStyle/>
                    <a:p>
                      <a:pPr rtl="0" fontAlgn="base"/>
                      <a:endParaRPr lang="en-US" sz="1800" b="0" i="0" kern="1200">
                        <a:solidFill>
                          <a:schemeClr val="tx1"/>
                        </a:solidFill>
                        <a:effectLst/>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47184592"/>
                  </a:ext>
                </a:extLst>
              </a:tr>
            </a:tbl>
          </a:graphicData>
        </a:graphic>
      </p:graphicFrame>
    </p:spTree>
    <p:extLst>
      <p:ext uri="{BB962C8B-B14F-4D97-AF65-F5344CB8AC3E}">
        <p14:creationId xmlns:p14="http://schemas.microsoft.com/office/powerpoint/2010/main" val="3497317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yellow rectangular sign with blue text&#10;&#10;AI-generated content may be incorrect.">
            <a:extLst>
              <a:ext uri="{FF2B5EF4-FFF2-40B4-BE49-F238E27FC236}">
                <a16:creationId xmlns:a16="http://schemas.microsoft.com/office/drawing/2014/main" id="{6CE1624C-6694-AF7C-0880-4D249C8E3706}"/>
              </a:ext>
            </a:extLst>
          </p:cNvPr>
          <p:cNvPicPr>
            <a:picLocks noChangeAspect="1"/>
          </p:cNvPicPr>
          <p:nvPr/>
        </p:nvPicPr>
        <p:blipFill>
          <a:blip r:embed="rId3"/>
          <a:stretch>
            <a:fillRect/>
          </a:stretch>
        </p:blipFill>
        <p:spPr>
          <a:xfrm>
            <a:off x="186" y="139721"/>
            <a:ext cx="7975889" cy="1432586"/>
          </a:xfrm>
          <a:prstGeom prst="rect">
            <a:avLst/>
          </a:prstGeom>
        </p:spPr>
      </p:pic>
      <p:pic>
        <p:nvPicPr>
          <p:cNvPr id="6" name="Picture 5" descr="A heart with handshake and text&#10;&#10;AI-generated content may be incorrect.">
            <a:extLst>
              <a:ext uri="{FF2B5EF4-FFF2-40B4-BE49-F238E27FC236}">
                <a16:creationId xmlns:a16="http://schemas.microsoft.com/office/drawing/2014/main" id="{8F5C8D9E-5DCC-2065-1160-6D3A735934D4}"/>
              </a:ext>
            </a:extLst>
          </p:cNvPr>
          <p:cNvPicPr>
            <a:picLocks noChangeAspect="1"/>
          </p:cNvPicPr>
          <p:nvPr/>
        </p:nvPicPr>
        <p:blipFill>
          <a:blip r:embed="rId4"/>
          <a:stretch>
            <a:fillRect/>
          </a:stretch>
        </p:blipFill>
        <p:spPr>
          <a:xfrm>
            <a:off x="165636" y="546944"/>
            <a:ext cx="1024495" cy="608241"/>
          </a:xfrm>
          <a:prstGeom prst="rect">
            <a:avLst/>
          </a:prstGeom>
        </p:spPr>
      </p:pic>
      <p:pic>
        <p:nvPicPr>
          <p:cNvPr id="7" name="Picture 6" descr="A black background with blue text&#10;&#10;AI-generated content may be incorrect.">
            <a:extLst>
              <a:ext uri="{FF2B5EF4-FFF2-40B4-BE49-F238E27FC236}">
                <a16:creationId xmlns:a16="http://schemas.microsoft.com/office/drawing/2014/main" id="{E3798A77-4F25-CBC3-8225-93D429C1F168}"/>
              </a:ext>
            </a:extLst>
          </p:cNvPr>
          <p:cNvPicPr>
            <a:picLocks noChangeAspect="1"/>
          </p:cNvPicPr>
          <p:nvPr/>
        </p:nvPicPr>
        <p:blipFill>
          <a:blip r:embed="rId5"/>
          <a:stretch>
            <a:fillRect/>
          </a:stretch>
        </p:blipFill>
        <p:spPr>
          <a:xfrm>
            <a:off x="296264" y="1179492"/>
            <a:ext cx="6047757" cy="530679"/>
          </a:xfrm>
          <a:prstGeom prst="rect">
            <a:avLst/>
          </a:prstGeom>
        </p:spPr>
      </p:pic>
      <p:pic>
        <p:nvPicPr>
          <p:cNvPr id="8" name="Picture 7" descr="A black screen with blue text&#10;&#10;AI-generated content may be incorrect.">
            <a:extLst>
              <a:ext uri="{FF2B5EF4-FFF2-40B4-BE49-F238E27FC236}">
                <a16:creationId xmlns:a16="http://schemas.microsoft.com/office/drawing/2014/main" id="{BC3ACE1D-0D20-F3E1-A1E0-4B1792244383}"/>
              </a:ext>
            </a:extLst>
          </p:cNvPr>
          <p:cNvPicPr>
            <a:picLocks noChangeAspect="1"/>
          </p:cNvPicPr>
          <p:nvPr/>
        </p:nvPicPr>
        <p:blipFill>
          <a:blip r:embed="rId6"/>
          <a:stretch>
            <a:fillRect/>
          </a:stretch>
        </p:blipFill>
        <p:spPr>
          <a:xfrm>
            <a:off x="300245" y="1716387"/>
            <a:ext cx="8560449" cy="4378272"/>
          </a:xfrm>
          <a:prstGeom prst="rect">
            <a:avLst/>
          </a:prstGeom>
        </p:spPr>
      </p:pic>
      <p:pic>
        <p:nvPicPr>
          <p:cNvPr id="9" name="Picture 8" descr="A group of people on a boat&#10;&#10;AI-generated content may be incorrect.">
            <a:extLst>
              <a:ext uri="{FF2B5EF4-FFF2-40B4-BE49-F238E27FC236}">
                <a16:creationId xmlns:a16="http://schemas.microsoft.com/office/drawing/2014/main" id="{2B43E3BA-DD35-BD35-C28E-3FE45EB52D8E}"/>
              </a:ext>
            </a:extLst>
          </p:cNvPr>
          <p:cNvPicPr>
            <a:picLocks noChangeAspect="1"/>
          </p:cNvPicPr>
          <p:nvPr/>
        </p:nvPicPr>
        <p:blipFill>
          <a:blip r:embed="rId7"/>
          <a:stretch>
            <a:fillRect/>
          </a:stretch>
        </p:blipFill>
        <p:spPr>
          <a:xfrm>
            <a:off x="8858373" y="154329"/>
            <a:ext cx="3329889" cy="6038127"/>
          </a:xfrm>
          <a:prstGeom prst="rect">
            <a:avLst/>
          </a:prstGeom>
        </p:spPr>
      </p:pic>
    </p:spTree>
    <p:extLst>
      <p:ext uri="{BB962C8B-B14F-4D97-AF65-F5344CB8AC3E}">
        <p14:creationId xmlns:p14="http://schemas.microsoft.com/office/powerpoint/2010/main" val="41809673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B5320-8B31-C1EC-815F-0CC4FFEFD75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E755DDB-1C6A-B6ED-C7F3-3D947EC4AE7B}"/>
              </a:ext>
            </a:extLst>
          </p:cNvPr>
          <p:cNvSpPr>
            <a:spLocks noGrp="1"/>
          </p:cNvSpPr>
          <p:nvPr>
            <p:ph type="sldNum" sz="quarter" idx="12"/>
          </p:nvPr>
        </p:nvSpPr>
        <p:spPr/>
        <p:txBody>
          <a:bodyPr/>
          <a:lstStyle/>
          <a:p>
            <a:fld id="{36D53BC0-5915-4EE6-A8B4-385258777E7F}" type="slidenum">
              <a:rPr lang="en-PH" smtClean="0"/>
              <a:pPr/>
              <a:t>27</a:t>
            </a:fld>
            <a:endParaRPr lang="en-PH"/>
          </a:p>
        </p:txBody>
      </p:sp>
      <p:sp>
        <p:nvSpPr>
          <p:cNvPr id="29" name="Title 1">
            <a:extLst>
              <a:ext uri="{FF2B5EF4-FFF2-40B4-BE49-F238E27FC236}">
                <a16:creationId xmlns:a16="http://schemas.microsoft.com/office/drawing/2014/main" id="{CA5BA1E6-B517-9E55-5A0C-4A282591B34B}"/>
              </a:ext>
            </a:extLst>
          </p:cNvPr>
          <p:cNvSpPr>
            <a:spLocks noGrp="1"/>
          </p:cNvSpPr>
          <p:nvPr>
            <p:ph type="title"/>
          </p:nvPr>
        </p:nvSpPr>
        <p:spPr>
          <a:xfrm>
            <a:off x="521368" y="705853"/>
            <a:ext cx="3376864" cy="633839"/>
          </a:xfrm>
        </p:spPr>
        <p:txBody>
          <a:bodyPr/>
          <a:lstStyle/>
          <a:p>
            <a:r>
              <a:rPr lang="en-US" sz="3200" b="1">
                <a:highlight>
                  <a:srgbClr val="FFFF00"/>
                </a:highlight>
              </a:rPr>
              <a:t>Product Features</a:t>
            </a:r>
          </a:p>
        </p:txBody>
      </p:sp>
      <p:sp>
        <p:nvSpPr>
          <p:cNvPr id="36" name="Heart 35">
            <a:extLst>
              <a:ext uri="{FF2B5EF4-FFF2-40B4-BE49-F238E27FC236}">
                <a16:creationId xmlns:a16="http://schemas.microsoft.com/office/drawing/2014/main" id="{91F82B45-055F-8B02-398C-671F3A5201A2}"/>
              </a:ext>
            </a:extLst>
          </p:cNvPr>
          <p:cNvSpPr/>
          <p:nvPr/>
        </p:nvSpPr>
        <p:spPr>
          <a:xfrm>
            <a:off x="325361" y="1598399"/>
            <a:ext cx="3668057" cy="3662468"/>
          </a:xfrm>
          <a:prstGeom prst="heart">
            <a:avLst/>
          </a:prstGeom>
          <a:noFill/>
          <a:ln w="38100">
            <a:solidFill>
              <a:srgbClr val="FFC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37" name="Picture 36">
            <a:extLst>
              <a:ext uri="{FF2B5EF4-FFF2-40B4-BE49-F238E27FC236}">
                <a16:creationId xmlns:a16="http://schemas.microsoft.com/office/drawing/2014/main" id="{01CA9489-3D44-FCBF-F2CF-23468E27109C}"/>
              </a:ext>
            </a:extLst>
          </p:cNvPr>
          <p:cNvPicPr>
            <a:picLocks noChangeAspect="1"/>
          </p:cNvPicPr>
          <p:nvPr/>
        </p:nvPicPr>
        <p:blipFill>
          <a:blip r:embed="rId3"/>
          <a:stretch>
            <a:fillRect/>
          </a:stretch>
        </p:blipFill>
        <p:spPr>
          <a:xfrm>
            <a:off x="1076760" y="2564626"/>
            <a:ext cx="2165257" cy="1828688"/>
          </a:xfrm>
          <a:prstGeom prst="rect">
            <a:avLst/>
          </a:prstGeom>
          <a:effectLst>
            <a:glow rad="139700">
              <a:schemeClr val="accent5">
                <a:satMod val="175000"/>
                <a:alpha val="40000"/>
              </a:schemeClr>
            </a:glow>
          </a:effectLst>
        </p:spPr>
      </p:pic>
      <p:pic>
        <p:nvPicPr>
          <p:cNvPr id="5" name="Picture 4" descr="A close-up of a product&#10;&#10;AI-generated content may be incorrect.">
            <a:extLst>
              <a:ext uri="{FF2B5EF4-FFF2-40B4-BE49-F238E27FC236}">
                <a16:creationId xmlns:a16="http://schemas.microsoft.com/office/drawing/2014/main" id="{8E2E32EA-5D20-EBAB-E8BE-F4B3AFE24513}"/>
              </a:ext>
            </a:extLst>
          </p:cNvPr>
          <p:cNvPicPr>
            <a:picLocks noChangeAspect="1"/>
          </p:cNvPicPr>
          <p:nvPr/>
        </p:nvPicPr>
        <p:blipFill>
          <a:blip r:embed="rId4"/>
          <a:stretch>
            <a:fillRect/>
          </a:stretch>
        </p:blipFill>
        <p:spPr>
          <a:xfrm>
            <a:off x="4209596" y="256193"/>
            <a:ext cx="7800522" cy="5922283"/>
          </a:xfrm>
          <a:prstGeom prst="rect">
            <a:avLst/>
          </a:prstGeom>
        </p:spPr>
      </p:pic>
    </p:spTree>
    <p:extLst>
      <p:ext uri="{BB962C8B-B14F-4D97-AF65-F5344CB8AC3E}">
        <p14:creationId xmlns:p14="http://schemas.microsoft.com/office/powerpoint/2010/main" val="27458257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E56AF6-29B5-53A8-1E69-325EEF881E8F}"/>
              </a:ext>
            </a:extLst>
          </p:cNvPr>
          <p:cNvSpPr>
            <a:spLocks noGrp="1"/>
          </p:cNvSpPr>
          <p:nvPr>
            <p:ph type="sldNum" sz="quarter" idx="12"/>
          </p:nvPr>
        </p:nvSpPr>
        <p:spPr/>
        <p:txBody>
          <a:bodyPr/>
          <a:lstStyle/>
          <a:p>
            <a:fld id="{36D53BC0-5915-4EE6-A8B4-385258777E7F}" type="slidenum">
              <a:rPr lang="en-PH" smtClean="0"/>
              <a:pPr/>
              <a:t>28</a:t>
            </a:fld>
            <a:endParaRPr lang="en-PH"/>
          </a:p>
        </p:txBody>
      </p:sp>
      <p:sp>
        <p:nvSpPr>
          <p:cNvPr id="5" name="Title 12">
            <a:extLst>
              <a:ext uri="{FF2B5EF4-FFF2-40B4-BE49-F238E27FC236}">
                <a16:creationId xmlns:a16="http://schemas.microsoft.com/office/drawing/2014/main" id="{C585ABA5-E55A-7728-DED0-9CD69DA36FF5}"/>
              </a:ext>
            </a:extLst>
          </p:cNvPr>
          <p:cNvSpPr>
            <a:spLocks noGrp="1"/>
          </p:cNvSpPr>
          <p:nvPr>
            <p:ph type="title"/>
          </p:nvPr>
        </p:nvSpPr>
        <p:spPr>
          <a:xfrm>
            <a:off x="838200" y="234420"/>
            <a:ext cx="10515600" cy="859448"/>
          </a:xfrm>
        </p:spPr>
        <p:txBody>
          <a:bodyPr/>
          <a:lstStyle/>
          <a:p>
            <a:pPr algn="ctr"/>
            <a:r>
              <a:rPr lang="en-PH" sz="3600">
                <a:highlight>
                  <a:srgbClr val="FFFF00"/>
                </a:highlight>
                <a:ea typeface="Lato" panose="020F0502020204030203" pitchFamily="34" charset="0"/>
                <a:cs typeface="Lato" panose="020F0502020204030203" pitchFamily="34" charset="0"/>
              </a:rPr>
              <a:t>RAFI MFI Financial Products and Services</a:t>
            </a:r>
          </a:p>
        </p:txBody>
      </p:sp>
      <p:graphicFrame>
        <p:nvGraphicFramePr>
          <p:cNvPr id="6" name="Diagram 5">
            <a:extLst>
              <a:ext uri="{FF2B5EF4-FFF2-40B4-BE49-F238E27FC236}">
                <a16:creationId xmlns:a16="http://schemas.microsoft.com/office/drawing/2014/main" id="{163F0376-673B-8496-C91B-CD5CABCA21B8}"/>
              </a:ext>
            </a:extLst>
          </p:cNvPr>
          <p:cNvGraphicFramePr/>
          <p:nvPr>
            <p:extLst>
              <p:ext uri="{D42A27DB-BD31-4B8C-83A1-F6EECF244321}">
                <p14:modId xmlns:p14="http://schemas.microsoft.com/office/powerpoint/2010/main" val="880571778"/>
              </p:ext>
            </p:extLst>
          </p:nvPr>
        </p:nvGraphicFramePr>
        <p:xfrm>
          <a:off x="634071" y="2996287"/>
          <a:ext cx="10946422" cy="24923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7" name="Group 6">
            <a:extLst>
              <a:ext uri="{FF2B5EF4-FFF2-40B4-BE49-F238E27FC236}">
                <a16:creationId xmlns:a16="http://schemas.microsoft.com/office/drawing/2014/main" id="{1F989DA5-1ACF-9AD9-F2CC-1BA0FC6CCFB1}"/>
              </a:ext>
            </a:extLst>
          </p:cNvPr>
          <p:cNvGrpSpPr/>
          <p:nvPr/>
        </p:nvGrpSpPr>
        <p:grpSpPr>
          <a:xfrm>
            <a:off x="1086673" y="1369324"/>
            <a:ext cx="1440000" cy="1440000"/>
            <a:chOff x="1077686" y="1404627"/>
            <a:chExt cx="1440000" cy="1440000"/>
          </a:xfrm>
        </p:grpSpPr>
        <p:pic>
          <p:nvPicPr>
            <p:cNvPr id="8" name="Graphic 7" descr="Business Growth with solid fill">
              <a:extLst>
                <a:ext uri="{FF2B5EF4-FFF2-40B4-BE49-F238E27FC236}">
                  <a16:creationId xmlns:a16="http://schemas.microsoft.com/office/drawing/2014/main" id="{FFDF6B51-C8CC-3F81-9645-D54117DDF69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407511" y="1711836"/>
              <a:ext cx="914400" cy="914400"/>
            </a:xfrm>
            <a:prstGeom prst="rect">
              <a:avLst/>
            </a:prstGeom>
          </p:spPr>
        </p:pic>
        <p:sp>
          <p:nvSpPr>
            <p:cNvPr id="9" name="Oval 8">
              <a:extLst>
                <a:ext uri="{FF2B5EF4-FFF2-40B4-BE49-F238E27FC236}">
                  <a16:creationId xmlns:a16="http://schemas.microsoft.com/office/drawing/2014/main" id="{DAD6DACD-7BA2-6E1D-92F3-66BC54F3E078}"/>
                </a:ext>
              </a:extLst>
            </p:cNvPr>
            <p:cNvSpPr/>
            <p:nvPr/>
          </p:nvSpPr>
          <p:spPr>
            <a:xfrm>
              <a:off x="1077686" y="1404627"/>
              <a:ext cx="1440000" cy="1440000"/>
            </a:xfrm>
            <a:prstGeom prst="ellipse">
              <a:avLst/>
            </a:prstGeom>
            <a:noFill/>
            <a:ln w="57150">
              <a:solidFill>
                <a:srgbClr val="4C93D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Lato" panose="020F0502020204030203" pitchFamily="34" charset="0"/>
                <a:ea typeface="Lato" panose="020F0502020204030203" pitchFamily="34" charset="0"/>
                <a:cs typeface="Lato" panose="020F0502020204030203" pitchFamily="34" charset="0"/>
              </a:endParaRPr>
            </a:p>
          </p:txBody>
        </p:sp>
      </p:grpSp>
      <p:grpSp>
        <p:nvGrpSpPr>
          <p:cNvPr id="10" name="Group 9">
            <a:extLst>
              <a:ext uri="{FF2B5EF4-FFF2-40B4-BE49-F238E27FC236}">
                <a16:creationId xmlns:a16="http://schemas.microsoft.com/office/drawing/2014/main" id="{28564BFF-E698-D393-8B06-B515866D5E8F}"/>
              </a:ext>
            </a:extLst>
          </p:cNvPr>
          <p:cNvGrpSpPr/>
          <p:nvPr/>
        </p:nvGrpSpPr>
        <p:grpSpPr>
          <a:xfrm>
            <a:off x="3957977" y="1369324"/>
            <a:ext cx="1440000" cy="1440000"/>
            <a:chOff x="3189850" y="1404627"/>
            <a:chExt cx="1440000" cy="1440000"/>
          </a:xfrm>
        </p:grpSpPr>
        <p:pic>
          <p:nvPicPr>
            <p:cNvPr id="11" name="Graphic 10" descr="Suburban scene with solid fill">
              <a:extLst>
                <a:ext uri="{FF2B5EF4-FFF2-40B4-BE49-F238E27FC236}">
                  <a16:creationId xmlns:a16="http://schemas.microsoft.com/office/drawing/2014/main" id="{45F94EF0-5E00-7093-68E7-47C4D1AFAA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452650" y="1667427"/>
              <a:ext cx="914400" cy="914400"/>
            </a:xfrm>
            <a:prstGeom prst="rect">
              <a:avLst/>
            </a:prstGeom>
          </p:spPr>
        </p:pic>
        <p:sp>
          <p:nvSpPr>
            <p:cNvPr id="12" name="Oval 11">
              <a:extLst>
                <a:ext uri="{FF2B5EF4-FFF2-40B4-BE49-F238E27FC236}">
                  <a16:creationId xmlns:a16="http://schemas.microsoft.com/office/drawing/2014/main" id="{882038BA-9B5F-B86D-FAB1-4DCD3BBCE8E5}"/>
                </a:ext>
              </a:extLst>
            </p:cNvPr>
            <p:cNvSpPr/>
            <p:nvPr/>
          </p:nvSpPr>
          <p:spPr>
            <a:xfrm>
              <a:off x="3189850" y="1404627"/>
              <a:ext cx="1440000" cy="1440000"/>
            </a:xfrm>
            <a:prstGeom prst="ellipse">
              <a:avLst/>
            </a:prstGeom>
            <a:noFill/>
            <a:ln w="57150">
              <a:solidFill>
                <a:srgbClr val="5ED3D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Lato" panose="020F0502020204030203" pitchFamily="34" charset="0"/>
                <a:ea typeface="Lato" panose="020F0502020204030203" pitchFamily="34" charset="0"/>
                <a:cs typeface="Lato" panose="020F0502020204030203" pitchFamily="34" charset="0"/>
              </a:endParaRPr>
            </a:p>
          </p:txBody>
        </p:sp>
      </p:grpSp>
      <p:grpSp>
        <p:nvGrpSpPr>
          <p:cNvPr id="13" name="Group 12">
            <a:extLst>
              <a:ext uri="{FF2B5EF4-FFF2-40B4-BE49-F238E27FC236}">
                <a16:creationId xmlns:a16="http://schemas.microsoft.com/office/drawing/2014/main" id="{B05B0E42-7524-5DD0-E7AA-CB7D9853B644}"/>
              </a:ext>
            </a:extLst>
          </p:cNvPr>
          <p:cNvGrpSpPr/>
          <p:nvPr/>
        </p:nvGrpSpPr>
        <p:grpSpPr>
          <a:xfrm>
            <a:off x="6767391" y="1344995"/>
            <a:ext cx="1440000" cy="1440000"/>
            <a:chOff x="5375999" y="1452098"/>
            <a:chExt cx="1440000" cy="1440000"/>
          </a:xfrm>
        </p:grpSpPr>
        <p:pic>
          <p:nvPicPr>
            <p:cNvPr id="14" name="Graphic 13" descr="Medical with solid fill">
              <a:extLst>
                <a:ext uri="{FF2B5EF4-FFF2-40B4-BE49-F238E27FC236}">
                  <a16:creationId xmlns:a16="http://schemas.microsoft.com/office/drawing/2014/main" id="{1CA4AA4B-8B42-E9F0-0B94-8E0C308DF89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50082" y="1714898"/>
              <a:ext cx="914400" cy="914400"/>
            </a:xfrm>
            <a:prstGeom prst="rect">
              <a:avLst/>
            </a:prstGeom>
          </p:spPr>
        </p:pic>
        <p:sp>
          <p:nvSpPr>
            <p:cNvPr id="15" name="Oval 14">
              <a:extLst>
                <a:ext uri="{FF2B5EF4-FFF2-40B4-BE49-F238E27FC236}">
                  <a16:creationId xmlns:a16="http://schemas.microsoft.com/office/drawing/2014/main" id="{888A8F88-88CB-98F9-D3CE-C83674D102E6}"/>
                </a:ext>
              </a:extLst>
            </p:cNvPr>
            <p:cNvSpPr/>
            <p:nvPr/>
          </p:nvSpPr>
          <p:spPr>
            <a:xfrm>
              <a:off x="5375999" y="1452098"/>
              <a:ext cx="1440000" cy="1440000"/>
            </a:xfrm>
            <a:prstGeom prst="ellipse">
              <a:avLst/>
            </a:prstGeom>
            <a:noFill/>
            <a:ln w="57150">
              <a:solidFill>
                <a:srgbClr val="3FC28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Lato" panose="020F0502020204030203" pitchFamily="34" charset="0"/>
                <a:ea typeface="Lato" panose="020F0502020204030203" pitchFamily="34" charset="0"/>
                <a:cs typeface="Lato" panose="020F0502020204030203" pitchFamily="34" charset="0"/>
              </a:endParaRPr>
            </a:p>
          </p:txBody>
        </p:sp>
      </p:grpSp>
      <p:grpSp>
        <p:nvGrpSpPr>
          <p:cNvPr id="16" name="Group 15">
            <a:extLst>
              <a:ext uri="{FF2B5EF4-FFF2-40B4-BE49-F238E27FC236}">
                <a16:creationId xmlns:a16="http://schemas.microsoft.com/office/drawing/2014/main" id="{F96DC8B6-3B16-AEB2-F08D-B0E5F514EA69}"/>
              </a:ext>
            </a:extLst>
          </p:cNvPr>
          <p:cNvGrpSpPr/>
          <p:nvPr/>
        </p:nvGrpSpPr>
        <p:grpSpPr>
          <a:xfrm>
            <a:off x="9576805" y="1369324"/>
            <a:ext cx="1440000" cy="1440000"/>
            <a:chOff x="9521872" y="1281794"/>
            <a:chExt cx="1440000" cy="1440000"/>
          </a:xfrm>
        </p:grpSpPr>
        <p:pic>
          <p:nvPicPr>
            <p:cNvPr id="17" name="Graphic 16" descr="Piggy Bank with solid fill">
              <a:extLst>
                <a:ext uri="{FF2B5EF4-FFF2-40B4-BE49-F238E27FC236}">
                  <a16:creationId xmlns:a16="http://schemas.microsoft.com/office/drawing/2014/main" id="{0D4CE731-9189-2198-B7C4-EB159C5DCC9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867021" y="1545458"/>
              <a:ext cx="914400" cy="914400"/>
            </a:xfrm>
            <a:prstGeom prst="rect">
              <a:avLst/>
            </a:prstGeom>
          </p:spPr>
        </p:pic>
        <p:sp>
          <p:nvSpPr>
            <p:cNvPr id="18" name="Oval 17">
              <a:extLst>
                <a:ext uri="{FF2B5EF4-FFF2-40B4-BE49-F238E27FC236}">
                  <a16:creationId xmlns:a16="http://schemas.microsoft.com/office/drawing/2014/main" id="{0F42354A-465B-F817-AF8C-75E9E0E347C0}"/>
                </a:ext>
              </a:extLst>
            </p:cNvPr>
            <p:cNvSpPr/>
            <p:nvPr/>
          </p:nvSpPr>
          <p:spPr>
            <a:xfrm>
              <a:off x="9521872" y="1281794"/>
              <a:ext cx="1440000" cy="1440000"/>
            </a:xfrm>
            <a:prstGeom prst="ellipse">
              <a:avLst/>
            </a:prstGeom>
            <a:noFill/>
            <a:ln w="57150">
              <a:solidFill>
                <a:srgbClr val="7AB654"/>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Lato" panose="020F0502020204030203" pitchFamily="34" charset="0"/>
                <a:ea typeface="Lato" panose="020F0502020204030203" pitchFamily="34" charset="0"/>
                <a:cs typeface="Lato" panose="020F0502020204030203" pitchFamily="34" charset="0"/>
              </a:endParaRPr>
            </a:p>
          </p:txBody>
        </p:sp>
      </p:grpSp>
      <p:sp>
        <p:nvSpPr>
          <p:cNvPr id="23" name="Rectangle 22">
            <a:extLst>
              <a:ext uri="{FF2B5EF4-FFF2-40B4-BE49-F238E27FC236}">
                <a16:creationId xmlns:a16="http://schemas.microsoft.com/office/drawing/2014/main" id="{45837183-07CE-8BFE-561F-A130E08BBBA6}"/>
              </a:ext>
            </a:extLst>
          </p:cNvPr>
          <p:cNvSpPr/>
          <p:nvPr/>
        </p:nvSpPr>
        <p:spPr>
          <a:xfrm>
            <a:off x="6063875" y="1171575"/>
            <a:ext cx="2900299" cy="505777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342625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803CBD-EC5B-9396-2EA1-0279A91C52EC}"/>
              </a:ext>
            </a:extLst>
          </p:cNvPr>
          <p:cNvSpPr>
            <a:spLocks noGrp="1"/>
          </p:cNvSpPr>
          <p:nvPr>
            <p:ph type="sldNum" sz="quarter" idx="12"/>
          </p:nvPr>
        </p:nvSpPr>
        <p:spPr/>
        <p:txBody>
          <a:bodyPr/>
          <a:lstStyle/>
          <a:p>
            <a:fld id="{36D53BC0-5915-4EE6-A8B4-385258777E7F}" type="slidenum">
              <a:rPr lang="en-PH" smtClean="0"/>
              <a:pPr/>
              <a:t>29</a:t>
            </a:fld>
            <a:endParaRPr lang="en-PH"/>
          </a:p>
        </p:txBody>
      </p:sp>
      <p:sp>
        <p:nvSpPr>
          <p:cNvPr id="5" name="Rectangle 4">
            <a:extLst>
              <a:ext uri="{FF2B5EF4-FFF2-40B4-BE49-F238E27FC236}">
                <a16:creationId xmlns:a16="http://schemas.microsoft.com/office/drawing/2014/main" id="{C86E0F4E-4054-E9B4-E4E3-3701B7D8023A}"/>
              </a:ext>
            </a:extLst>
          </p:cNvPr>
          <p:cNvSpPr/>
          <p:nvPr/>
        </p:nvSpPr>
        <p:spPr>
          <a:xfrm>
            <a:off x="396378" y="1414782"/>
            <a:ext cx="3839477" cy="1380422"/>
          </a:xfrm>
          <a:prstGeom prst="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i="0" u="none" strike="noStrike">
                <a:solidFill>
                  <a:srgbClr val="FFD928"/>
                </a:solidFill>
                <a:effectLst/>
                <a:latin typeface="Lato" panose="020F0502020204030203" pitchFamily="34" charset="0"/>
              </a:rPr>
              <a:t>Provides comprehensive financial protection for the family in case of accidental injuries and death.</a:t>
            </a:r>
            <a:r>
              <a:rPr lang="en-US" b="1" i="0">
                <a:solidFill>
                  <a:srgbClr val="FFD928"/>
                </a:solidFill>
                <a:effectLst/>
                <a:latin typeface="Lato" panose="020F0502020204030203" pitchFamily="34" charset="0"/>
              </a:rPr>
              <a:t>​</a:t>
            </a:r>
            <a:br>
              <a:rPr lang="en-US" b="1" i="0">
                <a:solidFill>
                  <a:srgbClr val="FFD928"/>
                </a:solidFill>
                <a:effectLst/>
                <a:latin typeface="Lato" panose="020F0502020204030203" pitchFamily="34" charset="0"/>
              </a:rPr>
            </a:br>
            <a:r>
              <a:rPr lang="en-US" b="1" i="0">
                <a:solidFill>
                  <a:srgbClr val="FFD928"/>
                </a:solidFill>
                <a:effectLst/>
                <a:latin typeface="Lato" panose="020F0502020204030203" pitchFamily="34" charset="0"/>
              </a:rPr>
              <a:t>Covers Primary member and dependents</a:t>
            </a:r>
            <a:endParaRPr lang="en-PH" b="1">
              <a:solidFill>
                <a:srgbClr val="FFD928"/>
              </a:solidFill>
            </a:endParaRPr>
          </a:p>
        </p:txBody>
      </p:sp>
      <p:sp>
        <p:nvSpPr>
          <p:cNvPr id="6" name="Title 1">
            <a:extLst>
              <a:ext uri="{FF2B5EF4-FFF2-40B4-BE49-F238E27FC236}">
                <a16:creationId xmlns:a16="http://schemas.microsoft.com/office/drawing/2014/main" id="{BDDEE633-F16A-1B39-2EC7-DF78DCD39108}"/>
              </a:ext>
            </a:extLst>
          </p:cNvPr>
          <p:cNvSpPr>
            <a:spLocks noGrp="1"/>
          </p:cNvSpPr>
          <p:nvPr>
            <p:ph type="title"/>
          </p:nvPr>
        </p:nvSpPr>
        <p:spPr>
          <a:xfrm>
            <a:off x="90002" y="465947"/>
            <a:ext cx="5064703" cy="940608"/>
          </a:xfrm>
          <a:solidFill>
            <a:srgbClr val="FFD928"/>
          </a:solidFill>
        </p:spPr>
        <p:txBody>
          <a:bodyPr anchor="ctr">
            <a:normAutofit fontScale="90000"/>
          </a:bodyPr>
          <a:lstStyle/>
          <a:p>
            <a:pPr marL="457200" indent="-457200">
              <a:buFont typeface="Webdings" panose="05030102010509060703" pitchFamily="18" charset="2"/>
              <a:buChar char=""/>
            </a:pPr>
            <a:r>
              <a:rPr lang="en-US" sz="3600" err="1">
                <a:solidFill>
                  <a:srgbClr val="1F4766"/>
                </a:solidFill>
              </a:rPr>
              <a:t>Kaagabay</a:t>
            </a:r>
            <a:r>
              <a:rPr lang="en-US" sz="3600">
                <a:solidFill>
                  <a:srgbClr val="1F4766"/>
                </a:solidFill>
              </a:rPr>
              <a:t> GPA Insurance</a:t>
            </a:r>
            <a:br>
              <a:rPr lang="en-US" sz="2200">
                <a:solidFill>
                  <a:srgbClr val="1F4766"/>
                </a:solidFill>
              </a:rPr>
            </a:br>
            <a:r>
              <a:rPr lang="en-US" sz="2200">
                <a:solidFill>
                  <a:srgbClr val="1F4766"/>
                </a:solidFill>
              </a:rPr>
              <a:t>Comprehensive Accident Insurance </a:t>
            </a:r>
          </a:p>
        </p:txBody>
      </p:sp>
      <p:graphicFrame>
        <p:nvGraphicFramePr>
          <p:cNvPr id="7" name="Table 27">
            <a:extLst>
              <a:ext uri="{FF2B5EF4-FFF2-40B4-BE49-F238E27FC236}">
                <a16:creationId xmlns:a16="http://schemas.microsoft.com/office/drawing/2014/main" id="{9632B038-17F5-5232-0628-4EFE38A6A1AC}"/>
              </a:ext>
            </a:extLst>
          </p:cNvPr>
          <p:cNvGraphicFramePr>
            <a:graphicFrameLocks noGrp="1"/>
          </p:cNvGraphicFramePr>
          <p:nvPr>
            <p:extLst>
              <p:ext uri="{D42A27DB-BD31-4B8C-83A1-F6EECF244321}">
                <p14:modId xmlns:p14="http://schemas.microsoft.com/office/powerpoint/2010/main" val="2871789845"/>
              </p:ext>
            </p:extLst>
          </p:nvPr>
        </p:nvGraphicFramePr>
        <p:xfrm>
          <a:off x="5068574" y="631478"/>
          <a:ext cx="3485297" cy="5595044"/>
        </p:xfrm>
        <a:graphic>
          <a:graphicData uri="http://schemas.openxmlformats.org/drawingml/2006/table">
            <a:tbl>
              <a:tblPr firstRow="1" bandRow="1">
                <a:tableStyleId>{2D5ABB26-0587-4C30-8999-92F81FD0307C}</a:tableStyleId>
              </a:tblPr>
              <a:tblGrid>
                <a:gridCol w="714327">
                  <a:extLst>
                    <a:ext uri="{9D8B030D-6E8A-4147-A177-3AD203B41FA5}">
                      <a16:colId xmlns:a16="http://schemas.microsoft.com/office/drawing/2014/main" val="1622108729"/>
                    </a:ext>
                  </a:extLst>
                </a:gridCol>
                <a:gridCol w="2770970">
                  <a:extLst>
                    <a:ext uri="{9D8B030D-6E8A-4147-A177-3AD203B41FA5}">
                      <a16:colId xmlns:a16="http://schemas.microsoft.com/office/drawing/2014/main" val="1450379266"/>
                    </a:ext>
                  </a:extLst>
                </a:gridCol>
              </a:tblGrid>
              <a:tr h="393333">
                <a:tc rowSpan="2">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a:solidFill>
                            <a:srgbClr val="1F4766"/>
                          </a:solidFill>
                          <a:latin typeface="Lato" panose="020F0502020204030203" pitchFamily="34" charset="0"/>
                          <a:ea typeface="Lato" panose="020F0502020204030203" pitchFamily="34" charset="0"/>
                          <a:cs typeface="Lato" panose="020F0502020204030203" pitchFamily="34" charset="0"/>
                        </a:rPr>
                        <a:t>Premium</a:t>
                      </a:r>
                      <a:endParaRPr lang="en-PH" sz="1800" b="1">
                        <a:solidFill>
                          <a:srgbClr val="1F4766"/>
                        </a:solidFill>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0170993"/>
                  </a:ext>
                </a:extLst>
              </a:tr>
              <a:tr h="1315530">
                <a:tc vMerge="1">
                  <a:txBody>
                    <a:bodyPr/>
                    <a:lstStyle/>
                    <a:p>
                      <a:endParaRPr lang="en-PH"/>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rtl="0" fontAlgn="base">
                        <a:buFont typeface="Wingdings" panose="05000000000000000000" pitchFamily="2" charset="2"/>
                        <a:buChar char="ü"/>
                      </a:pPr>
                      <a:r>
                        <a:rPr lang="en-US" sz="1800" b="0" i="0" u="none" strike="noStrike" kern="1200">
                          <a:solidFill>
                            <a:srgbClr val="FF0000"/>
                          </a:solidFill>
                          <a:effectLst/>
                          <a:latin typeface="Lato" panose="020F0502020204030203" pitchFamily="34" charset="0"/>
                          <a:ea typeface="Lato" panose="020F0502020204030203" pitchFamily="34" charset="0"/>
                          <a:cs typeface="Lato" panose="020F0502020204030203" pitchFamily="34" charset="0"/>
                        </a:rPr>
                        <a:t>110.00</a:t>
                      </a:r>
                      <a:r>
                        <a:rPr lang="en-US" sz="1800" b="0" i="0" u="none" strike="noStrike" kern="1200">
                          <a:solidFill>
                            <a:schemeClr val="tx1"/>
                          </a:solidFill>
                          <a:effectLst/>
                          <a:latin typeface="Lato" panose="020F0502020204030203" pitchFamily="34" charset="0"/>
                          <a:ea typeface="Lato" panose="020F0502020204030203" pitchFamily="34" charset="0"/>
                          <a:cs typeface="Lato" panose="020F0502020204030203" pitchFamily="34" charset="0"/>
                        </a:rPr>
                        <a:t> per month</a:t>
                      </a:r>
                      <a:br>
                        <a:rPr lang="en-US" sz="1800" b="0" i="0" u="none" strike="noStrike" kern="1200">
                          <a:solidFill>
                            <a:schemeClr val="tx1"/>
                          </a:solidFill>
                          <a:effectLst/>
                          <a:latin typeface="Lato" panose="020F0502020204030203" pitchFamily="34" charset="0"/>
                          <a:ea typeface="Lato" panose="020F0502020204030203" pitchFamily="34" charset="0"/>
                          <a:cs typeface="Lato" panose="020F0502020204030203" pitchFamily="34" charset="0"/>
                        </a:rPr>
                      </a:br>
                      <a:endParaRPr lang="en-US" sz="1800" b="0" i="0" u="none" strike="noStrike" kern="1200">
                        <a:solidFill>
                          <a:schemeClr val="tx1"/>
                        </a:solidFill>
                        <a:effectLst/>
                        <a:latin typeface="Lato" panose="020F0502020204030203" pitchFamily="34" charset="0"/>
                        <a:ea typeface="Lato" panose="020F0502020204030203" pitchFamily="34" charset="0"/>
                        <a:cs typeface="Lato" panose="020F0502020204030203" pitchFamily="34" charset="0"/>
                      </a:endParaRPr>
                    </a:p>
                    <a:p>
                      <a:pPr marL="285750" indent="-285750" rtl="0" fontAlgn="base">
                        <a:buFont typeface="Wingdings" panose="05000000000000000000" pitchFamily="2" charset="2"/>
                        <a:buChar char="ü"/>
                      </a:pPr>
                      <a:r>
                        <a:rPr lang="en-US" sz="1800" b="0" i="0" u="none" strike="noStrike" kern="1200">
                          <a:solidFill>
                            <a:schemeClr val="tx1"/>
                          </a:solidFill>
                          <a:effectLst/>
                          <a:latin typeface="Lato" panose="020F0502020204030203" pitchFamily="34" charset="0"/>
                          <a:ea typeface="Lato" panose="020F0502020204030203" pitchFamily="34" charset="0"/>
                          <a:cs typeface="Lato" panose="020F0502020204030203" pitchFamily="34" charset="0"/>
                        </a:rPr>
                        <a:t>P</a:t>
                      </a:r>
                      <a:r>
                        <a:rPr lang="en-US" sz="1800" b="0" i="0" u="none" strike="noStrike" kern="1200">
                          <a:solidFill>
                            <a:srgbClr val="FF0000"/>
                          </a:solidFill>
                          <a:effectLst/>
                          <a:latin typeface="Lato" panose="020F0502020204030203" pitchFamily="34" charset="0"/>
                          <a:ea typeface="Lato" panose="020F0502020204030203" pitchFamily="34" charset="0"/>
                          <a:cs typeface="Lato" panose="020F0502020204030203" pitchFamily="34" charset="0"/>
                        </a:rPr>
                        <a:t>120.00</a:t>
                      </a:r>
                      <a:r>
                        <a:rPr lang="en-US" sz="1800" b="0" i="0" u="none" strike="noStrike" kern="1200">
                          <a:solidFill>
                            <a:schemeClr val="tx1"/>
                          </a:solidFill>
                          <a:effectLst/>
                          <a:latin typeface="Lato" panose="020F0502020204030203" pitchFamily="34" charset="0"/>
                          <a:ea typeface="Lato" panose="020F0502020204030203" pitchFamily="34" charset="0"/>
                          <a:cs typeface="Lato" panose="020F0502020204030203" pitchFamily="34" charset="0"/>
                        </a:rPr>
                        <a:t> per month (for </a:t>
                      </a:r>
                      <a:r>
                        <a:rPr lang="en-US" sz="1800" b="0" i="0" u="none" strike="noStrike" kern="1200" err="1">
                          <a:solidFill>
                            <a:schemeClr val="tx1"/>
                          </a:solidFill>
                          <a:effectLst/>
                          <a:latin typeface="Lato" panose="020F0502020204030203" pitchFamily="34" charset="0"/>
                          <a:ea typeface="Lato" panose="020F0502020204030203" pitchFamily="34" charset="0"/>
                          <a:cs typeface="Lato" panose="020F0502020204030203" pitchFamily="34" charset="0"/>
                        </a:rPr>
                        <a:t>MPlus</a:t>
                      </a:r>
                      <a:r>
                        <a:rPr lang="en-US" sz="1800" b="0" i="0" u="none" strike="noStrike" kern="1200">
                          <a:solidFill>
                            <a:schemeClr val="tx1"/>
                          </a:solidFill>
                          <a:effectLst/>
                          <a:latin typeface="Lato" panose="020F0502020204030203" pitchFamily="34" charset="0"/>
                          <a:ea typeface="Lato" panose="020F0502020204030203" pitchFamily="34" charset="0"/>
                          <a:cs typeface="Lato" panose="020F0502020204030203" pitchFamily="34" charset="0"/>
                        </a:rPr>
                        <a:t>)​</a:t>
                      </a:r>
                      <a:endParaRPr lang="en-US" sz="1800" b="1" i="0" kern="1200">
                        <a:solidFill>
                          <a:schemeClr val="tx1"/>
                        </a:solidFill>
                        <a:effectLst/>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4695899"/>
                  </a:ext>
                </a:extLst>
              </a:tr>
              <a:tr h="418347">
                <a:tc rowSpan="2">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a:solidFill>
                            <a:srgbClr val="1F4766"/>
                          </a:solidFill>
                          <a:latin typeface="Lato" panose="020F0502020204030203" pitchFamily="34" charset="0"/>
                          <a:ea typeface="Lato" panose="020F0502020204030203" pitchFamily="34" charset="0"/>
                          <a:cs typeface="Lato" panose="020F0502020204030203" pitchFamily="34" charset="0"/>
                        </a:rPr>
                        <a:t>Payment Mode</a:t>
                      </a:r>
                      <a:endParaRPr lang="en-PH" sz="1800" b="1">
                        <a:solidFill>
                          <a:srgbClr val="1F4766"/>
                        </a:solidFill>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88353520"/>
                  </a:ext>
                </a:extLst>
              </a:tr>
              <a:tr h="794694">
                <a:tc vMerge="1">
                  <a:txBody>
                    <a:bodyPr/>
                    <a:lstStyle/>
                    <a:p>
                      <a:endParaRPr lang="en-PH"/>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PH" sz="1800" b="0" i="0" kern="1200">
                          <a:solidFill>
                            <a:schemeClr val="tx1"/>
                          </a:solidFill>
                          <a:effectLst/>
                          <a:latin typeface="Lato" panose="020F0502020204030203" pitchFamily="34" charset="0"/>
                          <a:ea typeface="Lato" panose="020F0502020204030203" pitchFamily="34" charset="0"/>
                          <a:cs typeface="Lato" panose="020F0502020204030203" pitchFamily="34" charset="0"/>
                        </a:rPr>
                        <a:t>Pre-deducted from loan amount​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11574103"/>
                  </a:ext>
                </a:extLst>
              </a:tr>
              <a:tr h="366041">
                <a:tc rowSpan="2">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b="1">
                          <a:solidFill>
                            <a:srgbClr val="1F4766"/>
                          </a:solidFill>
                          <a:latin typeface="Lato" panose="020F0502020204030203" pitchFamily="34" charset="0"/>
                          <a:ea typeface="Lato" panose="020F0502020204030203" pitchFamily="34" charset="0"/>
                          <a:cs typeface="Lato" panose="020F0502020204030203" pitchFamily="34" charset="0"/>
                        </a:rPr>
                        <a:t>Payment Frequency</a:t>
                      </a:r>
                      <a:endParaRPr lang="en-PH" sz="1800" b="1">
                        <a:solidFill>
                          <a:srgbClr val="1F4766"/>
                        </a:solidFill>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68837476"/>
                  </a:ext>
                </a:extLst>
              </a:tr>
              <a:tr h="852743">
                <a:tc vMerge="1">
                  <a:txBody>
                    <a:bodyPr/>
                    <a:lstStyle/>
                    <a:p>
                      <a:endParaRPr lang="en-PH"/>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Wingdings" panose="05000000000000000000" pitchFamily="2" charset="2"/>
                        <a:buChar char="ü"/>
                      </a:pPr>
                      <a:r>
                        <a:rPr lang="en-US" sz="1800">
                          <a:latin typeface="Lato" panose="020F0502020204030203" pitchFamily="34" charset="0"/>
                          <a:ea typeface="Lato" panose="020F0502020204030203" pitchFamily="34" charset="0"/>
                          <a:cs typeface="Lato" panose="020F0502020204030203" pitchFamily="34" charset="0"/>
                        </a:rPr>
                        <a:t>One-time, upon loan availment</a:t>
                      </a:r>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54832442"/>
                  </a:ext>
                </a:extLst>
              </a:tr>
              <a:tr h="366041">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Wingdings" panose="05000000000000000000" pitchFamily="2" charset="2"/>
                        <a:buNone/>
                      </a:pPr>
                      <a:r>
                        <a:rPr lang="en-US" sz="1800" b="1">
                          <a:solidFill>
                            <a:srgbClr val="1F4766"/>
                          </a:solidFill>
                          <a:latin typeface="Lato" panose="020F0502020204030203" pitchFamily="34" charset="0"/>
                          <a:ea typeface="Lato" panose="020F0502020204030203" pitchFamily="34" charset="0"/>
                          <a:cs typeface="Lato" panose="020F0502020204030203" pitchFamily="34" charset="0"/>
                        </a:rPr>
                        <a:t>Grace Period</a:t>
                      </a:r>
                      <a:endParaRPr lang="en-PH" sz="1800" b="1">
                        <a:solidFill>
                          <a:srgbClr val="1F4766"/>
                        </a:solidFill>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15615276"/>
                  </a:ext>
                </a:extLst>
              </a:tr>
              <a:tr h="579564">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buFont typeface="Wingdings" panose="05000000000000000000" pitchFamily="2" charset="2"/>
                        <a:buChar char="ü"/>
                      </a:pPr>
                      <a:r>
                        <a:rPr lang="en-US" sz="1800">
                          <a:latin typeface="Lato" panose="020F0502020204030203" pitchFamily="34" charset="0"/>
                          <a:ea typeface="Lato" panose="020F0502020204030203" pitchFamily="34" charset="0"/>
                          <a:cs typeface="Lato" panose="020F0502020204030203" pitchFamily="34" charset="0"/>
                        </a:rPr>
                        <a:t>60 days after loan maturity​</a:t>
                      </a:r>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61522439"/>
                  </a:ext>
                </a:extLst>
              </a:tr>
              <a:tr h="448235">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rtl="0" fontAlgn="base">
                        <a:buFont typeface="Wingdings" panose="05000000000000000000" pitchFamily="2" charset="2"/>
                        <a:buNone/>
                      </a:pPr>
                      <a:endParaRPr lang="en-US" sz="1800" b="1" i="0" kern="1200">
                        <a:solidFill>
                          <a:srgbClr val="1F4766"/>
                        </a:solidFill>
                        <a:effectLst/>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03086260"/>
                  </a:ext>
                </a:extLst>
              </a:tr>
            </a:tbl>
          </a:graphicData>
        </a:graphic>
      </p:graphicFrame>
      <p:pic>
        <p:nvPicPr>
          <p:cNvPr id="8" name="Picture 7">
            <a:extLst>
              <a:ext uri="{FF2B5EF4-FFF2-40B4-BE49-F238E27FC236}">
                <a16:creationId xmlns:a16="http://schemas.microsoft.com/office/drawing/2014/main" id="{F7ABB714-567F-CB91-04CE-92CBDA83D744}"/>
              </a:ext>
            </a:extLst>
          </p:cNvPr>
          <p:cNvPicPr>
            <a:picLocks noChangeAspect="1"/>
          </p:cNvPicPr>
          <p:nvPr/>
        </p:nvPicPr>
        <p:blipFill>
          <a:blip r:embed="rId3"/>
          <a:stretch>
            <a:fillRect/>
          </a:stretch>
        </p:blipFill>
        <p:spPr>
          <a:xfrm>
            <a:off x="5267453" y="754230"/>
            <a:ext cx="573074" cy="566977"/>
          </a:xfrm>
          <a:prstGeom prst="rect">
            <a:avLst/>
          </a:prstGeom>
        </p:spPr>
      </p:pic>
      <p:pic>
        <p:nvPicPr>
          <p:cNvPr id="9" name="Picture 8">
            <a:extLst>
              <a:ext uri="{FF2B5EF4-FFF2-40B4-BE49-F238E27FC236}">
                <a16:creationId xmlns:a16="http://schemas.microsoft.com/office/drawing/2014/main" id="{5A9563A0-2C06-127A-07EA-65A6D5ED95FE}"/>
              </a:ext>
            </a:extLst>
          </p:cNvPr>
          <p:cNvPicPr>
            <a:picLocks noChangeAspect="1"/>
          </p:cNvPicPr>
          <p:nvPr/>
        </p:nvPicPr>
        <p:blipFill>
          <a:blip r:embed="rId4"/>
          <a:stretch>
            <a:fillRect/>
          </a:stretch>
        </p:blipFill>
        <p:spPr>
          <a:xfrm>
            <a:off x="5179336" y="4687928"/>
            <a:ext cx="573074" cy="573074"/>
          </a:xfrm>
          <a:prstGeom prst="rect">
            <a:avLst/>
          </a:prstGeom>
        </p:spPr>
      </p:pic>
      <p:pic>
        <p:nvPicPr>
          <p:cNvPr id="10" name="Picture 9">
            <a:extLst>
              <a:ext uri="{FF2B5EF4-FFF2-40B4-BE49-F238E27FC236}">
                <a16:creationId xmlns:a16="http://schemas.microsoft.com/office/drawing/2014/main" id="{B2988D0C-634B-2160-F44F-65A93F8C1AD2}"/>
              </a:ext>
            </a:extLst>
          </p:cNvPr>
          <p:cNvPicPr>
            <a:picLocks noChangeAspect="1"/>
          </p:cNvPicPr>
          <p:nvPr/>
        </p:nvPicPr>
        <p:blipFill>
          <a:blip r:embed="rId5"/>
          <a:stretch>
            <a:fillRect/>
          </a:stretch>
        </p:blipFill>
        <p:spPr>
          <a:xfrm>
            <a:off x="5153708" y="3563837"/>
            <a:ext cx="573074" cy="573074"/>
          </a:xfrm>
          <a:prstGeom prst="rect">
            <a:avLst/>
          </a:prstGeom>
        </p:spPr>
      </p:pic>
      <p:graphicFrame>
        <p:nvGraphicFramePr>
          <p:cNvPr id="11" name="Table 27">
            <a:extLst>
              <a:ext uri="{FF2B5EF4-FFF2-40B4-BE49-F238E27FC236}">
                <a16:creationId xmlns:a16="http://schemas.microsoft.com/office/drawing/2014/main" id="{33F7C0F9-AFD2-D94C-DADE-FE769BA2704D}"/>
              </a:ext>
            </a:extLst>
          </p:cNvPr>
          <p:cNvGraphicFramePr>
            <a:graphicFrameLocks noGrp="1"/>
          </p:cNvGraphicFramePr>
          <p:nvPr>
            <p:extLst>
              <p:ext uri="{D42A27DB-BD31-4B8C-83A1-F6EECF244321}">
                <p14:modId xmlns:p14="http://schemas.microsoft.com/office/powerpoint/2010/main" val="1778147862"/>
              </p:ext>
            </p:extLst>
          </p:nvPr>
        </p:nvGraphicFramePr>
        <p:xfrm>
          <a:off x="8241696" y="465947"/>
          <a:ext cx="3895413" cy="5408704"/>
        </p:xfrm>
        <a:graphic>
          <a:graphicData uri="http://schemas.openxmlformats.org/drawingml/2006/table">
            <a:tbl>
              <a:tblPr firstRow="1" bandRow="1">
                <a:tableStyleId>{2D5ABB26-0587-4C30-8999-92F81FD0307C}</a:tableStyleId>
              </a:tblPr>
              <a:tblGrid>
                <a:gridCol w="614223">
                  <a:extLst>
                    <a:ext uri="{9D8B030D-6E8A-4147-A177-3AD203B41FA5}">
                      <a16:colId xmlns:a16="http://schemas.microsoft.com/office/drawing/2014/main" val="1622108729"/>
                    </a:ext>
                  </a:extLst>
                </a:gridCol>
                <a:gridCol w="3281190">
                  <a:extLst>
                    <a:ext uri="{9D8B030D-6E8A-4147-A177-3AD203B41FA5}">
                      <a16:colId xmlns:a16="http://schemas.microsoft.com/office/drawing/2014/main" val="1450379266"/>
                    </a:ext>
                  </a:extLst>
                </a:gridCol>
              </a:tblGrid>
              <a:tr h="318834">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rtl="0" fontAlgn="base">
                        <a:buFont typeface="Wingdings" panose="05000000000000000000" pitchFamily="2" charset="2"/>
                        <a:buNone/>
                      </a:pPr>
                      <a:r>
                        <a:rPr lang="en-US" sz="1800" b="1" i="0" kern="1200">
                          <a:solidFill>
                            <a:srgbClr val="1F4766"/>
                          </a:solidFill>
                          <a:effectLst/>
                          <a:latin typeface="Lato" panose="020F0502020204030203" pitchFamily="34" charset="0"/>
                          <a:ea typeface="Lato" panose="020F0502020204030203" pitchFamily="34" charset="0"/>
                          <a:cs typeface="Lato" panose="020F0502020204030203" pitchFamily="34" charset="0"/>
                        </a:rPr>
                        <a:t>Coverage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58600511"/>
                  </a:ext>
                </a:extLst>
              </a:tr>
              <a:tr h="895530">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rtl="0" fontAlgn="base">
                        <a:buFont typeface="Wingdings" panose="05000000000000000000" pitchFamily="2" charset="2"/>
                        <a:buChar char="ü"/>
                      </a:pPr>
                      <a:r>
                        <a:rPr lang="en-US" sz="1800" b="0" i="0" kern="1200">
                          <a:solidFill>
                            <a:schemeClr val="tx1"/>
                          </a:solidFill>
                          <a:effectLst/>
                          <a:latin typeface="Lato" panose="020F0502020204030203" pitchFamily="34" charset="0"/>
                          <a:ea typeface="Lato" panose="020F0502020204030203" pitchFamily="34" charset="0"/>
                          <a:cs typeface="Lato" panose="020F0502020204030203" pitchFamily="34" charset="0"/>
                        </a:rPr>
                        <a:t>RAFI MFI Members and their Spouse/Parent and Legal dependents/Siblings​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93942546"/>
                  </a:ext>
                </a:extLst>
              </a:tr>
              <a:tr h="318834">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rtl="0" fontAlgn="base"/>
                      <a:r>
                        <a:rPr lang="en-US" sz="1800" b="1" i="0" kern="1200">
                          <a:solidFill>
                            <a:srgbClr val="1F4766"/>
                          </a:solidFill>
                          <a:effectLst/>
                          <a:latin typeface="Lato" panose="020F0502020204030203" pitchFamily="34" charset="0"/>
                          <a:ea typeface="Lato" panose="020F0502020204030203" pitchFamily="34" charset="0"/>
                          <a:cs typeface="Lato" panose="020F0502020204030203" pitchFamily="34" charset="0"/>
                        </a:rPr>
                        <a:t>Eligibility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21194152"/>
                  </a:ext>
                </a:extLst>
              </a:tr>
              <a:tr h="1933984">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rtl="0" fontAlgn="base">
                        <a:buFont typeface="Wingdings" panose="05000000000000000000" pitchFamily="2" charset="2"/>
                        <a:buChar char="ü"/>
                      </a:pPr>
                      <a:r>
                        <a:rPr lang="en-US" sz="1800" b="0" i="0" kern="1200">
                          <a:solidFill>
                            <a:schemeClr val="tx1"/>
                          </a:solidFill>
                          <a:effectLst/>
                          <a:latin typeface="Lato" panose="020F0502020204030203" pitchFamily="34" charset="0"/>
                          <a:ea typeface="Lato" panose="020F0502020204030203" pitchFamily="34" charset="0"/>
                          <a:cs typeface="Lato" panose="020F0502020204030203" pitchFamily="34" charset="0"/>
                        </a:rPr>
                        <a:t>All production loan active borrowers aged 18 to 75 years old and:​</a:t>
                      </a:r>
                    </a:p>
                    <a:p>
                      <a:pPr marL="622300" indent="-285750" rtl="0" fontAlgn="base">
                        <a:buFont typeface="Arial" panose="020B0604020202020204" pitchFamily="34" charset="0"/>
                        <a:buChar char="•"/>
                      </a:pPr>
                      <a:r>
                        <a:rPr lang="en-US" sz="1200" b="0" i="0" kern="1200">
                          <a:solidFill>
                            <a:schemeClr val="tx1"/>
                          </a:solidFill>
                          <a:effectLst/>
                          <a:latin typeface="Lato" panose="020F0502020204030203" pitchFamily="34" charset="0"/>
                          <a:ea typeface="Lato" panose="020F0502020204030203" pitchFamily="34" charset="0"/>
                          <a:cs typeface="Lato" panose="020F0502020204030203" pitchFamily="34" charset="0"/>
                        </a:rPr>
                        <a:t>Spouses, if married, or Parents, if single, aged 18 to 75 years old​</a:t>
                      </a:r>
                    </a:p>
                    <a:p>
                      <a:pPr marL="622300" indent="-285750" rtl="0" fontAlgn="base">
                        <a:buFont typeface="Arial" panose="020B0604020202020204" pitchFamily="34" charset="0"/>
                        <a:buChar char="•"/>
                      </a:pPr>
                      <a:endParaRPr lang="en-US" sz="500" b="0" i="0" kern="1200">
                        <a:solidFill>
                          <a:schemeClr val="tx1"/>
                        </a:solidFill>
                        <a:effectLst/>
                        <a:latin typeface="Lato" panose="020F0502020204030203" pitchFamily="34" charset="0"/>
                        <a:ea typeface="Lato" panose="020F0502020204030203" pitchFamily="34" charset="0"/>
                        <a:cs typeface="Lato" panose="020F0502020204030203" pitchFamily="34" charset="0"/>
                      </a:endParaRPr>
                    </a:p>
                    <a:p>
                      <a:pPr marL="622300" indent="-285750" rtl="0" fontAlgn="base">
                        <a:buFont typeface="Arial" panose="020B0604020202020204" pitchFamily="34" charset="0"/>
                        <a:buChar char="•"/>
                      </a:pPr>
                      <a:r>
                        <a:rPr lang="en-US" sz="1200" b="0" i="0" kern="1200">
                          <a:solidFill>
                            <a:schemeClr val="tx1"/>
                          </a:solidFill>
                          <a:effectLst/>
                          <a:latin typeface="Lato" panose="020F0502020204030203" pitchFamily="34" charset="0"/>
                          <a:ea typeface="Lato" panose="020F0502020204030203" pitchFamily="34" charset="0"/>
                          <a:cs typeface="Lato" panose="020F0502020204030203" pitchFamily="34" charset="0"/>
                        </a:rPr>
                        <a:t>Legal dependents, if married, or Siblings, if single, aged 14 days to 21 years old​​​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52534781"/>
                  </a:ext>
                </a:extLst>
              </a:tr>
              <a:tr h="318834">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rtl="0" fontAlgn="base">
                        <a:buFont typeface="Wingdings" panose="05000000000000000000" pitchFamily="2" charset="2"/>
                        <a:buNone/>
                      </a:pPr>
                      <a:r>
                        <a:rPr lang="en-US" sz="1800" b="1" i="0" kern="1200">
                          <a:solidFill>
                            <a:srgbClr val="1F4766"/>
                          </a:solidFill>
                          <a:effectLst/>
                          <a:latin typeface="Lato" panose="020F0502020204030203" pitchFamily="34" charset="0"/>
                          <a:ea typeface="Lato" panose="020F0502020204030203" pitchFamily="34" charset="0"/>
                          <a:cs typeface="Lato" panose="020F0502020204030203" pitchFamily="34" charset="0"/>
                        </a:rPr>
                        <a:t>Documentary Requirements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93973218"/>
                  </a:ext>
                </a:extLst>
              </a:tr>
              <a:tr h="1036210">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rtl="0" fontAlgn="base">
                        <a:buFont typeface="Wingdings" panose="05000000000000000000" pitchFamily="2" charset="2"/>
                        <a:buChar char="ü"/>
                      </a:pPr>
                      <a:r>
                        <a:rPr lang="en-US" sz="1800" b="0" i="0" kern="1200">
                          <a:solidFill>
                            <a:schemeClr val="tx1"/>
                          </a:solidFill>
                          <a:effectLst/>
                          <a:latin typeface="Lato" panose="020F0502020204030203" pitchFamily="34" charset="0"/>
                          <a:ea typeface="Lato" panose="020F0502020204030203" pitchFamily="34" charset="0"/>
                          <a:cs typeface="Lato" panose="020F0502020204030203" pitchFamily="34" charset="0"/>
                        </a:rPr>
                        <a:t>Upon Enrollment : Submitted and approved online  Loan Application </a:t>
                      </a:r>
                    </a:p>
                    <a:p>
                      <a:pPr marL="285750" indent="-285750" rtl="0" fontAlgn="base">
                        <a:buFont typeface="Wingdings" panose="05000000000000000000" pitchFamily="2" charset="2"/>
                        <a:buChar char="ü"/>
                      </a:pPr>
                      <a:r>
                        <a:rPr lang="en-US" sz="1800" b="0" i="0" kern="1200">
                          <a:solidFill>
                            <a:schemeClr val="tx1"/>
                          </a:solidFill>
                          <a:effectLst/>
                          <a:latin typeface="Lato" panose="020F0502020204030203" pitchFamily="34" charset="0"/>
                          <a:ea typeface="Lato" panose="020F0502020204030203" pitchFamily="34" charset="0"/>
                          <a:cs typeface="Lato" panose="020F0502020204030203" pitchFamily="34" charset="0"/>
                        </a:rPr>
                        <a:t>Upon Claim​ </a:t>
                      </a:r>
                      <a:r>
                        <a:rPr lang="en-US" sz="1800" b="0" i="1" kern="1200">
                          <a:solidFill>
                            <a:schemeClr val="tx1"/>
                          </a:solidFill>
                          <a:effectLst/>
                          <a:latin typeface="Lato" panose="020F0502020204030203" pitchFamily="34" charset="0"/>
                          <a:ea typeface="Lato" panose="020F0502020204030203" pitchFamily="34" charset="0"/>
                          <a:cs typeface="Lato" panose="020F0502020204030203" pitchFamily="34" charset="0"/>
                        </a:rPr>
                        <a:t>(see succeeding slides for detailed list) </a:t>
                      </a:r>
                      <a:endParaRPr lang="en-US" sz="1800" b="0" i="0" kern="1200">
                        <a:solidFill>
                          <a:schemeClr val="tx1"/>
                        </a:solidFill>
                        <a:effectLst/>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57620124"/>
                  </a:ext>
                </a:extLst>
              </a:tr>
            </a:tbl>
          </a:graphicData>
        </a:graphic>
      </p:graphicFrame>
      <p:pic>
        <p:nvPicPr>
          <p:cNvPr id="12" name="Picture 11">
            <a:extLst>
              <a:ext uri="{FF2B5EF4-FFF2-40B4-BE49-F238E27FC236}">
                <a16:creationId xmlns:a16="http://schemas.microsoft.com/office/drawing/2014/main" id="{959A06AA-A34C-A76C-943B-B682CBA83AE7}"/>
              </a:ext>
            </a:extLst>
          </p:cNvPr>
          <p:cNvPicPr>
            <a:picLocks noChangeAspect="1"/>
          </p:cNvPicPr>
          <p:nvPr/>
        </p:nvPicPr>
        <p:blipFill>
          <a:blip r:embed="rId6"/>
          <a:stretch>
            <a:fillRect/>
          </a:stretch>
        </p:blipFill>
        <p:spPr>
          <a:xfrm>
            <a:off x="8359349" y="1899055"/>
            <a:ext cx="573074" cy="573074"/>
          </a:xfrm>
          <a:prstGeom prst="rect">
            <a:avLst/>
          </a:prstGeom>
        </p:spPr>
      </p:pic>
      <p:pic>
        <p:nvPicPr>
          <p:cNvPr id="13" name="Picture 12">
            <a:extLst>
              <a:ext uri="{FF2B5EF4-FFF2-40B4-BE49-F238E27FC236}">
                <a16:creationId xmlns:a16="http://schemas.microsoft.com/office/drawing/2014/main" id="{7FF5466B-09E2-FAA9-19D9-DA935FBB65AA}"/>
              </a:ext>
            </a:extLst>
          </p:cNvPr>
          <p:cNvPicPr>
            <a:picLocks noChangeAspect="1"/>
          </p:cNvPicPr>
          <p:nvPr/>
        </p:nvPicPr>
        <p:blipFill>
          <a:blip r:embed="rId7"/>
          <a:stretch>
            <a:fillRect/>
          </a:stretch>
        </p:blipFill>
        <p:spPr>
          <a:xfrm>
            <a:off x="8409764" y="4114854"/>
            <a:ext cx="573074" cy="573074"/>
          </a:xfrm>
          <a:prstGeom prst="rect">
            <a:avLst/>
          </a:prstGeom>
        </p:spPr>
      </p:pic>
      <p:pic>
        <p:nvPicPr>
          <p:cNvPr id="14" name="Picture 13">
            <a:extLst>
              <a:ext uri="{FF2B5EF4-FFF2-40B4-BE49-F238E27FC236}">
                <a16:creationId xmlns:a16="http://schemas.microsoft.com/office/drawing/2014/main" id="{31B9D48B-A314-3292-27C6-66FBD7806861}"/>
              </a:ext>
            </a:extLst>
          </p:cNvPr>
          <p:cNvPicPr>
            <a:picLocks noChangeAspect="1"/>
          </p:cNvPicPr>
          <p:nvPr/>
        </p:nvPicPr>
        <p:blipFill>
          <a:blip r:embed="rId8"/>
          <a:stretch>
            <a:fillRect/>
          </a:stretch>
        </p:blipFill>
        <p:spPr>
          <a:xfrm>
            <a:off x="5154663" y="2336217"/>
            <a:ext cx="573074" cy="573074"/>
          </a:xfrm>
          <a:prstGeom prst="rect">
            <a:avLst/>
          </a:prstGeom>
        </p:spPr>
      </p:pic>
      <p:sp>
        <p:nvSpPr>
          <p:cNvPr id="15" name="Google Shape;8795;p119">
            <a:extLst>
              <a:ext uri="{FF2B5EF4-FFF2-40B4-BE49-F238E27FC236}">
                <a16:creationId xmlns:a16="http://schemas.microsoft.com/office/drawing/2014/main" id="{97471DEF-F9A9-5E56-B7C4-3033271E93E2}"/>
              </a:ext>
            </a:extLst>
          </p:cNvPr>
          <p:cNvSpPr/>
          <p:nvPr/>
        </p:nvSpPr>
        <p:spPr>
          <a:xfrm flipH="1">
            <a:off x="1024760" y="2811993"/>
            <a:ext cx="2114473" cy="809131"/>
          </a:xfrm>
          <a:prstGeom prst="plus">
            <a:avLst>
              <a:gd name="adj" fmla="val 28338"/>
            </a:avLst>
          </a:prstGeom>
          <a:noFill/>
          <a:ln w="38100" cap="flat" cmpd="sng">
            <a:solidFill>
              <a:srgbClr val="FFD928"/>
            </a:solidFill>
            <a:prstDash val="solid"/>
            <a:round/>
            <a:headEnd type="none" w="sm" len="sm"/>
            <a:tailEnd type="none" w="sm" len="sm"/>
          </a:ln>
          <a:effectLst>
            <a:glow rad="139700">
              <a:schemeClr val="accent4">
                <a:satMod val="175000"/>
                <a:alpha val="40000"/>
              </a:schemeClr>
            </a:glo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 name="Picture 15">
            <a:extLst>
              <a:ext uri="{FF2B5EF4-FFF2-40B4-BE49-F238E27FC236}">
                <a16:creationId xmlns:a16="http://schemas.microsoft.com/office/drawing/2014/main" id="{13E31BD2-8521-CD56-1F7A-E93A327FB946}"/>
              </a:ext>
            </a:extLst>
          </p:cNvPr>
          <p:cNvPicPr>
            <a:picLocks noChangeAspect="1"/>
          </p:cNvPicPr>
          <p:nvPr/>
        </p:nvPicPr>
        <p:blipFill>
          <a:blip r:embed="rId9"/>
          <a:stretch>
            <a:fillRect/>
          </a:stretch>
        </p:blipFill>
        <p:spPr>
          <a:xfrm>
            <a:off x="1104122" y="2885918"/>
            <a:ext cx="1955747" cy="654714"/>
          </a:xfrm>
          <a:prstGeom prst="rect">
            <a:avLst/>
          </a:prstGeom>
          <a:effectLst>
            <a:glow rad="139700">
              <a:schemeClr val="accent5">
                <a:satMod val="175000"/>
                <a:alpha val="40000"/>
              </a:schemeClr>
            </a:glow>
          </a:effectLst>
        </p:spPr>
      </p:pic>
      <p:grpSp>
        <p:nvGrpSpPr>
          <p:cNvPr id="17" name="Group 16">
            <a:extLst>
              <a:ext uri="{FF2B5EF4-FFF2-40B4-BE49-F238E27FC236}">
                <a16:creationId xmlns:a16="http://schemas.microsoft.com/office/drawing/2014/main" id="{2271BCD5-F5BB-9458-ECF7-F595EFDAD0F2}"/>
              </a:ext>
            </a:extLst>
          </p:cNvPr>
          <p:cNvGrpSpPr/>
          <p:nvPr/>
        </p:nvGrpSpPr>
        <p:grpSpPr>
          <a:xfrm>
            <a:off x="8300256" y="833855"/>
            <a:ext cx="572700" cy="572700"/>
            <a:chOff x="7660512" y="3677246"/>
            <a:chExt cx="572700" cy="572700"/>
          </a:xfrm>
        </p:grpSpPr>
        <p:sp>
          <p:nvSpPr>
            <p:cNvPr id="18" name="Google Shape;839;p61">
              <a:extLst>
                <a:ext uri="{FF2B5EF4-FFF2-40B4-BE49-F238E27FC236}">
                  <a16:creationId xmlns:a16="http://schemas.microsoft.com/office/drawing/2014/main" id="{D4461293-0A82-C1C8-605C-442D88AD94CA}"/>
                </a:ext>
              </a:extLst>
            </p:cNvPr>
            <p:cNvSpPr/>
            <p:nvPr/>
          </p:nvSpPr>
          <p:spPr>
            <a:xfrm>
              <a:off x="7660512" y="3677246"/>
              <a:ext cx="572700" cy="572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 name="Google Shape;16191;p127">
              <a:extLst>
                <a:ext uri="{FF2B5EF4-FFF2-40B4-BE49-F238E27FC236}">
                  <a16:creationId xmlns:a16="http://schemas.microsoft.com/office/drawing/2014/main" id="{11729D41-7BC8-D9D0-CF9B-4CF66E9A3CE0}"/>
                </a:ext>
              </a:extLst>
            </p:cNvPr>
            <p:cNvGrpSpPr/>
            <p:nvPr/>
          </p:nvGrpSpPr>
          <p:grpSpPr>
            <a:xfrm>
              <a:off x="7813105" y="3818532"/>
              <a:ext cx="251098" cy="309028"/>
              <a:chOff x="3599318" y="4299590"/>
              <a:chExt cx="251098" cy="309028"/>
            </a:xfrm>
          </p:grpSpPr>
          <p:sp>
            <p:nvSpPr>
              <p:cNvPr id="20" name="Google Shape;16192;p127">
                <a:extLst>
                  <a:ext uri="{FF2B5EF4-FFF2-40B4-BE49-F238E27FC236}">
                    <a16:creationId xmlns:a16="http://schemas.microsoft.com/office/drawing/2014/main" id="{FC5B7590-EF98-3C64-8482-CA367E4325BE}"/>
                  </a:ext>
                </a:extLst>
              </p:cNvPr>
              <p:cNvSpPr/>
              <p:nvPr/>
            </p:nvSpPr>
            <p:spPr>
              <a:xfrm>
                <a:off x="3599318" y="4299590"/>
                <a:ext cx="251098" cy="309028"/>
              </a:xfrm>
              <a:custGeom>
                <a:avLst/>
                <a:gdLst/>
                <a:ahLst/>
                <a:cxnLst/>
                <a:rect l="l" t="t" r="r" b="b"/>
                <a:pathLst>
                  <a:path w="9562" h="11768" extrusionOk="0">
                    <a:moveTo>
                      <a:pt x="4748" y="1"/>
                    </a:moveTo>
                    <a:lnTo>
                      <a:pt x="144" y="919"/>
                    </a:lnTo>
                    <a:cubicBezTo>
                      <a:pt x="58" y="939"/>
                      <a:pt x="1" y="1015"/>
                      <a:pt x="1" y="1101"/>
                    </a:cubicBezTo>
                    <a:lnTo>
                      <a:pt x="1" y="7724"/>
                    </a:lnTo>
                    <a:cubicBezTo>
                      <a:pt x="1" y="7772"/>
                      <a:pt x="20" y="7829"/>
                      <a:pt x="68" y="7858"/>
                    </a:cubicBezTo>
                    <a:lnTo>
                      <a:pt x="4661" y="11724"/>
                    </a:lnTo>
                    <a:cubicBezTo>
                      <a:pt x="4695" y="11753"/>
                      <a:pt x="4738" y="11767"/>
                      <a:pt x="4781" y="11767"/>
                    </a:cubicBezTo>
                    <a:cubicBezTo>
                      <a:pt x="4824" y="11767"/>
                      <a:pt x="4867" y="11753"/>
                      <a:pt x="4901" y="11724"/>
                    </a:cubicBezTo>
                    <a:lnTo>
                      <a:pt x="9494" y="7858"/>
                    </a:lnTo>
                    <a:cubicBezTo>
                      <a:pt x="9533" y="7829"/>
                      <a:pt x="9561" y="7772"/>
                      <a:pt x="9561" y="7724"/>
                    </a:cubicBezTo>
                    <a:lnTo>
                      <a:pt x="9561" y="1101"/>
                    </a:lnTo>
                    <a:cubicBezTo>
                      <a:pt x="9561" y="1015"/>
                      <a:pt x="9494" y="939"/>
                      <a:pt x="9408" y="919"/>
                    </a:cubicBezTo>
                    <a:lnTo>
                      <a:pt x="4815" y="1"/>
                    </a:lnTo>
                    <a:close/>
                  </a:path>
                </a:pathLst>
              </a:custGeom>
              <a:solidFill>
                <a:schemeClr val="accent5">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6193;p127">
                <a:extLst>
                  <a:ext uri="{FF2B5EF4-FFF2-40B4-BE49-F238E27FC236}">
                    <a16:creationId xmlns:a16="http://schemas.microsoft.com/office/drawing/2014/main" id="{E4F8B05E-DD9C-0B00-6E27-352FB0B47ED7}"/>
                  </a:ext>
                </a:extLst>
              </p:cNvPr>
              <p:cNvSpPr/>
              <p:nvPr/>
            </p:nvSpPr>
            <p:spPr>
              <a:xfrm>
                <a:off x="3618672" y="4319206"/>
                <a:ext cx="212391" cy="264018"/>
              </a:xfrm>
              <a:custGeom>
                <a:avLst/>
                <a:gdLst/>
                <a:ahLst/>
                <a:cxnLst/>
                <a:rect l="l" t="t" r="r" b="b"/>
                <a:pathLst>
                  <a:path w="8088" h="10054" extrusionOk="0">
                    <a:moveTo>
                      <a:pt x="4001" y="0"/>
                    </a:moveTo>
                    <a:lnTo>
                      <a:pt x="144" y="775"/>
                    </a:lnTo>
                    <a:cubicBezTo>
                      <a:pt x="58" y="794"/>
                      <a:pt x="1" y="871"/>
                      <a:pt x="1" y="957"/>
                    </a:cubicBezTo>
                    <a:lnTo>
                      <a:pt x="1" y="6632"/>
                    </a:lnTo>
                    <a:cubicBezTo>
                      <a:pt x="1" y="6680"/>
                      <a:pt x="29" y="6738"/>
                      <a:pt x="68" y="6766"/>
                    </a:cubicBezTo>
                    <a:lnTo>
                      <a:pt x="3924" y="10011"/>
                    </a:lnTo>
                    <a:cubicBezTo>
                      <a:pt x="3963" y="10039"/>
                      <a:pt x="4006" y="10054"/>
                      <a:pt x="4048" y="10054"/>
                    </a:cubicBezTo>
                    <a:cubicBezTo>
                      <a:pt x="4089" y="10054"/>
                      <a:pt x="4130" y="10039"/>
                      <a:pt x="4164" y="10011"/>
                    </a:cubicBezTo>
                    <a:lnTo>
                      <a:pt x="8020" y="6766"/>
                    </a:lnTo>
                    <a:cubicBezTo>
                      <a:pt x="8059" y="6728"/>
                      <a:pt x="8087" y="6680"/>
                      <a:pt x="8087" y="6623"/>
                    </a:cubicBezTo>
                    <a:lnTo>
                      <a:pt x="8087" y="957"/>
                    </a:lnTo>
                    <a:cubicBezTo>
                      <a:pt x="8087" y="871"/>
                      <a:pt x="8020" y="794"/>
                      <a:pt x="7934" y="775"/>
                    </a:cubicBezTo>
                    <a:lnTo>
                      <a:pt x="4078" y="0"/>
                    </a:lnTo>
                    <a:close/>
                  </a:path>
                </a:pathLst>
              </a:custGeom>
              <a:solidFill>
                <a:srgbClr val="E8ED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6194;p127">
                <a:extLst>
                  <a:ext uri="{FF2B5EF4-FFF2-40B4-BE49-F238E27FC236}">
                    <a16:creationId xmlns:a16="http://schemas.microsoft.com/office/drawing/2014/main" id="{24685905-6197-F178-4427-C38C31B49A16}"/>
                  </a:ext>
                </a:extLst>
              </p:cNvPr>
              <p:cNvSpPr/>
              <p:nvPr/>
            </p:nvSpPr>
            <p:spPr>
              <a:xfrm>
                <a:off x="3618672" y="4335777"/>
                <a:ext cx="118144" cy="247448"/>
              </a:xfrm>
              <a:custGeom>
                <a:avLst/>
                <a:gdLst/>
                <a:ahLst/>
                <a:cxnLst/>
                <a:rect l="l" t="t" r="r" b="b"/>
                <a:pathLst>
                  <a:path w="4499" h="9423" extrusionOk="0">
                    <a:moveTo>
                      <a:pt x="881" y="1"/>
                    </a:moveTo>
                    <a:lnTo>
                      <a:pt x="144" y="144"/>
                    </a:lnTo>
                    <a:cubicBezTo>
                      <a:pt x="58" y="163"/>
                      <a:pt x="1" y="240"/>
                      <a:pt x="1" y="326"/>
                    </a:cubicBezTo>
                    <a:lnTo>
                      <a:pt x="1" y="6001"/>
                    </a:lnTo>
                    <a:cubicBezTo>
                      <a:pt x="1" y="6049"/>
                      <a:pt x="29" y="6097"/>
                      <a:pt x="68" y="6135"/>
                    </a:cubicBezTo>
                    <a:lnTo>
                      <a:pt x="3924" y="9380"/>
                    </a:lnTo>
                    <a:cubicBezTo>
                      <a:pt x="3963" y="9408"/>
                      <a:pt x="4006" y="9423"/>
                      <a:pt x="4048" y="9423"/>
                    </a:cubicBezTo>
                    <a:cubicBezTo>
                      <a:pt x="4089" y="9423"/>
                      <a:pt x="4130" y="9408"/>
                      <a:pt x="4164" y="9380"/>
                    </a:cubicBezTo>
                    <a:lnTo>
                      <a:pt x="4499" y="9092"/>
                    </a:lnTo>
                    <a:lnTo>
                      <a:pt x="795" y="6001"/>
                    </a:lnTo>
                    <a:cubicBezTo>
                      <a:pt x="757" y="5963"/>
                      <a:pt x="728" y="5906"/>
                      <a:pt x="737" y="5858"/>
                    </a:cubicBezTo>
                    <a:lnTo>
                      <a:pt x="737" y="183"/>
                    </a:lnTo>
                    <a:cubicBezTo>
                      <a:pt x="737" y="96"/>
                      <a:pt x="795" y="20"/>
                      <a:pt x="881" y="1"/>
                    </a:cubicBezTo>
                    <a:close/>
                  </a:path>
                </a:pathLst>
              </a:custGeom>
              <a:solidFill>
                <a:srgbClr val="DFE6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6195;p127">
                <a:extLst>
                  <a:ext uri="{FF2B5EF4-FFF2-40B4-BE49-F238E27FC236}">
                    <a16:creationId xmlns:a16="http://schemas.microsoft.com/office/drawing/2014/main" id="{D39F222A-997E-A956-88C7-33C9457569D6}"/>
                  </a:ext>
                </a:extLst>
              </p:cNvPr>
              <p:cNvSpPr/>
              <p:nvPr/>
            </p:nvSpPr>
            <p:spPr>
              <a:xfrm>
                <a:off x="3634506" y="4362168"/>
                <a:ext cx="157849" cy="135423"/>
              </a:xfrm>
              <a:custGeom>
                <a:avLst/>
                <a:gdLst/>
                <a:ahLst/>
                <a:cxnLst/>
                <a:rect l="l" t="t" r="r" b="b"/>
                <a:pathLst>
                  <a:path w="6011" h="5157" extrusionOk="0">
                    <a:moveTo>
                      <a:pt x="3436" y="1"/>
                    </a:moveTo>
                    <a:cubicBezTo>
                      <a:pt x="1149" y="1"/>
                      <a:pt x="0" y="2776"/>
                      <a:pt x="1618" y="4393"/>
                    </a:cubicBezTo>
                    <a:cubicBezTo>
                      <a:pt x="2145" y="4920"/>
                      <a:pt x="2791" y="5156"/>
                      <a:pt x="3424" y="5156"/>
                    </a:cubicBezTo>
                    <a:cubicBezTo>
                      <a:pt x="4746" y="5156"/>
                      <a:pt x="6011" y="4128"/>
                      <a:pt x="6011" y="2575"/>
                    </a:cubicBezTo>
                    <a:cubicBezTo>
                      <a:pt x="6011" y="1159"/>
                      <a:pt x="4862" y="10"/>
                      <a:pt x="3436" y="1"/>
                    </a:cubicBezTo>
                    <a:close/>
                  </a:path>
                </a:pathLst>
              </a:custGeom>
              <a:solidFill>
                <a:srgbClr val="E4EA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6196;p127">
                <a:extLst>
                  <a:ext uri="{FF2B5EF4-FFF2-40B4-BE49-F238E27FC236}">
                    <a16:creationId xmlns:a16="http://schemas.microsoft.com/office/drawing/2014/main" id="{B07F1016-7202-020E-5F37-7801EF104008}"/>
                  </a:ext>
                </a:extLst>
              </p:cNvPr>
              <p:cNvSpPr/>
              <p:nvPr/>
            </p:nvSpPr>
            <p:spPr>
              <a:xfrm>
                <a:off x="3653860" y="4376742"/>
                <a:ext cx="124184" cy="106353"/>
              </a:xfrm>
              <a:custGeom>
                <a:avLst/>
                <a:gdLst/>
                <a:ahLst/>
                <a:cxnLst/>
                <a:rect l="l" t="t" r="r" b="b"/>
                <a:pathLst>
                  <a:path w="4729" h="4050" extrusionOk="0">
                    <a:moveTo>
                      <a:pt x="2699" y="1"/>
                    </a:moveTo>
                    <a:cubicBezTo>
                      <a:pt x="900" y="1"/>
                      <a:pt x="0" y="2183"/>
                      <a:pt x="1273" y="3456"/>
                    </a:cubicBezTo>
                    <a:cubicBezTo>
                      <a:pt x="1684" y="3866"/>
                      <a:pt x="2189" y="4050"/>
                      <a:pt x="2684" y="4050"/>
                    </a:cubicBezTo>
                    <a:cubicBezTo>
                      <a:pt x="3726" y="4050"/>
                      <a:pt x="4728" y="3239"/>
                      <a:pt x="4728" y="2020"/>
                    </a:cubicBezTo>
                    <a:cubicBezTo>
                      <a:pt x="4719" y="910"/>
                      <a:pt x="3819" y="1"/>
                      <a:pt x="2699" y="1"/>
                    </a:cubicBezTo>
                    <a:close/>
                  </a:path>
                </a:pathLst>
              </a:custGeom>
              <a:solidFill>
                <a:srgbClr val="DDE4E9"/>
              </a:solidFill>
              <a:ln>
                <a:solidFill>
                  <a:schemeClr val="accent4"/>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6197;p127">
                <a:extLst>
                  <a:ext uri="{FF2B5EF4-FFF2-40B4-BE49-F238E27FC236}">
                    <a16:creationId xmlns:a16="http://schemas.microsoft.com/office/drawing/2014/main" id="{E22634AA-A25B-CADA-56E3-A635F11EB263}"/>
                  </a:ext>
                </a:extLst>
              </p:cNvPr>
              <p:cNvSpPr/>
              <p:nvPr/>
            </p:nvSpPr>
            <p:spPr>
              <a:xfrm>
                <a:off x="3700340" y="4377189"/>
                <a:ext cx="50550" cy="105381"/>
              </a:xfrm>
              <a:custGeom>
                <a:avLst/>
                <a:gdLst/>
                <a:ahLst/>
                <a:cxnLst/>
                <a:rect l="l" t="t" r="r" b="b"/>
                <a:pathLst>
                  <a:path w="1925" h="4013" extrusionOk="0">
                    <a:moveTo>
                      <a:pt x="963" y="0"/>
                    </a:moveTo>
                    <a:cubicBezTo>
                      <a:pt x="874" y="0"/>
                      <a:pt x="786" y="55"/>
                      <a:pt x="776" y="166"/>
                    </a:cubicBezTo>
                    <a:lnTo>
                      <a:pt x="776" y="539"/>
                    </a:lnTo>
                    <a:cubicBezTo>
                      <a:pt x="336" y="577"/>
                      <a:pt x="1" y="969"/>
                      <a:pt x="30" y="1410"/>
                    </a:cubicBezTo>
                    <a:cubicBezTo>
                      <a:pt x="58" y="1853"/>
                      <a:pt x="412" y="2195"/>
                      <a:pt x="854" y="2195"/>
                    </a:cubicBezTo>
                    <a:cubicBezTo>
                      <a:pt x="860" y="2195"/>
                      <a:pt x="866" y="2195"/>
                      <a:pt x="872" y="2194"/>
                    </a:cubicBezTo>
                    <a:lnTo>
                      <a:pt x="1054" y="2194"/>
                    </a:lnTo>
                    <a:cubicBezTo>
                      <a:pt x="1666" y="2194"/>
                      <a:pt x="1666" y="3113"/>
                      <a:pt x="1054" y="3113"/>
                    </a:cubicBezTo>
                    <a:lnTo>
                      <a:pt x="776" y="3113"/>
                    </a:lnTo>
                    <a:cubicBezTo>
                      <a:pt x="575" y="3113"/>
                      <a:pt x="412" y="2941"/>
                      <a:pt x="412" y="2740"/>
                    </a:cubicBezTo>
                    <a:cubicBezTo>
                      <a:pt x="403" y="2630"/>
                      <a:pt x="317" y="2575"/>
                      <a:pt x="231" y="2575"/>
                    </a:cubicBezTo>
                    <a:cubicBezTo>
                      <a:pt x="144" y="2575"/>
                      <a:pt x="58" y="2630"/>
                      <a:pt x="49" y="2740"/>
                    </a:cubicBezTo>
                    <a:cubicBezTo>
                      <a:pt x="49" y="3151"/>
                      <a:pt x="374" y="3477"/>
                      <a:pt x="786" y="3477"/>
                    </a:cubicBezTo>
                    <a:lnTo>
                      <a:pt x="786" y="3841"/>
                    </a:lnTo>
                    <a:cubicBezTo>
                      <a:pt x="795" y="3955"/>
                      <a:pt x="881" y="4013"/>
                      <a:pt x="968" y="4013"/>
                    </a:cubicBezTo>
                    <a:cubicBezTo>
                      <a:pt x="1054" y="4013"/>
                      <a:pt x="1140" y="3955"/>
                      <a:pt x="1149" y="3841"/>
                    </a:cubicBezTo>
                    <a:lnTo>
                      <a:pt x="1149" y="3467"/>
                    </a:lnTo>
                    <a:cubicBezTo>
                      <a:pt x="1590" y="3429"/>
                      <a:pt x="1925" y="3046"/>
                      <a:pt x="1896" y="2596"/>
                    </a:cubicBezTo>
                    <a:cubicBezTo>
                      <a:pt x="1877" y="2162"/>
                      <a:pt x="1514" y="1821"/>
                      <a:pt x="1072" y="1821"/>
                    </a:cubicBezTo>
                    <a:cubicBezTo>
                      <a:pt x="1066" y="1821"/>
                      <a:pt x="1060" y="1821"/>
                      <a:pt x="1054" y="1821"/>
                    </a:cubicBezTo>
                    <a:lnTo>
                      <a:pt x="872" y="1821"/>
                    </a:lnTo>
                    <a:cubicBezTo>
                      <a:pt x="259" y="1821"/>
                      <a:pt x="259" y="902"/>
                      <a:pt x="872" y="902"/>
                    </a:cubicBezTo>
                    <a:lnTo>
                      <a:pt x="1149" y="902"/>
                    </a:lnTo>
                    <a:cubicBezTo>
                      <a:pt x="1350" y="902"/>
                      <a:pt x="1513" y="1065"/>
                      <a:pt x="1513" y="1266"/>
                    </a:cubicBezTo>
                    <a:lnTo>
                      <a:pt x="1513" y="1448"/>
                    </a:lnTo>
                    <a:cubicBezTo>
                      <a:pt x="1513" y="1553"/>
                      <a:pt x="1590" y="1639"/>
                      <a:pt x="1695" y="1639"/>
                    </a:cubicBezTo>
                    <a:cubicBezTo>
                      <a:pt x="1800" y="1639"/>
                      <a:pt x="1886" y="1553"/>
                      <a:pt x="1886" y="1458"/>
                    </a:cubicBezTo>
                    <a:lnTo>
                      <a:pt x="1886" y="1266"/>
                    </a:lnTo>
                    <a:cubicBezTo>
                      <a:pt x="1886" y="864"/>
                      <a:pt x="1551" y="539"/>
                      <a:pt x="1149" y="539"/>
                    </a:cubicBezTo>
                    <a:lnTo>
                      <a:pt x="1149" y="166"/>
                    </a:lnTo>
                    <a:cubicBezTo>
                      <a:pt x="1140" y="55"/>
                      <a:pt x="1051" y="0"/>
                      <a:pt x="963" y="0"/>
                    </a:cubicBezTo>
                    <a:close/>
                  </a:path>
                </a:pathLst>
              </a:custGeom>
              <a:solidFill>
                <a:srgbClr val="FFD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aphicFrame>
        <p:nvGraphicFramePr>
          <p:cNvPr id="26" name="Table 6">
            <a:extLst>
              <a:ext uri="{FF2B5EF4-FFF2-40B4-BE49-F238E27FC236}">
                <a16:creationId xmlns:a16="http://schemas.microsoft.com/office/drawing/2014/main" id="{E0A9950F-D17D-3A4C-2E07-BA6CE4AD34E1}"/>
              </a:ext>
            </a:extLst>
          </p:cNvPr>
          <p:cNvGraphicFramePr>
            <a:graphicFrameLocks noGrp="1"/>
          </p:cNvGraphicFramePr>
          <p:nvPr>
            <p:extLst>
              <p:ext uri="{D42A27DB-BD31-4B8C-83A1-F6EECF244321}">
                <p14:modId xmlns:p14="http://schemas.microsoft.com/office/powerpoint/2010/main" val="1187239803"/>
              </p:ext>
            </p:extLst>
          </p:nvPr>
        </p:nvGraphicFramePr>
        <p:xfrm>
          <a:off x="90001" y="3730628"/>
          <a:ext cx="4659487" cy="2423160"/>
        </p:xfrm>
        <a:graphic>
          <a:graphicData uri="http://schemas.openxmlformats.org/drawingml/2006/table">
            <a:tbl>
              <a:tblPr firstRow="1" bandRow="1">
                <a:tableStyleId>{5C22544A-7EE6-4342-B048-85BDC9FD1C3A}</a:tableStyleId>
              </a:tblPr>
              <a:tblGrid>
                <a:gridCol w="882472">
                  <a:extLst>
                    <a:ext uri="{9D8B030D-6E8A-4147-A177-3AD203B41FA5}">
                      <a16:colId xmlns:a16="http://schemas.microsoft.com/office/drawing/2014/main" val="466469994"/>
                    </a:ext>
                  </a:extLst>
                </a:gridCol>
                <a:gridCol w="1914237">
                  <a:extLst>
                    <a:ext uri="{9D8B030D-6E8A-4147-A177-3AD203B41FA5}">
                      <a16:colId xmlns:a16="http://schemas.microsoft.com/office/drawing/2014/main" val="1847240819"/>
                    </a:ext>
                  </a:extLst>
                </a:gridCol>
                <a:gridCol w="1862778">
                  <a:extLst>
                    <a:ext uri="{9D8B030D-6E8A-4147-A177-3AD203B41FA5}">
                      <a16:colId xmlns:a16="http://schemas.microsoft.com/office/drawing/2014/main" val="2255644648"/>
                    </a:ext>
                  </a:extLst>
                </a:gridCol>
              </a:tblGrid>
              <a:tr h="185232">
                <a:tc gridSpan="3">
                  <a:txBody>
                    <a:bodyPr/>
                    <a:lstStyle/>
                    <a:p>
                      <a:pPr algn="ctr"/>
                      <a:r>
                        <a:rPr lang="en-US" sz="1400">
                          <a:latin typeface="Lato" panose="020F0502020204030203" pitchFamily="34" charset="0"/>
                          <a:ea typeface="Lato" panose="020F0502020204030203" pitchFamily="34" charset="0"/>
                          <a:cs typeface="Lato" panose="020F0502020204030203" pitchFamily="34" charset="0"/>
                        </a:rPr>
                        <a:t>BENEFIT TYPES</a:t>
                      </a:r>
                      <a:endParaRPr lang="en-PH" sz="1400">
                        <a:latin typeface="Lato" panose="020F0502020204030203" pitchFamily="34" charset="0"/>
                        <a:ea typeface="Lato" panose="020F0502020204030203" pitchFamily="34" charset="0"/>
                        <a:cs typeface="Lato" panose="020F0502020204030203" pitchFamily="34" charset="0"/>
                      </a:endParaRPr>
                    </a:p>
                  </a:txBody>
                  <a:tcPr>
                    <a:solidFill>
                      <a:srgbClr val="1F4866"/>
                    </a:solidFill>
                  </a:tcPr>
                </a:tc>
                <a:tc hMerge="1">
                  <a:txBody>
                    <a:bodyPr/>
                    <a:lstStyle/>
                    <a:p>
                      <a:endParaRPr lang="en-PH"/>
                    </a:p>
                  </a:txBody>
                  <a:tcPr/>
                </a:tc>
                <a:tc hMerge="1">
                  <a:txBody>
                    <a:bodyPr/>
                    <a:lstStyle/>
                    <a:p>
                      <a:endParaRPr lang="en-PH"/>
                    </a:p>
                  </a:txBody>
                  <a:tcPr/>
                </a:tc>
                <a:extLst>
                  <a:ext uri="{0D108BD9-81ED-4DB2-BD59-A6C34878D82A}">
                    <a16:rowId xmlns:a16="http://schemas.microsoft.com/office/drawing/2014/main" val="389095422"/>
                  </a:ext>
                </a:extLst>
              </a:tr>
              <a:tr h="157447">
                <a:tc>
                  <a:txBody>
                    <a:bodyPr/>
                    <a:lstStyle/>
                    <a:p>
                      <a:endParaRPr lang="en-PH" sz="1100">
                        <a:latin typeface="Lato" panose="020F0502020204030203" pitchFamily="34" charset="0"/>
                        <a:ea typeface="Lato" panose="020F0502020204030203" pitchFamily="34" charset="0"/>
                        <a:cs typeface="Lato" panose="020F0502020204030203" pitchFamily="34" charset="0"/>
                      </a:endParaRPr>
                    </a:p>
                  </a:txBody>
                  <a:tcPr/>
                </a:tc>
                <a:tc>
                  <a:txBody>
                    <a:bodyPr/>
                    <a:lstStyle/>
                    <a:p>
                      <a:r>
                        <a:rPr lang="en-US" sz="1100">
                          <a:latin typeface="Lato" panose="020F0502020204030203" pitchFamily="34" charset="0"/>
                          <a:ea typeface="Lato" panose="020F0502020204030203" pitchFamily="34" charset="0"/>
                          <a:cs typeface="Lato" panose="020F0502020204030203" pitchFamily="34" charset="0"/>
                        </a:rPr>
                        <a:t>Due to Accident</a:t>
                      </a:r>
                      <a:endParaRPr lang="en-PH" sz="1100">
                        <a:latin typeface="Lato" panose="020F0502020204030203" pitchFamily="34" charset="0"/>
                        <a:ea typeface="Lato" panose="020F0502020204030203" pitchFamily="34" charset="0"/>
                        <a:cs typeface="Lato" panose="020F0502020204030203" pitchFamily="34" charset="0"/>
                      </a:endParaRPr>
                    </a:p>
                  </a:txBody>
                  <a:tcPr/>
                </a:tc>
                <a:tc>
                  <a:txBody>
                    <a:bodyPr/>
                    <a:lstStyle/>
                    <a:p>
                      <a:r>
                        <a:rPr lang="en-US" sz="1100">
                          <a:latin typeface="Lato"/>
                          <a:ea typeface="Lato"/>
                          <a:cs typeface="Lato"/>
                        </a:rPr>
                        <a:t>Due to Any cause</a:t>
                      </a:r>
                      <a:endParaRPr lang="en-PH" sz="1100">
                        <a:latin typeface="Lato"/>
                        <a:ea typeface="Lato"/>
                        <a:cs typeface="Lato"/>
                      </a:endParaRPr>
                    </a:p>
                  </a:txBody>
                  <a:tcPr/>
                </a:tc>
                <a:extLst>
                  <a:ext uri="{0D108BD9-81ED-4DB2-BD59-A6C34878D82A}">
                    <a16:rowId xmlns:a16="http://schemas.microsoft.com/office/drawing/2014/main" val="132101638"/>
                  </a:ext>
                </a:extLst>
              </a:tr>
              <a:tr h="564956">
                <a:tc>
                  <a:txBody>
                    <a:bodyPr/>
                    <a:lstStyle/>
                    <a:p>
                      <a:r>
                        <a:rPr lang="en-US" sz="1100">
                          <a:latin typeface="Lato" panose="020F0502020204030203" pitchFamily="34" charset="0"/>
                          <a:ea typeface="Lato" panose="020F0502020204030203" pitchFamily="34" charset="0"/>
                          <a:cs typeface="Lato" panose="020F0502020204030203" pitchFamily="34" charset="0"/>
                        </a:rPr>
                        <a:t>Living benefit</a:t>
                      </a:r>
                      <a:endParaRPr lang="en-PH" sz="1100">
                        <a:latin typeface="Lato" panose="020F0502020204030203" pitchFamily="34" charset="0"/>
                        <a:ea typeface="Lato" panose="020F0502020204030203" pitchFamily="34" charset="0"/>
                        <a:cs typeface="Lato" panose="020F0502020204030203" pitchFamily="34" charset="0"/>
                      </a:endParaRPr>
                    </a:p>
                  </a:txBody>
                  <a:tcPr/>
                </a:tc>
                <a:tc>
                  <a:txBody>
                    <a:bodyPr/>
                    <a:lstStyle/>
                    <a:p>
                      <a:pPr marL="285750" indent="-285750">
                        <a:buFont typeface="Arial"/>
                        <a:buChar char="•"/>
                      </a:pPr>
                      <a:r>
                        <a:rPr lang="en-US" sz="1100">
                          <a:latin typeface="Lato"/>
                          <a:ea typeface="Lato"/>
                          <a:cs typeface="Lato"/>
                        </a:rPr>
                        <a:t>Accidental Medical Reimbursement</a:t>
                      </a:r>
                    </a:p>
                    <a:p>
                      <a:pPr marL="285750" indent="-285750">
                        <a:buFont typeface="Arial"/>
                        <a:buChar char="•"/>
                      </a:pPr>
                      <a:r>
                        <a:rPr lang="en-US" sz="1100">
                          <a:latin typeface="Lato" panose="020F0502020204030203" pitchFamily="34" charset="0"/>
                          <a:ea typeface="Lato" panose="020F0502020204030203" pitchFamily="34" charset="0"/>
                          <a:cs typeface="Lato" panose="020F0502020204030203" pitchFamily="34" charset="0"/>
                        </a:rPr>
                        <a:t>Weekly Indemnity</a:t>
                      </a:r>
                    </a:p>
                    <a:p>
                      <a:pPr marL="285750" indent="-285750">
                        <a:buFont typeface="Arial"/>
                        <a:buChar char="•"/>
                      </a:pPr>
                      <a:r>
                        <a:rPr lang="en-US" sz="1100">
                          <a:latin typeface="Lato"/>
                          <a:ea typeface="Lato"/>
                          <a:cs typeface="Lato"/>
                        </a:rPr>
                        <a:t>Disablement and/or Dismemberment</a:t>
                      </a:r>
                      <a:endParaRPr lang="en-PH" sz="1100">
                        <a:latin typeface="Lato"/>
                        <a:ea typeface="Lato"/>
                        <a:cs typeface="Lato"/>
                      </a:endParaRPr>
                    </a:p>
                  </a:txBody>
                  <a:tcPr/>
                </a:tc>
                <a:tc>
                  <a:txBody>
                    <a:bodyPr/>
                    <a:lstStyle/>
                    <a:p>
                      <a:pPr marL="285750" indent="-285750">
                        <a:buFont typeface="Arial"/>
                        <a:buChar char="•"/>
                      </a:pPr>
                      <a:r>
                        <a:rPr lang="en-US" sz="1100">
                          <a:latin typeface="Lato"/>
                          <a:ea typeface="Lato"/>
                          <a:cs typeface="Lato"/>
                        </a:rPr>
                        <a:t>Hospital income benefit</a:t>
                      </a:r>
                      <a:endParaRPr lang="en-PH" sz="1100">
                        <a:latin typeface="Lato"/>
                        <a:ea typeface="Lato"/>
                        <a:cs typeface="Lato"/>
                      </a:endParaRPr>
                    </a:p>
                  </a:txBody>
                  <a:tcPr/>
                </a:tc>
                <a:extLst>
                  <a:ext uri="{0D108BD9-81ED-4DB2-BD59-A6C34878D82A}">
                    <a16:rowId xmlns:a16="http://schemas.microsoft.com/office/drawing/2014/main" val="3009102677"/>
                  </a:ext>
                </a:extLst>
              </a:tr>
              <a:tr h="768711">
                <a:tc>
                  <a:txBody>
                    <a:bodyPr/>
                    <a:lstStyle/>
                    <a:p>
                      <a:r>
                        <a:rPr lang="en-US" sz="1100">
                          <a:latin typeface="Lato" panose="020F0502020204030203" pitchFamily="34" charset="0"/>
                          <a:ea typeface="Lato" panose="020F0502020204030203" pitchFamily="34" charset="0"/>
                          <a:cs typeface="Lato" panose="020F0502020204030203" pitchFamily="34" charset="0"/>
                        </a:rPr>
                        <a:t>Death benefit</a:t>
                      </a:r>
                      <a:endParaRPr lang="en-PH" sz="1100">
                        <a:latin typeface="Lato" panose="020F0502020204030203" pitchFamily="34" charset="0"/>
                        <a:ea typeface="Lato" panose="020F0502020204030203" pitchFamily="34" charset="0"/>
                        <a:cs typeface="Lato" panose="020F0502020204030203" pitchFamily="34" charset="0"/>
                      </a:endParaRPr>
                    </a:p>
                  </a:txBody>
                  <a:tcPr/>
                </a:tc>
                <a:tc>
                  <a:txBody>
                    <a:bodyPr/>
                    <a:lstStyle/>
                    <a:p>
                      <a:pPr marL="285750" indent="-285750">
                        <a:buFont typeface="Arial"/>
                        <a:buChar char="•"/>
                      </a:pPr>
                      <a:r>
                        <a:rPr lang="en-US" sz="1100">
                          <a:latin typeface="Lato" panose="020F0502020204030203" pitchFamily="34" charset="0"/>
                          <a:ea typeface="Lato" panose="020F0502020204030203" pitchFamily="34" charset="0"/>
                          <a:cs typeface="Lato" panose="020F0502020204030203" pitchFamily="34" charset="0"/>
                        </a:rPr>
                        <a:t>Burial Assistance (for 1</a:t>
                      </a:r>
                      <a:r>
                        <a:rPr lang="en-US" sz="1100" baseline="30000">
                          <a:latin typeface="Lato" panose="020F0502020204030203" pitchFamily="34" charset="0"/>
                          <a:ea typeface="Lato" panose="020F0502020204030203" pitchFamily="34" charset="0"/>
                          <a:cs typeface="Lato" panose="020F0502020204030203" pitchFamily="34" charset="0"/>
                        </a:rPr>
                        <a:t>st</a:t>
                      </a:r>
                      <a:r>
                        <a:rPr lang="en-US" sz="1100">
                          <a:latin typeface="Lato" panose="020F0502020204030203" pitchFamily="34" charset="0"/>
                          <a:ea typeface="Lato" panose="020F0502020204030203" pitchFamily="34" charset="0"/>
                          <a:cs typeface="Lato" panose="020F0502020204030203" pitchFamily="34" charset="0"/>
                        </a:rPr>
                        <a:t> cycle only)</a:t>
                      </a:r>
                    </a:p>
                    <a:p>
                      <a:pPr marL="285750" indent="-285750">
                        <a:buFont typeface="Arial"/>
                        <a:buChar char="•"/>
                      </a:pPr>
                      <a:r>
                        <a:rPr lang="en-US" sz="1100">
                          <a:latin typeface="Lato" panose="020F0502020204030203" pitchFamily="34" charset="0"/>
                          <a:ea typeface="Lato" panose="020F0502020204030203" pitchFamily="34" charset="0"/>
                          <a:cs typeface="Lato" panose="020F0502020204030203" pitchFamily="34" charset="0"/>
                        </a:rPr>
                        <a:t>Accidental Death</a:t>
                      </a:r>
                      <a:endParaRPr lang="en-PH" sz="1100">
                        <a:latin typeface="Lato" panose="020F0502020204030203" pitchFamily="34" charset="0"/>
                        <a:ea typeface="Lato" panose="020F0502020204030203" pitchFamily="34" charset="0"/>
                        <a:cs typeface="Lato" panose="020F0502020204030203" pitchFamily="34" charset="0"/>
                      </a:endParaRPr>
                    </a:p>
                  </a:txBody>
                  <a:tcPr/>
                </a:tc>
                <a:tc>
                  <a:txBody>
                    <a:bodyPr/>
                    <a:lstStyle/>
                    <a:p>
                      <a:pPr marL="285750" indent="-285750">
                        <a:buFont typeface="Arial"/>
                        <a:buChar char="•"/>
                      </a:pPr>
                      <a:r>
                        <a:rPr lang="en-US" sz="1100">
                          <a:latin typeface="Lato" panose="020F0502020204030203" pitchFamily="34" charset="0"/>
                          <a:ea typeface="Lato" panose="020F0502020204030203" pitchFamily="34" charset="0"/>
                          <a:cs typeface="Lato" panose="020F0502020204030203" pitchFamily="34" charset="0"/>
                        </a:rPr>
                        <a:t>Burial Assistance (for 2</a:t>
                      </a:r>
                      <a:r>
                        <a:rPr lang="en-US" sz="1100" baseline="30000">
                          <a:latin typeface="Lato" panose="020F0502020204030203" pitchFamily="34" charset="0"/>
                          <a:ea typeface="Lato" panose="020F0502020204030203" pitchFamily="34" charset="0"/>
                          <a:cs typeface="Lato" panose="020F0502020204030203" pitchFamily="34" charset="0"/>
                        </a:rPr>
                        <a:t>nd</a:t>
                      </a:r>
                      <a:r>
                        <a:rPr lang="en-US" sz="1100">
                          <a:latin typeface="Lato" panose="020F0502020204030203" pitchFamily="34" charset="0"/>
                          <a:ea typeface="Lato" panose="020F0502020204030203" pitchFamily="34" charset="0"/>
                          <a:cs typeface="Lato" panose="020F0502020204030203" pitchFamily="34" charset="0"/>
                        </a:rPr>
                        <a:t> cycle and up)</a:t>
                      </a:r>
                    </a:p>
                    <a:p>
                      <a:pPr marL="285750" indent="-285750">
                        <a:buFont typeface="Arial"/>
                        <a:buChar char="•"/>
                      </a:pPr>
                      <a:r>
                        <a:rPr lang="en-US" sz="1100">
                          <a:latin typeface="Lato" panose="020F0502020204030203" pitchFamily="34" charset="0"/>
                          <a:ea typeface="Lato" panose="020F0502020204030203" pitchFamily="34" charset="0"/>
                          <a:cs typeface="Lato" panose="020F0502020204030203" pitchFamily="34" charset="0"/>
                        </a:rPr>
                        <a:t>Financial Assistance</a:t>
                      </a:r>
                    </a:p>
                    <a:p>
                      <a:pPr marL="285750" indent="-285750">
                        <a:buFont typeface="Arial"/>
                        <a:buChar char="•"/>
                      </a:pPr>
                      <a:r>
                        <a:rPr lang="en-US" sz="1100">
                          <a:latin typeface="Lato" panose="020F0502020204030203" pitchFamily="34" charset="0"/>
                          <a:ea typeface="Lato" panose="020F0502020204030203" pitchFamily="34" charset="0"/>
                          <a:cs typeface="Lato" panose="020F0502020204030203" pitchFamily="34" charset="0"/>
                        </a:rPr>
                        <a:t>Child Educational Assistance</a:t>
                      </a:r>
                      <a:endParaRPr lang="en-PH" sz="1100">
                        <a:latin typeface="Lato" panose="020F0502020204030203" pitchFamily="34" charset="0"/>
                        <a:ea typeface="Lato" panose="020F0502020204030203" pitchFamily="34" charset="0"/>
                        <a:cs typeface="Lato" panose="020F0502020204030203" pitchFamily="34" charset="0"/>
                      </a:endParaRPr>
                    </a:p>
                  </a:txBody>
                  <a:tcPr/>
                </a:tc>
                <a:extLst>
                  <a:ext uri="{0D108BD9-81ED-4DB2-BD59-A6C34878D82A}">
                    <a16:rowId xmlns:a16="http://schemas.microsoft.com/office/drawing/2014/main" val="3618276224"/>
                  </a:ext>
                </a:extLst>
              </a:tr>
            </a:tbl>
          </a:graphicData>
        </a:graphic>
      </p:graphicFrame>
    </p:spTree>
    <p:extLst>
      <p:ext uri="{BB962C8B-B14F-4D97-AF65-F5344CB8AC3E}">
        <p14:creationId xmlns:p14="http://schemas.microsoft.com/office/powerpoint/2010/main" val="17441525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7A7D3C-B2DD-43A3-15CF-EFAD3F4DC2BA}"/>
              </a:ext>
            </a:extLst>
          </p:cNvPr>
          <p:cNvSpPr>
            <a:spLocks noGrp="1"/>
          </p:cNvSpPr>
          <p:nvPr>
            <p:ph type="sldNum" sz="quarter" idx="12"/>
          </p:nvPr>
        </p:nvSpPr>
        <p:spPr/>
        <p:txBody>
          <a:bodyPr/>
          <a:lstStyle/>
          <a:p>
            <a:fld id="{36D53BC0-5915-4EE6-A8B4-385258777E7F}" type="slidenum">
              <a:rPr lang="en-PH" smtClean="0"/>
              <a:pPr/>
              <a:t>30</a:t>
            </a:fld>
            <a:endParaRPr lang="en-PH"/>
          </a:p>
        </p:txBody>
      </p:sp>
      <p:sp>
        <p:nvSpPr>
          <p:cNvPr id="5" name="Title 1">
            <a:extLst>
              <a:ext uri="{FF2B5EF4-FFF2-40B4-BE49-F238E27FC236}">
                <a16:creationId xmlns:a16="http://schemas.microsoft.com/office/drawing/2014/main" id="{FAA8F36C-9588-F99D-278B-EC431F8B4C1C}"/>
              </a:ext>
            </a:extLst>
          </p:cNvPr>
          <p:cNvSpPr>
            <a:spLocks noGrp="1"/>
          </p:cNvSpPr>
          <p:nvPr>
            <p:ph type="title"/>
          </p:nvPr>
        </p:nvSpPr>
        <p:spPr>
          <a:xfrm>
            <a:off x="222420" y="136525"/>
            <a:ext cx="10515600" cy="673966"/>
          </a:xfrm>
        </p:spPr>
        <p:txBody>
          <a:bodyPr>
            <a:normAutofit fontScale="90000"/>
          </a:bodyPr>
          <a:lstStyle/>
          <a:p>
            <a:r>
              <a:rPr lang="en-US" b="1" err="1">
                <a:solidFill>
                  <a:srgbClr val="1F4866"/>
                </a:solidFill>
                <a:latin typeface="Lato" panose="020F0502020204030203" pitchFamily="34" charset="0"/>
                <a:ea typeface="Lato" panose="020F0502020204030203" pitchFamily="34" charset="0"/>
                <a:cs typeface="Lato" panose="020F0502020204030203" pitchFamily="34" charset="0"/>
              </a:rPr>
              <a:t>Kaagabay</a:t>
            </a:r>
            <a:r>
              <a:rPr lang="en-US" b="1">
                <a:solidFill>
                  <a:srgbClr val="1F4866"/>
                </a:solidFill>
                <a:latin typeface="Lato" panose="020F0502020204030203" pitchFamily="34" charset="0"/>
                <a:ea typeface="Lato" panose="020F0502020204030203" pitchFamily="34" charset="0"/>
                <a:cs typeface="Lato" panose="020F0502020204030203" pitchFamily="34" charset="0"/>
              </a:rPr>
              <a:t> (GPA) </a:t>
            </a:r>
            <a:r>
              <a:rPr lang="en-US" sz="2800" b="1">
                <a:solidFill>
                  <a:srgbClr val="1F4866"/>
                </a:solidFill>
                <a:latin typeface="Lato" panose="020F0502020204030203" pitchFamily="34" charset="0"/>
                <a:ea typeface="Lato" panose="020F0502020204030203" pitchFamily="34" charset="0"/>
                <a:cs typeface="Lato" panose="020F0502020204030203" pitchFamily="34" charset="0"/>
              </a:rPr>
              <a:t>Comprehensive Accident Insurance</a:t>
            </a:r>
            <a:endParaRPr lang="en-PH" b="1">
              <a:solidFill>
                <a:srgbClr val="1F4866"/>
              </a:solidFill>
              <a:latin typeface="Lato" panose="020F0502020204030203" pitchFamily="34" charset="0"/>
              <a:ea typeface="Lato" panose="020F0502020204030203" pitchFamily="34" charset="0"/>
              <a:cs typeface="Lato" panose="020F0502020204030203" pitchFamily="34" charset="0"/>
            </a:endParaRPr>
          </a:p>
        </p:txBody>
      </p:sp>
      <p:pic>
        <p:nvPicPr>
          <p:cNvPr id="6" name="Picture 5">
            <a:extLst>
              <a:ext uri="{FF2B5EF4-FFF2-40B4-BE49-F238E27FC236}">
                <a16:creationId xmlns:a16="http://schemas.microsoft.com/office/drawing/2014/main" id="{25EA09B9-60A1-174D-1A11-4EC8BBC918FC}"/>
              </a:ext>
            </a:extLst>
          </p:cNvPr>
          <p:cNvPicPr>
            <a:picLocks noChangeAspect="1"/>
          </p:cNvPicPr>
          <p:nvPr/>
        </p:nvPicPr>
        <p:blipFill>
          <a:blip r:embed="rId2"/>
          <a:stretch>
            <a:fillRect/>
          </a:stretch>
        </p:blipFill>
        <p:spPr>
          <a:xfrm>
            <a:off x="222420" y="759351"/>
            <a:ext cx="11740978" cy="5339297"/>
          </a:xfrm>
          <a:prstGeom prst="rect">
            <a:avLst/>
          </a:prstGeom>
        </p:spPr>
      </p:pic>
    </p:spTree>
    <p:extLst>
      <p:ext uri="{BB962C8B-B14F-4D97-AF65-F5344CB8AC3E}">
        <p14:creationId xmlns:p14="http://schemas.microsoft.com/office/powerpoint/2010/main" val="24839282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A74C0E2-9E90-DC52-5BFE-84D48D7C5F21}"/>
              </a:ext>
            </a:extLst>
          </p:cNvPr>
          <p:cNvSpPr>
            <a:spLocks noGrp="1"/>
          </p:cNvSpPr>
          <p:nvPr>
            <p:ph type="sldNum" sz="quarter" idx="12"/>
          </p:nvPr>
        </p:nvSpPr>
        <p:spPr/>
        <p:txBody>
          <a:bodyPr/>
          <a:lstStyle/>
          <a:p>
            <a:fld id="{36D53BC0-5915-4EE6-A8B4-385258777E7F}" type="slidenum">
              <a:rPr lang="en-PH" smtClean="0"/>
              <a:pPr/>
              <a:t>31</a:t>
            </a:fld>
            <a:endParaRPr lang="en-PH"/>
          </a:p>
        </p:txBody>
      </p:sp>
      <p:sp>
        <p:nvSpPr>
          <p:cNvPr id="5" name="Title 1">
            <a:extLst>
              <a:ext uri="{FF2B5EF4-FFF2-40B4-BE49-F238E27FC236}">
                <a16:creationId xmlns:a16="http://schemas.microsoft.com/office/drawing/2014/main" id="{0237A202-5296-C22D-82CD-A65645CF8E4B}"/>
              </a:ext>
            </a:extLst>
          </p:cNvPr>
          <p:cNvSpPr>
            <a:spLocks noGrp="1"/>
          </p:cNvSpPr>
          <p:nvPr>
            <p:ph type="title"/>
          </p:nvPr>
        </p:nvSpPr>
        <p:spPr>
          <a:xfrm>
            <a:off x="1206568" y="385482"/>
            <a:ext cx="10515600" cy="863001"/>
          </a:xfrm>
        </p:spPr>
        <p:txBody>
          <a:bodyPr>
            <a:normAutofit fontScale="90000"/>
          </a:bodyPr>
          <a:lstStyle/>
          <a:p>
            <a:r>
              <a:rPr lang="en-US" b="1" err="1">
                <a:solidFill>
                  <a:srgbClr val="000000"/>
                </a:solidFill>
                <a:highlight>
                  <a:srgbClr val="FFFF00"/>
                </a:highlight>
                <a:latin typeface="Lato" panose="020F0502020204030203" pitchFamily="34" charset="0"/>
                <a:ea typeface="Lato" panose="020F0502020204030203" pitchFamily="34" charset="0"/>
                <a:cs typeface="Lato" panose="020F0502020204030203" pitchFamily="34" charset="0"/>
              </a:rPr>
              <a:t>Kaagabay</a:t>
            </a:r>
            <a:r>
              <a:rPr lang="en-US" b="1">
                <a:solidFill>
                  <a:srgbClr val="000000"/>
                </a:solidFill>
                <a:highlight>
                  <a:srgbClr val="FFFF00"/>
                </a:highlight>
                <a:latin typeface="Lato" panose="020F0502020204030203" pitchFamily="34" charset="0"/>
                <a:ea typeface="Lato" panose="020F0502020204030203" pitchFamily="34" charset="0"/>
                <a:cs typeface="Lato" panose="020F0502020204030203" pitchFamily="34" charset="0"/>
              </a:rPr>
              <a:t> (GPA) </a:t>
            </a:r>
            <a:r>
              <a:rPr lang="en-US" sz="2800" b="1">
                <a:solidFill>
                  <a:srgbClr val="000000"/>
                </a:solidFill>
                <a:highlight>
                  <a:srgbClr val="FFFF00"/>
                </a:highlight>
                <a:latin typeface="Lato" panose="020F0502020204030203" pitchFamily="34" charset="0"/>
                <a:ea typeface="Lato" panose="020F0502020204030203" pitchFamily="34" charset="0"/>
                <a:cs typeface="Lato" panose="020F0502020204030203" pitchFamily="34" charset="0"/>
              </a:rPr>
              <a:t>Comprehensive Accident Insurance</a:t>
            </a:r>
            <a:br>
              <a:rPr lang="en-US" sz="2800" b="1">
                <a:solidFill>
                  <a:srgbClr val="000000"/>
                </a:solidFill>
                <a:highlight>
                  <a:srgbClr val="FFFF00"/>
                </a:highlight>
                <a:latin typeface="Lato" panose="020F0502020204030203" pitchFamily="34" charset="0"/>
                <a:ea typeface="Lato" panose="020F0502020204030203" pitchFamily="34" charset="0"/>
                <a:cs typeface="Lato" panose="020F0502020204030203" pitchFamily="34" charset="0"/>
              </a:rPr>
            </a:br>
            <a:r>
              <a:rPr lang="en-US" sz="2800" b="1">
                <a:solidFill>
                  <a:srgbClr val="000000"/>
                </a:solidFill>
                <a:highlight>
                  <a:srgbClr val="FFFF00"/>
                </a:highlight>
                <a:latin typeface="Lato" panose="020F0502020204030203" pitchFamily="34" charset="0"/>
                <a:ea typeface="Lato" panose="020F0502020204030203" pitchFamily="34" charset="0"/>
                <a:cs typeface="Lato" panose="020F0502020204030203" pitchFamily="34" charset="0"/>
              </a:rPr>
              <a:t>                   Enhanced GPA for MPLUS</a:t>
            </a:r>
            <a:endParaRPr lang="en-PH" b="1">
              <a:solidFill>
                <a:srgbClr val="000000"/>
              </a:solidFill>
              <a:highlight>
                <a:srgbClr val="FFFF00"/>
              </a:highlight>
              <a:latin typeface="Lato" panose="020F0502020204030203" pitchFamily="34" charset="0"/>
              <a:ea typeface="Lato" panose="020F0502020204030203" pitchFamily="34" charset="0"/>
              <a:cs typeface="Lato" panose="020F0502020204030203" pitchFamily="34" charset="0"/>
            </a:endParaRPr>
          </a:p>
        </p:txBody>
      </p:sp>
      <p:pic>
        <p:nvPicPr>
          <p:cNvPr id="6" name="Picture 5">
            <a:extLst>
              <a:ext uri="{FF2B5EF4-FFF2-40B4-BE49-F238E27FC236}">
                <a16:creationId xmlns:a16="http://schemas.microsoft.com/office/drawing/2014/main" id="{8B398CE5-1AEE-2019-7CBD-BAE5CFAAC656}"/>
              </a:ext>
            </a:extLst>
          </p:cNvPr>
          <p:cNvPicPr>
            <a:picLocks noChangeAspect="1"/>
          </p:cNvPicPr>
          <p:nvPr/>
        </p:nvPicPr>
        <p:blipFill>
          <a:blip r:embed="rId2"/>
          <a:stretch>
            <a:fillRect/>
          </a:stretch>
        </p:blipFill>
        <p:spPr>
          <a:xfrm>
            <a:off x="152401" y="1248483"/>
            <a:ext cx="11731830" cy="4883376"/>
          </a:xfrm>
          <a:prstGeom prst="rect">
            <a:avLst/>
          </a:prstGeom>
        </p:spPr>
      </p:pic>
    </p:spTree>
    <p:extLst>
      <p:ext uri="{BB962C8B-B14F-4D97-AF65-F5344CB8AC3E}">
        <p14:creationId xmlns:p14="http://schemas.microsoft.com/office/powerpoint/2010/main" val="4488822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606F7-9B40-32E5-D053-EF2C01052D5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5CC4952-4AF3-005A-AC29-FAEAF3DDD60E}"/>
              </a:ext>
            </a:extLst>
          </p:cNvPr>
          <p:cNvSpPr>
            <a:spLocks noGrp="1"/>
          </p:cNvSpPr>
          <p:nvPr>
            <p:ph type="sldNum" sz="quarter" idx="12"/>
          </p:nvPr>
        </p:nvSpPr>
        <p:spPr/>
        <p:txBody>
          <a:bodyPr/>
          <a:lstStyle/>
          <a:p>
            <a:fld id="{36D53BC0-5915-4EE6-A8B4-385258777E7F}" type="slidenum">
              <a:rPr lang="en-PH" smtClean="0"/>
              <a:pPr/>
              <a:t>32</a:t>
            </a:fld>
            <a:endParaRPr lang="en-PH"/>
          </a:p>
        </p:txBody>
      </p:sp>
      <p:sp>
        <p:nvSpPr>
          <p:cNvPr id="10" name="Title 1">
            <a:extLst>
              <a:ext uri="{FF2B5EF4-FFF2-40B4-BE49-F238E27FC236}">
                <a16:creationId xmlns:a16="http://schemas.microsoft.com/office/drawing/2014/main" id="{1C77ABF4-4BB6-BF24-D8C9-6FF18B79A253}"/>
              </a:ext>
            </a:extLst>
          </p:cNvPr>
          <p:cNvSpPr>
            <a:spLocks noGrp="1"/>
          </p:cNvSpPr>
          <p:nvPr>
            <p:ph type="title"/>
          </p:nvPr>
        </p:nvSpPr>
        <p:spPr>
          <a:xfrm>
            <a:off x="256309" y="198871"/>
            <a:ext cx="10515600" cy="673966"/>
          </a:xfrm>
        </p:spPr>
        <p:txBody>
          <a:bodyPr>
            <a:normAutofit fontScale="90000"/>
          </a:bodyPr>
          <a:lstStyle/>
          <a:p>
            <a:r>
              <a:rPr lang="en-US" sz="4400" b="1" err="1">
                <a:solidFill>
                  <a:srgbClr val="1F4866"/>
                </a:solidFill>
                <a:latin typeface="Lato" panose="020F0502020204030203" pitchFamily="34" charset="0"/>
                <a:ea typeface="Lato" panose="020F0502020204030203" pitchFamily="34" charset="0"/>
                <a:cs typeface="Lato" panose="020F0502020204030203" pitchFamily="34" charset="0"/>
              </a:rPr>
              <a:t>Kaagabay</a:t>
            </a:r>
            <a:r>
              <a:rPr lang="en-US" sz="4400" b="1">
                <a:solidFill>
                  <a:srgbClr val="1F4866"/>
                </a:solidFill>
                <a:latin typeface="Lato" panose="020F0502020204030203" pitchFamily="34" charset="0"/>
                <a:ea typeface="Lato" panose="020F0502020204030203" pitchFamily="34" charset="0"/>
                <a:cs typeface="Lato" panose="020F0502020204030203" pitchFamily="34" charset="0"/>
              </a:rPr>
              <a:t> (GPA)</a:t>
            </a:r>
            <a:endParaRPr lang="en-US"/>
          </a:p>
        </p:txBody>
      </p:sp>
      <p:sp>
        <p:nvSpPr>
          <p:cNvPr id="11" name="Title 2">
            <a:extLst>
              <a:ext uri="{FF2B5EF4-FFF2-40B4-BE49-F238E27FC236}">
                <a16:creationId xmlns:a16="http://schemas.microsoft.com/office/drawing/2014/main" id="{A0B94109-D757-D846-97E3-706086C3402A}"/>
              </a:ext>
            </a:extLst>
          </p:cNvPr>
          <p:cNvSpPr txBox="1">
            <a:spLocks/>
          </p:cNvSpPr>
          <p:nvPr/>
        </p:nvSpPr>
        <p:spPr>
          <a:xfrm>
            <a:off x="98090" y="1190027"/>
            <a:ext cx="10515600" cy="85944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PH" sz="2000"/>
              <a:t>Scheduled % for TPD both for Regular Production Loans including Mauswagon Plus</a:t>
            </a:r>
          </a:p>
        </p:txBody>
      </p:sp>
      <p:pic>
        <p:nvPicPr>
          <p:cNvPr id="12" name="Picture 2">
            <a:extLst>
              <a:ext uri="{FF2B5EF4-FFF2-40B4-BE49-F238E27FC236}">
                <a16:creationId xmlns:a16="http://schemas.microsoft.com/office/drawing/2014/main" id="{F267AA89-B647-D83A-7C49-5DBAFAB683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7898" y="1866352"/>
            <a:ext cx="4371975" cy="417195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73B611A4-F1B3-CEA0-D1F0-369E9003D8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0902" y="2166879"/>
            <a:ext cx="4031581" cy="3501094"/>
          </a:xfrm>
          <a:prstGeom prst="rect">
            <a:avLst/>
          </a:prstGeom>
          <a:solidFill>
            <a:srgbClr val="FFFF00"/>
          </a:solidFill>
          <a:ln>
            <a:noFill/>
          </a:ln>
        </p:spPr>
      </p:pic>
    </p:spTree>
    <p:extLst>
      <p:ext uri="{BB962C8B-B14F-4D97-AF65-F5344CB8AC3E}">
        <p14:creationId xmlns:p14="http://schemas.microsoft.com/office/powerpoint/2010/main" val="25633234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5229BEE-95AE-A3AA-C977-53DD52667618}"/>
              </a:ext>
            </a:extLst>
          </p:cNvPr>
          <p:cNvSpPr>
            <a:spLocks noGrp="1"/>
          </p:cNvSpPr>
          <p:nvPr>
            <p:ph type="sldNum" sz="quarter" idx="12"/>
          </p:nvPr>
        </p:nvSpPr>
        <p:spPr>
          <a:xfrm>
            <a:off x="9081407" y="6427254"/>
            <a:ext cx="2743200" cy="365125"/>
          </a:xfrm>
        </p:spPr>
        <p:txBody>
          <a:bodyPr/>
          <a:lstStyle/>
          <a:p>
            <a:fld id="{36D53BC0-5915-4EE6-A8B4-385258777E7F}" type="slidenum">
              <a:rPr lang="en-PH" smtClean="0"/>
              <a:pPr/>
              <a:t>33</a:t>
            </a:fld>
            <a:endParaRPr lang="en-PH"/>
          </a:p>
        </p:txBody>
      </p:sp>
      <p:sp>
        <p:nvSpPr>
          <p:cNvPr id="5" name="Rectangle 4">
            <a:extLst>
              <a:ext uri="{FF2B5EF4-FFF2-40B4-BE49-F238E27FC236}">
                <a16:creationId xmlns:a16="http://schemas.microsoft.com/office/drawing/2014/main" id="{DE12B1E8-A438-9A11-8B6F-0D226CE5611C}"/>
              </a:ext>
            </a:extLst>
          </p:cNvPr>
          <p:cNvSpPr/>
          <p:nvPr/>
        </p:nvSpPr>
        <p:spPr>
          <a:xfrm>
            <a:off x="144398" y="1289654"/>
            <a:ext cx="4312023" cy="2249052"/>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a:solidFill>
                  <a:schemeClr val="accent4">
                    <a:lumMod val="60000"/>
                    <a:lumOff val="40000"/>
                  </a:schemeClr>
                </a:solidFill>
              </a:rPr>
              <a:t>Provides financial assistance for funeral and burial to alleviate the burden of the bereaved family in times of client’s death. Covers principal members only.</a:t>
            </a:r>
            <a:r>
              <a:rPr lang="en-US" sz="2400" b="1" i="0" u="none" strike="noStrike">
                <a:solidFill>
                  <a:schemeClr val="accent4">
                    <a:lumMod val="60000"/>
                    <a:lumOff val="40000"/>
                  </a:schemeClr>
                </a:solidFill>
                <a:effectLst/>
                <a:latin typeface="Lato" panose="020F0502020204030203" pitchFamily="34" charset="0"/>
              </a:rPr>
              <a:t> </a:t>
            </a:r>
            <a:endParaRPr lang="en-PH" sz="2400" b="1">
              <a:solidFill>
                <a:schemeClr val="accent4">
                  <a:lumMod val="60000"/>
                  <a:lumOff val="40000"/>
                </a:schemeClr>
              </a:solidFill>
            </a:endParaRPr>
          </a:p>
        </p:txBody>
      </p:sp>
      <p:sp>
        <p:nvSpPr>
          <p:cNvPr id="6" name="Title 1">
            <a:extLst>
              <a:ext uri="{FF2B5EF4-FFF2-40B4-BE49-F238E27FC236}">
                <a16:creationId xmlns:a16="http://schemas.microsoft.com/office/drawing/2014/main" id="{F9E1968A-70BC-129C-DE10-45AA3B248E85}"/>
              </a:ext>
            </a:extLst>
          </p:cNvPr>
          <p:cNvSpPr>
            <a:spLocks noGrp="1"/>
          </p:cNvSpPr>
          <p:nvPr>
            <p:ph type="title"/>
          </p:nvPr>
        </p:nvSpPr>
        <p:spPr>
          <a:xfrm>
            <a:off x="-1" y="359229"/>
            <a:ext cx="4394890" cy="984050"/>
          </a:xfrm>
          <a:solidFill>
            <a:srgbClr val="FFD928"/>
          </a:solidFill>
        </p:spPr>
        <p:txBody>
          <a:bodyPr anchor="ctr"/>
          <a:lstStyle/>
          <a:p>
            <a:pPr marL="457200" indent="-457200">
              <a:buFont typeface="Webdings" panose="05030102010509060703" pitchFamily="18" charset="2"/>
              <a:buChar char=""/>
            </a:pPr>
            <a:r>
              <a:rPr lang="en-US" sz="2800" b="1">
                <a:solidFill>
                  <a:srgbClr val="1F4766"/>
                </a:solidFill>
              </a:rPr>
              <a:t>Family Relief Plan</a:t>
            </a:r>
            <a:r>
              <a:rPr lang="en-PH" sz="2400" b="1"/>
              <a:t>(Burial </a:t>
            </a:r>
            <a:r>
              <a:rPr lang="en-PH" sz="2400">
                <a:solidFill>
                  <a:schemeClr val="accent1"/>
                </a:solidFill>
              </a:rPr>
              <a:t>(</a:t>
            </a:r>
            <a:r>
              <a:rPr lang="en-PH" sz="2400" b="1">
                <a:solidFill>
                  <a:schemeClr val="accent1"/>
                </a:solidFill>
              </a:rPr>
              <a:t>BURIAL ASSISTANCE</a:t>
            </a:r>
            <a:r>
              <a:rPr lang="en-PH" sz="2400">
                <a:solidFill>
                  <a:schemeClr val="accent1"/>
                </a:solidFill>
              </a:rPr>
              <a:t>)</a:t>
            </a:r>
            <a:endParaRPr lang="en-US" sz="2800">
              <a:solidFill>
                <a:srgbClr val="1F4766"/>
              </a:solidFill>
            </a:endParaRPr>
          </a:p>
        </p:txBody>
      </p:sp>
      <p:graphicFrame>
        <p:nvGraphicFramePr>
          <p:cNvPr id="7" name="Table 27">
            <a:extLst>
              <a:ext uri="{FF2B5EF4-FFF2-40B4-BE49-F238E27FC236}">
                <a16:creationId xmlns:a16="http://schemas.microsoft.com/office/drawing/2014/main" id="{206DF0BC-35CE-D801-73E3-24180C2F446D}"/>
              </a:ext>
            </a:extLst>
          </p:cNvPr>
          <p:cNvGraphicFramePr>
            <a:graphicFrameLocks noGrp="1"/>
          </p:cNvGraphicFramePr>
          <p:nvPr>
            <p:extLst>
              <p:ext uri="{D42A27DB-BD31-4B8C-83A1-F6EECF244321}">
                <p14:modId xmlns:p14="http://schemas.microsoft.com/office/powerpoint/2010/main" val="557578642"/>
              </p:ext>
            </p:extLst>
          </p:nvPr>
        </p:nvGraphicFramePr>
        <p:xfrm>
          <a:off x="4589015" y="184522"/>
          <a:ext cx="3485297" cy="5934202"/>
        </p:xfrm>
        <a:graphic>
          <a:graphicData uri="http://schemas.openxmlformats.org/drawingml/2006/table">
            <a:tbl>
              <a:tblPr firstRow="1" bandRow="1">
                <a:tableStyleId>{2D5ABB26-0587-4C30-8999-92F81FD0307C}</a:tableStyleId>
              </a:tblPr>
              <a:tblGrid>
                <a:gridCol w="714327">
                  <a:extLst>
                    <a:ext uri="{9D8B030D-6E8A-4147-A177-3AD203B41FA5}">
                      <a16:colId xmlns:a16="http://schemas.microsoft.com/office/drawing/2014/main" val="1622108729"/>
                    </a:ext>
                  </a:extLst>
                </a:gridCol>
                <a:gridCol w="2770970">
                  <a:extLst>
                    <a:ext uri="{9D8B030D-6E8A-4147-A177-3AD203B41FA5}">
                      <a16:colId xmlns:a16="http://schemas.microsoft.com/office/drawing/2014/main" val="1450379266"/>
                    </a:ext>
                  </a:extLst>
                </a:gridCol>
              </a:tblGrid>
              <a:tr h="393333">
                <a:tc rowSpan="2">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a:solidFill>
                            <a:srgbClr val="1F4766"/>
                          </a:solidFill>
                          <a:latin typeface="Lato" panose="020F0502020204030203" pitchFamily="34" charset="0"/>
                          <a:ea typeface="Lato" panose="020F0502020204030203" pitchFamily="34" charset="0"/>
                          <a:cs typeface="Lato" panose="020F0502020204030203" pitchFamily="34" charset="0"/>
                        </a:rPr>
                        <a:t>Premium</a:t>
                      </a:r>
                      <a:endParaRPr lang="en-PH" sz="1800" b="1">
                        <a:solidFill>
                          <a:srgbClr val="1F4766"/>
                        </a:solidFill>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0170993"/>
                  </a:ext>
                </a:extLst>
              </a:tr>
              <a:tr h="804378">
                <a:tc vMerge="1">
                  <a:txBody>
                    <a:bodyPr/>
                    <a:lstStyle/>
                    <a:p>
                      <a:endParaRPr lang="en-PH"/>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rtl="0" fontAlgn="base">
                        <a:buFont typeface="Wingdings" panose="05000000000000000000" pitchFamily="2" charset="2"/>
                        <a:buChar char="ü"/>
                      </a:pPr>
                      <a:r>
                        <a:rPr lang="en-US" sz="1400" b="0" i="0" u="none" strike="noStrike" kern="1200">
                          <a:solidFill>
                            <a:schemeClr val="tx1"/>
                          </a:solidFill>
                          <a:effectLst/>
                          <a:latin typeface="Lato" panose="020F0502020204030203" pitchFamily="34" charset="0"/>
                          <a:ea typeface="Lato" panose="020F0502020204030203" pitchFamily="34" charset="0"/>
                          <a:cs typeface="Lato" panose="020F0502020204030203" pitchFamily="34" charset="0"/>
                        </a:rPr>
                        <a:t>50.00/MONTH</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4695899"/>
                  </a:ext>
                </a:extLst>
              </a:tr>
              <a:tr h="418347">
                <a:tc rowSpan="2">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a:solidFill>
                            <a:srgbClr val="1F4766"/>
                          </a:solidFill>
                          <a:latin typeface="Lato" panose="020F0502020204030203" pitchFamily="34" charset="0"/>
                          <a:ea typeface="Lato" panose="020F0502020204030203" pitchFamily="34" charset="0"/>
                          <a:cs typeface="Lato" panose="020F0502020204030203" pitchFamily="34" charset="0"/>
                        </a:rPr>
                        <a:t>Payment Mode</a:t>
                      </a:r>
                      <a:endParaRPr lang="en-PH" sz="1800" b="1">
                        <a:solidFill>
                          <a:srgbClr val="1F4766"/>
                        </a:solidFill>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88353520"/>
                  </a:ext>
                </a:extLst>
              </a:tr>
              <a:tr h="804397">
                <a:tc vMerge="1">
                  <a:txBody>
                    <a:bodyPr/>
                    <a:lstStyle/>
                    <a:p>
                      <a:endParaRPr lang="en-PH"/>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PH" sz="1400" b="0" i="0" kern="1200">
                          <a:solidFill>
                            <a:schemeClr val="tx1"/>
                          </a:solidFill>
                          <a:effectLst/>
                          <a:latin typeface="Lato" panose="020F0502020204030203" pitchFamily="34" charset="0"/>
                          <a:ea typeface="Lato" panose="020F0502020204030203" pitchFamily="34" charset="0"/>
                          <a:cs typeface="Lato" panose="020F0502020204030203" pitchFamily="34" charset="0"/>
                        </a:rPr>
                        <a:t>Pre-deducted from loan amount​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11574103"/>
                  </a:ext>
                </a:extLst>
              </a:tr>
              <a:tr h="366041">
                <a:tc rowSpan="2">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b="1">
                          <a:solidFill>
                            <a:srgbClr val="1F4766"/>
                          </a:solidFill>
                          <a:latin typeface="Lato" panose="020F0502020204030203" pitchFamily="34" charset="0"/>
                          <a:ea typeface="Lato" panose="020F0502020204030203" pitchFamily="34" charset="0"/>
                          <a:cs typeface="Lato" panose="020F0502020204030203" pitchFamily="34" charset="0"/>
                        </a:rPr>
                        <a:t>Payment Frequency</a:t>
                      </a:r>
                      <a:endParaRPr lang="en-PH" sz="1800" b="1">
                        <a:solidFill>
                          <a:srgbClr val="1F4766"/>
                        </a:solidFill>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68837476"/>
                  </a:ext>
                </a:extLst>
              </a:tr>
              <a:tr h="824805">
                <a:tc vMerge="1">
                  <a:txBody>
                    <a:bodyPr/>
                    <a:lstStyle/>
                    <a:p>
                      <a:endParaRPr lang="en-PH"/>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Wingdings" panose="05000000000000000000" pitchFamily="2" charset="2"/>
                        <a:buChar char="ü"/>
                      </a:pPr>
                      <a:r>
                        <a:rPr lang="en-US" sz="1400">
                          <a:latin typeface="Lato" panose="020F0502020204030203" pitchFamily="34" charset="0"/>
                          <a:ea typeface="Lato" panose="020F0502020204030203" pitchFamily="34" charset="0"/>
                          <a:cs typeface="Lato" panose="020F0502020204030203" pitchFamily="34" charset="0"/>
                        </a:rPr>
                        <a:t>One-time, upon loan </a:t>
                      </a:r>
                      <a:r>
                        <a:rPr lang="en-US" sz="1400" err="1">
                          <a:latin typeface="Lato" panose="020F0502020204030203" pitchFamily="34" charset="0"/>
                          <a:ea typeface="Lato" panose="020F0502020204030203" pitchFamily="34" charset="0"/>
                          <a:cs typeface="Lato" panose="020F0502020204030203" pitchFamily="34" charset="0"/>
                        </a:rPr>
                        <a:t>availment</a:t>
                      </a:r>
                      <a:endParaRPr lang="en-PH" sz="14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54832442"/>
                  </a:ext>
                </a:extLst>
              </a:tr>
              <a:tr h="366041">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Wingdings" panose="05000000000000000000" pitchFamily="2" charset="2"/>
                        <a:buNone/>
                      </a:pPr>
                      <a:r>
                        <a:rPr lang="en-US" sz="1800" b="1">
                          <a:solidFill>
                            <a:srgbClr val="1F4766"/>
                          </a:solidFill>
                          <a:latin typeface="Lato" panose="020F0502020204030203" pitchFamily="34" charset="0"/>
                          <a:ea typeface="Lato" panose="020F0502020204030203" pitchFamily="34" charset="0"/>
                          <a:cs typeface="Lato" panose="020F0502020204030203" pitchFamily="34" charset="0"/>
                        </a:rPr>
                        <a:t>Grace Period</a:t>
                      </a:r>
                      <a:endParaRPr lang="en-PH" sz="1800" b="1">
                        <a:solidFill>
                          <a:srgbClr val="1F4766"/>
                        </a:solidFill>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15615276"/>
                  </a:ext>
                </a:extLst>
              </a:tr>
              <a:tr h="612155">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buFont typeface="Wingdings" panose="05000000000000000000" pitchFamily="2" charset="2"/>
                        <a:buChar char="ü"/>
                      </a:pPr>
                      <a:r>
                        <a:rPr lang="en-US" sz="1400">
                          <a:latin typeface="Lato" panose="020F0502020204030203" pitchFamily="34" charset="0"/>
                          <a:ea typeface="Lato" panose="020F0502020204030203" pitchFamily="34" charset="0"/>
                          <a:cs typeface="Lato" panose="020F0502020204030203" pitchFamily="34" charset="0"/>
                        </a:rPr>
                        <a:t>No Grace Period</a:t>
                      </a:r>
                      <a:endParaRPr lang="en-PH" sz="14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61522439"/>
                  </a:ext>
                </a:extLst>
              </a:tr>
              <a:tr h="448235">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rtl="0" fontAlgn="base">
                        <a:buFont typeface="Wingdings" panose="05000000000000000000" pitchFamily="2" charset="2"/>
                        <a:buNone/>
                      </a:pPr>
                      <a:r>
                        <a:rPr lang="en-US" sz="1800" b="1" i="0" kern="1200">
                          <a:solidFill>
                            <a:srgbClr val="1F4766"/>
                          </a:solidFill>
                          <a:effectLst/>
                          <a:latin typeface="Lato" panose="020F0502020204030203" pitchFamily="34" charset="0"/>
                          <a:ea typeface="Lato" panose="020F0502020204030203" pitchFamily="34" charset="0"/>
                          <a:cs typeface="Lato" panose="020F0502020204030203" pitchFamily="34" charset="0"/>
                        </a:rPr>
                        <a:t>Coverage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03086260"/>
                  </a:ext>
                </a:extLst>
              </a:tr>
              <a:tr h="448235">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rtl="0" fontAlgn="base">
                        <a:buFont typeface="Wingdings" panose="05000000000000000000" pitchFamily="2" charset="2"/>
                        <a:buChar char="ü"/>
                      </a:pPr>
                      <a:r>
                        <a:rPr lang="en-US" sz="1400" b="0" i="0" kern="1200">
                          <a:solidFill>
                            <a:schemeClr val="tx1"/>
                          </a:solidFill>
                          <a:effectLst/>
                          <a:latin typeface="Lato" panose="020F0502020204030203" pitchFamily="34" charset="0"/>
                          <a:ea typeface="Lato" panose="020F0502020204030203" pitchFamily="34" charset="0"/>
                          <a:cs typeface="Lato" panose="020F0502020204030203" pitchFamily="34" charset="0"/>
                        </a:rPr>
                        <a:t>RAFI MFI members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8411548"/>
                  </a:ext>
                </a:extLst>
              </a:tr>
              <a:tr h="448235">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rtl="0" fontAlgn="base">
                        <a:buFont typeface="Wingdings" panose="05000000000000000000" pitchFamily="2" charset="2"/>
                        <a:buNone/>
                      </a:pPr>
                      <a:endParaRPr lang="en-US" sz="1800" b="1" i="0" kern="1200">
                        <a:solidFill>
                          <a:srgbClr val="1F4766"/>
                        </a:solidFill>
                        <a:effectLst/>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76256842"/>
                  </a:ext>
                </a:extLst>
              </a:tr>
            </a:tbl>
          </a:graphicData>
        </a:graphic>
      </p:graphicFrame>
      <p:pic>
        <p:nvPicPr>
          <p:cNvPr id="8" name="Picture 7">
            <a:extLst>
              <a:ext uri="{FF2B5EF4-FFF2-40B4-BE49-F238E27FC236}">
                <a16:creationId xmlns:a16="http://schemas.microsoft.com/office/drawing/2014/main" id="{EC3B3BB3-8A8D-7A58-7545-3E1921C316DA}"/>
              </a:ext>
            </a:extLst>
          </p:cNvPr>
          <p:cNvPicPr>
            <a:picLocks noChangeAspect="1"/>
          </p:cNvPicPr>
          <p:nvPr/>
        </p:nvPicPr>
        <p:blipFill>
          <a:blip r:embed="rId2"/>
          <a:stretch>
            <a:fillRect/>
          </a:stretch>
        </p:blipFill>
        <p:spPr>
          <a:xfrm>
            <a:off x="4663637" y="212409"/>
            <a:ext cx="573074" cy="566977"/>
          </a:xfrm>
          <a:prstGeom prst="rect">
            <a:avLst/>
          </a:prstGeom>
        </p:spPr>
      </p:pic>
      <p:pic>
        <p:nvPicPr>
          <p:cNvPr id="9" name="Picture 8">
            <a:extLst>
              <a:ext uri="{FF2B5EF4-FFF2-40B4-BE49-F238E27FC236}">
                <a16:creationId xmlns:a16="http://schemas.microsoft.com/office/drawing/2014/main" id="{86FCBCE7-15E5-D64B-1362-C18A42635D5D}"/>
              </a:ext>
            </a:extLst>
          </p:cNvPr>
          <p:cNvPicPr>
            <a:picLocks noChangeAspect="1"/>
          </p:cNvPicPr>
          <p:nvPr/>
        </p:nvPicPr>
        <p:blipFill>
          <a:blip r:embed="rId3"/>
          <a:stretch>
            <a:fillRect/>
          </a:stretch>
        </p:blipFill>
        <p:spPr>
          <a:xfrm>
            <a:off x="4681639" y="3837345"/>
            <a:ext cx="573074" cy="573074"/>
          </a:xfrm>
          <a:prstGeom prst="rect">
            <a:avLst/>
          </a:prstGeom>
        </p:spPr>
      </p:pic>
      <p:pic>
        <p:nvPicPr>
          <p:cNvPr id="10" name="Picture 9">
            <a:extLst>
              <a:ext uri="{FF2B5EF4-FFF2-40B4-BE49-F238E27FC236}">
                <a16:creationId xmlns:a16="http://schemas.microsoft.com/office/drawing/2014/main" id="{E4A7DD5F-08F0-329A-57C5-E4A0FE6FB044}"/>
              </a:ext>
            </a:extLst>
          </p:cNvPr>
          <p:cNvPicPr>
            <a:picLocks noChangeAspect="1"/>
          </p:cNvPicPr>
          <p:nvPr/>
        </p:nvPicPr>
        <p:blipFill>
          <a:blip r:embed="rId4"/>
          <a:stretch>
            <a:fillRect/>
          </a:stretch>
        </p:blipFill>
        <p:spPr>
          <a:xfrm>
            <a:off x="4650547" y="2645720"/>
            <a:ext cx="573074" cy="573074"/>
          </a:xfrm>
          <a:prstGeom prst="rect">
            <a:avLst/>
          </a:prstGeom>
        </p:spPr>
      </p:pic>
      <p:graphicFrame>
        <p:nvGraphicFramePr>
          <p:cNvPr id="11" name="Table 27">
            <a:extLst>
              <a:ext uri="{FF2B5EF4-FFF2-40B4-BE49-F238E27FC236}">
                <a16:creationId xmlns:a16="http://schemas.microsoft.com/office/drawing/2014/main" id="{0833B23B-94BF-4925-FE04-B988B9F2401C}"/>
              </a:ext>
            </a:extLst>
          </p:cNvPr>
          <p:cNvGraphicFramePr>
            <a:graphicFrameLocks noGrp="1"/>
          </p:cNvGraphicFramePr>
          <p:nvPr>
            <p:extLst>
              <p:ext uri="{D42A27DB-BD31-4B8C-83A1-F6EECF244321}">
                <p14:modId xmlns:p14="http://schemas.microsoft.com/office/powerpoint/2010/main" val="2043609335"/>
              </p:ext>
            </p:extLst>
          </p:nvPr>
        </p:nvGraphicFramePr>
        <p:xfrm>
          <a:off x="8268437" y="184522"/>
          <a:ext cx="3831413" cy="3918383"/>
        </p:xfrm>
        <a:graphic>
          <a:graphicData uri="http://schemas.openxmlformats.org/drawingml/2006/table">
            <a:tbl>
              <a:tblPr firstRow="1" bandRow="1">
                <a:tableStyleId>{2D5ABB26-0587-4C30-8999-92F81FD0307C}</a:tableStyleId>
              </a:tblPr>
              <a:tblGrid>
                <a:gridCol w="604132">
                  <a:extLst>
                    <a:ext uri="{9D8B030D-6E8A-4147-A177-3AD203B41FA5}">
                      <a16:colId xmlns:a16="http://schemas.microsoft.com/office/drawing/2014/main" val="1622108729"/>
                    </a:ext>
                  </a:extLst>
                </a:gridCol>
                <a:gridCol w="3227281">
                  <a:extLst>
                    <a:ext uri="{9D8B030D-6E8A-4147-A177-3AD203B41FA5}">
                      <a16:colId xmlns:a16="http://schemas.microsoft.com/office/drawing/2014/main" val="1450379266"/>
                    </a:ext>
                  </a:extLst>
                </a:gridCol>
              </a:tblGrid>
              <a:tr h="304651">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rtl="0" fontAlgn="base"/>
                      <a:r>
                        <a:rPr lang="en-US" sz="1800" b="1" i="0" kern="1200">
                          <a:solidFill>
                            <a:srgbClr val="1F4766"/>
                          </a:solidFill>
                          <a:effectLst/>
                          <a:latin typeface="Lato" panose="020F0502020204030203" pitchFamily="34" charset="0"/>
                          <a:ea typeface="Lato" panose="020F0502020204030203" pitchFamily="34" charset="0"/>
                          <a:cs typeface="Lato" panose="020F0502020204030203" pitchFamily="34" charset="0"/>
                        </a:rPr>
                        <a:t>Eligibility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21194152"/>
                  </a:ext>
                </a:extLst>
              </a:tr>
              <a:tr h="1601903">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rtl="0" fontAlgn="base">
                        <a:buFont typeface="Wingdings" panose="05000000000000000000" pitchFamily="2" charset="2"/>
                        <a:buChar char="ü"/>
                      </a:pPr>
                      <a:r>
                        <a:rPr lang="en-US" sz="1400" b="0" i="0" kern="1200">
                          <a:solidFill>
                            <a:schemeClr val="tx1"/>
                          </a:solidFill>
                          <a:effectLst/>
                          <a:latin typeface="Lato" panose="020F0502020204030203" pitchFamily="34" charset="0"/>
                          <a:ea typeface="Lato" panose="020F0502020204030203" pitchFamily="34" charset="0"/>
                          <a:cs typeface="Lato" panose="020F0502020204030203" pitchFamily="34" charset="0"/>
                        </a:rPr>
                        <a:t>All production loan and SLDR Loan active borrowers with at least two (2) loan cycles aged 18 to 75 years old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52534781"/>
                  </a:ext>
                </a:extLst>
              </a:tr>
              <a:tr h="346622">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rtl="0" fontAlgn="base">
                        <a:buFont typeface="Wingdings" panose="05000000000000000000" pitchFamily="2" charset="2"/>
                        <a:buNone/>
                      </a:pPr>
                      <a:r>
                        <a:rPr lang="en-US" sz="1800" b="1" i="0" kern="1200">
                          <a:solidFill>
                            <a:srgbClr val="1F4766"/>
                          </a:solidFill>
                          <a:effectLst/>
                          <a:latin typeface="Lato" panose="020F0502020204030203" pitchFamily="34" charset="0"/>
                          <a:ea typeface="Lato" panose="020F0502020204030203" pitchFamily="34" charset="0"/>
                          <a:cs typeface="Lato" panose="020F0502020204030203" pitchFamily="34" charset="0"/>
                        </a:rPr>
                        <a:t>Benefits to Clients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93973218"/>
                  </a:ext>
                </a:extLst>
              </a:tr>
              <a:tr h="568339">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rtl="0" fontAlgn="base">
                        <a:buFont typeface="Wingdings" panose="05000000000000000000" pitchFamily="2" charset="2"/>
                        <a:buNone/>
                      </a:pPr>
                      <a:endParaRPr lang="en-US" sz="1400" b="0" i="0" kern="1200">
                        <a:solidFill>
                          <a:schemeClr val="tx1"/>
                        </a:solidFill>
                        <a:effectLst/>
                        <a:latin typeface="Lato" panose="020F0502020204030203" pitchFamily="34" charset="0"/>
                        <a:ea typeface="Lato" panose="020F0502020204030203" pitchFamily="34" charset="0"/>
                        <a:cs typeface="Lato" panose="020F0502020204030203" pitchFamily="34" charset="0"/>
                      </a:endParaRPr>
                    </a:p>
                    <a:p>
                      <a:pPr marL="285750" indent="-285750" rtl="0" fontAlgn="base">
                        <a:buFont typeface="Wingdings" panose="05000000000000000000" pitchFamily="2" charset="2"/>
                        <a:buChar char="ü"/>
                      </a:pPr>
                      <a:r>
                        <a:rPr lang="en-US" sz="1400" b="0" i="0" kern="1200">
                          <a:solidFill>
                            <a:schemeClr val="tx1"/>
                          </a:solidFill>
                          <a:effectLst/>
                          <a:latin typeface="Lato" panose="020F0502020204030203" pitchFamily="34" charset="0"/>
                          <a:ea typeface="Lato" panose="020F0502020204030203" pitchFamily="34" charset="0"/>
                          <a:cs typeface="Lato" panose="020F0502020204030203" pitchFamily="34" charset="0"/>
                        </a:rPr>
                        <a:t>Provision of cash assistance on top of the existing death claim benefit​</a:t>
                      </a:r>
                    </a:p>
                    <a:p>
                      <a:pPr marL="285750" indent="-285750" rtl="0" fontAlgn="base">
                        <a:buFont typeface="Wingdings" panose="05000000000000000000" pitchFamily="2" charset="2"/>
                        <a:buChar char="ü"/>
                      </a:pPr>
                      <a:endParaRPr lang="en-US" sz="1400" b="0" i="0" kern="1200">
                        <a:solidFill>
                          <a:schemeClr val="tx1"/>
                        </a:solidFill>
                        <a:effectLst/>
                        <a:latin typeface="Lato" panose="020F0502020204030203" pitchFamily="34" charset="0"/>
                        <a:ea typeface="Lato" panose="020F0502020204030203" pitchFamily="34" charset="0"/>
                        <a:cs typeface="Lato" panose="020F0502020204030203" pitchFamily="34" charset="0"/>
                      </a:endParaRPr>
                    </a:p>
                    <a:p>
                      <a:pPr marL="285750" indent="-285750" rtl="0" fontAlgn="base">
                        <a:buFont typeface="Wingdings" panose="05000000000000000000" pitchFamily="2" charset="2"/>
                        <a:buChar char="ü"/>
                      </a:pPr>
                      <a:r>
                        <a:rPr lang="en-US" sz="1400" b="0" i="0" kern="1200">
                          <a:solidFill>
                            <a:schemeClr val="tx1"/>
                          </a:solidFill>
                          <a:effectLst/>
                          <a:latin typeface="Lato" panose="020F0502020204030203" pitchFamily="34" charset="0"/>
                          <a:ea typeface="Lato" panose="020F0502020204030203" pitchFamily="34" charset="0"/>
                          <a:cs typeface="Lato" panose="020F0502020204030203" pitchFamily="34" charset="0"/>
                        </a:rPr>
                        <a:t>Provision of additional groceries/ in kind pack to lessen burden for the household in time of grief​</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57620124"/>
                  </a:ext>
                </a:extLst>
              </a:tr>
            </a:tbl>
          </a:graphicData>
        </a:graphic>
      </p:graphicFrame>
      <p:pic>
        <p:nvPicPr>
          <p:cNvPr id="12" name="Picture 11">
            <a:extLst>
              <a:ext uri="{FF2B5EF4-FFF2-40B4-BE49-F238E27FC236}">
                <a16:creationId xmlns:a16="http://schemas.microsoft.com/office/drawing/2014/main" id="{7D3AFC24-45E7-46FE-E0E1-71950FD85956}"/>
              </a:ext>
            </a:extLst>
          </p:cNvPr>
          <p:cNvPicPr>
            <a:picLocks noChangeAspect="1"/>
          </p:cNvPicPr>
          <p:nvPr/>
        </p:nvPicPr>
        <p:blipFill>
          <a:blip r:embed="rId5"/>
          <a:stretch>
            <a:fillRect/>
          </a:stretch>
        </p:blipFill>
        <p:spPr>
          <a:xfrm>
            <a:off x="8259985" y="194067"/>
            <a:ext cx="573074" cy="573074"/>
          </a:xfrm>
          <a:prstGeom prst="rect">
            <a:avLst/>
          </a:prstGeom>
        </p:spPr>
      </p:pic>
      <p:pic>
        <p:nvPicPr>
          <p:cNvPr id="13" name="Picture 12">
            <a:extLst>
              <a:ext uri="{FF2B5EF4-FFF2-40B4-BE49-F238E27FC236}">
                <a16:creationId xmlns:a16="http://schemas.microsoft.com/office/drawing/2014/main" id="{1AEC9932-0FD3-0DE6-68D1-DAF404DCF5CC}"/>
              </a:ext>
            </a:extLst>
          </p:cNvPr>
          <p:cNvPicPr>
            <a:picLocks noChangeAspect="1"/>
          </p:cNvPicPr>
          <p:nvPr/>
        </p:nvPicPr>
        <p:blipFill>
          <a:blip r:embed="rId6"/>
          <a:stretch>
            <a:fillRect/>
          </a:stretch>
        </p:blipFill>
        <p:spPr>
          <a:xfrm>
            <a:off x="8268437" y="2127643"/>
            <a:ext cx="573074" cy="573074"/>
          </a:xfrm>
          <a:prstGeom prst="rect">
            <a:avLst/>
          </a:prstGeom>
        </p:spPr>
      </p:pic>
      <p:pic>
        <p:nvPicPr>
          <p:cNvPr id="14" name="Picture 13">
            <a:extLst>
              <a:ext uri="{FF2B5EF4-FFF2-40B4-BE49-F238E27FC236}">
                <a16:creationId xmlns:a16="http://schemas.microsoft.com/office/drawing/2014/main" id="{8ADBD549-29B8-279B-4B04-4F5FD47F81B8}"/>
              </a:ext>
            </a:extLst>
          </p:cNvPr>
          <p:cNvPicPr>
            <a:picLocks noChangeAspect="1"/>
          </p:cNvPicPr>
          <p:nvPr/>
        </p:nvPicPr>
        <p:blipFill>
          <a:blip r:embed="rId7"/>
          <a:stretch>
            <a:fillRect/>
          </a:stretch>
        </p:blipFill>
        <p:spPr>
          <a:xfrm>
            <a:off x="4682786" y="1476834"/>
            <a:ext cx="573074" cy="573074"/>
          </a:xfrm>
          <a:prstGeom prst="rect">
            <a:avLst/>
          </a:prstGeom>
        </p:spPr>
      </p:pic>
      <p:sp>
        <p:nvSpPr>
          <p:cNvPr id="15" name="Google Shape;8795;p119">
            <a:extLst>
              <a:ext uri="{FF2B5EF4-FFF2-40B4-BE49-F238E27FC236}">
                <a16:creationId xmlns:a16="http://schemas.microsoft.com/office/drawing/2014/main" id="{FB0B4292-58A1-740D-0AAB-8D1B149A8432}"/>
              </a:ext>
            </a:extLst>
          </p:cNvPr>
          <p:cNvSpPr/>
          <p:nvPr/>
        </p:nvSpPr>
        <p:spPr>
          <a:xfrm flipH="1">
            <a:off x="1081380" y="3879692"/>
            <a:ext cx="1796901" cy="1764838"/>
          </a:xfrm>
          <a:prstGeom prst="plaque">
            <a:avLst/>
          </a:prstGeom>
          <a:noFill/>
          <a:ln w="38100" cap="flat" cmpd="sng">
            <a:solidFill>
              <a:srgbClr val="FFD928"/>
            </a:solidFill>
            <a:prstDash val="solid"/>
            <a:round/>
            <a:headEnd type="none" w="sm" len="sm"/>
            <a:tailEnd type="none" w="sm" len="sm"/>
          </a:ln>
          <a:effectLst>
            <a:glow rad="139700">
              <a:schemeClr val="accent4">
                <a:satMod val="175000"/>
                <a:alpha val="40000"/>
              </a:schemeClr>
            </a:glo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 name="Group 15">
            <a:extLst>
              <a:ext uri="{FF2B5EF4-FFF2-40B4-BE49-F238E27FC236}">
                <a16:creationId xmlns:a16="http://schemas.microsoft.com/office/drawing/2014/main" id="{5986E9FB-9523-2A16-31C1-1ACF816D1EC6}"/>
              </a:ext>
            </a:extLst>
          </p:cNvPr>
          <p:cNvGrpSpPr/>
          <p:nvPr/>
        </p:nvGrpSpPr>
        <p:grpSpPr>
          <a:xfrm>
            <a:off x="4664011" y="4798778"/>
            <a:ext cx="572700" cy="572700"/>
            <a:chOff x="7660512" y="3677246"/>
            <a:chExt cx="572700" cy="572700"/>
          </a:xfrm>
        </p:grpSpPr>
        <p:sp>
          <p:nvSpPr>
            <p:cNvPr id="17" name="Google Shape;839;p61">
              <a:extLst>
                <a:ext uri="{FF2B5EF4-FFF2-40B4-BE49-F238E27FC236}">
                  <a16:creationId xmlns:a16="http://schemas.microsoft.com/office/drawing/2014/main" id="{3D3D61CD-E37F-1349-5A87-0657D412C6C4}"/>
                </a:ext>
              </a:extLst>
            </p:cNvPr>
            <p:cNvSpPr/>
            <p:nvPr/>
          </p:nvSpPr>
          <p:spPr>
            <a:xfrm>
              <a:off x="7660512" y="3677246"/>
              <a:ext cx="572700" cy="572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 name="Google Shape;16191;p127">
              <a:extLst>
                <a:ext uri="{FF2B5EF4-FFF2-40B4-BE49-F238E27FC236}">
                  <a16:creationId xmlns:a16="http://schemas.microsoft.com/office/drawing/2014/main" id="{6AB2EFC6-E108-FED8-CCE3-9F2D3922D495}"/>
                </a:ext>
              </a:extLst>
            </p:cNvPr>
            <p:cNvGrpSpPr/>
            <p:nvPr/>
          </p:nvGrpSpPr>
          <p:grpSpPr>
            <a:xfrm>
              <a:off x="7813105" y="3818532"/>
              <a:ext cx="251098" cy="309028"/>
              <a:chOff x="3599318" y="4299590"/>
              <a:chExt cx="251098" cy="309028"/>
            </a:xfrm>
          </p:grpSpPr>
          <p:sp>
            <p:nvSpPr>
              <p:cNvPr id="19" name="Google Shape;16192;p127">
                <a:extLst>
                  <a:ext uri="{FF2B5EF4-FFF2-40B4-BE49-F238E27FC236}">
                    <a16:creationId xmlns:a16="http://schemas.microsoft.com/office/drawing/2014/main" id="{7BC748C3-61A3-3864-FDBB-2A5217E2E075}"/>
                  </a:ext>
                </a:extLst>
              </p:cNvPr>
              <p:cNvSpPr/>
              <p:nvPr/>
            </p:nvSpPr>
            <p:spPr>
              <a:xfrm>
                <a:off x="3599318" y="4299590"/>
                <a:ext cx="251098" cy="309028"/>
              </a:xfrm>
              <a:custGeom>
                <a:avLst/>
                <a:gdLst/>
                <a:ahLst/>
                <a:cxnLst/>
                <a:rect l="l" t="t" r="r" b="b"/>
                <a:pathLst>
                  <a:path w="9562" h="11768" extrusionOk="0">
                    <a:moveTo>
                      <a:pt x="4748" y="1"/>
                    </a:moveTo>
                    <a:lnTo>
                      <a:pt x="144" y="919"/>
                    </a:lnTo>
                    <a:cubicBezTo>
                      <a:pt x="58" y="939"/>
                      <a:pt x="1" y="1015"/>
                      <a:pt x="1" y="1101"/>
                    </a:cubicBezTo>
                    <a:lnTo>
                      <a:pt x="1" y="7724"/>
                    </a:lnTo>
                    <a:cubicBezTo>
                      <a:pt x="1" y="7772"/>
                      <a:pt x="20" y="7829"/>
                      <a:pt x="68" y="7858"/>
                    </a:cubicBezTo>
                    <a:lnTo>
                      <a:pt x="4661" y="11724"/>
                    </a:lnTo>
                    <a:cubicBezTo>
                      <a:pt x="4695" y="11753"/>
                      <a:pt x="4738" y="11767"/>
                      <a:pt x="4781" y="11767"/>
                    </a:cubicBezTo>
                    <a:cubicBezTo>
                      <a:pt x="4824" y="11767"/>
                      <a:pt x="4867" y="11753"/>
                      <a:pt x="4901" y="11724"/>
                    </a:cubicBezTo>
                    <a:lnTo>
                      <a:pt x="9494" y="7858"/>
                    </a:lnTo>
                    <a:cubicBezTo>
                      <a:pt x="9533" y="7829"/>
                      <a:pt x="9561" y="7772"/>
                      <a:pt x="9561" y="7724"/>
                    </a:cubicBezTo>
                    <a:lnTo>
                      <a:pt x="9561" y="1101"/>
                    </a:lnTo>
                    <a:cubicBezTo>
                      <a:pt x="9561" y="1015"/>
                      <a:pt x="9494" y="939"/>
                      <a:pt x="9408" y="919"/>
                    </a:cubicBezTo>
                    <a:lnTo>
                      <a:pt x="4815" y="1"/>
                    </a:lnTo>
                    <a:close/>
                  </a:path>
                </a:pathLst>
              </a:custGeom>
              <a:solidFill>
                <a:schemeClr val="accent5">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6193;p127">
                <a:extLst>
                  <a:ext uri="{FF2B5EF4-FFF2-40B4-BE49-F238E27FC236}">
                    <a16:creationId xmlns:a16="http://schemas.microsoft.com/office/drawing/2014/main" id="{FB1181A3-2FFB-A225-37AA-2B4B5BD38124}"/>
                  </a:ext>
                </a:extLst>
              </p:cNvPr>
              <p:cNvSpPr/>
              <p:nvPr/>
            </p:nvSpPr>
            <p:spPr>
              <a:xfrm>
                <a:off x="3618672" y="4319206"/>
                <a:ext cx="212391" cy="264018"/>
              </a:xfrm>
              <a:custGeom>
                <a:avLst/>
                <a:gdLst/>
                <a:ahLst/>
                <a:cxnLst/>
                <a:rect l="l" t="t" r="r" b="b"/>
                <a:pathLst>
                  <a:path w="8088" h="10054" extrusionOk="0">
                    <a:moveTo>
                      <a:pt x="4001" y="0"/>
                    </a:moveTo>
                    <a:lnTo>
                      <a:pt x="144" y="775"/>
                    </a:lnTo>
                    <a:cubicBezTo>
                      <a:pt x="58" y="794"/>
                      <a:pt x="1" y="871"/>
                      <a:pt x="1" y="957"/>
                    </a:cubicBezTo>
                    <a:lnTo>
                      <a:pt x="1" y="6632"/>
                    </a:lnTo>
                    <a:cubicBezTo>
                      <a:pt x="1" y="6680"/>
                      <a:pt x="29" y="6738"/>
                      <a:pt x="68" y="6766"/>
                    </a:cubicBezTo>
                    <a:lnTo>
                      <a:pt x="3924" y="10011"/>
                    </a:lnTo>
                    <a:cubicBezTo>
                      <a:pt x="3963" y="10039"/>
                      <a:pt x="4006" y="10054"/>
                      <a:pt x="4048" y="10054"/>
                    </a:cubicBezTo>
                    <a:cubicBezTo>
                      <a:pt x="4089" y="10054"/>
                      <a:pt x="4130" y="10039"/>
                      <a:pt x="4164" y="10011"/>
                    </a:cubicBezTo>
                    <a:lnTo>
                      <a:pt x="8020" y="6766"/>
                    </a:lnTo>
                    <a:cubicBezTo>
                      <a:pt x="8059" y="6728"/>
                      <a:pt x="8087" y="6680"/>
                      <a:pt x="8087" y="6623"/>
                    </a:cubicBezTo>
                    <a:lnTo>
                      <a:pt x="8087" y="957"/>
                    </a:lnTo>
                    <a:cubicBezTo>
                      <a:pt x="8087" y="871"/>
                      <a:pt x="8020" y="794"/>
                      <a:pt x="7934" y="775"/>
                    </a:cubicBezTo>
                    <a:lnTo>
                      <a:pt x="4078" y="0"/>
                    </a:lnTo>
                    <a:close/>
                  </a:path>
                </a:pathLst>
              </a:custGeom>
              <a:solidFill>
                <a:srgbClr val="E8ED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6194;p127">
                <a:extLst>
                  <a:ext uri="{FF2B5EF4-FFF2-40B4-BE49-F238E27FC236}">
                    <a16:creationId xmlns:a16="http://schemas.microsoft.com/office/drawing/2014/main" id="{ADEA4F6D-B0CD-BCBF-E5BE-8E4A4B6DEB28}"/>
                  </a:ext>
                </a:extLst>
              </p:cNvPr>
              <p:cNvSpPr/>
              <p:nvPr/>
            </p:nvSpPr>
            <p:spPr>
              <a:xfrm>
                <a:off x="3618672" y="4335777"/>
                <a:ext cx="118144" cy="247448"/>
              </a:xfrm>
              <a:custGeom>
                <a:avLst/>
                <a:gdLst/>
                <a:ahLst/>
                <a:cxnLst/>
                <a:rect l="l" t="t" r="r" b="b"/>
                <a:pathLst>
                  <a:path w="4499" h="9423" extrusionOk="0">
                    <a:moveTo>
                      <a:pt x="881" y="1"/>
                    </a:moveTo>
                    <a:lnTo>
                      <a:pt x="144" y="144"/>
                    </a:lnTo>
                    <a:cubicBezTo>
                      <a:pt x="58" y="163"/>
                      <a:pt x="1" y="240"/>
                      <a:pt x="1" y="326"/>
                    </a:cubicBezTo>
                    <a:lnTo>
                      <a:pt x="1" y="6001"/>
                    </a:lnTo>
                    <a:cubicBezTo>
                      <a:pt x="1" y="6049"/>
                      <a:pt x="29" y="6097"/>
                      <a:pt x="68" y="6135"/>
                    </a:cubicBezTo>
                    <a:lnTo>
                      <a:pt x="3924" y="9380"/>
                    </a:lnTo>
                    <a:cubicBezTo>
                      <a:pt x="3963" y="9408"/>
                      <a:pt x="4006" y="9423"/>
                      <a:pt x="4048" y="9423"/>
                    </a:cubicBezTo>
                    <a:cubicBezTo>
                      <a:pt x="4089" y="9423"/>
                      <a:pt x="4130" y="9408"/>
                      <a:pt x="4164" y="9380"/>
                    </a:cubicBezTo>
                    <a:lnTo>
                      <a:pt x="4499" y="9092"/>
                    </a:lnTo>
                    <a:lnTo>
                      <a:pt x="795" y="6001"/>
                    </a:lnTo>
                    <a:cubicBezTo>
                      <a:pt x="757" y="5963"/>
                      <a:pt x="728" y="5906"/>
                      <a:pt x="737" y="5858"/>
                    </a:cubicBezTo>
                    <a:lnTo>
                      <a:pt x="737" y="183"/>
                    </a:lnTo>
                    <a:cubicBezTo>
                      <a:pt x="737" y="96"/>
                      <a:pt x="795" y="20"/>
                      <a:pt x="881" y="1"/>
                    </a:cubicBezTo>
                    <a:close/>
                  </a:path>
                </a:pathLst>
              </a:custGeom>
              <a:solidFill>
                <a:srgbClr val="DFE6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6195;p127">
                <a:extLst>
                  <a:ext uri="{FF2B5EF4-FFF2-40B4-BE49-F238E27FC236}">
                    <a16:creationId xmlns:a16="http://schemas.microsoft.com/office/drawing/2014/main" id="{7999E732-BA04-55B2-F77F-5291C9C84D43}"/>
                  </a:ext>
                </a:extLst>
              </p:cNvPr>
              <p:cNvSpPr/>
              <p:nvPr/>
            </p:nvSpPr>
            <p:spPr>
              <a:xfrm>
                <a:off x="3634506" y="4362168"/>
                <a:ext cx="157849" cy="135423"/>
              </a:xfrm>
              <a:custGeom>
                <a:avLst/>
                <a:gdLst/>
                <a:ahLst/>
                <a:cxnLst/>
                <a:rect l="l" t="t" r="r" b="b"/>
                <a:pathLst>
                  <a:path w="6011" h="5157" extrusionOk="0">
                    <a:moveTo>
                      <a:pt x="3436" y="1"/>
                    </a:moveTo>
                    <a:cubicBezTo>
                      <a:pt x="1149" y="1"/>
                      <a:pt x="0" y="2776"/>
                      <a:pt x="1618" y="4393"/>
                    </a:cubicBezTo>
                    <a:cubicBezTo>
                      <a:pt x="2145" y="4920"/>
                      <a:pt x="2791" y="5156"/>
                      <a:pt x="3424" y="5156"/>
                    </a:cubicBezTo>
                    <a:cubicBezTo>
                      <a:pt x="4746" y="5156"/>
                      <a:pt x="6011" y="4128"/>
                      <a:pt x="6011" y="2575"/>
                    </a:cubicBezTo>
                    <a:cubicBezTo>
                      <a:pt x="6011" y="1159"/>
                      <a:pt x="4862" y="10"/>
                      <a:pt x="3436" y="1"/>
                    </a:cubicBezTo>
                    <a:close/>
                  </a:path>
                </a:pathLst>
              </a:custGeom>
              <a:solidFill>
                <a:srgbClr val="E4EA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6196;p127">
                <a:extLst>
                  <a:ext uri="{FF2B5EF4-FFF2-40B4-BE49-F238E27FC236}">
                    <a16:creationId xmlns:a16="http://schemas.microsoft.com/office/drawing/2014/main" id="{912A2A41-050F-6E9F-15E6-20FAA84EAC81}"/>
                  </a:ext>
                </a:extLst>
              </p:cNvPr>
              <p:cNvSpPr/>
              <p:nvPr/>
            </p:nvSpPr>
            <p:spPr>
              <a:xfrm>
                <a:off x="3653860" y="4376742"/>
                <a:ext cx="124184" cy="106353"/>
              </a:xfrm>
              <a:custGeom>
                <a:avLst/>
                <a:gdLst/>
                <a:ahLst/>
                <a:cxnLst/>
                <a:rect l="l" t="t" r="r" b="b"/>
                <a:pathLst>
                  <a:path w="4729" h="4050" extrusionOk="0">
                    <a:moveTo>
                      <a:pt x="2699" y="1"/>
                    </a:moveTo>
                    <a:cubicBezTo>
                      <a:pt x="900" y="1"/>
                      <a:pt x="0" y="2183"/>
                      <a:pt x="1273" y="3456"/>
                    </a:cubicBezTo>
                    <a:cubicBezTo>
                      <a:pt x="1684" y="3866"/>
                      <a:pt x="2189" y="4050"/>
                      <a:pt x="2684" y="4050"/>
                    </a:cubicBezTo>
                    <a:cubicBezTo>
                      <a:pt x="3726" y="4050"/>
                      <a:pt x="4728" y="3239"/>
                      <a:pt x="4728" y="2020"/>
                    </a:cubicBezTo>
                    <a:cubicBezTo>
                      <a:pt x="4719" y="910"/>
                      <a:pt x="3819" y="1"/>
                      <a:pt x="2699" y="1"/>
                    </a:cubicBezTo>
                    <a:close/>
                  </a:path>
                </a:pathLst>
              </a:custGeom>
              <a:solidFill>
                <a:srgbClr val="DDE4E9"/>
              </a:solidFill>
              <a:ln>
                <a:solidFill>
                  <a:schemeClr val="accent4"/>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6197;p127">
                <a:extLst>
                  <a:ext uri="{FF2B5EF4-FFF2-40B4-BE49-F238E27FC236}">
                    <a16:creationId xmlns:a16="http://schemas.microsoft.com/office/drawing/2014/main" id="{6C766979-5BEB-8331-C9A5-EA62EBF41802}"/>
                  </a:ext>
                </a:extLst>
              </p:cNvPr>
              <p:cNvSpPr/>
              <p:nvPr/>
            </p:nvSpPr>
            <p:spPr>
              <a:xfrm>
                <a:off x="3700340" y="4377189"/>
                <a:ext cx="50550" cy="105381"/>
              </a:xfrm>
              <a:custGeom>
                <a:avLst/>
                <a:gdLst/>
                <a:ahLst/>
                <a:cxnLst/>
                <a:rect l="l" t="t" r="r" b="b"/>
                <a:pathLst>
                  <a:path w="1925" h="4013" extrusionOk="0">
                    <a:moveTo>
                      <a:pt x="963" y="0"/>
                    </a:moveTo>
                    <a:cubicBezTo>
                      <a:pt x="874" y="0"/>
                      <a:pt x="786" y="55"/>
                      <a:pt x="776" y="166"/>
                    </a:cubicBezTo>
                    <a:lnTo>
                      <a:pt x="776" y="539"/>
                    </a:lnTo>
                    <a:cubicBezTo>
                      <a:pt x="336" y="577"/>
                      <a:pt x="1" y="969"/>
                      <a:pt x="30" y="1410"/>
                    </a:cubicBezTo>
                    <a:cubicBezTo>
                      <a:pt x="58" y="1853"/>
                      <a:pt x="412" y="2195"/>
                      <a:pt x="854" y="2195"/>
                    </a:cubicBezTo>
                    <a:cubicBezTo>
                      <a:pt x="860" y="2195"/>
                      <a:pt x="866" y="2195"/>
                      <a:pt x="872" y="2194"/>
                    </a:cubicBezTo>
                    <a:lnTo>
                      <a:pt x="1054" y="2194"/>
                    </a:lnTo>
                    <a:cubicBezTo>
                      <a:pt x="1666" y="2194"/>
                      <a:pt x="1666" y="3113"/>
                      <a:pt x="1054" y="3113"/>
                    </a:cubicBezTo>
                    <a:lnTo>
                      <a:pt x="776" y="3113"/>
                    </a:lnTo>
                    <a:cubicBezTo>
                      <a:pt x="575" y="3113"/>
                      <a:pt x="412" y="2941"/>
                      <a:pt x="412" y="2740"/>
                    </a:cubicBezTo>
                    <a:cubicBezTo>
                      <a:pt x="403" y="2630"/>
                      <a:pt x="317" y="2575"/>
                      <a:pt x="231" y="2575"/>
                    </a:cubicBezTo>
                    <a:cubicBezTo>
                      <a:pt x="144" y="2575"/>
                      <a:pt x="58" y="2630"/>
                      <a:pt x="49" y="2740"/>
                    </a:cubicBezTo>
                    <a:cubicBezTo>
                      <a:pt x="49" y="3151"/>
                      <a:pt x="374" y="3477"/>
                      <a:pt x="786" y="3477"/>
                    </a:cubicBezTo>
                    <a:lnTo>
                      <a:pt x="786" y="3841"/>
                    </a:lnTo>
                    <a:cubicBezTo>
                      <a:pt x="795" y="3955"/>
                      <a:pt x="881" y="4013"/>
                      <a:pt x="968" y="4013"/>
                    </a:cubicBezTo>
                    <a:cubicBezTo>
                      <a:pt x="1054" y="4013"/>
                      <a:pt x="1140" y="3955"/>
                      <a:pt x="1149" y="3841"/>
                    </a:cubicBezTo>
                    <a:lnTo>
                      <a:pt x="1149" y="3467"/>
                    </a:lnTo>
                    <a:cubicBezTo>
                      <a:pt x="1590" y="3429"/>
                      <a:pt x="1925" y="3046"/>
                      <a:pt x="1896" y="2596"/>
                    </a:cubicBezTo>
                    <a:cubicBezTo>
                      <a:pt x="1877" y="2162"/>
                      <a:pt x="1514" y="1821"/>
                      <a:pt x="1072" y="1821"/>
                    </a:cubicBezTo>
                    <a:cubicBezTo>
                      <a:pt x="1066" y="1821"/>
                      <a:pt x="1060" y="1821"/>
                      <a:pt x="1054" y="1821"/>
                    </a:cubicBezTo>
                    <a:lnTo>
                      <a:pt x="872" y="1821"/>
                    </a:lnTo>
                    <a:cubicBezTo>
                      <a:pt x="259" y="1821"/>
                      <a:pt x="259" y="902"/>
                      <a:pt x="872" y="902"/>
                    </a:cubicBezTo>
                    <a:lnTo>
                      <a:pt x="1149" y="902"/>
                    </a:lnTo>
                    <a:cubicBezTo>
                      <a:pt x="1350" y="902"/>
                      <a:pt x="1513" y="1065"/>
                      <a:pt x="1513" y="1266"/>
                    </a:cubicBezTo>
                    <a:lnTo>
                      <a:pt x="1513" y="1448"/>
                    </a:lnTo>
                    <a:cubicBezTo>
                      <a:pt x="1513" y="1553"/>
                      <a:pt x="1590" y="1639"/>
                      <a:pt x="1695" y="1639"/>
                    </a:cubicBezTo>
                    <a:cubicBezTo>
                      <a:pt x="1800" y="1639"/>
                      <a:pt x="1886" y="1553"/>
                      <a:pt x="1886" y="1458"/>
                    </a:cubicBezTo>
                    <a:lnTo>
                      <a:pt x="1886" y="1266"/>
                    </a:lnTo>
                    <a:cubicBezTo>
                      <a:pt x="1886" y="864"/>
                      <a:pt x="1551" y="539"/>
                      <a:pt x="1149" y="539"/>
                    </a:cubicBezTo>
                    <a:lnTo>
                      <a:pt x="1149" y="166"/>
                    </a:lnTo>
                    <a:cubicBezTo>
                      <a:pt x="1140" y="55"/>
                      <a:pt x="1051" y="0"/>
                      <a:pt x="963" y="0"/>
                    </a:cubicBezTo>
                    <a:close/>
                  </a:path>
                </a:pathLst>
              </a:custGeom>
              <a:solidFill>
                <a:srgbClr val="FFD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25" name="Picture 24">
            <a:extLst>
              <a:ext uri="{FF2B5EF4-FFF2-40B4-BE49-F238E27FC236}">
                <a16:creationId xmlns:a16="http://schemas.microsoft.com/office/drawing/2014/main" id="{308C22D9-F162-A1EC-4A40-61E5FC607DC5}"/>
              </a:ext>
            </a:extLst>
          </p:cNvPr>
          <p:cNvPicPr>
            <a:picLocks noChangeAspect="1"/>
          </p:cNvPicPr>
          <p:nvPr/>
        </p:nvPicPr>
        <p:blipFill>
          <a:blip r:embed="rId8"/>
          <a:stretch>
            <a:fillRect/>
          </a:stretch>
        </p:blipFill>
        <p:spPr>
          <a:xfrm>
            <a:off x="1408633" y="4092728"/>
            <a:ext cx="1142394" cy="1315484"/>
          </a:xfrm>
          <a:prstGeom prst="rect">
            <a:avLst/>
          </a:prstGeom>
          <a:effectLst>
            <a:glow rad="139700">
              <a:schemeClr val="accent5">
                <a:satMod val="175000"/>
                <a:alpha val="40000"/>
              </a:schemeClr>
            </a:glow>
          </a:effectLst>
        </p:spPr>
      </p:pic>
      <p:sp>
        <p:nvSpPr>
          <p:cNvPr id="26" name="TextBox 25">
            <a:extLst>
              <a:ext uri="{FF2B5EF4-FFF2-40B4-BE49-F238E27FC236}">
                <a16:creationId xmlns:a16="http://schemas.microsoft.com/office/drawing/2014/main" id="{EF356869-935D-85CF-1914-DF88C9FF757E}"/>
              </a:ext>
            </a:extLst>
          </p:cNvPr>
          <p:cNvSpPr txBox="1"/>
          <p:nvPr/>
        </p:nvSpPr>
        <p:spPr>
          <a:xfrm>
            <a:off x="7448296" y="4495546"/>
            <a:ext cx="4673500" cy="1456304"/>
          </a:xfrm>
          <a:prstGeom prst="rect">
            <a:avLst/>
          </a:prstGeom>
        </p:spPr>
        <p:txBody>
          <a:bodyPr wrap="square" rtlCol="0">
            <a:noAutofit/>
          </a:bodyPr>
          <a:lstStyle/>
          <a:p>
            <a:pPr algn="l"/>
            <a:r>
              <a:rPr lang="en-US" sz="1600" i="1">
                <a:solidFill>
                  <a:srgbClr val="FF0000"/>
                </a:solidFill>
              </a:rPr>
              <a:t>NOTE: The Provider shall not pay any death benefit if the member commits suicide within 6 months from the effective date or the date of the last reinstatement (if any) of his individual insurance coverage</a:t>
            </a:r>
            <a:endParaRPr lang="en-PH" sz="1600" i="1">
              <a:solidFill>
                <a:srgbClr val="FF0000"/>
              </a:solidFill>
            </a:endParaRPr>
          </a:p>
        </p:txBody>
      </p:sp>
    </p:spTree>
    <p:extLst>
      <p:ext uri="{BB962C8B-B14F-4D97-AF65-F5344CB8AC3E}">
        <p14:creationId xmlns:p14="http://schemas.microsoft.com/office/powerpoint/2010/main" val="4764330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975990F-D768-874F-E51F-82E664B357BC}"/>
              </a:ext>
            </a:extLst>
          </p:cNvPr>
          <p:cNvSpPr>
            <a:spLocks noGrp="1"/>
          </p:cNvSpPr>
          <p:nvPr>
            <p:ph type="sldNum" sz="quarter" idx="12"/>
          </p:nvPr>
        </p:nvSpPr>
        <p:spPr/>
        <p:txBody>
          <a:bodyPr/>
          <a:lstStyle/>
          <a:p>
            <a:fld id="{36D53BC0-5915-4EE6-A8B4-385258777E7F}" type="slidenum">
              <a:rPr lang="en-PH" smtClean="0"/>
              <a:pPr/>
              <a:t>34</a:t>
            </a:fld>
            <a:endParaRPr lang="en-PH"/>
          </a:p>
        </p:txBody>
      </p:sp>
      <p:pic>
        <p:nvPicPr>
          <p:cNvPr id="12" name="Picture 11" descr="A yellow rectangle with blue text&#10;&#10;AI-generated content may be incorrect.">
            <a:extLst>
              <a:ext uri="{FF2B5EF4-FFF2-40B4-BE49-F238E27FC236}">
                <a16:creationId xmlns:a16="http://schemas.microsoft.com/office/drawing/2014/main" id="{ACFEC96B-51C2-64F9-0CE6-A9379449DF8B}"/>
              </a:ext>
            </a:extLst>
          </p:cNvPr>
          <p:cNvPicPr>
            <a:picLocks noChangeAspect="1"/>
          </p:cNvPicPr>
          <p:nvPr/>
        </p:nvPicPr>
        <p:blipFill>
          <a:blip r:embed="rId2"/>
          <a:stretch>
            <a:fillRect/>
          </a:stretch>
        </p:blipFill>
        <p:spPr>
          <a:xfrm>
            <a:off x="-1133" y="5368"/>
            <a:ext cx="6086173" cy="1476980"/>
          </a:xfrm>
          <a:prstGeom prst="rect">
            <a:avLst/>
          </a:prstGeom>
        </p:spPr>
      </p:pic>
      <p:pic>
        <p:nvPicPr>
          <p:cNvPr id="15" name="Picture 14" descr="A screenshot of a calculator&#10;&#10;AI-generated content may be incorrect.">
            <a:extLst>
              <a:ext uri="{FF2B5EF4-FFF2-40B4-BE49-F238E27FC236}">
                <a16:creationId xmlns:a16="http://schemas.microsoft.com/office/drawing/2014/main" id="{5C81534A-3E00-A38D-2069-9EE712CC4DAB}"/>
              </a:ext>
            </a:extLst>
          </p:cNvPr>
          <p:cNvPicPr>
            <a:picLocks noChangeAspect="1"/>
          </p:cNvPicPr>
          <p:nvPr/>
        </p:nvPicPr>
        <p:blipFill>
          <a:blip r:embed="rId3"/>
          <a:stretch>
            <a:fillRect/>
          </a:stretch>
        </p:blipFill>
        <p:spPr>
          <a:xfrm>
            <a:off x="216581" y="1491268"/>
            <a:ext cx="11613696" cy="4855180"/>
          </a:xfrm>
          <a:prstGeom prst="rect">
            <a:avLst/>
          </a:prstGeom>
        </p:spPr>
      </p:pic>
    </p:spTree>
    <p:extLst>
      <p:ext uri="{BB962C8B-B14F-4D97-AF65-F5344CB8AC3E}">
        <p14:creationId xmlns:p14="http://schemas.microsoft.com/office/powerpoint/2010/main" val="5688592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F3F97B-41C0-4150-B3C9-86E031CAB787}"/>
              </a:ext>
            </a:extLst>
          </p:cNvPr>
          <p:cNvSpPr>
            <a:spLocks noGrp="1"/>
          </p:cNvSpPr>
          <p:nvPr>
            <p:ph type="sldNum" sz="quarter" idx="12"/>
          </p:nvPr>
        </p:nvSpPr>
        <p:spPr/>
        <p:txBody>
          <a:bodyPr/>
          <a:lstStyle/>
          <a:p>
            <a:fld id="{36D53BC0-5915-4EE6-A8B4-385258777E7F}" type="slidenum">
              <a:rPr lang="en-PH" smtClean="0"/>
              <a:pPr/>
              <a:t>35</a:t>
            </a:fld>
            <a:endParaRPr lang="en-PH"/>
          </a:p>
        </p:txBody>
      </p:sp>
      <p:pic>
        <p:nvPicPr>
          <p:cNvPr id="5" name="Picture 4">
            <a:extLst>
              <a:ext uri="{FF2B5EF4-FFF2-40B4-BE49-F238E27FC236}">
                <a16:creationId xmlns:a16="http://schemas.microsoft.com/office/drawing/2014/main" id="{0FAAB9C3-DB6D-FEED-CAFA-1638CB9B25BE}"/>
              </a:ext>
            </a:extLst>
          </p:cNvPr>
          <p:cNvPicPr>
            <a:picLocks noChangeAspect="1"/>
          </p:cNvPicPr>
          <p:nvPr/>
        </p:nvPicPr>
        <p:blipFill rotWithShape="1">
          <a:blip r:embed="rId2"/>
          <a:srcRect l="1635"/>
          <a:stretch/>
        </p:blipFill>
        <p:spPr>
          <a:xfrm>
            <a:off x="973667" y="3901330"/>
            <a:ext cx="3002965" cy="1100282"/>
          </a:xfrm>
          <a:prstGeom prst="rect">
            <a:avLst/>
          </a:prstGeom>
          <a:effectLst>
            <a:glow rad="139700">
              <a:schemeClr val="accent5">
                <a:satMod val="175000"/>
                <a:alpha val="40000"/>
              </a:schemeClr>
            </a:glow>
          </a:effectLst>
        </p:spPr>
      </p:pic>
      <p:sp>
        <p:nvSpPr>
          <p:cNvPr id="6" name="Rectangle 5">
            <a:extLst>
              <a:ext uri="{FF2B5EF4-FFF2-40B4-BE49-F238E27FC236}">
                <a16:creationId xmlns:a16="http://schemas.microsoft.com/office/drawing/2014/main" id="{6A32556C-679A-340A-4196-16DB7D0450C4}"/>
              </a:ext>
            </a:extLst>
          </p:cNvPr>
          <p:cNvSpPr/>
          <p:nvPr/>
        </p:nvSpPr>
        <p:spPr>
          <a:xfrm>
            <a:off x="555412" y="1962142"/>
            <a:ext cx="3839477" cy="9701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i="0" u="none" strike="noStrike">
                <a:solidFill>
                  <a:srgbClr val="FFD928"/>
                </a:solidFill>
                <a:effectLst/>
                <a:latin typeface="Lato" panose="020F0502020204030203" pitchFamily="34" charset="0"/>
              </a:rPr>
              <a:t>A mandatory micro-insurance product which provides financial coverage to liabilities in the event of death so liability will no longer be transferred to the next of kin.​</a:t>
            </a:r>
          </a:p>
          <a:p>
            <a:endParaRPr lang="en-US" b="1" i="0" u="none" strike="noStrike">
              <a:solidFill>
                <a:srgbClr val="FFD928"/>
              </a:solidFill>
              <a:effectLst/>
              <a:latin typeface="Lato" panose="020F0502020204030203" pitchFamily="34" charset="0"/>
            </a:endParaRPr>
          </a:p>
          <a:p>
            <a:r>
              <a:rPr lang="en-US" b="1" i="0" u="none" strike="noStrike">
                <a:solidFill>
                  <a:srgbClr val="FFD928"/>
                </a:solidFill>
                <a:effectLst/>
                <a:latin typeface="Lato" panose="020F0502020204030203" pitchFamily="34" charset="0"/>
              </a:rPr>
              <a:t>​</a:t>
            </a:r>
            <a:endParaRPr lang="en-PH" b="1">
              <a:solidFill>
                <a:srgbClr val="FFD928"/>
              </a:solidFill>
            </a:endParaRPr>
          </a:p>
        </p:txBody>
      </p:sp>
      <p:sp>
        <p:nvSpPr>
          <p:cNvPr id="7" name="Title 1">
            <a:extLst>
              <a:ext uri="{FF2B5EF4-FFF2-40B4-BE49-F238E27FC236}">
                <a16:creationId xmlns:a16="http://schemas.microsoft.com/office/drawing/2014/main" id="{33391B21-474F-5A24-AF67-073486E1A318}"/>
              </a:ext>
            </a:extLst>
          </p:cNvPr>
          <p:cNvSpPr>
            <a:spLocks noGrp="1"/>
          </p:cNvSpPr>
          <p:nvPr>
            <p:ph type="title"/>
          </p:nvPr>
        </p:nvSpPr>
        <p:spPr>
          <a:xfrm>
            <a:off x="92150" y="389722"/>
            <a:ext cx="4394890" cy="779328"/>
          </a:xfrm>
          <a:solidFill>
            <a:srgbClr val="FFD928"/>
          </a:solidFill>
        </p:spPr>
        <p:txBody>
          <a:bodyPr anchor="ctr"/>
          <a:lstStyle/>
          <a:p>
            <a:pPr marL="457200" indent="-457200">
              <a:buFont typeface="Webdings" panose="05030102010509060703" pitchFamily="18" charset="2"/>
              <a:buChar char=""/>
            </a:pPr>
            <a:r>
              <a:rPr lang="en-US" sz="2800">
                <a:solidFill>
                  <a:srgbClr val="1F4766"/>
                </a:solidFill>
              </a:rPr>
              <a:t>Loan Redemption Fund</a:t>
            </a:r>
          </a:p>
        </p:txBody>
      </p:sp>
      <p:graphicFrame>
        <p:nvGraphicFramePr>
          <p:cNvPr id="8" name="Table 27">
            <a:extLst>
              <a:ext uri="{FF2B5EF4-FFF2-40B4-BE49-F238E27FC236}">
                <a16:creationId xmlns:a16="http://schemas.microsoft.com/office/drawing/2014/main" id="{01A197B4-128A-466D-32AA-39D6757FBF16}"/>
              </a:ext>
            </a:extLst>
          </p:cNvPr>
          <p:cNvGraphicFramePr>
            <a:graphicFrameLocks noGrp="1"/>
          </p:cNvGraphicFramePr>
          <p:nvPr/>
        </p:nvGraphicFramePr>
        <p:xfrm>
          <a:off x="4589015" y="184522"/>
          <a:ext cx="3485297" cy="6356495"/>
        </p:xfrm>
        <a:graphic>
          <a:graphicData uri="http://schemas.openxmlformats.org/drawingml/2006/table">
            <a:tbl>
              <a:tblPr firstRow="1" bandRow="1">
                <a:tableStyleId>{2D5ABB26-0587-4C30-8999-92F81FD0307C}</a:tableStyleId>
              </a:tblPr>
              <a:tblGrid>
                <a:gridCol w="714327">
                  <a:extLst>
                    <a:ext uri="{9D8B030D-6E8A-4147-A177-3AD203B41FA5}">
                      <a16:colId xmlns:a16="http://schemas.microsoft.com/office/drawing/2014/main" val="1622108729"/>
                    </a:ext>
                  </a:extLst>
                </a:gridCol>
                <a:gridCol w="2770970">
                  <a:extLst>
                    <a:ext uri="{9D8B030D-6E8A-4147-A177-3AD203B41FA5}">
                      <a16:colId xmlns:a16="http://schemas.microsoft.com/office/drawing/2014/main" val="1450379266"/>
                    </a:ext>
                  </a:extLst>
                </a:gridCol>
              </a:tblGrid>
              <a:tr h="393333">
                <a:tc rowSpan="2">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a:solidFill>
                            <a:srgbClr val="1F4766"/>
                          </a:solidFill>
                          <a:latin typeface="Lato" panose="020F0502020204030203" pitchFamily="34" charset="0"/>
                          <a:ea typeface="Lato" panose="020F0502020204030203" pitchFamily="34" charset="0"/>
                          <a:cs typeface="Lato" panose="020F0502020204030203" pitchFamily="34" charset="0"/>
                        </a:rPr>
                        <a:t>Premium</a:t>
                      </a:r>
                      <a:endParaRPr lang="en-PH" sz="1800" b="1">
                        <a:solidFill>
                          <a:srgbClr val="1F4766"/>
                        </a:solidFill>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0170993"/>
                  </a:ext>
                </a:extLst>
              </a:tr>
              <a:tr h="932754">
                <a:tc vMerge="1">
                  <a:txBody>
                    <a:bodyPr/>
                    <a:lstStyle/>
                    <a:p>
                      <a:endParaRPr lang="en-PH"/>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rtl="0" fontAlgn="base">
                        <a:buFont typeface="Wingdings" panose="05000000000000000000" pitchFamily="2" charset="2"/>
                        <a:buChar char="ü"/>
                      </a:pPr>
                      <a:r>
                        <a:rPr lang="en-US" sz="1800" b="0" i="0" u="none" strike="noStrike" kern="1200">
                          <a:solidFill>
                            <a:schemeClr val="tx1"/>
                          </a:solidFill>
                          <a:effectLst/>
                          <a:latin typeface="Lato" panose="020F0502020204030203" pitchFamily="34" charset="0"/>
                          <a:ea typeface="Lato" panose="020F0502020204030203" pitchFamily="34" charset="0"/>
                          <a:cs typeface="Lato" panose="020F0502020204030203" pitchFamily="34" charset="0"/>
                        </a:rPr>
                        <a:t>2% of loan amount, per annum, pro-rated per loan term​</a:t>
                      </a:r>
                      <a:endParaRPr lang="en-US" sz="1800" b="1" i="0" kern="1200">
                        <a:solidFill>
                          <a:schemeClr val="tx1"/>
                        </a:solidFill>
                        <a:effectLst/>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4695899"/>
                  </a:ext>
                </a:extLst>
              </a:tr>
              <a:tr h="418347">
                <a:tc rowSpan="2">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a:solidFill>
                            <a:srgbClr val="1F4766"/>
                          </a:solidFill>
                          <a:latin typeface="Lato" panose="020F0502020204030203" pitchFamily="34" charset="0"/>
                          <a:ea typeface="Lato" panose="020F0502020204030203" pitchFamily="34" charset="0"/>
                          <a:cs typeface="Lato" panose="020F0502020204030203" pitchFamily="34" charset="0"/>
                        </a:rPr>
                        <a:t>Payment Mode</a:t>
                      </a:r>
                      <a:endParaRPr lang="en-PH" sz="1800" b="1">
                        <a:solidFill>
                          <a:srgbClr val="1F4766"/>
                        </a:solidFill>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88353520"/>
                  </a:ext>
                </a:extLst>
              </a:tr>
              <a:tr h="666174">
                <a:tc vMerge="1">
                  <a:txBody>
                    <a:bodyPr/>
                    <a:lstStyle/>
                    <a:p>
                      <a:endParaRPr lang="en-PH"/>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PH" sz="1800" b="0" i="0" kern="1200">
                          <a:solidFill>
                            <a:schemeClr val="tx1"/>
                          </a:solidFill>
                          <a:effectLst/>
                          <a:latin typeface="Lato" panose="020F0502020204030203" pitchFamily="34" charset="0"/>
                          <a:ea typeface="Lato" panose="020F0502020204030203" pitchFamily="34" charset="0"/>
                          <a:cs typeface="Lato" panose="020F0502020204030203" pitchFamily="34" charset="0"/>
                        </a:rPr>
                        <a:t>Pre-deducted from loan amount​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11574103"/>
                  </a:ext>
                </a:extLst>
              </a:tr>
              <a:tr h="366041">
                <a:tc rowSpan="2">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b="1">
                          <a:solidFill>
                            <a:srgbClr val="1F4766"/>
                          </a:solidFill>
                          <a:latin typeface="Lato" panose="020F0502020204030203" pitchFamily="34" charset="0"/>
                          <a:ea typeface="Lato" panose="020F0502020204030203" pitchFamily="34" charset="0"/>
                          <a:cs typeface="Lato" panose="020F0502020204030203" pitchFamily="34" charset="0"/>
                        </a:rPr>
                        <a:t>Payment Frequency</a:t>
                      </a:r>
                      <a:endParaRPr lang="en-PH" sz="1800" b="1">
                        <a:solidFill>
                          <a:srgbClr val="1F4766"/>
                        </a:solidFill>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68837476"/>
                  </a:ext>
                </a:extLst>
              </a:tr>
              <a:tr h="707847">
                <a:tc vMerge="1">
                  <a:txBody>
                    <a:bodyPr/>
                    <a:lstStyle/>
                    <a:p>
                      <a:endParaRPr lang="en-PH"/>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Wingdings" panose="05000000000000000000" pitchFamily="2" charset="2"/>
                        <a:buChar char="ü"/>
                      </a:pPr>
                      <a:r>
                        <a:rPr lang="en-US" sz="1800">
                          <a:latin typeface="Lato" panose="020F0502020204030203" pitchFamily="34" charset="0"/>
                          <a:ea typeface="Lato" panose="020F0502020204030203" pitchFamily="34" charset="0"/>
                          <a:cs typeface="Lato" panose="020F0502020204030203" pitchFamily="34" charset="0"/>
                        </a:rPr>
                        <a:t>One-time, upon loan availment</a:t>
                      </a:r>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54832442"/>
                  </a:ext>
                </a:extLst>
              </a:tr>
              <a:tr h="366041">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Wingdings" panose="05000000000000000000" pitchFamily="2" charset="2"/>
                        <a:buNone/>
                      </a:pPr>
                      <a:r>
                        <a:rPr lang="en-US" sz="1800" b="1">
                          <a:solidFill>
                            <a:srgbClr val="1F4766"/>
                          </a:solidFill>
                          <a:latin typeface="Lato" panose="020F0502020204030203" pitchFamily="34" charset="0"/>
                          <a:ea typeface="Lato" panose="020F0502020204030203" pitchFamily="34" charset="0"/>
                          <a:cs typeface="Lato" panose="020F0502020204030203" pitchFamily="34" charset="0"/>
                        </a:rPr>
                        <a:t>Grace Period</a:t>
                      </a:r>
                      <a:endParaRPr lang="en-PH" sz="1800" b="1">
                        <a:solidFill>
                          <a:srgbClr val="1F4766"/>
                        </a:solidFill>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15615276"/>
                  </a:ext>
                </a:extLst>
              </a:tr>
              <a:tr h="420768">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buFont typeface="Wingdings" panose="05000000000000000000" pitchFamily="2" charset="2"/>
                        <a:buChar char="ü"/>
                      </a:pPr>
                      <a:r>
                        <a:rPr lang="en-US" sz="1800">
                          <a:latin typeface="Lato" panose="020F0502020204030203" pitchFamily="34" charset="0"/>
                          <a:ea typeface="Lato" panose="020F0502020204030203" pitchFamily="34" charset="0"/>
                          <a:cs typeface="Lato" panose="020F0502020204030203" pitchFamily="34" charset="0"/>
                        </a:rPr>
                        <a:t>No Grace Period</a:t>
                      </a:r>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61522439"/>
                  </a:ext>
                </a:extLst>
              </a:tr>
              <a:tr h="448235">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rtl="0" fontAlgn="base">
                        <a:buFont typeface="Wingdings" panose="05000000000000000000" pitchFamily="2" charset="2"/>
                        <a:buNone/>
                      </a:pPr>
                      <a:r>
                        <a:rPr lang="en-US" sz="1800" b="1" i="0" kern="1200">
                          <a:solidFill>
                            <a:srgbClr val="1F4766"/>
                          </a:solidFill>
                          <a:effectLst/>
                          <a:latin typeface="Lato" panose="020F0502020204030203" pitchFamily="34" charset="0"/>
                          <a:ea typeface="Lato" panose="020F0502020204030203" pitchFamily="34" charset="0"/>
                          <a:cs typeface="Lato" panose="020F0502020204030203" pitchFamily="34" charset="0"/>
                        </a:rPr>
                        <a:t>Coverage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03086260"/>
                  </a:ext>
                </a:extLst>
              </a:tr>
              <a:tr h="448235">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rtl="0" fontAlgn="base">
                        <a:buFont typeface="Wingdings" panose="05000000000000000000" pitchFamily="2" charset="2"/>
                        <a:buChar char="ü"/>
                      </a:pPr>
                      <a:r>
                        <a:rPr lang="en-US" sz="1800" b="0" i="0" kern="1200">
                          <a:solidFill>
                            <a:schemeClr val="tx1"/>
                          </a:solidFill>
                          <a:effectLst/>
                          <a:latin typeface="Lato" panose="020F0502020204030203" pitchFamily="34" charset="0"/>
                          <a:ea typeface="Lato" panose="020F0502020204030203" pitchFamily="34" charset="0"/>
                          <a:cs typeface="Lato" panose="020F0502020204030203" pitchFamily="34" charset="0"/>
                        </a:rPr>
                        <a:t>Active loans of RAFI MFI borrower with benefit of total principal amount​​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8411548"/>
                  </a:ext>
                </a:extLst>
              </a:tr>
              <a:tr h="448235">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rtl="0" fontAlgn="base">
                        <a:buFont typeface="Wingdings" panose="05000000000000000000" pitchFamily="2" charset="2"/>
                        <a:buNone/>
                      </a:pPr>
                      <a:endParaRPr lang="en-US" sz="1800" b="1" i="0" kern="1200">
                        <a:solidFill>
                          <a:srgbClr val="1F4766"/>
                        </a:solidFill>
                        <a:effectLst/>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76256842"/>
                  </a:ext>
                </a:extLst>
              </a:tr>
            </a:tbl>
          </a:graphicData>
        </a:graphic>
      </p:graphicFrame>
      <p:pic>
        <p:nvPicPr>
          <p:cNvPr id="9" name="Picture 8">
            <a:extLst>
              <a:ext uri="{FF2B5EF4-FFF2-40B4-BE49-F238E27FC236}">
                <a16:creationId xmlns:a16="http://schemas.microsoft.com/office/drawing/2014/main" id="{C528D95B-5007-1F6B-3BDD-C78A683BCE77}"/>
              </a:ext>
            </a:extLst>
          </p:cNvPr>
          <p:cNvPicPr>
            <a:picLocks noChangeAspect="1"/>
          </p:cNvPicPr>
          <p:nvPr/>
        </p:nvPicPr>
        <p:blipFill>
          <a:blip r:embed="rId3"/>
          <a:stretch>
            <a:fillRect/>
          </a:stretch>
        </p:blipFill>
        <p:spPr>
          <a:xfrm>
            <a:off x="4663637" y="212409"/>
            <a:ext cx="573074" cy="566977"/>
          </a:xfrm>
          <a:prstGeom prst="rect">
            <a:avLst/>
          </a:prstGeom>
        </p:spPr>
      </p:pic>
      <p:pic>
        <p:nvPicPr>
          <p:cNvPr id="10" name="Picture 9">
            <a:extLst>
              <a:ext uri="{FF2B5EF4-FFF2-40B4-BE49-F238E27FC236}">
                <a16:creationId xmlns:a16="http://schemas.microsoft.com/office/drawing/2014/main" id="{A58CE292-CCFD-DFC8-379E-607F5E2BACBD}"/>
              </a:ext>
            </a:extLst>
          </p:cNvPr>
          <p:cNvPicPr>
            <a:picLocks noChangeAspect="1"/>
          </p:cNvPicPr>
          <p:nvPr/>
        </p:nvPicPr>
        <p:blipFill>
          <a:blip r:embed="rId4"/>
          <a:stretch>
            <a:fillRect/>
          </a:stretch>
        </p:blipFill>
        <p:spPr>
          <a:xfrm>
            <a:off x="4650547" y="3652594"/>
            <a:ext cx="573074" cy="573074"/>
          </a:xfrm>
          <a:prstGeom prst="rect">
            <a:avLst/>
          </a:prstGeom>
        </p:spPr>
      </p:pic>
      <p:pic>
        <p:nvPicPr>
          <p:cNvPr id="11" name="Picture 10">
            <a:extLst>
              <a:ext uri="{FF2B5EF4-FFF2-40B4-BE49-F238E27FC236}">
                <a16:creationId xmlns:a16="http://schemas.microsoft.com/office/drawing/2014/main" id="{2F16D23D-C336-3F31-648A-A7339ADD5475}"/>
              </a:ext>
            </a:extLst>
          </p:cNvPr>
          <p:cNvPicPr>
            <a:picLocks noChangeAspect="1"/>
          </p:cNvPicPr>
          <p:nvPr/>
        </p:nvPicPr>
        <p:blipFill>
          <a:blip r:embed="rId5"/>
          <a:stretch>
            <a:fillRect/>
          </a:stretch>
        </p:blipFill>
        <p:spPr>
          <a:xfrm>
            <a:off x="4650547" y="2645720"/>
            <a:ext cx="573074" cy="573074"/>
          </a:xfrm>
          <a:prstGeom prst="rect">
            <a:avLst/>
          </a:prstGeom>
        </p:spPr>
      </p:pic>
      <p:graphicFrame>
        <p:nvGraphicFramePr>
          <p:cNvPr id="12" name="Table 27">
            <a:extLst>
              <a:ext uri="{FF2B5EF4-FFF2-40B4-BE49-F238E27FC236}">
                <a16:creationId xmlns:a16="http://schemas.microsoft.com/office/drawing/2014/main" id="{D80167F1-1D8F-ADB9-929A-A199D8B23FA3}"/>
              </a:ext>
            </a:extLst>
          </p:cNvPr>
          <p:cNvGraphicFramePr>
            <a:graphicFrameLocks noGrp="1"/>
          </p:cNvGraphicFramePr>
          <p:nvPr>
            <p:extLst>
              <p:ext uri="{D42A27DB-BD31-4B8C-83A1-F6EECF244321}">
                <p14:modId xmlns:p14="http://schemas.microsoft.com/office/powerpoint/2010/main" val="2082536050"/>
              </p:ext>
            </p:extLst>
          </p:nvPr>
        </p:nvGraphicFramePr>
        <p:xfrm>
          <a:off x="8268437" y="184522"/>
          <a:ext cx="3831413" cy="5730240"/>
        </p:xfrm>
        <a:graphic>
          <a:graphicData uri="http://schemas.openxmlformats.org/drawingml/2006/table">
            <a:tbl>
              <a:tblPr firstRow="1" bandRow="1">
                <a:tableStyleId>{2D5ABB26-0587-4C30-8999-92F81FD0307C}</a:tableStyleId>
              </a:tblPr>
              <a:tblGrid>
                <a:gridCol w="604132">
                  <a:extLst>
                    <a:ext uri="{9D8B030D-6E8A-4147-A177-3AD203B41FA5}">
                      <a16:colId xmlns:a16="http://schemas.microsoft.com/office/drawing/2014/main" val="1622108729"/>
                    </a:ext>
                  </a:extLst>
                </a:gridCol>
                <a:gridCol w="3227281">
                  <a:extLst>
                    <a:ext uri="{9D8B030D-6E8A-4147-A177-3AD203B41FA5}">
                      <a16:colId xmlns:a16="http://schemas.microsoft.com/office/drawing/2014/main" val="1450379266"/>
                    </a:ext>
                  </a:extLst>
                </a:gridCol>
              </a:tblGrid>
              <a:tr h="304651">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rtl="0" fontAlgn="base"/>
                      <a:r>
                        <a:rPr lang="en-US" sz="1800" b="1" i="0" kern="1200">
                          <a:solidFill>
                            <a:srgbClr val="1F4766"/>
                          </a:solidFill>
                          <a:effectLst/>
                          <a:latin typeface="Lato" panose="020F0502020204030203" pitchFamily="34" charset="0"/>
                          <a:ea typeface="Lato" panose="020F0502020204030203" pitchFamily="34" charset="0"/>
                          <a:cs typeface="Lato" panose="020F0502020204030203" pitchFamily="34" charset="0"/>
                        </a:rPr>
                        <a:t>Eligibility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21194152"/>
                  </a:ext>
                </a:extLst>
              </a:tr>
              <a:tr h="842583">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rtl="0" fontAlgn="base">
                        <a:buFont typeface="Wingdings" panose="05000000000000000000" pitchFamily="2" charset="2"/>
                        <a:buChar char="ü"/>
                      </a:pPr>
                      <a:r>
                        <a:rPr lang="en-US" sz="1800" b="0" i="0" kern="1200">
                          <a:solidFill>
                            <a:schemeClr val="tx1"/>
                          </a:solidFill>
                          <a:effectLst/>
                          <a:latin typeface="Lato" panose="020F0502020204030203" pitchFamily="34" charset="0"/>
                          <a:ea typeface="Lato" panose="020F0502020204030203" pitchFamily="34" charset="0"/>
                          <a:cs typeface="Lato" panose="020F0502020204030203" pitchFamily="34" charset="0"/>
                        </a:rPr>
                        <a:t>All RAFI MFI active borrowers aged 18 to 75 years old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52534781"/>
                  </a:ext>
                </a:extLst>
              </a:tr>
              <a:tr h="346622">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rtl="0" fontAlgn="base">
                        <a:buFont typeface="Wingdings" panose="05000000000000000000" pitchFamily="2" charset="2"/>
                        <a:buNone/>
                      </a:pPr>
                      <a:r>
                        <a:rPr lang="en-US" sz="1800" b="1" i="0" kern="1200">
                          <a:solidFill>
                            <a:srgbClr val="1F4766"/>
                          </a:solidFill>
                          <a:effectLst/>
                          <a:latin typeface="Lato" panose="020F0502020204030203" pitchFamily="34" charset="0"/>
                          <a:ea typeface="Lato" panose="020F0502020204030203" pitchFamily="34" charset="0"/>
                          <a:cs typeface="Lato" panose="020F0502020204030203" pitchFamily="34" charset="0"/>
                        </a:rPr>
                        <a:t>Documentary Requirements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93973218"/>
                  </a:ext>
                </a:extLst>
              </a:tr>
              <a:tr h="568339">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rtl="0" fontAlgn="base">
                        <a:buFont typeface="Arial" panose="020B0604020202020204" pitchFamily="34" charset="0"/>
                        <a:buChar char="•"/>
                      </a:pPr>
                      <a:r>
                        <a:rPr lang="en-US" sz="1400" b="0" i="0" kern="1200">
                          <a:solidFill>
                            <a:schemeClr val="tx1"/>
                          </a:solidFill>
                          <a:effectLst/>
                          <a:latin typeface="Lato" panose="020F0502020204030203" pitchFamily="34" charset="0"/>
                          <a:ea typeface="Lato" panose="020F0502020204030203" pitchFamily="34" charset="0"/>
                          <a:cs typeface="Lato" panose="020F0502020204030203" pitchFamily="34" charset="0"/>
                        </a:rPr>
                        <a:t>Upon Enrollment​</a:t>
                      </a:r>
                    </a:p>
                    <a:p>
                      <a:pPr marL="626745" indent="-285750" rtl="0" fontAlgn="base">
                        <a:buFont typeface="Wingdings" panose="05000000000000000000" pitchFamily="2" charset="2"/>
                        <a:buChar char="ü"/>
                      </a:pPr>
                      <a:r>
                        <a:rPr lang="en-US" sz="1400" b="0" i="0" kern="1200">
                          <a:solidFill>
                            <a:schemeClr val="tx1"/>
                          </a:solidFill>
                          <a:effectLst/>
                          <a:latin typeface="Lato" panose="020F0502020204030203" pitchFamily="34" charset="0"/>
                          <a:ea typeface="Lato" panose="020F0502020204030203" pitchFamily="34" charset="0"/>
                          <a:cs typeface="Lato" panose="020F0502020204030203" pitchFamily="34" charset="0"/>
                        </a:rPr>
                        <a:t>Loan Application Form​</a:t>
                      </a:r>
                    </a:p>
                    <a:p>
                      <a:pPr marL="285750" indent="-285750" rtl="0" fontAlgn="base">
                        <a:buFont typeface="Wingdings" panose="05000000000000000000" pitchFamily="2" charset="2"/>
                        <a:buChar char="ü"/>
                      </a:pPr>
                      <a:endParaRPr lang="en-US" sz="1800" b="0" i="0" kern="1200" dirty="0">
                        <a:solidFill>
                          <a:schemeClr val="tx1"/>
                        </a:solidFill>
                        <a:effectLst/>
                        <a:latin typeface="Lato"/>
                        <a:ea typeface="Lato"/>
                        <a:cs typeface="Lato"/>
                      </a:endParaRPr>
                    </a:p>
                    <a:p>
                      <a:pPr marL="0" indent="0" rtl="0" fontAlgn="base">
                        <a:buNone/>
                      </a:pPr>
                      <a:r>
                        <a:rPr lang="en-US" sz="1800" b="0" i="0" kern="1200">
                          <a:solidFill>
                            <a:schemeClr val="tx1"/>
                          </a:solidFill>
                          <a:effectLst/>
                          <a:latin typeface="Lato"/>
                          <a:ea typeface="Lato"/>
                          <a:cs typeface="Lato"/>
                        </a:rPr>
                        <a:t>Upon Claim​</a:t>
                      </a:r>
                    </a:p>
                    <a:p>
                      <a:pPr marL="0" lvl="0" indent="0" algn="l">
                        <a:lnSpc>
                          <a:spcPct val="100000"/>
                        </a:lnSpc>
                        <a:spcBef>
                          <a:spcPts val="0"/>
                        </a:spcBef>
                        <a:spcAft>
                          <a:spcPts val="0"/>
                        </a:spcAft>
                        <a:buNone/>
                      </a:pPr>
                      <a:r>
                        <a:rPr lang="en-US" sz="1800" b="0" i="0" u="none" strike="noStrike" kern="1200" noProof="0" dirty="0" err="1">
                          <a:solidFill>
                            <a:schemeClr val="tx1"/>
                          </a:solidFill>
                          <a:effectLst/>
                          <a:latin typeface="Wingdings"/>
                          <a:ea typeface="Lato"/>
                          <a:cs typeface="Lato"/>
                          <a:sym typeface="Wingdings"/>
                        </a:rPr>
                        <a:t>ü</a:t>
                      </a:r>
                      <a:r>
                        <a:rPr lang="en-US" sz="1800" b="0" i="0" u="none" strike="noStrike" kern="1200" noProof="0" dirty="0" err="1">
                          <a:solidFill>
                            <a:srgbClr val="000000"/>
                          </a:solidFill>
                          <a:effectLst/>
                          <a:latin typeface="Lato"/>
                          <a:ea typeface="Lato"/>
                          <a:cs typeface="Lato"/>
                        </a:rPr>
                        <a:t>Notice</a:t>
                      </a:r>
                      <a:r>
                        <a:rPr lang="en-US" sz="1800" b="0" i="0" u="none" strike="noStrike" kern="1200" noProof="0" dirty="0">
                          <a:solidFill>
                            <a:srgbClr val="000000"/>
                          </a:solidFill>
                          <a:effectLst/>
                          <a:latin typeface="Lato"/>
                          <a:ea typeface="Lato"/>
                          <a:cs typeface="Lato"/>
                        </a:rPr>
                        <a:t> of Claim Form </a:t>
                      </a:r>
                      <a:endParaRPr lang="en-US" dirty="0"/>
                    </a:p>
                    <a:p>
                      <a:pPr marL="0" lvl="0" indent="0" algn="l">
                        <a:lnSpc>
                          <a:spcPct val="100000"/>
                        </a:lnSpc>
                        <a:spcBef>
                          <a:spcPts val="0"/>
                        </a:spcBef>
                        <a:spcAft>
                          <a:spcPts val="0"/>
                        </a:spcAft>
                        <a:buNone/>
                      </a:pPr>
                      <a:r>
                        <a:rPr lang="en-US" sz="1800" b="0" i="0" u="none" strike="noStrike" kern="1200" noProof="0" dirty="0" err="1">
                          <a:solidFill>
                            <a:schemeClr val="tx1"/>
                          </a:solidFill>
                          <a:effectLst/>
                          <a:latin typeface="Wingdings"/>
                          <a:ea typeface="Lato"/>
                          <a:cs typeface="Lato"/>
                          <a:sym typeface="Wingdings"/>
                        </a:rPr>
                        <a:t>ü</a:t>
                      </a:r>
                      <a:r>
                        <a:rPr lang="en-US" sz="1800" b="0" i="0" u="none" strike="noStrike" kern="1200" noProof="0" dirty="0" err="1">
                          <a:solidFill>
                            <a:srgbClr val="000000"/>
                          </a:solidFill>
                          <a:effectLst/>
                          <a:latin typeface="Lato"/>
                          <a:ea typeface="Lato"/>
                          <a:cs typeface="Lato"/>
                        </a:rPr>
                        <a:t>Insurance</a:t>
                      </a:r>
                      <a:r>
                        <a:rPr lang="en-US" sz="1800" b="0" i="0" u="none" strike="noStrike" kern="1200" noProof="0" dirty="0">
                          <a:solidFill>
                            <a:srgbClr val="000000"/>
                          </a:solidFill>
                          <a:effectLst/>
                          <a:latin typeface="Lato"/>
                          <a:ea typeface="Lato"/>
                          <a:cs typeface="Lato"/>
                        </a:rPr>
                        <a:t> Checklist </a:t>
                      </a:r>
                      <a:endParaRPr lang="en-US" dirty="0"/>
                    </a:p>
                    <a:p>
                      <a:pPr marL="0" lvl="0" indent="0" algn="l">
                        <a:lnSpc>
                          <a:spcPct val="100000"/>
                        </a:lnSpc>
                        <a:spcBef>
                          <a:spcPts val="0"/>
                        </a:spcBef>
                        <a:spcAft>
                          <a:spcPts val="0"/>
                        </a:spcAft>
                        <a:buNone/>
                      </a:pPr>
                      <a:r>
                        <a:rPr lang="en-US" sz="1800" b="0" i="0" u="none" strike="noStrike" kern="1200" noProof="0" dirty="0" err="1">
                          <a:solidFill>
                            <a:schemeClr val="tx1"/>
                          </a:solidFill>
                          <a:effectLst/>
                          <a:latin typeface="Wingdings"/>
                          <a:ea typeface="Lato"/>
                          <a:cs typeface="Lato"/>
                          <a:sym typeface="Wingdings"/>
                        </a:rPr>
                        <a:t>ü</a:t>
                      </a:r>
                      <a:r>
                        <a:rPr lang="en-US" sz="1800" b="0" i="0" u="none" strike="noStrike" kern="1200" noProof="0" dirty="0" err="1">
                          <a:solidFill>
                            <a:srgbClr val="000000"/>
                          </a:solidFill>
                          <a:effectLst/>
                          <a:latin typeface="Lato"/>
                          <a:ea typeface="Lato"/>
                          <a:cs typeface="Lato"/>
                        </a:rPr>
                        <a:t>Death</a:t>
                      </a:r>
                      <a:r>
                        <a:rPr lang="en-US" sz="1800" b="0" i="0" u="none" strike="noStrike" kern="1200" noProof="0" dirty="0">
                          <a:solidFill>
                            <a:srgbClr val="000000"/>
                          </a:solidFill>
                          <a:effectLst/>
                          <a:latin typeface="Lato"/>
                          <a:ea typeface="Lato"/>
                          <a:cs typeface="Lato"/>
                        </a:rPr>
                        <a:t> Certificate (registered to MCR/LCR) </a:t>
                      </a:r>
                      <a:endParaRPr lang="en-US" dirty="0"/>
                    </a:p>
                    <a:p>
                      <a:pPr marL="0" lvl="0" indent="0" algn="l">
                        <a:lnSpc>
                          <a:spcPct val="100000"/>
                        </a:lnSpc>
                        <a:spcBef>
                          <a:spcPts val="0"/>
                        </a:spcBef>
                        <a:spcAft>
                          <a:spcPts val="0"/>
                        </a:spcAft>
                        <a:buNone/>
                      </a:pPr>
                      <a:r>
                        <a:rPr lang="en-US" sz="1800" b="0" i="0" u="none" strike="noStrike" kern="1200" noProof="0" dirty="0" err="1">
                          <a:solidFill>
                            <a:schemeClr val="tx1"/>
                          </a:solidFill>
                          <a:effectLst/>
                          <a:latin typeface="Wingdings"/>
                          <a:ea typeface="Lato"/>
                          <a:cs typeface="Lato"/>
                          <a:sym typeface="Wingdings"/>
                        </a:rPr>
                        <a:t>ü</a:t>
                      </a:r>
                      <a:r>
                        <a:rPr lang="en-US" sz="1800" b="0" i="0" u="none" strike="noStrike" kern="1200" noProof="0" dirty="0" err="1">
                          <a:solidFill>
                            <a:srgbClr val="000000"/>
                          </a:solidFill>
                          <a:effectLst/>
                          <a:latin typeface="Lato"/>
                          <a:ea typeface="Lato"/>
                          <a:cs typeface="Lato"/>
                        </a:rPr>
                        <a:t>Loan</a:t>
                      </a:r>
                      <a:r>
                        <a:rPr lang="en-US" sz="1800" b="0" i="0" u="none" strike="noStrike" kern="1200" noProof="0" dirty="0">
                          <a:solidFill>
                            <a:srgbClr val="000000"/>
                          </a:solidFill>
                          <a:effectLst/>
                          <a:latin typeface="Lato"/>
                          <a:ea typeface="Lato"/>
                          <a:cs typeface="Lato"/>
                        </a:rPr>
                        <a:t> Application (active) </a:t>
                      </a:r>
                      <a:endParaRPr lang="en-US" dirty="0"/>
                    </a:p>
                    <a:p>
                      <a:pPr marL="0" lvl="0" indent="0" algn="l">
                        <a:lnSpc>
                          <a:spcPct val="100000"/>
                        </a:lnSpc>
                        <a:spcBef>
                          <a:spcPts val="0"/>
                        </a:spcBef>
                        <a:spcAft>
                          <a:spcPts val="0"/>
                        </a:spcAft>
                        <a:buNone/>
                      </a:pPr>
                      <a:r>
                        <a:rPr lang="en-US" sz="1800" b="0" i="0" u="none" strike="noStrike" kern="1200" noProof="0" dirty="0" err="1">
                          <a:solidFill>
                            <a:schemeClr val="tx1"/>
                          </a:solidFill>
                          <a:effectLst/>
                          <a:latin typeface="Wingdings"/>
                          <a:ea typeface="Lato"/>
                          <a:cs typeface="Lato"/>
                          <a:sym typeface="Wingdings"/>
                        </a:rPr>
                        <a:t>ü</a:t>
                      </a:r>
                      <a:r>
                        <a:rPr lang="en-US" sz="1800" b="0" i="0" u="none" strike="noStrike" kern="1200" noProof="0" dirty="0" err="1">
                          <a:solidFill>
                            <a:srgbClr val="000000"/>
                          </a:solidFill>
                          <a:effectLst/>
                          <a:latin typeface="Lato"/>
                          <a:ea typeface="Lato"/>
                          <a:cs typeface="Lato"/>
                        </a:rPr>
                        <a:t>Loan</a:t>
                      </a:r>
                      <a:r>
                        <a:rPr lang="en-US" sz="1800" b="0" i="0" u="none" strike="noStrike" kern="1200" noProof="0" dirty="0">
                          <a:solidFill>
                            <a:srgbClr val="000000"/>
                          </a:solidFill>
                          <a:effectLst/>
                          <a:latin typeface="Lato"/>
                          <a:ea typeface="Lato"/>
                          <a:cs typeface="Lato"/>
                        </a:rPr>
                        <a:t> Ledger (updated) </a:t>
                      </a:r>
                      <a:endParaRPr lang="en-US" dirty="0"/>
                    </a:p>
                    <a:p>
                      <a:pPr marL="0" lvl="0" indent="0" algn="l">
                        <a:lnSpc>
                          <a:spcPct val="100000"/>
                        </a:lnSpc>
                        <a:spcBef>
                          <a:spcPts val="0"/>
                        </a:spcBef>
                        <a:spcAft>
                          <a:spcPts val="0"/>
                        </a:spcAft>
                        <a:buNone/>
                      </a:pPr>
                      <a:r>
                        <a:rPr lang="en-US" sz="1800" b="0" i="0" u="none" strike="noStrike" kern="1200" noProof="0" dirty="0" err="1">
                          <a:solidFill>
                            <a:schemeClr val="tx1"/>
                          </a:solidFill>
                          <a:effectLst/>
                          <a:latin typeface="Wingdings"/>
                          <a:ea typeface="Lato"/>
                          <a:cs typeface="Lato"/>
                          <a:sym typeface="Wingdings"/>
                        </a:rPr>
                        <a:t>ü</a:t>
                      </a:r>
                      <a:r>
                        <a:rPr lang="en-US" sz="1800" b="0" i="0" u="none" strike="noStrike" kern="1200" noProof="0" dirty="0" err="1">
                          <a:solidFill>
                            <a:srgbClr val="000000"/>
                          </a:solidFill>
                          <a:effectLst/>
                          <a:latin typeface="Lato"/>
                          <a:ea typeface="Lato"/>
                          <a:cs typeface="Lato"/>
                        </a:rPr>
                        <a:t>Police</a:t>
                      </a:r>
                      <a:r>
                        <a:rPr lang="en-US" sz="1800" b="0" i="0" u="none" strike="noStrike" kern="1200" noProof="0" dirty="0">
                          <a:solidFill>
                            <a:srgbClr val="000000"/>
                          </a:solidFill>
                          <a:effectLst/>
                          <a:latin typeface="Lato"/>
                          <a:ea typeface="Lato"/>
                          <a:cs typeface="Lato"/>
                        </a:rPr>
                        <a:t> Blotter (if cause of death is due to accident) </a:t>
                      </a:r>
                      <a:endParaRPr lang="en-US" dirty="0"/>
                    </a:p>
                    <a:p>
                      <a:pPr marL="626745" lvl="0" indent="-285750">
                        <a:buFont typeface="Wingdings" panose="05000000000000000000" pitchFamily="2" charset="2"/>
                        <a:buChar char="ü"/>
                      </a:pPr>
                      <a:r>
                        <a:rPr lang="en-US" sz="1800" b="0" i="0" u="none" strike="noStrike" kern="1200" noProof="0">
                          <a:solidFill>
                            <a:srgbClr val="000000"/>
                          </a:solidFill>
                          <a:effectLst/>
                          <a:latin typeface="Lato"/>
                          <a:ea typeface="Lato"/>
                          <a:cs typeface="Lato"/>
                        </a:rPr>
                        <a:t>Interview Questionnaire (for 1st Cycle Loaner</a:t>
                      </a:r>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57620124"/>
                  </a:ext>
                </a:extLst>
              </a:tr>
            </a:tbl>
          </a:graphicData>
        </a:graphic>
      </p:graphicFrame>
      <p:pic>
        <p:nvPicPr>
          <p:cNvPr id="13" name="Picture 12">
            <a:extLst>
              <a:ext uri="{FF2B5EF4-FFF2-40B4-BE49-F238E27FC236}">
                <a16:creationId xmlns:a16="http://schemas.microsoft.com/office/drawing/2014/main" id="{009B41C2-E85A-3D46-880A-CD1916213F7F}"/>
              </a:ext>
            </a:extLst>
          </p:cNvPr>
          <p:cNvPicPr>
            <a:picLocks noChangeAspect="1"/>
          </p:cNvPicPr>
          <p:nvPr/>
        </p:nvPicPr>
        <p:blipFill>
          <a:blip r:embed="rId6"/>
          <a:stretch>
            <a:fillRect/>
          </a:stretch>
        </p:blipFill>
        <p:spPr>
          <a:xfrm>
            <a:off x="8259985" y="194067"/>
            <a:ext cx="573074" cy="573074"/>
          </a:xfrm>
          <a:prstGeom prst="rect">
            <a:avLst/>
          </a:prstGeom>
        </p:spPr>
      </p:pic>
      <p:pic>
        <p:nvPicPr>
          <p:cNvPr id="14" name="Picture 13">
            <a:extLst>
              <a:ext uri="{FF2B5EF4-FFF2-40B4-BE49-F238E27FC236}">
                <a16:creationId xmlns:a16="http://schemas.microsoft.com/office/drawing/2014/main" id="{90F84B87-E162-A8D8-1F3D-1C199E8CB7BE}"/>
              </a:ext>
            </a:extLst>
          </p:cNvPr>
          <p:cNvPicPr>
            <a:picLocks noChangeAspect="1"/>
          </p:cNvPicPr>
          <p:nvPr/>
        </p:nvPicPr>
        <p:blipFill>
          <a:blip r:embed="rId7"/>
          <a:stretch>
            <a:fillRect/>
          </a:stretch>
        </p:blipFill>
        <p:spPr>
          <a:xfrm>
            <a:off x="8259985" y="1403542"/>
            <a:ext cx="573074" cy="573074"/>
          </a:xfrm>
          <a:prstGeom prst="rect">
            <a:avLst/>
          </a:prstGeom>
        </p:spPr>
      </p:pic>
      <p:pic>
        <p:nvPicPr>
          <p:cNvPr id="15" name="Picture 14">
            <a:extLst>
              <a:ext uri="{FF2B5EF4-FFF2-40B4-BE49-F238E27FC236}">
                <a16:creationId xmlns:a16="http://schemas.microsoft.com/office/drawing/2014/main" id="{86656031-7C20-8A23-BDB1-0E4B75DA104C}"/>
              </a:ext>
            </a:extLst>
          </p:cNvPr>
          <p:cNvPicPr>
            <a:picLocks noChangeAspect="1"/>
          </p:cNvPicPr>
          <p:nvPr/>
        </p:nvPicPr>
        <p:blipFill>
          <a:blip r:embed="rId8"/>
          <a:stretch>
            <a:fillRect/>
          </a:stretch>
        </p:blipFill>
        <p:spPr>
          <a:xfrm>
            <a:off x="4664601" y="1555966"/>
            <a:ext cx="573074" cy="573074"/>
          </a:xfrm>
          <a:prstGeom prst="rect">
            <a:avLst/>
          </a:prstGeom>
        </p:spPr>
      </p:pic>
      <p:sp>
        <p:nvSpPr>
          <p:cNvPr id="16" name="Google Shape;8795;p119">
            <a:extLst>
              <a:ext uri="{FF2B5EF4-FFF2-40B4-BE49-F238E27FC236}">
                <a16:creationId xmlns:a16="http://schemas.microsoft.com/office/drawing/2014/main" id="{83E86679-4D9F-AB39-E0B1-6CAE8EA1C3A6}"/>
              </a:ext>
            </a:extLst>
          </p:cNvPr>
          <p:cNvSpPr/>
          <p:nvPr/>
        </p:nvSpPr>
        <p:spPr>
          <a:xfrm flipH="1">
            <a:off x="179048" y="3652594"/>
            <a:ext cx="4007937" cy="1572549"/>
          </a:xfrm>
          <a:prstGeom prst="flowChartOnlineStorage">
            <a:avLst/>
          </a:prstGeom>
          <a:noFill/>
          <a:ln w="38100" cap="flat" cmpd="sng">
            <a:solidFill>
              <a:srgbClr val="FFD928"/>
            </a:solidFill>
            <a:prstDash val="solid"/>
            <a:round/>
            <a:headEnd type="none" w="sm" len="sm"/>
            <a:tailEnd type="none" w="sm" len="sm"/>
          </a:ln>
          <a:effectLst>
            <a:glow rad="139700">
              <a:schemeClr val="accent4">
                <a:satMod val="175000"/>
                <a:alpha val="40000"/>
              </a:schemeClr>
            </a:glo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roup 16">
            <a:extLst>
              <a:ext uri="{FF2B5EF4-FFF2-40B4-BE49-F238E27FC236}">
                <a16:creationId xmlns:a16="http://schemas.microsoft.com/office/drawing/2014/main" id="{6EC3FDDE-9FF9-BE8C-11D7-A5E6198D7DBD}"/>
              </a:ext>
            </a:extLst>
          </p:cNvPr>
          <p:cNvGrpSpPr/>
          <p:nvPr/>
        </p:nvGrpSpPr>
        <p:grpSpPr>
          <a:xfrm>
            <a:off x="4663637" y="4512428"/>
            <a:ext cx="572700" cy="572700"/>
            <a:chOff x="7660512" y="3677246"/>
            <a:chExt cx="572700" cy="572700"/>
          </a:xfrm>
        </p:grpSpPr>
        <p:sp>
          <p:nvSpPr>
            <p:cNvPr id="18" name="Google Shape;839;p61">
              <a:extLst>
                <a:ext uri="{FF2B5EF4-FFF2-40B4-BE49-F238E27FC236}">
                  <a16:creationId xmlns:a16="http://schemas.microsoft.com/office/drawing/2014/main" id="{7DA10405-0BA2-900D-B012-A143BC7C8107}"/>
                </a:ext>
              </a:extLst>
            </p:cNvPr>
            <p:cNvSpPr/>
            <p:nvPr/>
          </p:nvSpPr>
          <p:spPr>
            <a:xfrm>
              <a:off x="7660512" y="3677246"/>
              <a:ext cx="572700" cy="572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 name="Google Shape;16191;p127">
              <a:extLst>
                <a:ext uri="{FF2B5EF4-FFF2-40B4-BE49-F238E27FC236}">
                  <a16:creationId xmlns:a16="http://schemas.microsoft.com/office/drawing/2014/main" id="{FAD9A646-8995-63ED-D95A-028FE4314913}"/>
                </a:ext>
              </a:extLst>
            </p:cNvPr>
            <p:cNvGrpSpPr/>
            <p:nvPr/>
          </p:nvGrpSpPr>
          <p:grpSpPr>
            <a:xfrm>
              <a:off x="7813105" y="3818532"/>
              <a:ext cx="251098" cy="309028"/>
              <a:chOff x="3599318" y="4299590"/>
              <a:chExt cx="251098" cy="309028"/>
            </a:xfrm>
          </p:grpSpPr>
          <p:sp>
            <p:nvSpPr>
              <p:cNvPr id="20" name="Google Shape;16192;p127">
                <a:extLst>
                  <a:ext uri="{FF2B5EF4-FFF2-40B4-BE49-F238E27FC236}">
                    <a16:creationId xmlns:a16="http://schemas.microsoft.com/office/drawing/2014/main" id="{A96E429D-ABA6-929A-B3A7-3EBE610DC9F0}"/>
                  </a:ext>
                </a:extLst>
              </p:cNvPr>
              <p:cNvSpPr/>
              <p:nvPr/>
            </p:nvSpPr>
            <p:spPr>
              <a:xfrm>
                <a:off x="3599318" y="4299590"/>
                <a:ext cx="251098" cy="309028"/>
              </a:xfrm>
              <a:custGeom>
                <a:avLst/>
                <a:gdLst/>
                <a:ahLst/>
                <a:cxnLst/>
                <a:rect l="l" t="t" r="r" b="b"/>
                <a:pathLst>
                  <a:path w="9562" h="11768" extrusionOk="0">
                    <a:moveTo>
                      <a:pt x="4748" y="1"/>
                    </a:moveTo>
                    <a:lnTo>
                      <a:pt x="144" y="919"/>
                    </a:lnTo>
                    <a:cubicBezTo>
                      <a:pt x="58" y="939"/>
                      <a:pt x="1" y="1015"/>
                      <a:pt x="1" y="1101"/>
                    </a:cubicBezTo>
                    <a:lnTo>
                      <a:pt x="1" y="7724"/>
                    </a:lnTo>
                    <a:cubicBezTo>
                      <a:pt x="1" y="7772"/>
                      <a:pt x="20" y="7829"/>
                      <a:pt x="68" y="7858"/>
                    </a:cubicBezTo>
                    <a:lnTo>
                      <a:pt x="4661" y="11724"/>
                    </a:lnTo>
                    <a:cubicBezTo>
                      <a:pt x="4695" y="11753"/>
                      <a:pt x="4738" y="11767"/>
                      <a:pt x="4781" y="11767"/>
                    </a:cubicBezTo>
                    <a:cubicBezTo>
                      <a:pt x="4824" y="11767"/>
                      <a:pt x="4867" y="11753"/>
                      <a:pt x="4901" y="11724"/>
                    </a:cubicBezTo>
                    <a:lnTo>
                      <a:pt x="9494" y="7858"/>
                    </a:lnTo>
                    <a:cubicBezTo>
                      <a:pt x="9533" y="7829"/>
                      <a:pt x="9561" y="7772"/>
                      <a:pt x="9561" y="7724"/>
                    </a:cubicBezTo>
                    <a:lnTo>
                      <a:pt x="9561" y="1101"/>
                    </a:lnTo>
                    <a:cubicBezTo>
                      <a:pt x="9561" y="1015"/>
                      <a:pt x="9494" y="939"/>
                      <a:pt x="9408" y="919"/>
                    </a:cubicBezTo>
                    <a:lnTo>
                      <a:pt x="4815" y="1"/>
                    </a:lnTo>
                    <a:close/>
                  </a:path>
                </a:pathLst>
              </a:custGeom>
              <a:solidFill>
                <a:schemeClr val="accent5">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6193;p127">
                <a:extLst>
                  <a:ext uri="{FF2B5EF4-FFF2-40B4-BE49-F238E27FC236}">
                    <a16:creationId xmlns:a16="http://schemas.microsoft.com/office/drawing/2014/main" id="{60095F93-4D8D-4225-10F1-7FC3DE7DEBAF}"/>
                  </a:ext>
                </a:extLst>
              </p:cNvPr>
              <p:cNvSpPr/>
              <p:nvPr/>
            </p:nvSpPr>
            <p:spPr>
              <a:xfrm>
                <a:off x="3618672" y="4319206"/>
                <a:ext cx="212391" cy="264018"/>
              </a:xfrm>
              <a:custGeom>
                <a:avLst/>
                <a:gdLst/>
                <a:ahLst/>
                <a:cxnLst/>
                <a:rect l="l" t="t" r="r" b="b"/>
                <a:pathLst>
                  <a:path w="8088" h="10054" extrusionOk="0">
                    <a:moveTo>
                      <a:pt x="4001" y="0"/>
                    </a:moveTo>
                    <a:lnTo>
                      <a:pt x="144" y="775"/>
                    </a:lnTo>
                    <a:cubicBezTo>
                      <a:pt x="58" y="794"/>
                      <a:pt x="1" y="871"/>
                      <a:pt x="1" y="957"/>
                    </a:cubicBezTo>
                    <a:lnTo>
                      <a:pt x="1" y="6632"/>
                    </a:lnTo>
                    <a:cubicBezTo>
                      <a:pt x="1" y="6680"/>
                      <a:pt x="29" y="6738"/>
                      <a:pt x="68" y="6766"/>
                    </a:cubicBezTo>
                    <a:lnTo>
                      <a:pt x="3924" y="10011"/>
                    </a:lnTo>
                    <a:cubicBezTo>
                      <a:pt x="3963" y="10039"/>
                      <a:pt x="4006" y="10054"/>
                      <a:pt x="4048" y="10054"/>
                    </a:cubicBezTo>
                    <a:cubicBezTo>
                      <a:pt x="4089" y="10054"/>
                      <a:pt x="4130" y="10039"/>
                      <a:pt x="4164" y="10011"/>
                    </a:cubicBezTo>
                    <a:lnTo>
                      <a:pt x="8020" y="6766"/>
                    </a:lnTo>
                    <a:cubicBezTo>
                      <a:pt x="8059" y="6728"/>
                      <a:pt x="8087" y="6680"/>
                      <a:pt x="8087" y="6623"/>
                    </a:cubicBezTo>
                    <a:lnTo>
                      <a:pt x="8087" y="957"/>
                    </a:lnTo>
                    <a:cubicBezTo>
                      <a:pt x="8087" y="871"/>
                      <a:pt x="8020" y="794"/>
                      <a:pt x="7934" y="775"/>
                    </a:cubicBezTo>
                    <a:lnTo>
                      <a:pt x="4078" y="0"/>
                    </a:lnTo>
                    <a:close/>
                  </a:path>
                </a:pathLst>
              </a:custGeom>
              <a:solidFill>
                <a:srgbClr val="E8ED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6194;p127">
                <a:extLst>
                  <a:ext uri="{FF2B5EF4-FFF2-40B4-BE49-F238E27FC236}">
                    <a16:creationId xmlns:a16="http://schemas.microsoft.com/office/drawing/2014/main" id="{5BF06FC2-4989-34C0-3346-DCE15A82B310}"/>
                  </a:ext>
                </a:extLst>
              </p:cNvPr>
              <p:cNvSpPr/>
              <p:nvPr/>
            </p:nvSpPr>
            <p:spPr>
              <a:xfrm>
                <a:off x="3618672" y="4335777"/>
                <a:ext cx="118144" cy="247448"/>
              </a:xfrm>
              <a:custGeom>
                <a:avLst/>
                <a:gdLst/>
                <a:ahLst/>
                <a:cxnLst/>
                <a:rect l="l" t="t" r="r" b="b"/>
                <a:pathLst>
                  <a:path w="4499" h="9423" extrusionOk="0">
                    <a:moveTo>
                      <a:pt x="881" y="1"/>
                    </a:moveTo>
                    <a:lnTo>
                      <a:pt x="144" y="144"/>
                    </a:lnTo>
                    <a:cubicBezTo>
                      <a:pt x="58" y="163"/>
                      <a:pt x="1" y="240"/>
                      <a:pt x="1" y="326"/>
                    </a:cubicBezTo>
                    <a:lnTo>
                      <a:pt x="1" y="6001"/>
                    </a:lnTo>
                    <a:cubicBezTo>
                      <a:pt x="1" y="6049"/>
                      <a:pt x="29" y="6097"/>
                      <a:pt x="68" y="6135"/>
                    </a:cubicBezTo>
                    <a:lnTo>
                      <a:pt x="3924" y="9380"/>
                    </a:lnTo>
                    <a:cubicBezTo>
                      <a:pt x="3963" y="9408"/>
                      <a:pt x="4006" y="9423"/>
                      <a:pt x="4048" y="9423"/>
                    </a:cubicBezTo>
                    <a:cubicBezTo>
                      <a:pt x="4089" y="9423"/>
                      <a:pt x="4130" y="9408"/>
                      <a:pt x="4164" y="9380"/>
                    </a:cubicBezTo>
                    <a:lnTo>
                      <a:pt x="4499" y="9092"/>
                    </a:lnTo>
                    <a:lnTo>
                      <a:pt x="795" y="6001"/>
                    </a:lnTo>
                    <a:cubicBezTo>
                      <a:pt x="757" y="5963"/>
                      <a:pt x="728" y="5906"/>
                      <a:pt x="737" y="5858"/>
                    </a:cubicBezTo>
                    <a:lnTo>
                      <a:pt x="737" y="183"/>
                    </a:lnTo>
                    <a:cubicBezTo>
                      <a:pt x="737" y="96"/>
                      <a:pt x="795" y="20"/>
                      <a:pt x="881" y="1"/>
                    </a:cubicBezTo>
                    <a:close/>
                  </a:path>
                </a:pathLst>
              </a:custGeom>
              <a:solidFill>
                <a:srgbClr val="DFE6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6195;p127">
                <a:extLst>
                  <a:ext uri="{FF2B5EF4-FFF2-40B4-BE49-F238E27FC236}">
                    <a16:creationId xmlns:a16="http://schemas.microsoft.com/office/drawing/2014/main" id="{37D451EB-40D1-3380-1287-DD23334D9292}"/>
                  </a:ext>
                </a:extLst>
              </p:cNvPr>
              <p:cNvSpPr/>
              <p:nvPr/>
            </p:nvSpPr>
            <p:spPr>
              <a:xfrm>
                <a:off x="3634506" y="4362168"/>
                <a:ext cx="157849" cy="135423"/>
              </a:xfrm>
              <a:custGeom>
                <a:avLst/>
                <a:gdLst/>
                <a:ahLst/>
                <a:cxnLst/>
                <a:rect l="l" t="t" r="r" b="b"/>
                <a:pathLst>
                  <a:path w="6011" h="5157" extrusionOk="0">
                    <a:moveTo>
                      <a:pt x="3436" y="1"/>
                    </a:moveTo>
                    <a:cubicBezTo>
                      <a:pt x="1149" y="1"/>
                      <a:pt x="0" y="2776"/>
                      <a:pt x="1618" y="4393"/>
                    </a:cubicBezTo>
                    <a:cubicBezTo>
                      <a:pt x="2145" y="4920"/>
                      <a:pt x="2791" y="5156"/>
                      <a:pt x="3424" y="5156"/>
                    </a:cubicBezTo>
                    <a:cubicBezTo>
                      <a:pt x="4746" y="5156"/>
                      <a:pt x="6011" y="4128"/>
                      <a:pt x="6011" y="2575"/>
                    </a:cubicBezTo>
                    <a:cubicBezTo>
                      <a:pt x="6011" y="1159"/>
                      <a:pt x="4862" y="10"/>
                      <a:pt x="3436" y="1"/>
                    </a:cubicBezTo>
                    <a:close/>
                  </a:path>
                </a:pathLst>
              </a:custGeom>
              <a:solidFill>
                <a:srgbClr val="E4EA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6196;p127">
                <a:extLst>
                  <a:ext uri="{FF2B5EF4-FFF2-40B4-BE49-F238E27FC236}">
                    <a16:creationId xmlns:a16="http://schemas.microsoft.com/office/drawing/2014/main" id="{0E7A28E3-4DCB-195F-58A4-E95C5F3BB740}"/>
                  </a:ext>
                </a:extLst>
              </p:cNvPr>
              <p:cNvSpPr/>
              <p:nvPr/>
            </p:nvSpPr>
            <p:spPr>
              <a:xfrm>
                <a:off x="3653860" y="4376742"/>
                <a:ext cx="124184" cy="106353"/>
              </a:xfrm>
              <a:custGeom>
                <a:avLst/>
                <a:gdLst/>
                <a:ahLst/>
                <a:cxnLst/>
                <a:rect l="l" t="t" r="r" b="b"/>
                <a:pathLst>
                  <a:path w="4729" h="4050" extrusionOk="0">
                    <a:moveTo>
                      <a:pt x="2699" y="1"/>
                    </a:moveTo>
                    <a:cubicBezTo>
                      <a:pt x="900" y="1"/>
                      <a:pt x="0" y="2183"/>
                      <a:pt x="1273" y="3456"/>
                    </a:cubicBezTo>
                    <a:cubicBezTo>
                      <a:pt x="1684" y="3866"/>
                      <a:pt x="2189" y="4050"/>
                      <a:pt x="2684" y="4050"/>
                    </a:cubicBezTo>
                    <a:cubicBezTo>
                      <a:pt x="3726" y="4050"/>
                      <a:pt x="4728" y="3239"/>
                      <a:pt x="4728" y="2020"/>
                    </a:cubicBezTo>
                    <a:cubicBezTo>
                      <a:pt x="4719" y="910"/>
                      <a:pt x="3819" y="1"/>
                      <a:pt x="2699" y="1"/>
                    </a:cubicBezTo>
                    <a:close/>
                  </a:path>
                </a:pathLst>
              </a:custGeom>
              <a:solidFill>
                <a:srgbClr val="DDE4E9"/>
              </a:solidFill>
              <a:ln>
                <a:solidFill>
                  <a:schemeClr val="accent4"/>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6197;p127">
                <a:extLst>
                  <a:ext uri="{FF2B5EF4-FFF2-40B4-BE49-F238E27FC236}">
                    <a16:creationId xmlns:a16="http://schemas.microsoft.com/office/drawing/2014/main" id="{2448D075-73D0-38C1-A853-6D4A1036CD16}"/>
                  </a:ext>
                </a:extLst>
              </p:cNvPr>
              <p:cNvSpPr/>
              <p:nvPr/>
            </p:nvSpPr>
            <p:spPr>
              <a:xfrm>
                <a:off x="3700340" y="4377189"/>
                <a:ext cx="50550" cy="105381"/>
              </a:xfrm>
              <a:custGeom>
                <a:avLst/>
                <a:gdLst/>
                <a:ahLst/>
                <a:cxnLst/>
                <a:rect l="l" t="t" r="r" b="b"/>
                <a:pathLst>
                  <a:path w="1925" h="4013" extrusionOk="0">
                    <a:moveTo>
                      <a:pt x="963" y="0"/>
                    </a:moveTo>
                    <a:cubicBezTo>
                      <a:pt x="874" y="0"/>
                      <a:pt x="786" y="55"/>
                      <a:pt x="776" y="166"/>
                    </a:cubicBezTo>
                    <a:lnTo>
                      <a:pt x="776" y="539"/>
                    </a:lnTo>
                    <a:cubicBezTo>
                      <a:pt x="336" y="577"/>
                      <a:pt x="1" y="969"/>
                      <a:pt x="30" y="1410"/>
                    </a:cubicBezTo>
                    <a:cubicBezTo>
                      <a:pt x="58" y="1853"/>
                      <a:pt x="412" y="2195"/>
                      <a:pt x="854" y="2195"/>
                    </a:cubicBezTo>
                    <a:cubicBezTo>
                      <a:pt x="860" y="2195"/>
                      <a:pt x="866" y="2195"/>
                      <a:pt x="872" y="2194"/>
                    </a:cubicBezTo>
                    <a:lnTo>
                      <a:pt x="1054" y="2194"/>
                    </a:lnTo>
                    <a:cubicBezTo>
                      <a:pt x="1666" y="2194"/>
                      <a:pt x="1666" y="3113"/>
                      <a:pt x="1054" y="3113"/>
                    </a:cubicBezTo>
                    <a:lnTo>
                      <a:pt x="776" y="3113"/>
                    </a:lnTo>
                    <a:cubicBezTo>
                      <a:pt x="575" y="3113"/>
                      <a:pt x="412" y="2941"/>
                      <a:pt x="412" y="2740"/>
                    </a:cubicBezTo>
                    <a:cubicBezTo>
                      <a:pt x="403" y="2630"/>
                      <a:pt x="317" y="2575"/>
                      <a:pt x="231" y="2575"/>
                    </a:cubicBezTo>
                    <a:cubicBezTo>
                      <a:pt x="144" y="2575"/>
                      <a:pt x="58" y="2630"/>
                      <a:pt x="49" y="2740"/>
                    </a:cubicBezTo>
                    <a:cubicBezTo>
                      <a:pt x="49" y="3151"/>
                      <a:pt x="374" y="3477"/>
                      <a:pt x="786" y="3477"/>
                    </a:cubicBezTo>
                    <a:lnTo>
                      <a:pt x="786" y="3841"/>
                    </a:lnTo>
                    <a:cubicBezTo>
                      <a:pt x="795" y="3955"/>
                      <a:pt x="881" y="4013"/>
                      <a:pt x="968" y="4013"/>
                    </a:cubicBezTo>
                    <a:cubicBezTo>
                      <a:pt x="1054" y="4013"/>
                      <a:pt x="1140" y="3955"/>
                      <a:pt x="1149" y="3841"/>
                    </a:cubicBezTo>
                    <a:lnTo>
                      <a:pt x="1149" y="3467"/>
                    </a:lnTo>
                    <a:cubicBezTo>
                      <a:pt x="1590" y="3429"/>
                      <a:pt x="1925" y="3046"/>
                      <a:pt x="1896" y="2596"/>
                    </a:cubicBezTo>
                    <a:cubicBezTo>
                      <a:pt x="1877" y="2162"/>
                      <a:pt x="1514" y="1821"/>
                      <a:pt x="1072" y="1821"/>
                    </a:cubicBezTo>
                    <a:cubicBezTo>
                      <a:pt x="1066" y="1821"/>
                      <a:pt x="1060" y="1821"/>
                      <a:pt x="1054" y="1821"/>
                    </a:cubicBezTo>
                    <a:lnTo>
                      <a:pt x="872" y="1821"/>
                    </a:lnTo>
                    <a:cubicBezTo>
                      <a:pt x="259" y="1821"/>
                      <a:pt x="259" y="902"/>
                      <a:pt x="872" y="902"/>
                    </a:cubicBezTo>
                    <a:lnTo>
                      <a:pt x="1149" y="902"/>
                    </a:lnTo>
                    <a:cubicBezTo>
                      <a:pt x="1350" y="902"/>
                      <a:pt x="1513" y="1065"/>
                      <a:pt x="1513" y="1266"/>
                    </a:cubicBezTo>
                    <a:lnTo>
                      <a:pt x="1513" y="1448"/>
                    </a:lnTo>
                    <a:cubicBezTo>
                      <a:pt x="1513" y="1553"/>
                      <a:pt x="1590" y="1639"/>
                      <a:pt x="1695" y="1639"/>
                    </a:cubicBezTo>
                    <a:cubicBezTo>
                      <a:pt x="1800" y="1639"/>
                      <a:pt x="1886" y="1553"/>
                      <a:pt x="1886" y="1458"/>
                    </a:cubicBezTo>
                    <a:lnTo>
                      <a:pt x="1886" y="1266"/>
                    </a:lnTo>
                    <a:cubicBezTo>
                      <a:pt x="1886" y="864"/>
                      <a:pt x="1551" y="539"/>
                      <a:pt x="1149" y="539"/>
                    </a:cubicBezTo>
                    <a:lnTo>
                      <a:pt x="1149" y="166"/>
                    </a:lnTo>
                    <a:cubicBezTo>
                      <a:pt x="1140" y="55"/>
                      <a:pt x="1051" y="0"/>
                      <a:pt x="963" y="0"/>
                    </a:cubicBezTo>
                    <a:close/>
                  </a:path>
                </a:pathLst>
              </a:custGeom>
              <a:solidFill>
                <a:srgbClr val="FFD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39803226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E59376-7EDC-8C5F-8307-8FE667AA7A00}"/>
              </a:ext>
            </a:extLst>
          </p:cNvPr>
          <p:cNvSpPr>
            <a:spLocks noGrp="1"/>
          </p:cNvSpPr>
          <p:nvPr>
            <p:ph type="sldNum" sz="quarter" idx="12"/>
          </p:nvPr>
        </p:nvSpPr>
        <p:spPr/>
        <p:txBody>
          <a:bodyPr/>
          <a:lstStyle/>
          <a:p>
            <a:fld id="{36D53BC0-5915-4EE6-A8B4-385258777E7F}" type="slidenum">
              <a:rPr lang="en-PH" smtClean="0"/>
              <a:pPr/>
              <a:t>36</a:t>
            </a:fld>
            <a:endParaRPr lang="en-PH"/>
          </a:p>
        </p:txBody>
      </p:sp>
      <p:sp>
        <p:nvSpPr>
          <p:cNvPr id="5" name="Title 12">
            <a:extLst>
              <a:ext uri="{FF2B5EF4-FFF2-40B4-BE49-F238E27FC236}">
                <a16:creationId xmlns:a16="http://schemas.microsoft.com/office/drawing/2014/main" id="{0ED72445-6814-1C1E-2F92-09B7C6E65C8B}"/>
              </a:ext>
            </a:extLst>
          </p:cNvPr>
          <p:cNvSpPr>
            <a:spLocks noGrp="1"/>
          </p:cNvSpPr>
          <p:nvPr>
            <p:ph type="title"/>
          </p:nvPr>
        </p:nvSpPr>
        <p:spPr>
          <a:xfrm>
            <a:off x="838200" y="234420"/>
            <a:ext cx="10515600" cy="859448"/>
          </a:xfrm>
        </p:spPr>
        <p:txBody>
          <a:bodyPr/>
          <a:lstStyle/>
          <a:p>
            <a:pPr algn="ctr"/>
            <a:r>
              <a:rPr lang="en-PH" sz="3600">
                <a:highlight>
                  <a:srgbClr val="FFFF00"/>
                </a:highlight>
                <a:ea typeface="Lato" panose="020F0502020204030203" pitchFamily="34" charset="0"/>
                <a:cs typeface="Lato" panose="020F0502020204030203" pitchFamily="34" charset="0"/>
              </a:rPr>
              <a:t>RAFI MFI Financial Products and Services</a:t>
            </a:r>
          </a:p>
        </p:txBody>
      </p:sp>
      <p:graphicFrame>
        <p:nvGraphicFramePr>
          <p:cNvPr id="6" name="Diagram 5">
            <a:extLst>
              <a:ext uri="{FF2B5EF4-FFF2-40B4-BE49-F238E27FC236}">
                <a16:creationId xmlns:a16="http://schemas.microsoft.com/office/drawing/2014/main" id="{780BD678-7805-4553-73FD-D14FC5DF6F21}"/>
              </a:ext>
            </a:extLst>
          </p:cNvPr>
          <p:cNvGraphicFramePr/>
          <p:nvPr>
            <p:extLst>
              <p:ext uri="{D42A27DB-BD31-4B8C-83A1-F6EECF244321}">
                <p14:modId xmlns:p14="http://schemas.microsoft.com/office/powerpoint/2010/main" val="2557563900"/>
              </p:ext>
            </p:extLst>
          </p:nvPr>
        </p:nvGraphicFramePr>
        <p:xfrm>
          <a:off x="634071" y="2996287"/>
          <a:ext cx="10946422" cy="24923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7" name="Group 6">
            <a:extLst>
              <a:ext uri="{FF2B5EF4-FFF2-40B4-BE49-F238E27FC236}">
                <a16:creationId xmlns:a16="http://schemas.microsoft.com/office/drawing/2014/main" id="{F3AB6CC6-6805-461A-E010-EE5B4826F1C1}"/>
              </a:ext>
            </a:extLst>
          </p:cNvPr>
          <p:cNvGrpSpPr/>
          <p:nvPr/>
        </p:nvGrpSpPr>
        <p:grpSpPr>
          <a:xfrm>
            <a:off x="1086673" y="1369324"/>
            <a:ext cx="1440000" cy="1440000"/>
            <a:chOff x="1077686" y="1404627"/>
            <a:chExt cx="1440000" cy="1440000"/>
          </a:xfrm>
        </p:grpSpPr>
        <p:pic>
          <p:nvPicPr>
            <p:cNvPr id="8" name="Graphic 7" descr="Business Growth with solid fill">
              <a:extLst>
                <a:ext uri="{FF2B5EF4-FFF2-40B4-BE49-F238E27FC236}">
                  <a16:creationId xmlns:a16="http://schemas.microsoft.com/office/drawing/2014/main" id="{B7347BEA-59A6-CC37-C061-4D7927AEACC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407511" y="1711836"/>
              <a:ext cx="914400" cy="914400"/>
            </a:xfrm>
            <a:prstGeom prst="rect">
              <a:avLst/>
            </a:prstGeom>
          </p:spPr>
        </p:pic>
        <p:sp>
          <p:nvSpPr>
            <p:cNvPr id="9" name="Oval 8">
              <a:extLst>
                <a:ext uri="{FF2B5EF4-FFF2-40B4-BE49-F238E27FC236}">
                  <a16:creationId xmlns:a16="http://schemas.microsoft.com/office/drawing/2014/main" id="{C5EBB102-ABDA-BD71-6C9C-1591A5EAF298}"/>
                </a:ext>
              </a:extLst>
            </p:cNvPr>
            <p:cNvSpPr/>
            <p:nvPr/>
          </p:nvSpPr>
          <p:spPr>
            <a:xfrm>
              <a:off x="1077686" y="1404627"/>
              <a:ext cx="1440000" cy="1440000"/>
            </a:xfrm>
            <a:prstGeom prst="ellipse">
              <a:avLst/>
            </a:prstGeom>
            <a:noFill/>
            <a:ln w="57150">
              <a:solidFill>
                <a:srgbClr val="4C93D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Lato" panose="020F0502020204030203" pitchFamily="34" charset="0"/>
                <a:ea typeface="Lato" panose="020F0502020204030203" pitchFamily="34" charset="0"/>
                <a:cs typeface="Lato" panose="020F0502020204030203" pitchFamily="34" charset="0"/>
              </a:endParaRPr>
            </a:p>
          </p:txBody>
        </p:sp>
      </p:grpSp>
      <p:grpSp>
        <p:nvGrpSpPr>
          <p:cNvPr id="10" name="Group 9">
            <a:extLst>
              <a:ext uri="{FF2B5EF4-FFF2-40B4-BE49-F238E27FC236}">
                <a16:creationId xmlns:a16="http://schemas.microsoft.com/office/drawing/2014/main" id="{1AAB2FA7-31F3-9BB5-F61A-B83DAD681014}"/>
              </a:ext>
            </a:extLst>
          </p:cNvPr>
          <p:cNvGrpSpPr/>
          <p:nvPr/>
        </p:nvGrpSpPr>
        <p:grpSpPr>
          <a:xfrm>
            <a:off x="3957977" y="1369324"/>
            <a:ext cx="1440000" cy="1440000"/>
            <a:chOff x="3189850" y="1404627"/>
            <a:chExt cx="1440000" cy="1440000"/>
          </a:xfrm>
        </p:grpSpPr>
        <p:pic>
          <p:nvPicPr>
            <p:cNvPr id="11" name="Graphic 10" descr="Suburban scene with solid fill">
              <a:extLst>
                <a:ext uri="{FF2B5EF4-FFF2-40B4-BE49-F238E27FC236}">
                  <a16:creationId xmlns:a16="http://schemas.microsoft.com/office/drawing/2014/main" id="{10C96274-C5A4-55D4-E5BD-0B346CC9BBD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452650" y="1667427"/>
              <a:ext cx="914400" cy="914400"/>
            </a:xfrm>
            <a:prstGeom prst="rect">
              <a:avLst/>
            </a:prstGeom>
          </p:spPr>
        </p:pic>
        <p:sp>
          <p:nvSpPr>
            <p:cNvPr id="12" name="Oval 11">
              <a:extLst>
                <a:ext uri="{FF2B5EF4-FFF2-40B4-BE49-F238E27FC236}">
                  <a16:creationId xmlns:a16="http://schemas.microsoft.com/office/drawing/2014/main" id="{1BA9B6A8-E2C9-5307-357B-386B0F9ADF8B}"/>
                </a:ext>
              </a:extLst>
            </p:cNvPr>
            <p:cNvSpPr/>
            <p:nvPr/>
          </p:nvSpPr>
          <p:spPr>
            <a:xfrm>
              <a:off x="3189850" y="1404627"/>
              <a:ext cx="1440000" cy="1440000"/>
            </a:xfrm>
            <a:prstGeom prst="ellipse">
              <a:avLst/>
            </a:prstGeom>
            <a:noFill/>
            <a:ln w="57150">
              <a:solidFill>
                <a:srgbClr val="5ED3D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Lato" panose="020F0502020204030203" pitchFamily="34" charset="0"/>
                <a:ea typeface="Lato" panose="020F0502020204030203" pitchFamily="34" charset="0"/>
                <a:cs typeface="Lato" panose="020F0502020204030203" pitchFamily="34" charset="0"/>
              </a:endParaRPr>
            </a:p>
          </p:txBody>
        </p:sp>
      </p:grpSp>
      <p:grpSp>
        <p:nvGrpSpPr>
          <p:cNvPr id="13" name="Group 12">
            <a:extLst>
              <a:ext uri="{FF2B5EF4-FFF2-40B4-BE49-F238E27FC236}">
                <a16:creationId xmlns:a16="http://schemas.microsoft.com/office/drawing/2014/main" id="{83043091-AAD9-7422-781B-F6EEB9BD5628}"/>
              </a:ext>
            </a:extLst>
          </p:cNvPr>
          <p:cNvGrpSpPr/>
          <p:nvPr/>
        </p:nvGrpSpPr>
        <p:grpSpPr>
          <a:xfrm>
            <a:off x="6767391" y="1344995"/>
            <a:ext cx="1440000" cy="1440000"/>
            <a:chOff x="5375999" y="1452098"/>
            <a:chExt cx="1440000" cy="1440000"/>
          </a:xfrm>
        </p:grpSpPr>
        <p:pic>
          <p:nvPicPr>
            <p:cNvPr id="14" name="Graphic 13" descr="Medical with solid fill">
              <a:extLst>
                <a:ext uri="{FF2B5EF4-FFF2-40B4-BE49-F238E27FC236}">
                  <a16:creationId xmlns:a16="http://schemas.microsoft.com/office/drawing/2014/main" id="{C898F094-A396-51FC-90AA-B49BA99FFAB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50082" y="1714898"/>
              <a:ext cx="914400" cy="914400"/>
            </a:xfrm>
            <a:prstGeom prst="rect">
              <a:avLst/>
            </a:prstGeom>
          </p:spPr>
        </p:pic>
        <p:sp>
          <p:nvSpPr>
            <p:cNvPr id="15" name="Oval 14">
              <a:extLst>
                <a:ext uri="{FF2B5EF4-FFF2-40B4-BE49-F238E27FC236}">
                  <a16:creationId xmlns:a16="http://schemas.microsoft.com/office/drawing/2014/main" id="{3E43B0F8-9044-9C62-F830-101A01B48F76}"/>
                </a:ext>
              </a:extLst>
            </p:cNvPr>
            <p:cNvSpPr/>
            <p:nvPr/>
          </p:nvSpPr>
          <p:spPr>
            <a:xfrm>
              <a:off x="5375999" y="1452098"/>
              <a:ext cx="1440000" cy="1440000"/>
            </a:xfrm>
            <a:prstGeom prst="ellipse">
              <a:avLst/>
            </a:prstGeom>
            <a:noFill/>
            <a:ln w="57150">
              <a:solidFill>
                <a:srgbClr val="3FC28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Lato" panose="020F0502020204030203" pitchFamily="34" charset="0"/>
                <a:ea typeface="Lato" panose="020F0502020204030203" pitchFamily="34" charset="0"/>
                <a:cs typeface="Lato" panose="020F0502020204030203" pitchFamily="34" charset="0"/>
              </a:endParaRPr>
            </a:p>
          </p:txBody>
        </p:sp>
      </p:grpSp>
      <p:grpSp>
        <p:nvGrpSpPr>
          <p:cNvPr id="16" name="Group 15">
            <a:extLst>
              <a:ext uri="{FF2B5EF4-FFF2-40B4-BE49-F238E27FC236}">
                <a16:creationId xmlns:a16="http://schemas.microsoft.com/office/drawing/2014/main" id="{13891612-0C70-D60D-B49E-4E683171E7B6}"/>
              </a:ext>
            </a:extLst>
          </p:cNvPr>
          <p:cNvGrpSpPr/>
          <p:nvPr/>
        </p:nvGrpSpPr>
        <p:grpSpPr>
          <a:xfrm>
            <a:off x="9576805" y="1369324"/>
            <a:ext cx="1440000" cy="1440000"/>
            <a:chOff x="9521872" y="1281794"/>
            <a:chExt cx="1440000" cy="1440000"/>
          </a:xfrm>
        </p:grpSpPr>
        <p:pic>
          <p:nvPicPr>
            <p:cNvPr id="17" name="Graphic 16" descr="Piggy Bank with solid fill">
              <a:extLst>
                <a:ext uri="{FF2B5EF4-FFF2-40B4-BE49-F238E27FC236}">
                  <a16:creationId xmlns:a16="http://schemas.microsoft.com/office/drawing/2014/main" id="{437E5F60-5F32-9092-3342-6D27A3717E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867021" y="1545458"/>
              <a:ext cx="914400" cy="914400"/>
            </a:xfrm>
            <a:prstGeom prst="rect">
              <a:avLst/>
            </a:prstGeom>
          </p:spPr>
        </p:pic>
        <p:sp>
          <p:nvSpPr>
            <p:cNvPr id="18" name="Oval 17">
              <a:extLst>
                <a:ext uri="{FF2B5EF4-FFF2-40B4-BE49-F238E27FC236}">
                  <a16:creationId xmlns:a16="http://schemas.microsoft.com/office/drawing/2014/main" id="{C0728387-8177-ADB8-0EC4-5F7B7F7FCE9F}"/>
                </a:ext>
              </a:extLst>
            </p:cNvPr>
            <p:cNvSpPr/>
            <p:nvPr/>
          </p:nvSpPr>
          <p:spPr>
            <a:xfrm>
              <a:off x="9521872" y="1281794"/>
              <a:ext cx="1440000" cy="1440000"/>
            </a:xfrm>
            <a:prstGeom prst="ellipse">
              <a:avLst/>
            </a:prstGeom>
            <a:noFill/>
            <a:ln w="57150">
              <a:solidFill>
                <a:srgbClr val="7AB654"/>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latin typeface="Lato" panose="020F0502020204030203" pitchFamily="34" charset="0"/>
                <a:ea typeface="Lato" panose="020F0502020204030203" pitchFamily="34" charset="0"/>
                <a:cs typeface="Lato" panose="020F0502020204030203" pitchFamily="34" charset="0"/>
              </a:endParaRPr>
            </a:p>
          </p:txBody>
        </p:sp>
      </p:grpSp>
      <p:sp>
        <p:nvSpPr>
          <p:cNvPr id="23" name="Rectangle 22">
            <a:extLst>
              <a:ext uri="{FF2B5EF4-FFF2-40B4-BE49-F238E27FC236}">
                <a16:creationId xmlns:a16="http://schemas.microsoft.com/office/drawing/2014/main" id="{C3224675-C337-025F-FFF3-BF35C594D706}"/>
              </a:ext>
            </a:extLst>
          </p:cNvPr>
          <p:cNvSpPr/>
          <p:nvPr/>
        </p:nvSpPr>
        <p:spPr>
          <a:xfrm>
            <a:off x="8885998" y="1093867"/>
            <a:ext cx="2900299" cy="465669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0749821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DCFC223-818A-D0FC-21A9-5ABF7E4E82F8}"/>
              </a:ext>
            </a:extLst>
          </p:cNvPr>
          <p:cNvSpPr>
            <a:spLocks noGrp="1"/>
          </p:cNvSpPr>
          <p:nvPr>
            <p:ph type="sldNum" sz="quarter" idx="12"/>
          </p:nvPr>
        </p:nvSpPr>
        <p:spPr/>
        <p:txBody>
          <a:bodyPr/>
          <a:lstStyle/>
          <a:p>
            <a:fld id="{36D53BC0-5915-4EE6-A8B4-385258777E7F}" type="slidenum">
              <a:rPr lang="en-PH" smtClean="0"/>
              <a:pPr/>
              <a:t>37</a:t>
            </a:fld>
            <a:endParaRPr lang="en-PH"/>
          </a:p>
        </p:txBody>
      </p:sp>
      <p:sp>
        <p:nvSpPr>
          <p:cNvPr id="5" name="Text Placeholder 4">
            <a:extLst>
              <a:ext uri="{FF2B5EF4-FFF2-40B4-BE49-F238E27FC236}">
                <a16:creationId xmlns:a16="http://schemas.microsoft.com/office/drawing/2014/main" id="{7EB7AFB7-0822-98D9-68CE-B6F2EDB2FE97}"/>
              </a:ext>
            </a:extLst>
          </p:cNvPr>
          <p:cNvSpPr txBox="1">
            <a:spLocks/>
          </p:cNvSpPr>
          <p:nvPr/>
        </p:nvSpPr>
        <p:spPr>
          <a:xfrm>
            <a:off x="107576" y="1861234"/>
            <a:ext cx="7445375" cy="162604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Font typeface="Arial" panose="020B0604020202020204" pitchFamily="34" charset="0"/>
              <a:buNone/>
            </a:pPr>
            <a:r>
              <a:rPr lang="en-US" sz="1600">
                <a:solidFill>
                  <a:srgbClr val="1F4766"/>
                </a:solidFill>
              </a:rPr>
              <a:t>A savings product aiming to help clients to develop the habit of savings with the intent of generating equity for their entrepreneurial endeavors and establish reserves for their bridge financing needs. This is a mandatory savings that can also help establish credit-worthiness of the client. ​</a:t>
            </a:r>
            <a:endParaRPr lang="en-PH" sz="1600">
              <a:solidFill>
                <a:srgbClr val="1F4766"/>
              </a:solidFill>
            </a:endParaRPr>
          </a:p>
        </p:txBody>
      </p:sp>
      <p:sp>
        <p:nvSpPr>
          <p:cNvPr id="7" name="TextBox 6">
            <a:extLst>
              <a:ext uri="{FF2B5EF4-FFF2-40B4-BE49-F238E27FC236}">
                <a16:creationId xmlns:a16="http://schemas.microsoft.com/office/drawing/2014/main" id="{B0595BD6-1C49-5CAA-4B29-CFB2E63DAAD7}"/>
              </a:ext>
            </a:extLst>
          </p:cNvPr>
          <p:cNvSpPr txBox="1"/>
          <p:nvPr/>
        </p:nvSpPr>
        <p:spPr>
          <a:xfrm>
            <a:off x="107576" y="3683056"/>
            <a:ext cx="7445374" cy="1521057"/>
          </a:xfrm>
          <a:prstGeom prst="rect">
            <a:avLst/>
          </a:prstGeom>
          <a:noFill/>
        </p:spPr>
        <p:txBody>
          <a:bodyPr wrap="square">
            <a:spAutoFit/>
          </a:bodyPr>
          <a:lstStyle/>
          <a:p>
            <a:pPr marL="0" indent="0">
              <a:lnSpc>
                <a:spcPct val="150000"/>
              </a:lnSpc>
              <a:spcBef>
                <a:spcPts val="0"/>
              </a:spcBef>
              <a:buNone/>
              <a:defRPr/>
            </a:pPr>
            <a:r>
              <a:rPr lang="en-PH" sz="1600" b="1">
                <a:solidFill>
                  <a:srgbClr val="1F4766"/>
                </a:solidFill>
                <a:effectLst/>
                <a:latin typeface="Lato" panose="020F0502020204030203" pitchFamily="34" charset="0"/>
                <a:ea typeface="Lato" panose="020F0502020204030203" pitchFamily="34" charset="0"/>
                <a:cs typeface="Lato" panose="020F0502020204030203" pitchFamily="34" charset="0"/>
              </a:rPr>
              <a:t>Unique Selling Proposition</a:t>
            </a:r>
          </a:p>
          <a:p>
            <a:pPr marL="285750" indent="-285750" algn="just" rtl="0" fontAlgn="base">
              <a:lnSpc>
                <a:spcPct val="150000"/>
              </a:lnSpc>
              <a:buFont typeface="Arial" panose="020B0604020202020204" pitchFamily="34" charset="0"/>
              <a:buChar char="•"/>
            </a:pPr>
            <a:r>
              <a:rPr lang="en-US" sz="1600" u="none" strike="noStrike">
                <a:solidFill>
                  <a:srgbClr val="1F4766"/>
                </a:solidFill>
                <a:effectLst/>
                <a:latin typeface="Lato" panose="020F0502020204030203" pitchFamily="34" charset="0"/>
                <a:ea typeface="Lato" panose="020F0502020204030203" pitchFamily="34" charset="0"/>
                <a:cs typeface="Lato" panose="020F0502020204030203" pitchFamily="34" charset="0"/>
              </a:rPr>
              <a:t>Helps develop the culture of savings</a:t>
            </a:r>
          </a:p>
          <a:p>
            <a:pPr marL="285750" indent="-285750" algn="just" rtl="0" fontAlgn="base">
              <a:lnSpc>
                <a:spcPct val="150000"/>
              </a:lnSpc>
              <a:buFont typeface="Arial" panose="020B0604020202020204" pitchFamily="34" charset="0"/>
              <a:buChar char="•"/>
            </a:pPr>
            <a:r>
              <a:rPr lang="en-US" sz="1600" u="none" strike="noStrike">
                <a:solidFill>
                  <a:srgbClr val="1F4766"/>
                </a:solidFill>
                <a:effectLst/>
                <a:latin typeface="Lato" panose="020F0502020204030203" pitchFamily="34" charset="0"/>
                <a:ea typeface="Lato" panose="020F0502020204030203" pitchFamily="34" charset="0"/>
                <a:cs typeface="Lato" panose="020F0502020204030203" pitchFamily="34" charset="0"/>
              </a:rPr>
              <a:t>May help clients weather credit shocks</a:t>
            </a:r>
          </a:p>
          <a:p>
            <a:pPr marL="285750" indent="-285750" algn="just" rtl="0" fontAlgn="base">
              <a:lnSpc>
                <a:spcPct val="150000"/>
              </a:lnSpc>
              <a:buFont typeface="Arial" panose="020B0604020202020204" pitchFamily="34" charset="0"/>
              <a:buChar char="•"/>
            </a:pPr>
            <a:r>
              <a:rPr lang="en-US" sz="1600" u="none" strike="noStrike">
                <a:solidFill>
                  <a:srgbClr val="1F4766"/>
                </a:solidFill>
                <a:effectLst/>
                <a:latin typeface="Lato" panose="020F0502020204030203" pitchFamily="34" charset="0"/>
                <a:ea typeface="Lato" panose="020F0502020204030203" pitchFamily="34" charset="0"/>
                <a:cs typeface="Lato" panose="020F0502020204030203" pitchFamily="34" charset="0"/>
              </a:rPr>
              <a:t>May help clients avail of other ancillary products that RAFI MFI can offer</a:t>
            </a:r>
          </a:p>
        </p:txBody>
      </p:sp>
      <p:sp>
        <p:nvSpPr>
          <p:cNvPr id="8" name="Arrow: Right 7">
            <a:extLst>
              <a:ext uri="{FF2B5EF4-FFF2-40B4-BE49-F238E27FC236}">
                <a16:creationId xmlns:a16="http://schemas.microsoft.com/office/drawing/2014/main" id="{15EA169B-315B-600A-9A70-17F34EFE249E}"/>
              </a:ext>
            </a:extLst>
          </p:cNvPr>
          <p:cNvSpPr/>
          <p:nvPr/>
        </p:nvSpPr>
        <p:spPr>
          <a:xfrm>
            <a:off x="107576" y="267734"/>
            <a:ext cx="7304314" cy="1626041"/>
          </a:xfrm>
          <a:prstGeom prst="rightArrow">
            <a:avLst/>
          </a:prstGeom>
          <a:solidFill>
            <a:srgbClr val="FFD92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2800" b="1">
                <a:solidFill>
                  <a:srgbClr val="1F4766"/>
                </a:solidFill>
                <a:latin typeface="Lato" panose="020F0502020204030203" pitchFamily="34" charset="0"/>
                <a:ea typeface="Lato" panose="020F0502020204030203" pitchFamily="34" charset="0"/>
                <a:cs typeface="Lato" panose="020F0502020204030203" pitchFamily="34" charset="0"/>
              </a:rPr>
              <a:t>        </a:t>
            </a:r>
            <a:r>
              <a:rPr lang="en-PH" sz="2800" b="1" i="1">
                <a:solidFill>
                  <a:srgbClr val="1F4766"/>
                </a:solidFill>
                <a:latin typeface="Lato" panose="020F0502020204030203" pitchFamily="34" charset="0"/>
                <a:ea typeface="Lato" panose="020F0502020204030203" pitchFamily="34" charset="0"/>
                <a:cs typeface="Lato" panose="020F0502020204030203" pitchFamily="34" charset="0"/>
              </a:rPr>
              <a:t>Capital Build-Up (CBU)</a:t>
            </a:r>
          </a:p>
        </p:txBody>
      </p:sp>
      <p:pic>
        <p:nvPicPr>
          <p:cNvPr id="9" name="Picture 8">
            <a:extLst>
              <a:ext uri="{FF2B5EF4-FFF2-40B4-BE49-F238E27FC236}">
                <a16:creationId xmlns:a16="http://schemas.microsoft.com/office/drawing/2014/main" id="{8C036480-8B39-9CB0-B9D1-B5EB0C2D6633}"/>
              </a:ext>
            </a:extLst>
          </p:cNvPr>
          <p:cNvPicPr>
            <a:picLocks noChangeAspect="1"/>
          </p:cNvPicPr>
          <p:nvPr/>
        </p:nvPicPr>
        <p:blipFill>
          <a:blip r:embed="rId2"/>
          <a:stretch>
            <a:fillRect/>
          </a:stretch>
        </p:blipFill>
        <p:spPr>
          <a:xfrm>
            <a:off x="356545" y="726252"/>
            <a:ext cx="1257599" cy="709004"/>
          </a:xfrm>
          <a:prstGeom prst="rect">
            <a:avLst/>
          </a:prstGeom>
          <a:effectLst/>
        </p:spPr>
      </p:pic>
      <p:pic>
        <p:nvPicPr>
          <p:cNvPr id="10" name="Picture 2">
            <a:extLst>
              <a:ext uri="{FF2B5EF4-FFF2-40B4-BE49-F238E27FC236}">
                <a16:creationId xmlns:a16="http://schemas.microsoft.com/office/drawing/2014/main" id="{EF3C7D24-DF23-E250-82C2-0B6354C598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2000" y="267734"/>
            <a:ext cx="3844991" cy="5747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14704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21EBDA1-149F-6406-E751-053480EAECA1}"/>
              </a:ext>
            </a:extLst>
          </p:cNvPr>
          <p:cNvSpPr>
            <a:spLocks noGrp="1"/>
          </p:cNvSpPr>
          <p:nvPr>
            <p:ph type="sldNum" sz="quarter" idx="12"/>
          </p:nvPr>
        </p:nvSpPr>
        <p:spPr/>
        <p:txBody>
          <a:bodyPr/>
          <a:lstStyle/>
          <a:p>
            <a:fld id="{36D53BC0-5915-4EE6-A8B4-385258777E7F}" type="slidenum">
              <a:rPr lang="en-PH" smtClean="0"/>
              <a:pPr/>
              <a:t>38</a:t>
            </a:fld>
            <a:endParaRPr lang="en-PH"/>
          </a:p>
        </p:txBody>
      </p:sp>
      <p:sp>
        <p:nvSpPr>
          <p:cNvPr id="5" name="Title 1">
            <a:extLst>
              <a:ext uri="{FF2B5EF4-FFF2-40B4-BE49-F238E27FC236}">
                <a16:creationId xmlns:a16="http://schemas.microsoft.com/office/drawing/2014/main" id="{29D89A6E-797B-829D-188C-E4632883808D}"/>
              </a:ext>
            </a:extLst>
          </p:cNvPr>
          <p:cNvSpPr>
            <a:spLocks noGrp="1"/>
          </p:cNvSpPr>
          <p:nvPr>
            <p:ph type="title"/>
          </p:nvPr>
        </p:nvSpPr>
        <p:spPr>
          <a:xfrm>
            <a:off x="251005" y="423541"/>
            <a:ext cx="3376864" cy="633839"/>
          </a:xfrm>
        </p:spPr>
        <p:txBody>
          <a:bodyPr/>
          <a:lstStyle/>
          <a:p>
            <a:r>
              <a:rPr lang="en-US" sz="3200" b="1">
                <a:highlight>
                  <a:srgbClr val="FFFF00"/>
                </a:highlight>
                <a:ea typeface="Lato" panose="020F0502020204030203" pitchFamily="34" charset="0"/>
                <a:cs typeface="Lato" panose="020F0502020204030203" pitchFamily="34" charset="0"/>
              </a:rPr>
              <a:t>Product Features</a:t>
            </a:r>
          </a:p>
        </p:txBody>
      </p:sp>
      <p:pic>
        <p:nvPicPr>
          <p:cNvPr id="7" name="Picture 6">
            <a:extLst>
              <a:ext uri="{FF2B5EF4-FFF2-40B4-BE49-F238E27FC236}">
                <a16:creationId xmlns:a16="http://schemas.microsoft.com/office/drawing/2014/main" id="{040E6579-7E40-F139-7189-7D862EE60D39}"/>
              </a:ext>
            </a:extLst>
          </p:cNvPr>
          <p:cNvPicPr>
            <a:picLocks noChangeAspect="1"/>
          </p:cNvPicPr>
          <p:nvPr/>
        </p:nvPicPr>
        <p:blipFill>
          <a:blip r:embed="rId2"/>
          <a:stretch>
            <a:fillRect/>
          </a:stretch>
        </p:blipFill>
        <p:spPr>
          <a:xfrm>
            <a:off x="3491214" y="329544"/>
            <a:ext cx="573074" cy="566977"/>
          </a:xfrm>
          <a:prstGeom prst="rect">
            <a:avLst/>
          </a:prstGeom>
        </p:spPr>
      </p:pic>
      <p:graphicFrame>
        <p:nvGraphicFramePr>
          <p:cNvPr id="8" name="Table 27">
            <a:extLst>
              <a:ext uri="{FF2B5EF4-FFF2-40B4-BE49-F238E27FC236}">
                <a16:creationId xmlns:a16="http://schemas.microsoft.com/office/drawing/2014/main" id="{CACE9BE0-404F-04AE-8D79-6AA7CB66AB52}"/>
              </a:ext>
            </a:extLst>
          </p:cNvPr>
          <p:cNvGraphicFramePr>
            <a:graphicFrameLocks noGrp="1"/>
          </p:cNvGraphicFramePr>
          <p:nvPr>
            <p:extLst>
              <p:ext uri="{D42A27DB-BD31-4B8C-83A1-F6EECF244321}">
                <p14:modId xmlns:p14="http://schemas.microsoft.com/office/powerpoint/2010/main" val="2603745912"/>
              </p:ext>
            </p:extLst>
          </p:nvPr>
        </p:nvGraphicFramePr>
        <p:xfrm>
          <a:off x="7105523" y="159501"/>
          <a:ext cx="5202224" cy="6561974"/>
        </p:xfrm>
        <a:graphic>
          <a:graphicData uri="http://schemas.openxmlformats.org/drawingml/2006/table">
            <a:tbl>
              <a:tblPr firstRow="1" bandRow="1">
                <a:tableStyleId>{2D5ABB26-0587-4C30-8999-92F81FD0307C}</a:tableStyleId>
              </a:tblPr>
              <a:tblGrid>
                <a:gridCol w="820278">
                  <a:extLst>
                    <a:ext uri="{9D8B030D-6E8A-4147-A177-3AD203B41FA5}">
                      <a16:colId xmlns:a16="http://schemas.microsoft.com/office/drawing/2014/main" val="1622108729"/>
                    </a:ext>
                  </a:extLst>
                </a:gridCol>
                <a:gridCol w="4381946">
                  <a:extLst>
                    <a:ext uri="{9D8B030D-6E8A-4147-A177-3AD203B41FA5}">
                      <a16:colId xmlns:a16="http://schemas.microsoft.com/office/drawing/2014/main" val="1450379266"/>
                    </a:ext>
                  </a:extLst>
                </a:gridCol>
              </a:tblGrid>
              <a:tr h="352103">
                <a:tc>
                  <a:txBody>
                    <a:bodyPr/>
                    <a:lstStyle/>
                    <a:p>
                      <a:endParaRPr lang="en-PH" sz="16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rtl="0" fontAlgn="base">
                        <a:buFont typeface="Wingdings" panose="05000000000000000000" pitchFamily="2" charset="2"/>
                        <a:buNone/>
                      </a:pPr>
                      <a:r>
                        <a:rPr lang="en-US" sz="1600" b="1" i="0" kern="1200">
                          <a:solidFill>
                            <a:srgbClr val="1F4766"/>
                          </a:solidFill>
                          <a:effectLst/>
                          <a:latin typeface="Lato"/>
                          <a:ea typeface="Lato"/>
                          <a:cs typeface="Lato"/>
                        </a:rPr>
                        <a:t>Interest on Savings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21194152"/>
                  </a:ext>
                </a:extLst>
              </a:tr>
              <a:tr h="687337">
                <a:tc>
                  <a:txBody>
                    <a:bodyPr/>
                    <a:lstStyle/>
                    <a:p>
                      <a:endParaRPr lang="en-PH" sz="16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rtl="0" fontAlgn="base">
                        <a:buFont typeface="Wingdings" panose="05000000000000000000" pitchFamily="2" charset="2"/>
                        <a:buChar char="ü"/>
                      </a:pPr>
                      <a:r>
                        <a:rPr lang="en-US" sz="1400" b="0" i="0" kern="1200">
                          <a:solidFill>
                            <a:schemeClr val="tx1"/>
                          </a:solidFill>
                          <a:effectLst/>
                          <a:latin typeface="Lato"/>
                          <a:ea typeface="Lato"/>
                          <a:cs typeface="Lato"/>
                        </a:rPr>
                        <a:t>0% (CBU-W) MICRO</a:t>
                      </a:r>
                    </a:p>
                    <a:p>
                      <a:pPr marL="171450" indent="-171450" rtl="0" fontAlgn="base">
                        <a:buFont typeface="Wingdings" panose="05000000000000000000" pitchFamily="2" charset="2"/>
                        <a:buChar char="ü"/>
                      </a:pPr>
                      <a:r>
                        <a:rPr lang="en-US" sz="1400" b="0" i="0" kern="1200">
                          <a:solidFill>
                            <a:schemeClr val="tx1"/>
                          </a:solidFill>
                          <a:effectLst/>
                          <a:latin typeface="Lato"/>
                          <a:ea typeface="Lato"/>
                          <a:cs typeface="Lato"/>
                        </a:rPr>
                        <a:t>4% per annum (CBU-Bi-M, CBU-M)MPLUS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52534781"/>
                  </a:ext>
                </a:extLst>
              </a:tr>
              <a:tr h="352103">
                <a:tc>
                  <a:txBody>
                    <a:bodyPr/>
                    <a:lstStyle/>
                    <a:p>
                      <a:endParaRPr lang="en-PH" sz="16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rtl="0" fontAlgn="base">
                        <a:buFont typeface="Wingdings" panose="05000000000000000000" pitchFamily="2" charset="2"/>
                        <a:buNone/>
                      </a:pPr>
                      <a:r>
                        <a:rPr lang="en-US" sz="1600" b="1" i="0" kern="1200">
                          <a:solidFill>
                            <a:srgbClr val="1F4766"/>
                          </a:solidFill>
                          <a:effectLst/>
                          <a:latin typeface="Lato"/>
                          <a:ea typeface="Lato"/>
                          <a:cs typeface="Lato"/>
                        </a:rPr>
                        <a:t>Documentary Requirements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93973218"/>
                  </a:ext>
                </a:extLst>
              </a:tr>
              <a:tr h="1664487">
                <a:tc>
                  <a:txBody>
                    <a:bodyPr/>
                    <a:lstStyle/>
                    <a:p>
                      <a:endParaRPr lang="en-PH" sz="16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en-US" sz="1400" b="0" u="none" strike="noStrike" kern="1200" cap="none" spc="0" normalizeH="0" baseline="0" noProof="0">
                          <a:ln>
                            <a:noFill/>
                          </a:ln>
                          <a:solidFill>
                            <a:schemeClr val="tx1"/>
                          </a:solidFill>
                          <a:effectLst/>
                          <a:uLnTx/>
                          <a:uFillTx/>
                          <a:latin typeface="Lato"/>
                          <a:ea typeface="Lato"/>
                          <a:cs typeface="Lato"/>
                        </a:rPr>
                        <a:t>Upon Application:</a:t>
                      </a:r>
                    </a:p>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400" b="0" u="none" strike="noStrike" kern="1200" cap="none" spc="0" normalizeH="0" baseline="0" noProof="0" dirty="0">
                          <a:ln>
                            <a:noFill/>
                          </a:ln>
                          <a:solidFill>
                            <a:schemeClr val="tx1"/>
                          </a:solidFill>
                          <a:effectLst/>
                          <a:uLnTx/>
                          <a:uFillTx/>
                          <a:latin typeface="Lato"/>
                          <a:ea typeface="Lato"/>
                          <a:cs typeface="Lato"/>
                        </a:rPr>
                        <a:t>Loan Application </a:t>
                      </a:r>
                      <a:r>
                        <a:rPr lang="en-US" sz="1400" b="0" u="none" strike="noStrike" kern="1200" cap="none" spc="0" normalizeH="0" baseline="0" noProof="0" dirty="0" err="1">
                          <a:ln>
                            <a:noFill/>
                          </a:ln>
                          <a:solidFill>
                            <a:schemeClr val="tx1"/>
                          </a:solidFill>
                          <a:effectLst/>
                          <a:uLnTx/>
                          <a:uFillTx/>
                          <a:latin typeface="Lato"/>
                          <a:ea typeface="Lato"/>
                          <a:cs typeface="Lato"/>
                        </a:rPr>
                        <a:t>onli</a:t>
                      </a:r>
                      <a:r>
                        <a:rPr lang="en-US" sz="1400" b="0" u="none" strike="noStrike" kern="1200" cap="none" spc="0" normalizeH="0" baseline="0" noProof="0" dirty="0">
                          <a:ln>
                            <a:noFill/>
                          </a:ln>
                          <a:solidFill>
                            <a:schemeClr val="tx1"/>
                          </a:solidFill>
                          <a:effectLst/>
                          <a:uLnTx/>
                          <a:uFillTx/>
                          <a:latin typeface="Lato"/>
                          <a:ea typeface="Lato"/>
                          <a:cs typeface="Lato"/>
                        </a:rPr>
                        <a:t>ne</a:t>
                      </a:r>
                      <a:endParaRPr kumimoji="0" lang="en-US" sz="1400" b="0" u="none" strike="noStrike" kern="1200" cap="none" spc="0" normalizeH="0" baseline="0" noProof="0" dirty="0">
                        <a:ln>
                          <a:noFill/>
                        </a:ln>
                        <a:solidFill>
                          <a:schemeClr val="tx1"/>
                        </a:solidFill>
                        <a:effectLst/>
                        <a:uLnTx/>
                        <a:uFillTx/>
                        <a:latin typeface="Lato"/>
                        <a:ea typeface="Lato"/>
                        <a:cs typeface="Lato"/>
                      </a:endParaRPr>
                    </a:p>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400" b="0" u="none" strike="noStrike" kern="1200" cap="none" spc="0" normalizeH="0" baseline="0" noProof="0">
                          <a:ln>
                            <a:noFill/>
                          </a:ln>
                          <a:solidFill>
                            <a:schemeClr val="tx1"/>
                          </a:solidFill>
                          <a:effectLst/>
                          <a:uLnTx/>
                          <a:uFillTx/>
                          <a:latin typeface="Lato"/>
                          <a:ea typeface="Lato"/>
                          <a:cs typeface="Lato"/>
                        </a:rPr>
                        <a:t>Promissory Note</a:t>
                      </a:r>
                    </a:p>
                    <a:p>
                      <a:pPr marL="457200" marR="0" lvl="0" indent="-457200" algn="l" rtl="0" eaLnBrk="1" fontAlgn="auto" latinLnBrk="0" hangingPunct="1">
                        <a:lnSpc>
                          <a:spcPct val="100000"/>
                        </a:lnSpc>
                        <a:spcBef>
                          <a:spcPts val="0"/>
                        </a:spcBef>
                        <a:spcAft>
                          <a:spcPts val="0"/>
                        </a:spcAft>
                        <a:buClrTx/>
                        <a:buSzTx/>
                        <a:buFont typeface="Wingdings" panose="05000000000000000000" pitchFamily="2" charset="2"/>
                        <a:buChar char="ü"/>
                      </a:pPr>
                      <a:r>
                        <a:rPr lang="en-US" sz="1400" b="0" u="none" strike="noStrike" kern="1200" cap="none" spc="0" normalizeH="0" baseline="0" noProof="0">
                          <a:ln>
                            <a:noFill/>
                          </a:ln>
                          <a:solidFill>
                            <a:schemeClr val="tx1"/>
                          </a:solidFill>
                          <a:effectLst/>
                          <a:uLnTx/>
                          <a:uFillTx/>
                          <a:latin typeface="Lato"/>
                          <a:ea typeface="Lato"/>
                          <a:cs typeface="Lato"/>
                        </a:rPr>
                        <a:t>Client's ID</a:t>
                      </a:r>
                      <a:endParaRPr kumimoji="0" lang="en-US" sz="1400" b="0" u="none" strike="noStrike" kern="1200" cap="none" spc="0" normalizeH="0" baseline="0" noProof="0">
                        <a:ln>
                          <a:noFill/>
                        </a:ln>
                        <a:solidFill>
                          <a:schemeClr val="tx1"/>
                        </a:solidFill>
                        <a:effectLst/>
                        <a:uLnTx/>
                        <a:uFillTx/>
                        <a:latin typeface="Lato"/>
                        <a:ea typeface="Lato"/>
                        <a:cs typeface="Lato"/>
                      </a:endParaRPr>
                    </a:p>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400" b="0" u="none" strike="noStrike" kern="1200" cap="none" spc="0" normalizeH="0" baseline="0" noProof="0">
                          <a:ln>
                            <a:noFill/>
                          </a:ln>
                          <a:solidFill>
                            <a:schemeClr val="tx1"/>
                          </a:solidFill>
                          <a:effectLst/>
                          <a:uLnTx/>
                          <a:uFillTx/>
                          <a:latin typeface="Lato"/>
                          <a:ea typeface="Lato"/>
                          <a:cs typeface="Lato"/>
                        </a:rPr>
                        <a:t>Disclosure Statement and Amortization Schedule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57620124"/>
                  </a:ext>
                </a:extLst>
              </a:tr>
              <a:tr h="352103">
                <a:tc>
                  <a:txBody>
                    <a:bodyPr/>
                    <a:lstStyle/>
                    <a:p>
                      <a:endParaRPr lang="en-PH" sz="16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rtl="0" fontAlgn="base">
                        <a:buFont typeface="Wingdings" panose="05000000000000000000" pitchFamily="2" charset="2"/>
                        <a:buNone/>
                      </a:pPr>
                      <a:r>
                        <a:rPr lang="en-US" sz="1600" b="1" i="0" kern="1200" err="1">
                          <a:solidFill>
                            <a:srgbClr val="1F4766"/>
                          </a:solidFill>
                          <a:effectLst/>
                          <a:latin typeface="Lato"/>
                          <a:ea typeface="Lato"/>
                          <a:cs typeface="Lato"/>
                        </a:rPr>
                        <a:t>Resters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8166798"/>
                  </a:ext>
                </a:extLst>
              </a:tr>
              <a:tr h="524954">
                <a:tc>
                  <a:txBody>
                    <a:bodyPr/>
                    <a:lstStyle/>
                    <a:p>
                      <a:endParaRPr lang="en-PH" sz="16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rtl="0" fontAlgn="base">
                        <a:buFont typeface="Wingdings" panose="05000000000000000000" pitchFamily="2" charset="2"/>
                        <a:buChar char="ü"/>
                      </a:pPr>
                      <a:r>
                        <a:rPr lang="en-US" sz="1400" b="0" i="0" u="none" kern="1200">
                          <a:solidFill>
                            <a:schemeClr val="tx1"/>
                          </a:solidFill>
                          <a:effectLst/>
                          <a:latin typeface="Lato"/>
                          <a:ea typeface="Lato"/>
                          <a:cs typeface="Lato"/>
                        </a:rPr>
                        <a:t>3 months</a:t>
                      </a:r>
                      <a:endParaRPr lang="en-US" sz="1600" b="0" i="1" kern="1200">
                        <a:solidFill>
                          <a:schemeClr val="tx1"/>
                        </a:solidFill>
                        <a:effectLst/>
                        <a:highlight>
                          <a:srgbClr val="FFFF00"/>
                        </a:highlight>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26981435"/>
                  </a:ext>
                </a:extLst>
              </a:tr>
              <a:tr h="352103">
                <a:tc>
                  <a:txBody>
                    <a:bodyPr/>
                    <a:lstStyle/>
                    <a:p>
                      <a:endParaRPr lang="en-PH" sz="16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ts val="0"/>
                        </a:spcBef>
                        <a:spcAft>
                          <a:spcPts val="0"/>
                        </a:spcAft>
                        <a:buClrTx/>
                        <a:buSzTx/>
                        <a:buFont typeface="Wingdings" panose="05000000000000000000" pitchFamily="2" charset="2"/>
                        <a:buNone/>
                        <a:tabLst/>
                        <a:defRPr/>
                      </a:pPr>
                      <a:r>
                        <a:rPr lang="en-US" sz="1600" b="1">
                          <a:solidFill>
                            <a:schemeClr val="tx2"/>
                          </a:solidFill>
                          <a:latin typeface="Lato"/>
                          <a:ea typeface="Lato"/>
                          <a:cs typeface="Lato"/>
                        </a:rPr>
                        <a:t>Maintaining Balance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17493245"/>
                  </a:ext>
                </a:extLst>
              </a:tr>
              <a:tr h="406813">
                <a:tc>
                  <a:txBody>
                    <a:bodyPr/>
                    <a:lstStyle/>
                    <a:p>
                      <a:endParaRPr lang="en-PH" sz="16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defTabSz="91440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lang="en-US" sz="1400" dirty="0" err="1">
                          <a:latin typeface="Lato"/>
                          <a:ea typeface="Lato"/>
                          <a:cs typeface="Lato"/>
                        </a:rPr>
                        <a:t>Php</a:t>
                      </a:r>
                      <a:r>
                        <a:rPr lang="en-US" sz="1400" dirty="0">
                          <a:latin typeface="Lato"/>
                          <a:ea typeface="Lato"/>
                          <a:cs typeface="Lato"/>
                        </a:rPr>
                        <a:t> 100 </a:t>
                      </a:r>
                      <a:endParaRPr lang="en-US" sz="1400" dirty="0">
                        <a:solidFill>
                          <a:srgbClr val="000000"/>
                        </a:solidFill>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16909859"/>
                  </a:ext>
                </a:extLst>
              </a:tr>
              <a:tr h="352103">
                <a:tc>
                  <a:txBody>
                    <a:bodyPr/>
                    <a:lstStyle/>
                    <a:p>
                      <a:endParaRPr lang="en-PH" sz="16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ts val="0"/>
                        </a:spcBef>
                        <a:spcAft>
                          <a:spcPts val="0"/>
                        </a:spcAft>
                        <a:buClrTx/>
                        <a:buSzTx/>
                        <a:buFont typeface="Wingdings" panose="05000000000000000000" pitchFamily="2" charset="2"/>
                        <a:buNone/>
                        <a:tabLst/>
                        <a:defRPr/>
                      </a:pPr>
                      <a:r>
                        <a:rPr lang="en-US" sz="1600" b="1">
                          <a:solidFill>
                            <a:schemeClr val="tx2"/>
                          </a:solidFill>
                          <a:latin typeface="Lato"/>
                          <a:ea typeface="Lato"/>
                          <a:cs typeface="Lato"/>
                        </a:rPr>
                        <a:t>Maintenance Fee</a:t>
                      </a:r>
                      <a:endParaRPr lang="en-US" sz="1600">
                        <a:solidFill>
                          <a:schemeClr val="tx2"/>
                        </a:solidFill>
                        <a:latin typeface="Lato"/>
                        <a:ea typeface="Lato"/>
                        <a:cs typeface="Lato"/>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66183382"/>
                  </a:ext>
                </a:extLst>
              </a:tr>
              <a:tr h="1517868">
                <a:tc>
                  <a:txBody>
                    <a:bodyPr/>
                    <a:lstStyle/>
                    <a:p>
                      <a:endParaRPr lang="en-PH" sz="16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buFont typeface="Wingdings"/>
                        <a:buChar char="ü"/>
                      </a:pPr>
                      <a:r>
                        <a:rPr lang="en-US" sz="1400">
                          <a:latin typeface="Lato"/>
                          <a:ea typeface="Lato"/>
                          <a:cs typeface="Lato"/>
                        </a:rPr>
                        <a:t>P10 per month deducted after a 3-month period of inactivity for CBU balances below P100</a:t>
                      </a:r>
                    </a:p>
                    <a:p>
                      <a:pPr marL="285750" indent="-285750">
                        <a:buFont typeface="Wingdings"/>
                        <a:buChar char="ü"/>
                      </a:pPr>
                      <a:r>
                        <a:rPr lang="en-US" sz="1400">
                          <a:solidFill>
                            <a:srgbClr val="000000"/>
                          </a:solidFill>
                          <a:latin typeface="Lato"/>
                          <a:ea typeface="Lato"/>
                          <a:cs typeface="Lato"/>
                        </a:rPr>
                        <a:t>P50 per month deducted after 360 days of inactivity for CBU balances ≥ P100</a:t>
                      </a:r>
                    </a:p>
                    <a:p>
                      <a:pPr marL="171450" indent="-171450" rtl="0" fontAlgn="base">
                        <a:buFont typeface="Wingdings" panose="05000000000000000000" pitchFamily="2" charset="2"/>
                        <a:buChar char="ü"/>
                      </a:pPr>
                      <a:endParaRPr lang="en-US" sz="1600" b="0" i="1" kern="1200">
                        <a:solidFill>
                          <a:schemeClr val="tx1"/>
                        </a:solidFill>
                        <a:effectLst/>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55728321"/>
                  </a:ext>
                </a:extLst>
              </a:tr>
            </a:tbl>
          </a:graphicData>
        </a:graphic>
      </p:graphicFrame>
      <p:sp>
        <p:nvSpPr>
          <p:cNvPr id="9" name="Google Shape;8795;p119">
            <a:extLst>
              <a:ext uri="{FF2B5EF4-FFF2-40B4-BE49-F238E27FC236}">
                <a16:creationId xmlns:a16="http://schemas.microsoft.com/office/drawing/2014/main" id="{9E73096F-45C0-52A8-374D-CEEB55B03B84}"/>
              </a:ext>
            </a:extLst>
          </p:cNvPr>
          <p:cNvSpPr/>
          <p:nvPr/>
        </p:nvSpPr>
        <p:spPr>
          <a:xfrm rot="5400000" flipH="1">
            <a:off x="-321555" y="1707415"/>
            <a:ext cx="3977913" cy="3184136"/>
          </a:xfrm>
          <a:custGeom>
            <a:avLst/>
            <a:gdLst/>
            <a:ahLst/>
            <a:cxnLst/>
            <a:rect l="l" t="t" r="r" b="b"/>
            <a:pathLst>
              <a:path w="1458" h="1328" extrusionOk="0">
                <a:moveTo>
                  <a:pt x="1047" y="1"/>
                </a:moveTo>
                <a:lnTo>
                  <a:pt x="1047" y="188"/>
                </a:lnTo>
                <a:cubicBezTo>
                  <a:pt x="484" y="289"/>
                  <a:pt x="51" y="758"/>
                  <a:pt x="1" y="1328"/>
                </a:cubicBezTo>
                <a:lnTo>
                  <a:pt x="477" y="1328"/>
                </a:lnTo>
                <a:cubicBezTo>
                  <a:pt x="527" y="1018"/>
                  <a:pt x="751" y="765"/>
                  <a:pt x="1047" y="679"/>
                </a:cubicBezTo>
                <a:lnTo>
                  <a:pt x="1047" y="845"/>
                </a:lnTo>
                <a:lnTo>
                  <a:pt x="1458" y="433"/>
                </a:lnTo>
                <a:lnTo>
                  <a:pt x="1047" y="1"/>
                </a:lnTo>
                <a:close/>
              </a:path>
            </a:pathLst>
          </a:custGeom>
          <a:noFill/>
          <a:ln w="38100" cap="flat" cmpd="sng">
            <a:solidFill>
              <a:srgbClr val="FFC000"/>
            </a:solidFill>
            <a:prstDash val="solid"/>
            <a:round/>
            <a:headEnd type="none" w="sm" len="sm"/>
            <a:tailEnd type="none" w="sm" len="sm"/>
          </a:ln>
          <a:effectLst>
            <a:glow rad="139700">
              <a:schemeClr val="accent4">
                <a:satMod val="175000"/>
                <a:alpha val="40000"/>
              </a:schemeClr>
            </a:glow>
          </a:effectLst>
        </p:spPr>
        <p:txBody>
          <a:bodyPr spcFirstLastPara="1" wrap="square" lIns="91425" tIns="91425" rIns="91425" bIns="91425" anchor="ctr" anchorCtr="0">
            <a:noAutofit/>
          </a:bodyPr>
          <a:lstStyle/>
          <a:p>
            <a:pPr marL="0" lvl="0" indent="0" algn="l" rtl="0">
              <a:spcBef>
                <a:spcPts val="0"/>
              </a:spcBef>
              <a:spcAft>
                <a:spcPts val="0"/>
              </a:spcAft>
              <a:buNone/>
            </a:pPr>
            <a:endParaRPr lang="en-PH">
              <a:latin typeface="Lato" panose="020F0502020204030203" pitchFamily="34" charset="0"/>
              <a:ea typeface="Lato" panose="020F0502020204030203" pitchFamily="34" charset="0"/>
              <a:cs typeface="Lato" panose="020F0502020204030203" pitchFamily="34" charset="0"/>
            </a:endParaRPr>
          </a:p>
        </p:txBody>
      </p:sp>
      <p:pic>
        <p:nvPicPr>
          <p:cNvPr id="10" name="Picture 9">
            <a:extLst>
              <a:ext uri="{FF2B5EF4-FFF2-40B4-BE49-F238E27FC236}">
                <a16:creationId xmlns:a16="http://schemas.microsoft.com/office/drawing/2014/main" id="{2435EAA0-1D85-AD9E-54B3-2ED6D9C35FF2}"/>
              </a:ext>
            </a:extLst>
          </p:cNvPr>
          <p:cNvPicPr>
            <a:picLocks noChangeAspect="1"/>
          </p:cNvPicPr>
          <p:nvPr/>
        </p:nvPicPr>
        <p:blipFill>
          <a:blip r:embed="rId3"/>
          <a:stretch>
            <a:fillRect/>
          </a:stretch>
        </p:blipFill>
        <p:spPr>
          <a:xfrm>
            <a:off x="439219" y="2804131"/>
            <a:ext cx="2456363" cy="1268671"/>
          </a:xfrm>
          <a:prstGeom prst="rect">
            <a:avLst/>
          </a:prstGeom>
          <a:effectLst>
            <a:glow rad="139700">
              <a:schemeClr val="accent5">
                <a:satMod val="175000"/>
                <a:alpha val="40000"/>
              </a:schemeClr>
            </a:glow>
          </a:effectLst>
        </p:spPr>
      </p:pic>
      <p:grpSp>
        <p:nvGrpSpPr>
          <p:cNvPr id="11" name="Group 10">
            <a:extLst>
              <a:ext uri="{FF2B5EF4-FFF2-40B4-BE49-F238E27FC236}">
                <a16:creationId xmlns:a16="http://schemas.microsoft.com/office/drawing/2014/main" id="{4B6DC861-3974-DD1B-36A5-5C6178DA34BD}"/>
              </a:ext>
            </a:extLst>
          </p:cNvPr>
          <p:cNvGrpSpPr/>
          <p:nvPr/>
        </p:nvGrpSpPr>
        <p:grpSpPr>
          <a:xfrm>
            <a:off x="7105642" y="231209"/>
            <a:ext cx="599991" cy="572700"/>
            <a:chOff x="6233774" y="1425062"/>
            <a:chExt cx="572700" cy="572700"/>
          </a:xfrm>
        </p:grpSpPr>
        <p:sp>
          <p:nvSpPr>
            <p:cNvPr id="12" name="Google Shape;839;p61">
              <a:extLst>
                <a:ext uri="{FF2B5EF4-FFF2-40B4-BE49-F238E27FC236}">
                  <a16:creationId xmlns:a16="http://schemas.microsoft.com/office/drawing/2014/main" id="{91132DA8-6661-4381-706C-1275B60941C2}"/>
                </a:ext>
              </a:extLst>
            </p:cNvPr>
            <p:cNvSpPr/>
            <p:nvPr/>
          </p:nvSpPr>
          <p:spPr>
            <a:xfrm>
              <a:off x="6233774" y="1425062"/>
              <a:ext cx="572700" cy="572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nvGrpSpPr>
            <p:cNvPr id="13" name="Google Shape;16450;p127">
              <a:extLst>
                <a:ext uri="{FF2B5EF4-FFF2-40B4-BE49-F238E27FC236}">
                  <a16:creationId xmlns:a16="http://schemas.microsoft.com/office/drawing/2014/main" id="{28451F44-0EE1-EB1F-5D4A-94D97F4F379F}"/>
                </a:ext>
              </a:extLst>
            </p:cNvPr>
            <p:cNvGrpSpPr/>
            <p:nvPr/>
          </p:nvGrpSpPr>
          <p:grpSpPr>
            <a:xfrm>
              <a:off x="6348052" y="1531964"/>
              <a:ext cx="342824" cy="351228"/>
              <a:chOff x="870773" y="3357985"/>
              <a:chExt cx="342824" cy="351228"/>
            </a:xfrm>
          </p:grpSpPr>
          <p:sp>
            <p:nvSpPr>
              <p:cNvPr id="14" name="Google Shape;16451;p127">
                <a:extLst>
                  <a:ext uri="{FF2B5EF4-FFF2-40B4-BE49-F238E27FC236}">
                    <a16:creationId xmlns:a16="http://schemas.microsoft.com/office/drawing/2014/main" id="{4599B900-611B-816A-BEC2-F0CCBA503B68}"/>
                  </a:ext>
                </a:extLst>
              </p:cNvPr>
              <p:cNvSpPr/>
              <p:nvPr/>
            </p:nvSpPr>
            <p:spPr>
              <a:xfrm>
                <a:off x="870773" y="3357985"/>
                <a:ext cx="342824" cy="351228"/>
              </a:xfrm>
              <a:custGeom>
                <a:avLst/>
                <a:gdLst/>
                <a:ahLst/>
                <a:cxnLst/>
                <a:rect l="l" t="t" r="r" b="b"/>
                <a:pathLst>
                  <a:path w="13055" h="13375" extrusionOk="0">
                    <a:moveTo>
                      <a:pt x="6523" y="0"/>
                    </a:moveTo>
                    <a:cubicBezTo>
                      <a:pt x="6339" y="0"/>
                      <a:pt x="6155" y="89"/>
                      <a:pt x="6049" y="266"/>
                    </a:cubicBezTo>
                    <a:lnTo>
                      <a:pt x="5255" y="1606"/>
                    </a:lnTo>
                    <a:cubicBezTo>
                      <a:pt x="5152" y="1777"/>
                      <a:pt x="4972" y="1874"/>
                      <a:pt x="4786" y="1874"/>
                    </a:cubicBezTo>
                    <a:cubicBezTo>
                      <a:pt x="4712" y="1874"/>
                      <a:pt x="4637" y="1859"/>
                      <a:pt x="4566" y="1826"/>
                    </a:cubicBezTo>
                    <a:lnTo>
                      <a:pt x="3130" y="1213"/>
                    </a:lnTo>
                    <a:cubicBezTo>
                      <a:pt x="3059" y="1183"/>
                      <a:pt x="2986" y="1169"/>
                      <a:pt x="2915" y="1169"/>
                    </a:cubicBezTo>
                    <a:cubicBezTo>
                      <a:pt x="2606" y="1169"/>
                      <a:pt x="2334" y="1434"/>
                      <a:pt x="2365" y="1768"/>
                    </a:cubicBezTo>
                    <a:lnTo>
                      <a:pt x="2508" y="3328"/>
                    </a:lnTo>
                    <a:cubicBezTo>
                      <a:pt x="2527" y="3606"/>
                      <a:pt x="2346" y="3855"/>
                      <a:pt x="2078" y="3912"/>
                    </a:cubicBezTo>
                    <a:lnTo>
                      <a:pt x="566" y="4257"/>
                    </a:lnTo>
                    <a:cubicBezTo>
                      <a:pt x="154" y="4343"/>
                      <a:pt x="1" y="4840"/>
                      <a:pt x="278" y="5156"/>
                    </a:cubicBezTo>
                    <a:lnTo>
                      <a:pt x="1302" y="6324"/>
                    </a:lnTo>
                    <a:cubicBezTo>
                      <a:pt x="1484" y="6534"/>
                      <a:pt x="1484" y="6841"/>
                      <a:pt x="1302" y="7051"/>
                    </a:cubicBezTo>
                    <a:lnTo>
                      <a:pt x="278" y="8219"/>
                    </a:lnTo>
                    <a:cubicBezTo>
                      <a:pt x="1" y="8535"/>
                      <a:pt x="154" y="9023"/>
                      <a:pt x="566" y="9118"/>
                    </a:cubicBezTo>
                    <a:lnTo>
                      <a:pt x="2078" y="9463"/>
                    </a:lnTo>
                    <a:cubicBezTo>
                      <a:pt x="2355" y="9520"/>
                      <a:pt x="2537" y="9779"/>
                      <a:pt x="2508" y="10047"/>
                    </a:cubicBezTo>
                    <a:lnTo>
                      <a:pt x="2365" y="11607"/>
                    </a:lnTo>
                    <a:cubicBezTo>
                      <a:pt x="2334" y="11941"/>
                      <a:pt x="2606" y="12206"/>
                      <a:pt x="2915" y="12206"/>
                    </a:cubicBezTo>
                    <a:cubicBezTo>
                      <a:pt x="2986" y="12206"/>
                      <a:pt x="3059" y="12192"/>
                      <a:pt x="3130" y="12162"/>
                    </a:cubicBezTo>
                    <a:lnTo>
                      <a:pt x="4566" y="11549"/>
                    </a:lnTo>
                    <a:cubicBezTo>
                      <a:pt x="4637" y="11520"/>
                      <a:pt x="4711" y="11507"/>
                      <a:pt x="4783" y="11507"/>
                    </a:cubicBezTo>
                    <a:cubicBezTo>
                      <a:pt x="4975" y="11507"/>
                      <a:pt x="5158" y="11603"/>
                      <a:pt x="5255" y="11769"/>
                    </a:cubicBezTo>
                    <a:lnTo>
                      <a:pt x="6049" y="13109"/>
                    </a:lnTo>
                    <a:cubicBezTo>
                      <a:pt x="6155" y="13286"/>
                      <a:pt x="6339" y="13375"/>
                      <a:pt x="6523" y="13375"/>
                    </a:cubicBezTo>
                    <a:cubicBezTo>
                      <a:pt x="6707" y="13375"/>
                      <a:pt x="6892" y="13286"/>
                      <a:pt x="6997" y="13109"/>
                    </a:cubicBezTo>
                    <a:lnTo>
                      <a:pt x="7791" y="11769"/>
                    </a:lnTo>
                    <a:cubicBezTo>
                      <a:pt x="7894" y="11598"/>
                      <a:pt x="8076" y="11505"/>
                      <a:pt x="8262" y="11505"/>
                    </a:cubicBezTo>
                    <a:cubicBezTo>
                      <a:pt x="8336" y="11505"/>
                      <a:pt x="8410" y="11519"/>
                      <a:pt x="8480" y="11549"/>
                    </a:cubicBezTo>
                    <a:lnTo>
                      <a:pt x="9916" y="12162"/>
                    </a:lnTo>
                    <a:cubicBezTo>
                      <a:pt x="9987" y="12192"/>
                      <a:pt x="10060" y="12206"/>
                      <a:pt x="10131" y="12206"/>
                    </a:cubicBezTo>
                    <a:cubicBezTo>
                      <a:pt x="10440" y="12206"/>
                      <a:pt x="10712" y="11941"/>
                      <a:pt x="10681" y="11607"/>
                    </a:cubicBezTo>
                    <a:lnTo>
                      <a:pt x="10547" y="10056"/>
                    </a:lnTo>
                    <a:cubicBezTo>
                      <a:pt x="10519" y="9779"/>
                      <a:pt x="10701" y="9520"/>
                      <a:pt x="10968" y="9463"/>
                    </a:cubicBezTo>
                    <a:lnTo>
                      <a:pt x="12490" y="9118"/>
                    </a:lnTo>
                    <a:cubicBezTo>
                      <a:pt x="12892" y="9023"/>
                      <a:pt x="13055" y="8535"/>
                      <a:pt x="12777" y="8219"/>
                    </a:cubicBezTo>
                    <a:lnTo>
                      <a:pt x="11753" y="7051"/>
                    </a:lnTo>
                    <a:cubicBezTo>
                      <a:pt x="11571" y="6841"/>
                      <a:pt x="11571" y="6534"/>
                      <a:pt x="11753" y="6324"/>
                    </a:cubicBezTo>
                    <a:lnTo>
                      <a:pt x="12777" y="5156"/>
                    </a:lnTo>
                    <a:cubicBezTo>
                      <a:pt x="13055" y="4840"/>
                      <a:pt x="12892" y="4343"/>
                      <a:pt x="12481" y="4257"/>
                    </a:cubicBezTo>
                    <a:lnTo>
                      <a:pt x="10968" y="3912"/>
                    </a:lnTo>
                    <a:cubicBezTo>
                      <a:pt x="10701" y="3845"/>
                      <a:pt x="10519" y="3596"/>
                      <a:pt x="10538" y="3319"/>
                    </a:cubicBezTo>
                    <a:lnTo>
                      <a:pt x="10681" y="1768"/>
                    </a:lnTo>
                    <a:cubicBezTo>
                      <a:pt x="10712" y="1429"/>
                      <a:pt x="10445" y="1164"/>
                      <a:pt x="10140" y="1164"/>
                    </a:cubicBezTo>
                    <a:cubicBezTo>
                      <a:pt x="10066" y="1164"/>
                      <a:pt x="9990" y="1180"/>
                      <a:pt x="9916" y="1213"/>
                    </a:cubicBezTo>
                    <a:lnTo>
                      <a:pt x="8480" y="1826"/>
                    </a:lnTo>
                    <a:cubicBezTo>
                      <a:pt x="8410" y="1854"/>
                      <a:pt x="8337" y="1868"/>
                      <a:pt x="8264" y="1868"/>
                    </a:cubicBezTo>
                    <a:cubicBezTo>
                      <a:pt x="8072" y="1868"/>
                      <a:pt x="7889" y="1770"/>
                      <a:pt x="7791" y="1596"/>
                    </a:cubicBezTo>
                    <a:lnTo>
                      <a:pt x="6997" y="266"/>
                    </a:lnTo>
                    <a:cubicBezTo>
                      <a:pt x="6892" y="89"/>
                      <a:pt x="6707" y="0"/>
                      <a:pt x="6523" y="0"/>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5" name="Google Shape;16452;p127">
                <a:extLst>
                  <a:ext uri="{FF2B5EF4-FFF2-40B4-BE49-F238E27FC236}">
                    <a16:creationId xmlns:a16="http://schemas.microsoft.com/office/drawing/2014/main" id="{96CDB692-058E-4457-C255-1CEA96875CB6}"/>
                  </a:ext>
                </a:extLst>
              </p:cNvPr>
              <p:cNvSpPr/>
              <p:nvPr/>
            </p:nvSpPr>
            <p:spPr>
              <a:xfrm>
                <a:off x="1024577" y="3357985"/>
                <a:ext cx="50288" cy="49238"/>
              </a:xfrm>
              <a:custGeom>
                <a:avLst/>
                <a:gdLst/>
                <a:ahLst/>
                <a:cxnLst/>
                <a:rect l="l" t="t" r="r" b="b"/>
                <a:pathLst>
                  <a:path w="1915" h="1875" extrusionOk="0">
                    <a:moveTo>
                      <a:pt x="666" y="0"/>
                    </a:moveTo>
                    <a:cubicBezTo>
                      <a:pt x="482" y="0"/>
                      <a:pt x="298" y="89"/>
                      <a:pt x="192" y="266"/>
                    </a:cubicBezTo>
                    <a:lnTo>
                      <a:pt x="1" y="591"/>
                    </a:lnTo>
                    <a:lnTo>
                      <a:pt x="604" y="1606"/>
                    </a:lnTo>
                    <a:cubicBezTo>
                      <a:pt x="706" y="1777"/>
                      <a:pt x="887" y="1874"/>
                      <a:pt x="1073" y="1874"/>
                    </a:cubicBezTo>
                    <a:cubicBezTo>
                      <a:pt x="1147" y="1874"/>
                      <a:pt x="1222" y="1859"/>
                      <a:pt x="1293" y="1826"/>
                    </a:cubicBezTo>
                    <a:lnTo>
                      <a:pt x="1915" y="1567"/>
                    </a:lnTo>
                    <a:lnTo>
                      <a:pt x="1140" y="266"/>
                    </a:lnTo>
                    <a:cubicBezTo>
                      <a:pt x="1035" y="89"/>
                      <a:pt x="850" y="0"/>
                      <a:pt x="666" y="0"/>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6" name="Google Shape;16453;p127">
                <a:extLst>
                  <a:ext uri="{FF2B5EF4-FFF2-40B4-BE49-F238E27FC236}">
                    <a16:creationId xmlns:a16="http://schemas.microsoft.com/office/drawing/2014/main" id="{D38DF25F-287F-EC03-133F-516AD745F699}"/>
                  </a:ext>
                </a:extLst>
              </p:cNvPr>
              <p:cNvSpPr/>
              <p:nvPr/>
            </p:nvSpPr>
            <p:spPr>
              <a:xfrm>
                <a:off x="1111787" y="3388552"/>
                <a:ext cx="101810" cy="289832"/>
              </a:xfrm>
              <a:custGeom>
                <a:avLst/>
                <a:gdLst/>
                <a:ahLst/>
                <a:cxnLst/>
                <a:rect l="l" t="t" r="r" b="b"/>
                <a:pathLst>
                  <a:path w="3877" h="11037" extrusionOk="0">
                    <a:moveTo>
                      <a:pt x="962" y="0"/>
                    </a:moveTo>
                    <a:cubicBezTo>
                      <a:pt x="888" y="0"/>
                      <a:pt x="812" y="16"/>
                      <a:pt x="738" y="49"/>
                    </a:cubicBezTo>
                    <a:lnTo>
                      <a:pt x="116" y="308"/>
                    </a:lnTo>
                    <a:cubicBezTo>
                      <a:pt x="164" y="403"/>
                      <a:pt x="183" y="499"/>
                      <a:pt x="173" y="604"/>
                    </a:cubicBezTo>
                    <a:lnTo>
                      <a:pt x="30" y="2155"/>
                    </a:lnTo>
                    <a:cubicBezTo>
                      <a:pt x="1" y="2432"/>
                      <a:pt x="183" y="2681"/>
                      <a:pt x="460" y="2748"/>
                    </a:cubicBezTo>
                    <a:lnTo>
                      <a:pt x="1972" y="3093"/>
                    </a:lnTo>
                    <a:cubicBezTo>
                      <a:pt x="2384" y="3179"/>
                      <a:pt x="2537" y="3676"/>
                      <a:pt x="2269" y="3992"/>
                    </a:cubicBezTo>
                    <a:lnTo>
                      <a:pt x="1245" y="5160"/>
                    </a:lnTo>
                    <a:cubicBezTo>
                      <a:pt x="1054" y="5361"/>
                      <a:pt x="1054" y="5677"/>
                      <a:pt x="1245" y="5887"/>
                    </a:cubicBezTo>
                    <a:lnTo>
                      <a:pt x="2269" y="7055"/>
                    </a:lnTo>
                    <a:cubicBezTo>
                      <a:pt x="2537" y="7371"/>
                      <a:pt x="2384" y="7859"/>
                      <a:pt x="1972" y="7954"/>
                    </a:cubicBezTo>
                    <a:lnTo>
                      <a:pt x="460" y="8299"/>
                    </a:lnTo>
                    <a:cubicBezTo>
                      <a:pt x="183" y="8356"/>
                      <a:pt x="1" y="8615"/>
                      <a:pt x="30" y="8883"/>
                    </a:cubicBezTo>
                    <a:lnTo>
                      <a:pt x="173" y="10433"/>
                    </a:lnTo>
                    <a:cubicBezTo>
                      <a:pt x="183" y="10538"/>
                      <a:pt x="164" y="10634"/>
                      <a:pt x="116" y="10730"/>
                    </a:cubicBezTo>
                    <a:lnTo>
                      <a:pt x="738" y="10988"/>
                    </a:lnTo>
                    <a:cubicBezTo>
                      <a:pt x="812" y="11022"/>
                      <a:pt x="888" y="11037"/>
                      <a:pt x="962" y="11037"/>
                    </a:cubicBezTo>
                    <a:cubicBezTo>
                      <a:pt x="1267" y="11037"/>
                      <a:pt x="1534" y="10772"/>
                      <a:pt x="1503" y="10433"/>
                    </a:cubicBezTo>
                    <a:lnTo>
                      <a:pt x="1360" y="8892"/>
                    </a:lnTo>
                    <a:cubicBezTo>
                      <a:pt x="1331" y="8615"/>
                      <a:pt x="1513" y="8356"/>
                      <a:pt x="1790" y="8299"/>
                    </a:cubicBezTo>
                    <a:lnTo>
                      <a:pt x="3303" y="7954"/>
                    </a:lnTo>
                    <a:cubicBezTo>
                      <a:pt x="3714" y="7859"/>
                      <a:pt x="3867" y="7371"/>
                      <a:pt x="3599" y="7055"/>
                    </a:cubicBezTo>
                    <a:lnTo>
                      <a:pt x="2575" y="5887"/>
                    </a:lnTo>
                    <a:cubicBezTo>
                      <a:pt x="2393" y="5677"/>
                      <a:pt x="2393" y="5370"/>
                      <a:pt x="2575" y="5160"/>
                    </a:cubicBezTo>
                    <a:lnTo>
                      <a:pt x="3599" y="3992"/>
                    </a:lnTo>
                    <a:cubicBezTo>
                      <a:pt x="3877" y="3676"/>
                      <a:pt x="3714" y="3179"/>
                      <a:pt x="3303" y="3093"/>
                    </a:cubicBezTo>
                    <a:lnTo>
                      <a:pt x="1790" y="2748"/>
                    </a:lnTo>
                    <a:cubicBezTo>
                      <a:pt x="1523" y="2681"/>
                      <a:pt x="1341" y="2432"/>
                      <a:pt x="1360" y="2155"/>
                    </a:cubicBezTo>
                    <a:lnTo>
                      <a:pt x="1503" y="604"/>
                    </a:lnTo>
                    <a:cubicBezTo>
                      <a:pt x="1534" y="265"/>
                      <a:pt x="1267" y="0"/>
                      <a:pt x="962" y="0"/>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7" name="Google Shape;16454;p127">
                <a:extLst>
                  <a:ext uri="{FF2B5EF4-FFF2-40B4-BE49-F238E27FC236}">
                    <a16:creationId xmlns:a16="http://schemas.microsoft.com/office/drawing/2014/main" id="{DEF10717-5617-D169-7770-28822C556589}"/>
                  </a:ext>
                </a:extLst>
              </p:cNvPr>
              <p:cNvSpPr/>
              <p:nvPr/>
            </p:nvSpPr>
            <p:spPr>
              <a:xfrm>
                <a:off x="1024840" y="3660133"/>
                <a:ext cx="50025" cy="49080"/>
              </a:xfrm>
              <a:custGeom>
                <a:avLst/>
                <a:gdLst/>
                <a:ahLst/>
                <a:cxnLst/>
                <a:rect l="l" t="t" r="r" b="b"/>
                <a:pathLst>
                  <a:path w="1905" h="1869" extrusionOk="0">
                    <a:moveTo>
                      <a:pt x="1071" y="1"/>
                    </a:moveTo>
                    <a:cubicBezTo>
                      <a:pt x="883" y="1"/>
                      <a:pt x="698" y="97"/>
                      <a:pt x="594" y="263"/>
                    </a:cubicBezTo>
                    <a:lnTo>
                      <a:pt x="0" y="1278"/>
                    </a:lnTo>
                    <a:lnTo>
                      <a:pt x="192" y="1603"/>
                    </a:lnTo>
                    <a:cubicBezTo>
                      <a:pt x="297" y="1780"/>
                      <a:pt x="479" y="1869"/>
                      <a:pt x="662" y="1869"/>
                    </a:cubicBezTo>
                    <a:cubicBezTo>
                      <a:pt x="845" y="1869"/>
                      <a:pt x="1029" y="1780"/>
                      <a:pt x="1139" y="1603"/>
                    </a:cubicBezTo>
                    <a:lnTo>
                      <a:pt x="1905" y="311"/>
                    </a:lnTo>
                    <a:lnTo>
                      <a:pt x="1283" y="43"/>
                    </a:lnTo>
                    <a:cubicBezTo>
                      <a:pt x="1215" y="14"/>
                      <a:pt x="1143" y="1"/>
                      <a:pt x="1071" y="1"/>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8" name="Google Shape;16455;p127">
                <a:extLst>
                  <a:ext uri="{FF2B5EF4-FFF2-40B4-BE49-F238E27FC236}">
                    <a16:creationId xmlns:a16="http://schemas.microsoft.com/office/drawing/2014/main" id="{080246D0-0AA0-CB63-E7AC-9073834A93F6}"/>
                  </a:ext>
                </a:extLst>
              </p:cNvPr>
              <p:cNvSpPr/>
              <p:nvPr/>
            </p:nvSpPr>
            <p:spPr>
              <a:xfrm>
                <a:off x="939390" y="3431067"/>
                <a:ext cx="211892" cy="205222"/>
              </a:xfrm>
              <a:custGeom>
                <a:avLst/>
                <a:gdLst/>
                <a:ahLst/>
                <a:cxnLst/>
                <a:rect l="l" t="t" r="r" b="b"/>
                <a:pathLst>
                  <a:path w="8069" h="7815" extrusionOk="0">
                    <a:moveTo>
                      <a:pt x="3916" y="0"/>
                    </a:moveTo>
                    <a:cubicBezTo>
                      <a:pt x="1659" y="0"/>
                      <a:pt x="1" y="1823"/>
                      <a:pt x="1" y="3895"/>
                    </a:cubicBezTo>
                    <a:cubicBezTo>
                      <a:pt x="1" y="6224"/>
                      <a:pt x="1910" y="7814"/>
                      <a:pt x="3928" y="7814"/>
                    </a:cubicBezTo>
                    <a:cubicBezTo>
                      <a:pt x="4771" y="7814"/>
                      <a:pt x="5634" y="7537"/>
                      <a:pt x="6384" y="6919"/>
                    </a:cubicBezTo>
                    <a:cubicBezTo>
                      <a:pt x="7561" y="5962"/>
                      <a:pt x="8068" y="4421"/>
                      <a:pt x="7695" y="2947"/>
                    </a:cubicBezTo>
                    <a:cubicBezTo>
                      <a:pt x="7331" y="1483"/>
                      <a:pt x="6154" y="363"/>
                      <a:pt x="4671" y="67"/>
                    </a:cubicBezTo>
                    <a:cubicBezTo>
                      <a:pt x="4413" y="22"/>
                      <a:pt x="4161" y="0"/>
                      <a:pt x="3916" y="0"/>
                    </a:cubicBezTo>
                    <a:close/>
                  </a:path>
                </a:pathLst>
              </a:custGeom>
              <a:solidFill>
                <a:srgbClr val="C1C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19" name="Google Shape;16456;p127">
                <a:extLst>
                  <a:ext uri="{FF2B5EF4-FFF2-40B4-BE49-F238E27FC236}">
                    <a16:creationId xmlns:a16="http://schemas.microsoft.com/office/drawing/2014/main" id="{4182A2B7-3D61-5043-3131-8A30824B5372}"/>
                  </a:ext>
                </a:extLst>
              </p:cNvPr>
              <p:cNvSpPr/>
              <p:nvPr/>
            </p:nvSpPr>
            <p:spPr>
              <a:xfrm>
                <a:off x="970561" y="3470641"/>
                <a:ext cx="60345" cy="51653"/>
              </a:xfrm>
              <a:custGeom>
                <a:avLst/>
                <a:gdLst/>
                <a:ahLst/>
                <a:cxnLst/>
                <a:rect l="l" t="t" r="r" b="b"/>
                <a:pathLst>
                  <a:path w="2298" h="1967" extrusionOk="0">
                    <a:moveTo>
                      <a:pt x="1315" y="409"/>
                    </a:moveTo>
                    <a:cubicBezTo>
                      <a:pt x="1456" y="409"/>
                      <a:pt x="1599" y="461"/>
                      <a:pt x="1713" y="579"/>
                    </a:cubicBezTo>
                    <a:cubicBezTo>
                      <a:pt x="2077" y="943"/>
                      <a:pt x="1819" y="1555"/>
                      <a:pt x="1311" y="1555"/>
                    </a:cubicBezTo>
                    <a:cubicBezTo>
                      <a:pt x="996" y="1555"/>
                      <a:pt x="737" y="1297"/>
                      <a:pt x="737" y="981"/>
                    </a:cubicBezTo>
                    <a:cubicBezTo>
                      <a:pt x="737" y="638"/>
                      <a:pt x="1022" y="409"/>
                      <a:pt x="1315" y="409"/>
                    </a:cubicBezTo>
                    <a:close/>
                    <a:moveTo>
                      <a:pt x="1308" y="0"/>
                    </a:moveTo>
                    <a:cubicBezTo>
                      <a:pt x="1067" y="0"/>
                      <a:pt x="821" y="90"/>
                      <a:pt x="622" y="292"/>
                    </a:cubicBezTo>
                    <a:cubicBezTo>
                      <a:pt x="0" y="905"/>
                      <a:pt x="441" y="1967"/>
                      <a:pt x="1311" y="1967"/>
                    </a:cubicBezTo>
                    <a:cubicBezTo>
                      <a:pt x="1857" y="1967"/>
                      <a:pt x="2288" y="1527"/>
                      <a:pt x="2297" y="981"/>
                    </a:cubicBezTo>
                    <a:cubicBezTo>
                      <a:pt x="2297" y="392"/>
                      <a:pt x="1812" y="0"/>
                      <a:pt x="1308" y="0"/>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20" name="Google Shape;16457;p127">
                <a:extLst>
                  <a:ext uri="{FF2B5EF4-FFF2-40B4-BE49-F238E27FC236}">
                    <a16:creationId xmlns:a16="http://schemas.microsoft.com/office/drawing/2014/main" id="{FB149543-DA0C-A95A-F391-AC12C91A9EAB}"/>
                  </a:ext>
                </a:extLst>
              </p:cNvPr>
              <p:cNvSpPr/>
              <p:nvPr/>
            </p:nvSpPr>
            <p:spPr>
              <a:xfrm>
                <a:off x="1053332" y="3545140"/>
                <a:ext cx="60188" cy="51417"/>
              </a:xfrm>
              <a:custGeom>
                <a:avLst/>
                <a:gdLst/>
                <a:ahLst/>
                <a:cxnLst/>
                <a:rect l="l" t="t" r="r" b="b"/>
                <a:pathLst>
                  <a:path w="2292" h="1958" extrusionOk="0">
                    <a:moveTo>
                      <a:pt x="983" y="393"/>
                    </a:moveTo>
                    <a:cubicBezTo>
                      <a:pt x="1299" y="403"/>
                      <a:pt x="1557" y="652"/>
                      <a:pt x="1557" y="967"/>
                    </a:cubicBezTo>
                    <a:cubicBezTo>
                      <a:pt x="1557" y="1317"/>
                      <a:pt x="1276" y="1549"/>
                      <a:pt x="982" y="1549"/>
                    </a:cubicBezTo>
                    <a:cubicBezTo>
                      <a:pt x="841" y="1549"/>
                      <a:pt x="698" y="1496"/>
                      <a:pt x="581" y="1379"/>
                    </a:cubicBezTo>
                    <a:cubicBezTo>
                      <a:pt x="217" y="1015"/>
                      <a:pt x="475" y="393"/>
                      <a:pt x="983" y="393"/>
                    </a:cubicBezTo>
                    <a:close/>
                    <a:moveTo>
                      <a:pt x="994" y="1"/>
                    </a:moveTo>
                    <a:cubicBezTo>
                      <a:pt x="991" y="1"/>
                      <a:pt x="987" y="1"/>
                      <a:pt x="983" y="1"/>
                    </a:cubicBezTo>
                    <a:cubicBezTo>
                      <a:pt x="437" y="1"/>
                      <a:pt x="7" y="431"/>
                      <a:pt x="7" y="967"/>
                    </a:cubicBezTo>
                    <a:cubicBezTo>
                      <a:pt x="0" y="1563"/>
                      <a:pt x="484" y="1957"/>
                      <a:pt x="991" y="1957"/>
                    </a:cubicBezTo>
                    <a:cubicBezTo>
                      <a:pt x="1233" y="1957"/>
                      <a:pt x="1480" y="1867"/>
                      <a:pt x="1681" y="1666"/>
                    </a:cubicBezTo>
                    <a:cubicBezTo>
                      <a:pt x="2291" y="1047"/>
                      <a:pt x="1858" y="1"/>
                      <a:pt x="994" y="1"/>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sp>
            <p:nvSpPr>
              <p:cNvPr id="21" name="Google Shape;16458;p127">
                <a:extLst>
                  <a:ext uri="{FF2B5EF4-FFF2-40B4-BE49-F238E27FC236}">
                    <a16:creationId xmlns:a16="http://schemas.microsoft.com/office/drawing/2014/main" id="{62945056-24ED-F2F3-E408-DA82C3224411}"/>
                  </a:ext>
                </a:extLst>
              </p:cNvPr>
              <p:cNvSpPr/>
              <p:nvPr/>
            </p:nvSpPr>
            <p:spPr>
              <a:xfrm>
                <a:off x="992330" y="3479595"/>
                <a:ext cx="106090" cy="101836"/>
              </a:xfrm>
              <a:custGeom>
                <a:avLst/>
                <a:gdLst/>
                <a:ahLst/>
                <a:cxnLst/>
                <a:rect l="l" t="t" r="r" b="b"/>
                <a:pathLst>
                  <a:path w="4040" h="3878" extrusionOk="0">
                    <a:moveTo>
                      <a:pt x="3742" y="0"/>
                    </a:moveTo>
                    <a:cubicBezTo>
                      <a:pt x="3692" y="0"/>
                      <a:pt x="3639" y="22"/>
                      <a:pt x="3593" y="75"/>
                    </a:cubicBezTo>
                    <a:lnTo>
                      <a:pt x="128" y="3540"/>
                    </a:lnTo>
                    <a:cubicBezTo>
                      <a:pt x="1" y="3682"/>
                      <a:pt x="132" y="3877"/>
                      <a:pt x="286" y="3877"/>
                    </a:cubicBezTo>
                    <a:cubicBezTo>
                      <a:pt x="329" y="3877"/>
                      <a:pt x="374" y="3862"/>
                      <a:pt x="415" y="3827"/>
                    </a:cubicBezTo>
                    <a:lnTo>
                      <a:pt x="3880" y="363"/>
                    </a:lnTo>
                    <a:cubicBezTo>
                      <a:pt x="4040" y="217"/>
                      <a:pt x="3902" y="0"/>
                      <a:pt x="3742" y="0"/>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ato" panose="020F0502020204030203" pitchFamily="34" charset="0"/>
                  <a:ea typeface="Lato" panose="020F0502020204030203" pitchFamily="34" charset="0"/>
                  <a:cs typeface="Lato" panose="020F0502020204030203" pitchFamily="34" charset="0"/>
                </a:endParaRPr>
              </a:p>
            </p:txBody>
          </p:sp>
        </p:grpSp>
      </p:grpSp>
      <p:pic>
        <p:nvPicPr>
          <p:cNvPr id="22" name="Picture 21">
            <a:extLst>
              <a:ext uri="{FF2B5EF4-FFF2-40B4-BE49-F238E27FC236}">
                <a16:creationId xmlns:a16="http://schemas.microsoft.com/office/drawing/2014/main" id="{131EE72D-04B8-B0F6-20F8-8F21FF7F79AE}"/>
              </a:ext>
            </a:extLst>
          </p:cNvPr>
          <p:cNvPicPr>
            <a:picLocks noChangeAspect="1"/>
          </p:cNvPicPr>
          <p:nvPr/>
        </p:nvPicPr>
        <p:blipFill>
          <a:blip r:embed="rId4"/>
          <a:stretch>
            <a:fillRect/>
          </a:stretch>
        </p:blipFill>
        <p:spPr>
          <a:xfrm>
            <a:off x="3513987" y="5779020"/>
            <a:ext cx="554831" cy="573074"/>
          </a:xfrm>
          <a:prstGeom prst="rect">
            <a:avLst/>
          </a:prstGeom>
        </p:spPr>
      </p:pic>
      <p:pic>
        <p:nvPicPr>
          <p:cNvPr id="23" name="Picture 22">
            <a:extLst>
              <a:ext uri="{FF2B5EF4-FFF2-40B4-BE49-F238E27FC236}">
                <a16:creationId xmlns:a16="http://schemas.microsoft.com/office/drawing/2014/main" id="{B0D82555-F72C-36BB-F0EC-9E3E8378183D}"/>
              </a:ext>
            </a:extLst>
          </p:cNvPr>
          <p:cNvPicPr>
            <a:picLocks noChangeAspect="1"/>
          </p:cNvPicPr>
          <p:nvPr/>
        </p:nvPicPr>
        <p:blipFill>
          <a:blip r:embed="rId5"/>
          <a:stretch>
            <a:fillRect/>
          </a:stretch>
        </p:blipFill>
        <p:spPr>
          <a:xfrm>
            <a:off x="3516583" y="5090090"/>
            <a:ext cx="573074" cy="573074"/>
          </a:xfrm>
          <a:prstGeom prst="rect">
            <a:avLst/>
          </a:prstGeom>
        </p:spPr>
      </p:pic>
      <p:pic>
        <p:nvPicPr>
          <p:cNvPr id="24" name="Picture 2" descr="Consumer, flow, retention icon">
            <a:extLst>
              <a:ext uri="{FF2B5EF4-FFF2-40B4-BE49-F238E27FC236}">
                <a16:creationId xmlns:a16="http://schemas.microsoft.com/office/drawing/2014/main" id="{84109ECC-523A-0C94-EB0D-33DD7C80E779}"/>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466396" y="2021391"/>
            <a:ext cx="675324" cy="675324"/>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id="{1CBA445A-E573-07E9-2AE7-4D4A69FB38D1}"/>
              </a:ext>
            </a:extLst>
          </p:cNvPr>
          <p:cNvPicPr>
            <a:picLocks noChangeAspect="1"/>
          </p:cNvPicPr>
          <p:nvPr/>
        </p:nvPicPr>
        <p:blipFill>
          <a:blip r:embed="rId7"/>
          <a:stretch>
            <a:fillRect/>
          </a:stretch>
        </p:blipFill>
        <p:spPr>
          <a:xfrm>
            <a:off x="3485575" y="4426106"/>
            <a:ext cx="573074" cy="573074"/>
          </a:xfrm>
          <a:prstGeom prst="rect">
            <a:avLst/>
          </a:prstGeom>
        </p:spPr>
      </p:pic>
      <p:pic>
        <p:nvPicPr>
          <p:cNvPr id="26" name="Picture 25">
            <a:extLst>
              <a:ext uri="{FF2B5EF4-FFF2-40B4-BE49-F238E27FC236}">
                <a16:creationId xmlns:a16="http://schemas.microsoft.com/office/drawing/2014/main" id="{A2E91825-093D-7B01-CF65-41378A23C3B0}"/>
              </a:ext>
            </a:extLst>
          </p:cNvPr>
          <p:cNvPicPr>
            <a:picLocks noChangeAspect="1"/>
          </p:cNvPicPr>
          <p:nvPr/>
        </p:nvPicPr>
        <p:blipFill>
          <a:blip r:embed="rId4"/>
          <a:stretch>
            <a:fillRect/>
          </a:stretch>
        </p:blipFill>
        <p:spPr>
          <a:xfrm>
            <a:off x="7186140" y="1481685"/>
            <a:ext cx="573074" cy="573074"/>
          </a:xfrm>
          <a:prstGeom prst="rect">
            <a:avLst/>
          </a:prstGeom>
        </p:spPr>
      </p:pic>
      <p:pic>
        <p:nvPicPr>
          <p:cNvPr id="27" name="Picture 26">
            <a:extLst>
              <a:ext uri="{FF2B5EF4-FFF2-40B4-BE49-F238E27FC236}">
                <a16:creationId xmlns:a16="http://schemas.microsoft.com/office/drawing/2014/main" id="{E1AB385C-EA70-9FE7-DAD5-899C1510E89B}"/>
              </a:ext>
            </a:extLst>
          </p:cNvPr>
          <p:cNvPicPr>
            <a:picLocks noChangeAspect="1"/>
          </p:cNvPicPr>
          <p:nvPr/>
        </p:nvPicPr>
        <p:blipFill>
          <a:blip r:embed="rId8"/>
          <a:stretch>
            <a:fillRect/>
          </a:stretch>
        </p:blipFill>
        <p:spPr>
          <a:xfrm>
            <a:off x="7320609" y="3101918"/>
            <a:ext cx="573074" cy="573074"/>
          </a:xfrm>
          <a:prstGeom prst="rect">
            <a:avLst/>
          </a:prstGeom>
        </p:spPr>
      </p:pic>
      <p:pic>
        <p:nvPicPr>
          <p:cNvPr id="28" name="Picture 27" descr="Maintenance Icon, Transparent Maintenance.PNG Images ...">
            <a:extLst>
              <a:ext uri="{FF2B5EF4-FFF2-40B4-BE49-F238E27FC236}">
                <a16:creationId xmlns:a16="http://schemas.microsoft.com/office/drawing/2014/main" id="{DDBDD31C-449A-315C-F3BF-3E2F41EC67DC}"/>
              </a:ext>
            </a:extLst>
          </p:cNvPr>
          <p:cNvPicPr>
            <a:picLocks noChangeAspect="1"/>
          </p:cNvPicPr>
          <p:nvPr/>
        </p:nvPicPr>
        <p:blipFill>
          <a:blip r:embed="rId9"/>
          <a:stretch>
            <a:fillRect/>
          </a:stretch>
        </p:blipFill>
        <p:spPr>
          <a:xfrm>
            <a:off x="7317658" y="3960318"/>
            <a:ext cx="457201" cy="469492"/>
          </a:xfrm>
          <a:prstGeom prst="flowChartConnector">
            <a:avLst/>
          </a:prstGeom>
        </p:spPr>
      </p:pic>
      <p:pic>
        <p:nvPicPr>
          <p:cNvPr id="29" name="Picture 28">
            <a:extLst>
              <a:ext uri="{FF2B5EF4-FFF2-40B4-BE49-F238E27FC236}">
                <a16:creationId xmlns:a16="http://schemas.microsoft.com/office/drawing/2014/main" id="{0CAF37FB-AF3F-A742-329E-E6A432E3BBBB}"/>
              </a:ext>
            </a:extLst>
          </p:cNvPr>
          <p:cNvPicPr>
            <a:picLocks noChangeAspect="1"/>
          </p:cNvPicPr>
          <p:nvPr/>
        </p:nvPicPr>
        <p:blipFill>
          <a:blip r:embed="rId5"/>
          <a:stretch>
            <a:fillRect/>
          </a:stretch>
        </p:blipFill>
        <p:spPr>
          <a:xfrm>
            <a:off x="7259721" y="4803241"/>
            <a:ext cx="573074" cy="573074"/>
          </a:xfrm>
          <a:prstGeom prst="rect">
            <a:avLst/>
          </a:prstGeom>
        </p:spPr>
      </p:pic>
      <p:graphicFrame>
        <p:nvGraphicFramePr>
          <p:cNvPr id="4" name="Table 3">
            <a:extLst>
              <a:ext uri="{FF2B5EF4-FFF2-40B4-BE49-F238E27FC236}">
                <a16:creationId xmlns:a16="http://schemas.microsoft.com/office/drawing/2014/main" id="{6E9D937A-6FDF-462A-2690-5554EFD979A7}"/>
              </a:ext>
            </a:extLst>
          </p:cNvPr>
          <p:cNvGraphicFramePr>
            <a:graphicFrameLocks noGrp="1"/>
          </p:cNvGraphicFramePr>
          <p:nvPr>
            <p:extLst>
              <p:ext uri="{D42A27DB-BD31-4B8C-83A1-F6EECF244321}">
                <p14:modId xmlns:p14="http://schemas.microsoft.com/office/powerpoint/2010/main" val="357550445"/>
              </p:ext>
            </p:extLst>
          </p:nvPr>
        </p:nvGraphicFramePr>
        <p:xfrm>
          <a:off x="2190171" y="2529"/>
          <a:ext cx="4204040" cy="6563634"/>
        </p:xfrm>
        <a:graphic>
          <a:graphicData uri="http://schemas.openxmlformats.org/drawingml/2006/table">
            <a:tbl>
              <a:tblPr firstRow="1" bandRow="1">
                <a:tableStyleId>{5C22544A-7EE6-4342-B048-85BDC9FD1C3A}</a:tableStyleId>
              </a:tblPr>
              <a:tblGrid>
                <a:gridCol w="2102020">
                  <a:extLst>
                    <a:ext uri="{9D8B030D-6E8A-4147-A177-3AD203B41FA5}">
                      <a16:colId xmlns:a16="http://schemas.microsoft.com/office/drawing/2014/main" val="3490523162"/>
                    </a:ext>
                  </a:extLst>
                </a:gridCol>
                <a:gridCol w="2102020">
                  <a:extLst>
                    <a:ext uri="{9D8B030D-6E8A-4147-A177-3AD203B41FA5}">
                      <a16:colId xmlns:a16="http://schemas.microsoft.com/office/drawing/2014/main" val="1867495704"/>
                    </a:ext>
                  </a:extLst>
                </a:gridCol>
              </a:tblGrid>
              <a:tr h="631864">
                <a:tc rowSpan="2">
                  <a:txBody>
                    <a:bodyPr/>
                    <a:lstStyle/>
                    <a:p>
                      <a:pPr>
                        <a:buNone/>
                      </a:pPr>
                      <a:endParaRPr lang="en-US">
                        <a:effectLst/>
                      </a:endParaRPr>
                    </a:p>
                  </a:txBody>
                  <a:tcPr marL="0" marR="0" marT="0" marB="0" anchor="ctr">
                    <a:lnL>
                      <a:noFill/>
                    </a:lnL>
                    <a:lnR>
                      <a:noFill/>
                    </a:lnR>
                    <a:lnT>
                      <a:noFill/>
                    </a:lnT>
                    <a:lnB>
                      <a:noFill/>
                    </a:lnB>
                    <a:noFill/>
                  </a:tcPr>
                </a:tc>
                <a:tc>
                  <a:txBody>
                    <a:bodyPr/>
                    <a:lstStyle/>
                    <a:p>
                      <a:pPr marL="0" marR="0" indent="0" algn="l" rtl="0" eaLnBrk="1" fontAlgn="auto" latinLnBrk="0" hangingPunct="1">
                        <a:buNone/>
                      </a:pPr>
                      <a:r>
                        <a:rPr lang="en-US" sz="1600" b="1" kern="1200">
                          <a:solidFill>
                            <a:srgbClr val="1F4766"/>
                          </a:solidFill>
                          <a:effectLst/>
                          <a:latin typeface="Lato" panose="020F0502020204030203" pitchFamily="34" charset="0"/>
                          <a:ea typeface="Lato" panose="020F0502020204030203" pitchFamily="34" charset="0"/>
                          <a:cs typeface="Lato" panose="020F0502020204030203" pitchFamily="34" charset="0"/>
                        </a:rPr>
                        <a:t>Opening and Deposit Requirement</a:t>
                      </a:r>
                      <a:endParaRPr lang="en-US">
                        <a:effectLst/>
                      </a:endParaRPr>
                    </a:p>
                  </a:txBody>
                  <a:tcPr marL="0" marR="0" marT="0" marB="0" anchor="ctr">
                    <a:lnL>
                      <a:noFill/>
                    </a:lnL>
                    <a:lnR>
                      <a:noFill/>
                    </a:lnR>
                    <a:lnT>
                      <a:noFill/>
                    </a:lnT>
                    <a:lnB>
                      <a:noFill/>
                    </a:lnB>
                    <a:noFill/>
                  </a:tcPr>
                </a:tc>
                <a:extLst>
                  <a:ext uri="{0D108BD9-81ED-4DB2-BD59-A6C34878D82A}">
                    <a16:rowId xmlns:a16="http://schemas.microsoft.com/office/drawing/2014/main" val="45545282"/>
                  </a:ext>
                </a:extLst>
              </a:tr>
              <a:tr h="1214171">
                <a:tc vMerge="1">
                  <a:txBody>
                    <a:bodyPr/>
                    <a:lstStyle/>
                    <a:p>
                      <a:endParaRPr lang="en-US"/>
                    </a:p>
                  </a:txBody>
                  <a:tcPr/>
                </a:tc>
                <a:tc>
                  <a:txBody>
                    <a:bodyPr/>
                    <a:lstStyle/>
                    <a:p>
                      <a:pPr marL="283210" indent="-283210" algn="l" rtl="0" eaLnBrk="1" fontAlgn="base" latinLnBrk="0" hangingPunct="1">
                        <a:buClrTx/>
                        <a:buSzPts val="1300"/>
                        <a:buFont typeface="Wingdings" panose="05000000000000000000" pitchFamily="2" charset="2"/>
                        <a:buChar char="ü"/>
                      </a:pPr>
                      <a:r>
                        <a:rPr lang="en-US" sz="1300" b="0" i="0" kern="1200">
                          <a:solidFill>
                            <a:srgbClr val="000000"/>
                          </a:solidFill>
                          <a:effectLst/>
                          <a:latin typeface="Lato" panose="020F0502020204030203" pitchFamily="34" charset="0"/>
                          <a:ea typeface="Lato" panose="020F0502020204030203" pitchFamily="34" charset="0"/>
                          <a:cs typeface="Lato" panose="020F0502020204030203" pitchFamily="34" charset="0"/>
                        </a:rPr>
                        <a:t>P50.00 upfront put up for other loans</a:t>
                      </a:r>
                      <a:endParaRPr lang="en-US" sz="1300">
                        <a:effectLst/>
                      </a:endParaRPr>
                    </a:p>
                    <a:p>
                      <a:pPr marL="283210" indent="-283210" algn="l" rtl="0" eaLnBrk="1" fontAlgn="base" latinLnBrk="0" hangingPunct="1">
                        <a:buNone/>
                      </a:pPr>
                      <a:r>
                        <a:rPr lang="en-US" sz="1300" b="0" i="0" kern="1200">
                          <a:solidFill>
                            <a:srgbClr val="000000"/>
                          </a:solidFill>
                          <a:effectLst/>
                          <a:latin typeface="Lato" panose="020F0502020204030203" pitchFamily="34" charset="0"/>
                          <a:ea typeface="Lato" panose="020F0502020204030203" pitchFamily="34" charset="0"/>
                          <a:cs typeface="Lato" panose="020F0502020204030203" pitchFamily="34" charset="0"/>
                        </a:rPr>
                        <a:t>P50.00 per period for weekly</a:t>
                      </a:r>
                      <a:endParaRPr lang="en-US">
                        <a:effectLst/>
                      </a:endParaRPr>
                    </a:p>
                    <a:p>
                      <a:pPr marL="283210" indent="-283210" algn="l" rtl="0" eaLnBrk="1" fontAlgn="base" latinLnBrk="0" hangingPunct="1">
                        <a:buNone/>
                      </a:pPr>
                      <a:r>
                        <a:rPr lang="en-US" sz="1300" b="0" i="0" kern="1200">
                          <a:solidFill>
                            <a:srgbClr val="000000"/>
                          </a:solidFill>
                          <a:effectLst/>
                          <a:latin typeface="Lato" panose="020F0502020204030203" pitchFamily="34" charset="0"/>
                          <a:ea typeface="Lato" panose="020F0502020204030203" pitchFamily="34" charset="0"/>
                          <a:cs typeface="Lato" panose="020F0502020204030203" pitchFamily="34" charset="0"/>
                        </a:rPr>
                        <a:t>A</a:t>
                      </a:r>
                      <a:r>
                        <a:rPr lang="en-US" sz="1300" kern="1200">
                          <a:solidFill>
                            <a:srgbClr val="000000"/>
                          </a:solidFill>
                          <a:effectLst/>
                          <a:latin typeface="Lato" panose="020F0502020204030203" pitchFamily="34" charset="0"/>
                          <a:ea typeface="Lato" panose="020F0502020204030203" pitchFamily="34" charset="0"/>
                          <a:cs typeface="Lato" panose="020F0502020204030203" pitchFamily="34" charset="0"/>
                        </a:rPr>
                        <a:t>uto repayment </a:t>
                      </a:r>
                      <a:r>
                        <a:rPr lang="en-US" sz="1300" i="1" kern="1200">
                          <a:solidFill>
                            <a:srgbClr val="000000"/>
                          </a:solidFill>
                          <a:effectLst/>
                          <a:latin typeface="Lato" panose="020F0502020204030203" pitchFamily="34" charset="0"/>
                          <a:ea typeface="Lato" panose="020F0502020204030203" pitchFamily="34" charset="0"/>
                          <a:cs typeface="Lato" panose="020F0502020204030203" pitchFamily="34" charset="0"/>
                        </a:rPr>
                        <a:t>shall be implemented to selected branches</a:t>
                      </a:r>
                      <a:endParaRPr lang="en-US">
                        <a:effectLst/>
                      </a:endParaRPr>
                    </a:p>
                  </a:txBody>
                  <a:tcPr marL="0" marR="0" marT="0" marB="0" anchor="ctr">
                    <a:lnL>
                      <a:noFill/>
                    </a:lnL>
                    <a:lnR>
                      <a:noFill/>
                    </a:lnR>
                    <a:lnT>
                      <a:noFill/>
                    </a:lnT>
                    <a:lnB>
                      <a:noFill/>
                    </a:lnB>
                    <a:noFill/>
                  </a:tcPr>
                </a:tc>
                <a:extLst>
                  <a:ext uri="{0D108BD9-81ED-4DB2-BD59-A6C34878D82A}">
                    <a16:rowId xmlns:a16="http://schemas.microsoft.com/office/drawing/2014/main" val="1787548495"/>
                  </a:ext>
                </a:extLst>
              </a:tr>
              <a:tr h="421243">
                <a:tc>
                  <a:txBody>
                    <a:bodyPr/>
                    <a:lstStyle/>
                    <a:p>
                      <a:pPr>
                        <a:buNone/>
                      </a:pPr>
                      <a:endParaRPr lang="en-US">
                        <a:effectLst/>
                      </a:endParaRPr>
                    </a:p>
                  </a:txBody>
                  <a:tcPr marL="0" marR="0" marT="0" marB="0" anchor="ctr">
                    <a:lnL>
                      <a:noFill/>
                    </a:lnL>
                    <a:lnR>
                      <a:noFill/>
                    </a:lnR>
                    <a:lnT>
                      <a:noFill/>
                    </a:lnT>
                    <a:lnB>
                      <a:noFill/>
                    </a:lnB>
                    <a:noFill/>
                  </a:tcPr>
                </a:tc>
                <a:tc>
                  <a:txBody>
                    <a:bodyPr/>
                    <a:lstStyle/>
                    <a:p>
                      <a:pPr marL="0" marR="0" indent="0" algn="l" rtl="0" eaLnBrk="1" fontAlgn="auto" latinLnBrk="0" hangingPunct="1">
                        <a:buNone/>
                      </a:pPr>
                      <a:r>
                        <a:rPr lang="en-US" sz="1600" b="1" kern="1200">
                          <a:solidFill>
                            <a:srgbClr val="1F4766"/>
                          </a:solidFill>
                          <a:effectLst/>
                          <a:latin typeface="Lato" panose="020F0502020204030203" pitchFamily="34" charset="0"/>
                          <a:ea typeface="Lato" panose="020F0502020204030203" pitchFamily="34" charset="0"/>
                          <a:cs typeface="Lato" panose="020F0502020204030203" pitchFamily="34" charset="0"/>
                        </a:rPr>
                        <a:t>CBU Retention Requirement</a:t>
                      </a:r>
                      <a:endParaRPr lang="en-US">
                        <a:effectLst/>
                      </a:endParaRPr>
                    </a:p>
                  </a:txBody>
                  <a:tcPr marL="0" marR="0" marT="0" marB="0" anchor="ctr">
                    <a:lnL>
                      <a:noFill/>
                    </a:lnL>
                    <a:lnR>
                      <a:noFill/>
                    </a:lnR>
                    <a:lnT>
                      <a:noFill/>
                    </a:lnT>
                    <a:lnB>
                      <a:noFill/>
                    </a:lnB>
                    <a:noFill/>
                  </a:tcPr>
                </a:tc>
                <a:extLst>
                  <a:ext uri="{0D108BD9-81ED-4DB2-BD59-A6C34878D82A}">
                    <a16:rowId xmlns:a16="http://schemas.microsoft.com/office/drawing/2014/main" val="3148567280"/>
                  </a:ext>
                </a:extLst>
              </a:tr>
              <a:tr h="1907985">
                <a:tc>
                  <a:txBody>
                    <a:bodyPr/>
                    <a:lstStyle/>
                    <a:p>
                      <a:pPr>
                        <a:buNone/>
                      </a:pPr>
                      <a:endParaRPr lang="en-US">
                        <a:effectLst/>
                      </a:endParaRPr>
                    </a:p>
                  </a:txBody>
                  <a:tcPr marL="0" marR="0" marT="0" marB="0" anchor="ctr">
                    <a:lnL>
                      <a:noFill/>
                    </a:lnL>
                    <a:lnR>
                      <a:noFill/>
                    </a:lnR>
                    <a:lnT>
                      <a:noFill/>
                    </a:lnT>
                    <a:lnB>
                      <a:noFill/>
                    </a:lnB>
                    <a:noFill/>
                  </a:tcPr>
                </a:tc>
                <a:tc>
                  <a:txBody>
                    <a:bodyPr/>
                    <a:lstStyle/>
                    <a:p>
                      <a:pPr marL="283210" marR="0" indent="-283210" algn="l" rtl="0" eaLnBrk="1" fontAlgn="auto" latinLnBrk="0" hangingPunct="1">
                        <a:buClrTx/>
                        <a:buSzPts val="1300"/>
                        <a:buFont typeface="Wingdings" panose="05000000000000000000" pitchFamily="2" charset="2"/>
                        <a:buChar char="ü"/>
                      </a:pPr>
                      <a:r>
                        <a:rPr lang="en-PH" sz="1300" kern="1200">
                          <a:solidFill>
                            <a:srgbClr val="000000"/>
                          </a:solidFill>
                          <a:effectLst/>
                          <a:latin typeface="Lato" panose="020F0502020204030203" pitchFamily="34" charset="0"/>
                          <a:ea typeface="Lato" panose="020F0502020204030203" pitchFamily="34" charset="0"/>
                          <a:cs typeface="Lato" panose="020F0502020204030203" pitchFamily="34" charset="0"/>
                        </a:rPr>
                        <a:t>P4,000 of the total aggregate loan amount (Production + Supplemental) </a:t>
                      </a:r>
                      <a:r>
                        <a:rPr lang="en-PH" sz="1300" i="1" kern="1200">
                          <a:solidFill>
                            <a:srgbClr val="000000"/>
                          </a:solidFill>
                          <a:effectLst/>
                          <a:latin typeface="Lato" panose="020F0502020204030203" pitchFamily="34" charset="0"/>
                          <a:ea typeface="Lato" panose="020F0502020204030203" pitchFamily="34" charset="0"/>
                          <a:cs typeface="Lato" panose="020F0502020204030203" pitchFamily="34" charset="0"/>
                        </a:rPr>
                        <a:t>*with auto repayment implementation</a:t>
                      </a:r>
                      <a:endParaRPr lang="en-US" sz="1300">
                        <a:effectLst/>
                      </a:endParaRPr>
                    </a:p>
                    <a:p>
                      <a:pPr marL="283210" marR="0" indent="-283210" algn="l" rtl="0" eaLnBrk="1" fontAlgn="auto" latinLnBrk="0" hangingPunct="1">
                        <a:buNone/>
                      </a:pPr>
                      <a:r>
                        <a:rPr lang="en-PH" sz="1300" kern="1200">
                          <a:solidFill>
                            <a:srgbClr val="000000"/>
                          </a:solidFill>
                          <a:effectLst/>
                          <a:latin typeface="Lato" panose="020F0502020204030203" pitchFamily="34" charset="0"/>
                          <a:ea typeface="Lato" panose="020F0502020204030203" pitchFamily="34" charset="0"/>
                          <a:cs typeface="Lato" panose="020F0502020204030203" pitchFamily="34" charset="0"/>
                        </a:rPr>
                        <a:t>20% of the total aggregate loan amount </a:t>
                      </a:r>
                      <a:r>
                        <a:rPr lang="en-PH" sz="1300" i="1" kern="1200">
                          <a:solidFill>
                            <a:srgbClr val="000000"/>
                          </a:solidFill>
                          <a:effectLst/>
                          <a:latin typeface="Lato" panose="020F0502020204030203" pitchFamily="34" charset="0"/>
                          <a:ea typeface="Lato" panose="020F0502020204030203" pitchFamily="34" charset="0"/>
                          <a:cs typeface="Lato" panose="020F0502020204030203" pitchFamily="34" charset="0"/>
                        </a:rPr>
                        <a:t>*with auto repayment implementation</a:t>
                      </a:r>
                      <a:endParaRPr lang="en-US">
                        <a:effectLst/>
                      </a:endParaRPr>
                    </a:p>
                  </a:txBody>
                  <a:tcPr marL="0" marR="0" marT="0" marB="0" anchor="ctr">
                    <a:lnL>
                      <a:noFill/>
                    </a:lnL>
                    <a:lnR>
                      <a:noFill/>
                    </a:lnR>
                    <a:lnT>
                      <a:noFill/>
                    </a:lnT>
                    <a:lnB>
                      <a:noFill/>
                    </a:lnB>
                    <a:noFill/>
                  </a:tcPr>
                </a:tc>
                <a:extLst>
                  <a:ext uri="{0D108BD9-81ED-4DB2-BD59-A6C34878D82A}">
                    <a16:rowId xmlns:a16="http://schemas.microsoft.com/office/drawing/2014/main" val="2265121351"/>
                  </a:ext>
                </a:extLst>
              </a:tr>
              <a:tr h="235400">
                <a:tc>
                  <a:txBody>
                    <a:bodyPr/>
                    <a:lstStyle/>
                    <a:p>
                      <a:pPr>
                        <a:buNone/>
                      </a:pPr>
                      <a:endParaRPr lang="en-US">
                        <a:effectLst/>
                      </a:endParaRPr>
                    </a:p>
                  </a:txBody>
                  <a:tcPr marL="0" marR="0" marT="0" marB="0" anchor="ctr">
                    <a:lnL>
                      <a:noFill/>
                    </a:lnL>
                    <a:lnR>
                      <a:noFill/>
                    </a:lnR>
                    <a:lnT>
                      <a:noFill/>
                    </a:lnT>
                    <a:lnB>
                      <a:noFill/>
                    </a:lnB>
                    <a:noFill/>
                  </a:tcPr>
                </a:tc>
                <a:tc>
                  <a:txBody>
                    <a:bodyPr/>
                    <a:lstStyle/>
                    <a:p>
                      <a:pPr marL="0" marR="0" indent="0" algn="l" rtl="0" eaLnBrk="1" fontAlgn="auto" latinLnBrk="0" hangingPunct="1">
                        <a:buNone/>
                      </a:pPr>
                      <a:r>
                        <a:rPr lang="en-US" sz="1600" b="1" kern="1200">
                          <a:solidFill>
                            <a:srgbClr val="1F4766"/>
                          </a:solidFill>
                          <a:effectLst/>
                          <a:latin typeface="Lato" panose="020F0502020204030203" pitchFamily="34" charset="0"/>
                          <a:ea typeface="Lato" panose="020F0502020204030203" pitchFamily="34" charset="0"/>
                          <a:cs typeface="Lato" panose="020F0502020204030203" pitchFamily="34" charset="0"/>
                        </a:rPr>
                        <a:t>Dormancy Period</a:t>
                      </a:r>
                      <a:endParaRPr lang="en-US">
                        <a:effectLst/>
                      </a:endParaRPr>
                    </a:p>
                  </a:txBody>
                  <a:tcPr marL="0" marR="0" marT="0" marB="0" anchor="ctr">
                    <a:lnL>
                      <a:noFill/>
                    </a:lnL>
                    <a:lnR>
                      <a:noFill/>
                    </a:lnR>
                    <a:lnT>
                      <a:noFill/>
                    </a:lnT>
                    <a:lnB>
                      <a:noFill/>
                    </a:lnB>
                    <a:noFill/>
                  </a:tcPr>
                </a:tc>
                <a:extLst>
                  <a:ext uri="{0D108BD9-81ED-4DB2-BD59-A6C34878D82A}">
                    <a16:rowId xmlns:a16="http://schemas.microsoft.com/office/drawing/2014/main" val="3058449664"/>
                  </a:ext>
                </a:extLst>
              </a:tr>
              <a:tr h="235400">
                <a:tc>
                  <a:txBody>
                    <a:bodyPr/>
                    <a:lstStyle/>
                    <a:p>
                      <a:pPr>
                        <a:buNone/>
                      </a:pPr>
                      <a:endParaRPr lang="en-US">
                        <a:effectLst/>
                      </a:endParaRPr>
                    </a:p>
                  </a:txBody>
                  <a:tcPr marL="0" marR="0" marT="0" marB="0" anchor="ctr">
                    <a:lnL>
                      <a:noFill/>
                    </a:lnL>
                    <a:lnR>
                      <a:noFill/>
                    </a:lnR>
                    <a:lnT>
                      <a:noFill/>
                    </a:lnT>
                    <a:lnB>
                      <a:noFill/>
                    </a:lnB>
                    <a:noFill/>
                  </a:tcPr>
                </a:tc>
                <a:tc>
                  <a:txBody>
                    <a:bodyPr/>
                    <a:lstStyle/>
                    <a:p>
                      <a:pPr marL="283210" marR="0" indent="-283210" algn="l" rtl="0" eaLnBrk="1" fontAlgn="auto" latinLnBrk="0" hangingPunct="1">
                        <a:buClrTx/>
                        <a:buSzPts val="1300"/>
                        <a:buFont typeface="Wingdings" panose="05000000000000000000" pitchFamily="2" charset="2"/>
                        <a:buChar char="ü"/>
                      </a:pPr>
                      <a:r>
                        <a:rPr lang="en-US" sz="1300" kern="1200">
                          <a:solidFill>
                            <a:srgbClr val="000000"/>
                          </a:solidFill>
                          <a:effectLst/>
                          <a:latin typeface="Lato" panose="020F0502020204030203" pitchFamily="34" charset="0"/>
                          <a:ea typeface="Lato" panose="020F0502020204030203" pitchFamily="34" charset="0"/>
                          <a:cs typeface="Lato" panose="020F0502020204030203" pitchFamily="34" charset="0"/>
                        </a:rPr>
                        <a:t>2 years or 730 days</a:t>
                      </a:r>
                      <a:endParaRPr lang="en-US" sz="1300">
                        <a:effectLst/>
                      </a:endParaRPr>
                    </a:p>
                  </a:txBody>
                  <a:tcPr marL="0" marR="0" marT="0" marB="0" anchor="ctr">
                    <a:lnL>
                      <a:noFill/>
                    </a:lnL>
                    <a:lnR>
                      <a:noFill/>
                    </a:lnR>
                    <a:lnT>
                      <a:noFill/>
                    </a:lnT>
                    <a:lnB>
                      <a:noFill/>
                    </a:lnB>
                    <a:noFill/>
                  </a:tcPr>
                </a:tc>
                <a:extLst>
                  <a:ext uri="{0D108BD9-81ED-4DB2-BD59-A6C34878D82A}">
                    <a16:rowId xmlns:a16="http://schemas.microsoft.com/office/drawing/2014/main" val="673452666"/>
                  </a:ext>
                </a:extLst>
              </a:tr>
              <a:tr h="260180">
                <a:tc>
                  <a:txBody>
                    <a:bodyPr/>
                    <a:lstStyle/>
                    <a:p>
                      <a:pPr>
                        <a:buNone/>
                      </a:pPr>
                      <a:endParaRPr lang="en-US">
                        <a:effectLst/>
                      </a:endParaRPr>
                    </a:p>
                  </a:txBody>
                  <a:tcPr marL="0" marR="0" marT="0" marB="0" anchor="ctr">
                    <a:lnL>
                      <a:noFill/>
                    </a:lnL>
                    <a:lnR>
                      <a:noFill/>
                    </a:lnR>
                    <a:lnT>
                      <a:noFill/>
                    </a:lnT>
                    <a:lnB>
                      <a:noFill/>
                    </a:lnB>
                    <a:noFill/>
                  </a:tcPr>
                </a:tc>
                <a:tc>
                  <a:txBody>
                    <a:bodyPr/>
                    <a:lstStyle/>
                    <a:p>
                      <a:pPr marL="0" marR="0" indent="0" algn="l" rtl="0" eaLnBrk="1" fontAlgn="auto" latinLnBrk="0" hangingPunct="1">
                        <a:buNone/>
                      </a:pPr>
                      <a:r>
                        <a:rPr lang="en-US" sz="1600" b="1" kern="1200">
                          <a:solidFill>
                            <a:srgbClr val="1F4766"/>
                          </a:solidFill>
                          <a:effectLst/>
                          <a:latin typeface="Lato" panose="020F0502020204030203" pitchFamily="34" charset="0"/>
                          <a:ea typeface="Lato" panose="020F0502020204030203" pitchFamily="34" charset="0"/>
                          <a:cs typeface="Lato" panose="020F0502020204030203" pitchFamily="34" charset="0"/>
                        </a:rPr>
                        <a:t>Dormancy Fee</a:t>
                      </a:r>
                      <a:endParaRPr lang="en-US">
                        <a:effectLst/>
                      </a:endParaRPr>
                    </a:p>
                  </a:txBody>
                  <a:tcPr marL="0" marR="0" marT="0" marB="0" anchor="ctr">
                    <a:lnL>
                      <a:noFill/>
                    </a:lnL>
                    <a:lnR>
                      <a:noFill/>
                    </a:lnR>
                    <a:lnT>
                      <a:noFill/>
                    </a:lnT>
                    <a:lnB>
                      <a:noFill/>
                    </a:lnB>
                    <a:noFill/>
                  </a:tcPr>
                </a:tc>
                <a:extLst>
                  <a:ext uri="{0D108BD9-81ED-4DB2-BD59-A6C34878D82A}">
                    <a16:rowId xmlns:a16="http://schemas.microsoft.com/office/drawing/2014/main" val="317201679"/>
                  </a:ext>
                </a:extLst>
              </a:tr>
              <a:tr h="631864">
                <a:tc>
                  <a:txBody>
                    <a:bodyPr/>
                    <a:lstStyle/>
                    <a:p>
                      <a:pPr>
                        <a:buNone/>
                      </a:pPr>
                      <a:endParaRPr lang="en-US">
                        <a:effectLst/>
                      </a:endParaRPr>
                    </a:p>
                  </a:txBody>
                  <a:tcPr marL="0" marR="0" marT="0" marB="0" anchor="ctr">
                    <a:lnL>
                      <a:noFill/>
                    </a:lnL>
                    <a:lnR>
                      <a:noFill/>
                    </a:lnR>
                    <a:lnT>
                      <a:noFill/>
                    </a:lnT>
                    <a:lnB>
                      <a:noFill/>
                    </a:lnB>
                    <a:noFill/>
                  </a:tcPr>
                </a:tc>
                <a:tc>
                  <a:txBody>
                    <a:bodyPr/>
                    <a:lstStyle/>
                    <a:p>
                      <a:pPr marL="283210" marR="0" indent="-283210" algn="l" rtl="0" eaLnBrk="1" fontAlgn="auto" latinLnBrk="0" hangingPunct="1">
                        <a:buClrTx/>
                        <a:buSzPts val="1300"/>
                        <a:buFont typeface="Wingdings" panose="05000000000000000000" pitchFamily="2" charset="2"/>
                        <a:buChar char="ü"/>
                      </a:pPr>
                      <a:r>
                        <a:rPr lang="en-US" sz="1300" b="0" i="0" kern="1200">
                          <a:solidFill>
                            <a:srgbClr val="000000"/>
                          </a:solidFill>
                          <a:effectLst/>
                          <a:latin typeface="Lato" panose="020F0502020204030203" pitchFamily="34" charset="0"/>
                          <a:ea typeface="Lato" panose="020F0502020204030203" pitchFamily="34" charset="0"/>
                          <a:cs typeface="Lato" panose="020F0502020204030203" pitchFamily="34" charset="0"/>
                        </a:rPr>
                        <a:t>P30.00 per month**</a:t>
                      </a:r>
                      <a:endParaRPr lang="en-US" sz="1300">
                        <a:effectLst/>
                      </a:endParaRPr>
                    </a:p>
                    <a:p>
                      <a:pPr marL="0" marR="0" indent="0" algn="l" rtl="0" eaLnBrk="1" fontAlgn="auto" latinLnBrk="0" hangingPunct="1">
                        <a:buNone/>
                      </a:pPr>
                      <a:r>
                        <a:rPr lang="en-US" sz="1100" i="1" kern="1200">
                          <a:solidFill>
                            <a:srgbClr val="000000"/>
                          </a:solidFill>
                          <a:effectLst/>
                          <a:latin typeface="Lato" panose="020F0502020204030203" pitchFamily="34" charset="0"/>
                          <a:ea typeface="Lato" panose="020F0502020204030203" pitchFamily="34" charset="0"/>
                          <a:cs typeface="Lato" panose="020F0502020204030203" pitchFamily="34" charset="0"/>
                        </a:rPr>
                        <a:t>**Collection of Dormancy Fee will start on the 5</a:t>
                      </a:r>
                      <a:r>
                        <a:rPr lang="en-US" sz="1100" i="1" kern="1200" baseline="30000">
                          <a:solidFill>
                            <a:srgbClr val="000000"/>
                          </a:solidFill>
                          <a:effectLst/>
                          <a:latin typeface="Lato" panose="020F0502020204030203" pitchFamily="34" charset="0"/>
                          <a:ea typeface="Lato" panose="020F0502020204030203" pitchFamily="34" charset="0"/>
                          <a:cs typeface="Lato" panose="020F0502020204030203" pitchFamily="34" charset="0"/>
                        </a:rPr>
                        <a:t>th</a:t>
                      </a:r>
                      <a:r>
                        <a:rPr lang="en-US" sz="1100" i="1" kern="1200">
                          <a:solidFill>
                            <a:srgbClr val="000000"/>
                          </a:solidFill>
                          <a:effectLst/>
                          <a:latin typeface="Lato" panose="020F0502020204030203" pitchFamily="34" charset="0"/>
                          <a:ea typeface="Lato" panose="020F0502020204030203" pitchFamily="34" charset="0"/>
                          <a:cs typeface="Lato" panose="020F0502020204030203" pitchFamily="34" charset="0"/>
                        </a:rPr>
                        <a:t> year or 61</a:t>
                      </a:r>
                      <a:r>
                        <a:rPr lang="en-US" sz="1100" i="1" kern="1200" baseline="30000">
                          <a:solidFill>
                            <a:srgbClr val="000000"/>
                          </a:solidFill>
                          <a:effectLst/>
                          <a:latin typeface="Lato" panose="020F0502020204030203" pitchFamily="34" charset="0"/>
                          <a:ea typeface="Lato" panose="020F0502020204030203" pitchFamily="34" charset="0"/>
                          <a:cs typeface="Lato" panose="020F0502020204030203" pitchFamily="34" charset="0"/>
                        </a:rPr>
                        <a:t>st</a:t>
                      </a:r>
                      <a:r>
                        <a:rPr lang="en-US" sz="1100" i="1" kern="1200">
                          <a:solidFill>
                            <a:srgbClr val="000000"/>
                          </a:solidFill>
                          <a:effectLst/>
                          <a:latin typeface="Lato" panose="020F0502020204030203" pitchFamily="34" charset="0"/>
                          <a:ea typeface="Lato" panose="020F0502020204030203" pitchFamily="34" charset="0"/>
                          <a:cs typeface="Lato" panose="020F0502020204030203" pitchFamily="34" charset="0"/>
                        </a:rPr>
                        <a:t> month.</a:t>
                      </a:r>
                      <a:endParaRPr lang="en-US">
                        <a:effectLst/>
                      </a:endParaRPr>
                    </a:p>
                  </a:txBody>
                  <a:tcPr marL="0" marR="0" marT="0" marB="0" anchor="ctr">
                    <a:lnL>
                      <a:noFill/>
                    </a:lnL>
                    <a:lnR>
                      <a:noFill/>
                    </a:lnR>
                    <a:lnT>
                      <a:noFill/>
                    </a:lnT>
                    <a:lnB>
                      <a:noFill/>
                    </a:lnB>
                    <a:noFill/>
                  </a:tcPr>
                </a:tc>
                <a:extLst>
                  <a:ext uri="{0D108BD9-81ED-4DB2-BD59-A6C34878D82A}">
                    <a16:rowId xmlns:a16="http://schemas.microsoft.com/office/drawing/2014/main" val="3935527805"/>
                  </a:ext>
                </a:extLst>
              </a:tr>
              <a:tr h="235400">
                <a:tc>
                  <a:txBody>
                    <a:bodyPr/>
                    <a:lstStyle/>
                    <a:p>
                      <a:pPr>
                        <a:buNone/>
                      </a:pPr>
                      <a:endParaRPr lang="en-US">
                        <a:effectLst/>
                      </a:endParaRPr>
                    </a:p>
                  </a:txBody>
                  <a:tcPr marL="0" marR="0" marT="0" marB="0" anchor="ctr">
                    <a:lnL>
                      <a:noFill/>
                    </a:lnL>
                    <a:lnR>
                      <a:noFill/>
                    </a:lnR>
                    <a:lnT>
                      <a:noFill/>
                    </a:lnT>
                    <a:lnB>
                      <a:noFill/>
                    </a:lnB>
                    <a:noFill/>
                  </a:tcPr>
                </a:tc>
                <a:tc>
                  <a:txBody>
                    <a:bodyPr/>
                    <a:lstStyle/>
                    <a:p>
                      <a:pPr marL="0" algn="l" rtl="0" eaLnBrk="1" fontAlgn="base" latinLnBrk="0" hangingPunct="1">
                        <a:buNone/>
                      </a:pPr>
                      <a:r>
                        <a:rPr lang="en-US" sz="1600" b="1" i="0" kern="1200">
                          <a:solidFill>
                            <a:srgbClr val="1F4766"/>
                          </a:solidFill>
                          <a:effectLst/>
                          <a:latin typeface="Lato" panose="020F0502020204030203" pitchFamily="34" charset="0"/>
                          <a:ea typeface="Lato" panose="020F0502020204030203" pitchFamily="34" charset="0"/>
                          <a:cs typeface="Lato" panose="020F0502020204030203" pitchFamily="34" charset="0"/>
                        </a:rPr>
                        <a:t>Eligibility</a:t>
                      </a:r>
                      <a:endParaRPr lang="en-US">
                        <a:effectLst/>
                      </a:endParaRPr>
                    </a:p>
                  </a:txBody>
                  <a:tcPr marL="0" marR="0" marT="0" marB="0" anchor="ctr">
                    <a:lnL>
                      <a:noFill/>
                    </a:lnL>
                    <a:lnR>
                      <a:noFill/>
                    </a:lnR>
                    <a:lnT>
                      <a:noFill/>
                    </a:lnT>
                    <a:lnB>
                      <a:noFill/>
                    </a:lnB>
                    <a:noFill/>
                  </a:tcPr>
                </a:tc>
                <a:extLst>
                  <a:ext uri="{0D108BD9-81ED-4DB2-BD59-A6C34878D82A}">
                    <a16:rowId xmlns:a16="http://schemas.microsoft.com/office/drawing/2014/main" val="572024651"/>
                  </a:ext>
                </a:extLst>
              </a:tr>
              <a:tr h="346906">
                <a:tc>
                  <a:txBody>
                    <a:bodyPr/>
                    <a:lstStyle/>
                    <a:p>
                      <a:pPr>
                        <a:buNone/>
                      </a:pPr>
                      <a:endParaRPr lang="en-US">
                        <a:effectLst/>
                      </a:endParaRPr>
                    </a:p>
                  </a:txBody>
                  <a:tcPr marL="0" marR="0" marT="0" marB="0" anchor="ctr">
                    <a:lnL>
                      <a:noFill/>
                    </a:lnL>
                    <a:lnR>
                      <a:noFill/>
                    </a:lnR>
                    <a:lnT>
                      <a:noFill/>
                    </a:lnT>
                    <a:lnB>
                      <a:noFill/>
                    </a:lnB>
                    <a:noFill/>
                  </a:tcPr>
                </a:tc>
                <a:tc>
                  <a:txBody>
                    <a:bodyPr/>
                    <a:lstStyle/>
                    <a:p>
                      <a:pPr marL="283210" indent="-283210" algn="l" rtl="0" eaLnBrk="1" fontAlgn="base" latinLnBrk="0" hangingPunct="1">
                        <a:buClrTx/>
                        <a:buSzPts val="1300"/>
                        <a:buFont typeface="Wingdings" panose="05000000000000000000" pitchFamily="2" charset="2"/>
                        <a:buChar char="ü"/>
                      </a:pPr>
                      <a:r>
                        <a:rPr lang="en-US" sz="1300" b="0" i="0" kern="1200">
                          <a:solidFill>
                            <a:srgbClr val="000000"/>
                          </a:solidFill>
                          <a:effectLst/>
                          <a:latin typeface="Lato" panose="020F0502020204030203" pitchFamily="34" charset="0"/>
                          <a:ea typeface="Lato" panose="020F0502020204030203" pitchFamily="34" charset="0"/>
                          <a:cs typeface="Lato" panose="020F0502020204030203" pitchFamily="34" charset="0"/>
                        </a:rPr>
                        <a:t>All RAFI MFI members</a:t>
                      </a:r>
                      <a:endParaRPr lang="en-US" sz="1300">
                        <a:effectLst/>
                      </a:endParaRPr>
                    </a:p>
                  </a:txBody>
                  <a:tcPr marL="0" marR="0" marT="0" marB="0" anchor="ctr">
                    <a:lnL>
                      <a:noFill/>
                    </a:lnL>
                    <a:lnR>
                      <a:noFill/>
                    </a:lnR>
                    <a:lnT>
                      <a:noFill/>
                    </a:lnT>
                    <a:lnB>
                      <a:noFill/>
                    </a:lnB>
                    <a:noFill/>
                  </a:tcPr>
                </a:tc>
                <a:extLst>
                  <a:ext uri="{0D108BD9-81ED-4DB2-BD59-A6C34878D82A}">
                    <a16:rowId xmlns:a16="http://schemas.microsoft.com/office/drawing/2014/main" val="2527456488"/>
                  </a:ext>
                </a:extLst>
              </a:tr>
            </a:tbl>
          </a:graphicData>
        </a:graphic>
      </p:graphicFrame>
    </p:spTree>
    <p:extLst>
      <p:ext uri="{BB962C8B-B14F-4D97-AF65-F5344CB8AC3E}">
        <p14:creationId xmlns:p14="http://schemas.microsoft.com/office/powerpoint/2010/main" val="23616388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8151A-D8BF-EC75-63D5-9411D3CD39A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002769-49A6-799D-8092-97F1BB44B28E}"/>
              </a:ext>
            </a:extLst>
          </p:cNvPr>
          <p:cNvSpPr>
            <a:spLocks noGrp="1"/>
          </p:cNvSpPr>
          <p:nvPr>
            <p:ph type="sldNum" sz="quarter" idx="12"/>
          </p:nvPr>
        </p:nvSpPr>
        <p:spPr/>
        <p:txBody>
          <a:bodyPr/>
          <a:lstStyle/>
          <a:p>
            <a:fld id="{36D53BC0-5915-4EE6-A8B4-385258777E7F}" type="slidenum">
              <a:rPr lang="en-PH" smtClean="0"/>
              <a:pPr/>
              <a:t>39</a:t>
            </a:fld>
            <a:endParaRPr lang="en-PH"/>
          </a:p>
        </p:txBody>
      </p:sp>
      <p:pic>
        <p:nvPicPr>
          <p:cNvPr id="30" name="Picture 29" descr="A white text on a black background&#10;&#10;AI-generated content may be incorrect.">
            <a:extLst>
              <a:ext uri="{FF2B5EF4-FFF2-40B4-BE49-F238E27FC236}">
                <a16:creationId xmlns:a16="http://schemas.microsoft.com/office/drawing/2014/main" id="{F74443DC-48AB-29EA-8842-B020A0968030}"/>
              </a:ext>
            </a:extLst>
          </p:cNvPr>
          <p:cNvPicPr>
            <a:picLocks noChangeAspect="1"/>
          </p:cNvPicPr>
          <p:nvPr/>
        </p:nvPicPr>
        <p:blipFill>
          <a:blip r:embed="rId2"/>
          <a:stretch>
            <a:fillRect/>
          </a:stretch>
        </p:blipFill>
        <p:spPr>
          <a:xfrm>
            <a:off x="970073" y="519934"/>
            <a:ext cx="10067925" cy="5581650"/>
          </a:xfrm>
          <a:prstGeom prst="rect">
            <a:avLst/>
          </a:prstGeom>
        </p:spPr>
      </p:pic>
    </p:spTree>
    <p:extLst>
      <p:ext uri="{BB962C8B-B14F-4D97-AF65-F5344CB8AC3E}">
        <p14:creationId xmlns:p14="http://schemas.microsoft.com/office/powerpoint/2010/main" val="9994582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99FAF-DC88-CE36-E545-0C8D321F19A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E2D203C-B7AC-E22A-11EC-A311D6C89929}"/>
              </a:ext>
            </a:extLst>
          </p:cNvPr>
          <p:cNvSpPr>
            <a:spLocks noGrp="1"/>
          </p:cNvSpPr>
          <p:nvPr>
            <p:ph type="sldNum" sz="quarter" idx="12"/>
          </p:nvPr>
        </p:nvSpPr>
        <p:spPr/>
        <p:txBody>
          <a:bodyPr/>
          <a:lstStyle/>
          <a:p>
            <a:fld id="{36D53BC0-5915-4EE6-A8B4-385258777E7F}" type="slidenum">
              <a:rPr lang="en-PH" smtClean="0"/>
              <a:pPr/>
              <a:t>40</a:t>
            </a:fld>
            <a:endParaRPr lang="en-PH"/>
          </a:p>
        </p:txBody>
      </p:sp>
      <p:pic>
        <p:nvPicPr>
          <p:cNvPr id="3" name="Picture 2" descr="A close up of text&#10;&#10;AI-generated content may be incorrect.">
            <a:extLst>
              <a:ext uri="{FF2B5EF4-FFF2-40B4-BE49-F238E27FC236}">
                <a16:creationId xmlns:a16="http://schemas.microsoft.com/office/drawing/2014/main" id="{90DDC944-4EAF-9B30-1404-8DD0BD615135}"/>
              </a:ext>
            </a:extLst>
          </p:cNvPr>
          <p:cNvPicPr>
            <a:picLocks noChangeAspect="1"/>
          </p:cNvPicPr>
          <p:nvPr/>
        </p:nvPicPr>
        <p:blipFill>
          <a:blip r:embed="rId2"/>
          <a:stretch>
            <a:fillRect/>
          </a:stretch>
        </p:blipFill>
        <p:spPr>
          <a:xfrm>
            <a:off x="1116396" y="486597"/>
            <a:ext cx="9696450" cy="1969704"/>
          </a:xfrm>
          <a:prstGeom prst="rect">
            <a:avLst/>
          </a:prstGeom>
        </p:spPr>
      </p:pic>
      <p:pic>
        <p:nvPicPr>
          <p:cNvPr id="5" name="Picture 4" descr="A close up of a text&#10;&#10;AI-generated content may be incorrect.">
            <a:extLst>
              <a:ext uri="{FF2B5EF4-FFF2-40B4-BE49-F238E27FC236}">
                <a16:creationId xmlns:a16="http://schemas.microsoft.com/office/drawing/2014/main" id="{99D60F13-5CDF-464F-EFE5-09DE6AB08976}"/>
              </a:ext>
            </a:extLst>
          </p:cNvPr>
          <p:cNvPicPr>
            <a:picLocks noChangeAspect="1"/>
          </p:cNvPicPr>
          <p:nvPr/>
        </p:nvPicPr>
        <p:blipFill>
          <a:blip r:embed="rId3"/>
          <a:stretch>
            <a:fillRect/>
          </a:stretch>
        </p:blipFill>
        <p:spPr>
          <a:xfrm>
            <a:off x="1424808" y="2541533"/>
            <a:ext cx="9867900" cy="3298934"/>
          </a:xfrm>
          <a:prstGeom prst="rect">
            <a:avLst/>
          </a:prstGeom>
        </p:spPr>
      </p:pic>
    </p:spTree>
    <p:extLst>
      <p:ext uri="{BB962C8B-B14F-4D97-AF65-F5344CB8AC3E}">
        <p14:creationId xmlns:p14="http://schemas.microsoft.com/office/powerpoint/2010/main" val="3841859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D65DC-810F-93B6-76B5-9F5AE52DB1B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B90442-27B2-9946-6246-737776B81E6F}"/>
              </a:ext>
            </a:extLst>
          </p:cNvPr>
          <p:cNvSpPr>
            <a:spLocks noGrp="1"/>
          </p:cNvSpPr>
          <p:nvPr>
            <p:ph type="sldNum" sz="quarter" idx="12"/>
          </p:nvPr>
        </p:nvSpPr>
        <p:spPr/>
        <p:txBody>
          <a:bodyPr/>
          <a:lstStyle/>
          <a:p>
            <a:fld id="{36D53BC0-5915-4EE6-A8B4-385258777E7F}" type="slidenum">
              <a:rPr lang="en-PH" smtClean="0"/>
              <a:pPr/>
              <a:t>41</a:t>
            </a:fld>
            <a:endParaRPr lang="en-PH"/>
          </a:p>
        </p:txBody>
      </p:sp>
      <p:pic>
        <p:nvPicPr>
          <p:cNvPr id="3" name="Picture 2" descr="A white text with black text&#10;&#10;AI-generated content may be incorrect.">
            <a:extLst>
              <a:ext uri="{FF2B5EF4-FFF2-40B4-BE49-F238E27FC236}">
                <a16:creationId xmlns:a16="http://schemas.microsoft.com/office/drawing/2014/main" id="{01BA4E72-0446-EEE5-47ED-885C21F19C16}"/>
              </a:ext>
            </a:extLst>
          </p:cNvPr>
          <p:cNvPicPr>
            <a:picLocks noChangeAspect="1"/>
          </p:cNvPicPr>
          <p:nvPr/>
        </p:nvPicPr>
        <p:blipFill>
          <a:blip r:embed="rId2"/>
          <a:stretch>
            <a:fillRect/>
          </a:stretch>
        </p:blipFill>
        <p:spPr>
          <a:xfrm>
            <a:off x="803877" y="1091599"/>
            <a:ext cx="10820728" cy="4228114"/>
          </a:xfrm>
          <a:prstGeom prst="rect">
            <a:avLst/>
          </a:prstGeom>
        </p:spPr>
      </p:pic>
    </p:spTree>
    <p:extLst>
      <p:ext uri="{BB962C8B-B14F-4D97-AF65-F5344CB8AC3E}">
        <p14:creationId xmlns:p14="http://schemas.microsoft.com/office/powerpoint/2010/main" val="13873817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0601B8-20FF-85A1-98C9-1F3035E6501D}"/>
              </a:ext>
            </a:extLst>
          </p:cNvPr>
          <p:cNvSpPr>
            <a:spLocks noGrp="1"/>
          </p:cNvSpPr>
          <p:nvPr>
            <p:ph type="sldNum" sz="quarter" idx="12"/>
          </p:nvPr>
        </p:nvSpPr>
        <p:spPr/>
        <p:txBody>
          <a:bodyPr/>
          <a:lstStyle/>
          <a:p>
            <a:fld id="{36D53BC0-5915-4EE6-A8B4-385258777E7F}" type="slidenum">
              <a:rPr lang="en-PH" smtClean="0"/>
              <a:pPr/>
              <a:t>42</a:t>
            </a:fld>
            <a:endParaRPr lang="en-PH"/>
          </a:p>
        </p:txBody>
      </p:sp>
      <p:sp>
        <p:nvSpPr>
          <p:cNvPr id="5" name="Text Placeholder 4">
            <a:extLst>
              <a:ext uri="{FF2B5EF4-FFF2-40B4-BE49-F238E27FC236}">
                <a16:creationId xmlns:a16="http://schemas.microsoft.com/office/drawing/2014/main" id="{D13E1789-8716-91C9-9A59-9FFF7F263FD1}"/>
              </a:ext>
            </a:extLst>
          </p:cNvPr>
          <p:cNvSpPr txBox="1">
            <a:spLocks/>
          </p:cNvSpPr>
          <p:nvPr/>
        </p:nvSpPr>
        <p:spPr>
          <a:xfrm>
            <a:off x="330569" y="1765662"/>
            <a:ext cx="7445375" cy="113680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Font typeface="Arial" panose="020B0604020202020204" pitchFamily="34" charset="0"/>
              <a:buNone/>
            </a:pPr>
            <a:r>
              <a:rPr lang="en-US" sz="1600">
                <a:solidFill>
                  <a:srgbClr val="1F4766"/>
                </a:solidFill>
              </a:rPr>
              <a:t>A voluntary savings product on top of the CBU tied to a supplemental loan that offers higher interest for client financial empowerment by providing protection in the event of financial emergency leading to a greater sense of financial freedom and literacy.</a:t>
            </a:r>
            <a:endParaRPr lang="en-PH" sz="1600">
              <a:solidFill>
                <a:srgbClr val="1F4766"/>
              </a:solidFill>
            </a:endParaRPr>
          </a:p>
        </p:txBody>
      </p:sp>
      <p:sp>
        <p:nvSpPr>
          <p:cNvPr id="9" name="TextBox 8">
            <a:extLst>
              <a:ext uri="{FF2B5EF4-FFF2-40B4-BE49-F238E27FC236}">
                <a16:creationId xmlns:a16="http://schemas.microsoft.com/office/drawing/2014/main" id="{175D4F8D-DC29-1C5E-55C2-EBFDE2FB3DEC}"/>
              </a:ext>
            </a:extLst>
          </p:cNvPr>
          <p:cNvSpPr txBox="1"/>
          <p:nvPr/>
        </p:nvSpPr>
        <p:spPr>
          <a:xfrm>
            <a:off x="279385" y="2999482"/>
            <a:ext cx="7445374" cy="3539430"/>
          </a:xfrm>
          <a:prstGeom prst="rect">
            <a:avLst/>
          </a:prstGeom>
          <a:noFill/>
        </p:spPr>
        <p:txBody>
          <a:bodyPr wrap="square" lIns="91440" tIns="45720" rIns="91440" bIns="45720" anchor="t">
            <a:spAutoFit/>
          </a:bodyPr>
          <a:lstStyle/>
          <a:p>
            <a:pPr marL="0" indent="0">
              <a:spcBef>
                <a:spcPts val="0"/>
              </a:spcBef>
              <a:buNone/>
              <a:defRPr/>
            </a:pPr>
            <a:r>
              <a:rPr lang="en-PH" sz="1600" b="1">
                <a:solidFill>
                  <a:srgbClr val="1F4766"/>
                </a:solidFill>
                <a:effectLst/>
                <a:latin typeface="Lato"/>
                <a:ea typeface="Lato"/>
                <a:cs typeface="Lato"/>
              </a:rPr>
              <a:t>Unique Selling Proposition</a:t>
            </a:r>
          </a:p>
          <a:p>
            <a:pPr marL="285750" indent="-285750" algn="just" rtl="0" fontAlgn="base">
              <a:buFont typeface="Arial" panose="020B0604020202020204" pitchFamily="34" charset="0"/>
              <a:buChar char="•"/>
            </a:pPr>
            <a:r>
              <a:rPr lang="en-US" sz="1600" u="none" strike="noStrike">
                <a:solidFill>
                  <a:srgbClr val="1F4766"/>
                </a:solidFill>
                <a:effectLst/>
                <a:latin typeface="Lato"/>
                <a:ea typeface="Lato"/>
                <a:cs typeface="Lato"/>
              </a:rPr>
              <a:t>An investment product that earns a higher interest rate compared to other financial institutions</a:t>
            </a:r>
          </a:p>
          <a:p>
            <a:pPr marL="285750" indent="-285750" algn="just" rtl="0" fontAlgn="base">
              <a:buFont typeface="Arial" panose="020B0604020202020204" pitchFamily="34" charset="0"/>
              <a:buChar char="•"/>
            </a:pPr>
            <a:r>
              <a:rPr lang="en-US" sz="1600" u="none" strike="noStrike">
                <a:solidFill>
                  <a:srgbClr val="1F4766"/>
                </a:solidFill>
                <a:effectLst/>
                <a:latin typeface="Lato"/>
                <a:ea typeface="Lato"/>
                <a:cs typeface="Lato"/>
              </a:rPr>
              <a:t>Boasts of an instantly activated savings facility that is easy to access with less requirements​</a:t>
            </a:r>
          </a:p>
          <a:p>
            <a:pPr marL="285750" indent="-285750" algn="just" rtl="0" fontAlgn="base">
              <a:buFont typeface="Arial" panose="020B0604020202020204" pitchFamily="34" charset="0"/>
              <a:buChar char="•"/>
            </a:pPr>
            <a:r>
              <a:rPr lang="en-US" sz="1600" u="none" strike="noStrike">
                <a:solidFill>
                  <a:srgbClr val="1F4766"/>
                </a:solidFill>
                <a:effectLst/>
                <a:latin typeface="Lato"/>
                <a:ea typeface="Lato"/>
                <a:cs typeface="Lato"/>
              </a:rPr>
              <a:t>Promotes savings habit and discipline in order to support the client in times of emergencies (calamities, rainy days), family expense purpose (retirement, education) and in enabling the </a:t>
            </a:r>
            <a:r>
              <a:rPr lang="en-US" sz="1600">
                <a:solidFill>
                  <a:srgbClr val="1F4766"/>
                </a:solidFill>
                <a:latin typeface="Lato"/>
                <a:ea typeface="Lato"/>
                <a:cs typeface="Lato"/>
              </a:rPr>
              <a:t>build-</a:t>
            </a:r>
            <a:r>
              <a:rPr lang="en-US" sz="1600" u="none" strike="noStrike">
                <a:solidFill>
                  <a:srgbClr val="1F4766"/>
                </a:solidFill>
                <a:effectLst/>
                <a:latin typeface="Lato"/>
                <a:ea typeface="Lato"/>
                <a:cs typeface="Lato"/>
              </a:rPr>
              <a:t> up of funds for business. ​</a:t>
            </a:r>
          </a:p>
          <a:p>
            <a:pPr marL="285750" indent="-285750" algn="just" rtl="0" fontAlgn="base">
              <a:buFont typeface="Arial" panose="020B0604020202020204" pitchFamily="34" charset="0"/>
              <a:buChar char="•"/>
            </a:pPr>
            <a:r>
              <a:rPr lang="en-US" sz="1600" u="none" strike="noStrike">
                <a:solidFill>
                  <a:srgbClr val="1F4766"/>
                </a:solidFill>
                <a:effectLst/>
                <a:latin typeface="Lato"/>
                <a:ea typeface="Lato"/>
                <a:cs typeface="Lato"/>
              </a:rPr>
              <a:t>Opportunity to save on stable financial institution through RAFI MFI​</a:t>
            </a:r>
          </a:p>
          <a:p>
            <a:pPr marL="285750" indent="-285750" algn="just" rtl="0" fontAlgn="base">
              <a:buFont typeface="Arial" panose="020B0604020202020204" pitchFamily="34" charset="0"/>
              <a:buChar char="•"/>
            </a:pPr>
            <a:r>
              <a:rPr lang="en-US" sz="1600" u="none" strike="noStrike">
                <a:solidFill>
                  <a:srgbClr val="1F4766"/>
                </a:solidFill>
                <a:effectLst/>
                <a:latin typeface="Lato"/>
                <a:ea typeface="Lato"/>
                <a:cs typeface="Lato"/>
              </a:rPr>
              <a:t>Opportunity to avail of other ancillary products that RAFI MFI has on its product menu​</a:t>
            </a:r>
          </a:p>
          <a:p>
            <a:pPr marL="285750" indent="-285750" algn="just" rtl="0" fontAlgn="base">
              <a:buFont typeface="Arial" panose="020B0604020202020204" pitchFamily="34" charset="0"/>
              <a:buChar char="•"/>
            </a:pPr>
            <a:r>
              <a:rPr lang="en-US" sz="1600" u="none" strike="noStrike">
                <a:solidFill>
                  <a:srgbClr val="1F4766"/>
                </a:solidFill>
                <a:effectLst/>
                <a:latin typeface="Lato"/>
                <a:ea typeface="Lato"/>
                <a:cs typeface="Lato"/>
              </a:rPr>
              <a:t>Greater risk protection and financial freedom through an additional savings account</a:t>
            </a:r>
          </a:p>
          <a:p>
            <a:pPr marL="285750" indent="-285750" algn="just" rtl="0" fontAlgn="base">
              <a:buFont typeface="Arial" panose="020B0604020202020204" pitchFamily="34" charset="0"/>
              <a:buChar char="•"/>
            </a:pPr>
            <a:endParaRPr lang="en-US" sz="1600" u="none" strike="noStrike">
              <a:solidFill>
                <a:srgbClr val="1F4766"/>
              </a:solidFill>
              <a:effectLst/>
              <a:latin typeface="Lato" panose="020F0502020204030203" pitchFamily="34" charset="0"/>
              <a:ea typeface="Lato" panose="020F0502020204030203" pitchFamily="34" charset="0"/>
              <a:cs typeface="Lato" panose="020F0502020204030203" pitchFamily="34" charset="0"/>
            </a:endParaRPr>
          </a:p>
        </p:txBody>
      </p:sp>
      <p:pic>
        <p:nvPicPr>
          <p:cNvPr id="10" name="Picture 2">
            <a:extLst>
              <a:ext uri="{FF2B5EF4-FFF2-40B4-BE49-F238E27FC236}">
                <a16:creationId xmlns:a16="http://schemas.microsoft.com/office/drawing/2014/main" id="{5242AB8D-F2E3-F61B-8BF5-CE4870DDAE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89929" y="214934"/>
            <a:ext cx="3844991" cy="5747657"/>
          </a:xfrm>
          <a:prstGeom prst="rect">
            <a:avLst/>
          </a:prstGeom>
          <a:noFill/>
          <a:extLst>
            <a:ext uri="{909E8E84-426E-40DD-AFC4-6F175D3DCCD1}">
              <a14:hiddenFill xmlns:a14="http://schemas.microsoft.com/office/drawing/2010/main">
                <a:solidFill>
                  <a:srgbClr val="FFFFFF"/>
                </a:solidFill>
              </a14:hiddenFill>
            </a:ext>
          </a:extLst>
        </p:spPr>
      </p:pic>
      <p:sp>
        <p:nvSpPr>
          <p:cNvPr id="11" name="Arrow: Right 10">
            <a:extLst>
              <a:ext uri="{FF2B5EF4-FFF2-40B4-BE49-F238E27FC236}">
                <a16:creationId xmlns:a16="http://schemas.microsoft.com/office/drawing/2014/main" id="{B0CC8043-2872-0959-ADE2-E5EC5B28A25F}"/>
              </a:ext>
            </a:extLst>
          </p:cNvPr>
          <p:cNvSpPr/>
          <p:nvPr/>
        </p:nvSpPr>
        <p:spPr>
          <a:xfrm>
            <a:off x="471630" y="214934"/>
            <a:ext cx="7304314" cy="1626041"/>
          </a:xfrm>
          <a:prstGeom prst="rightArrow">
            <a:avLst/>
          </a:prstGeom>
          <a:solidFill>
            <a:srgbClr val="FFD92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2800" b="1">
                <a:solidFill>
                  <a:srgbClr val="1F4766"/>
                </a:solidFill>
                <a:latin typeface="Lato" panose="020F0502020204030203" pitchFamily="34" charset="0"/>
                <a:ea typeface="Lato" panose="020F0502020204030203" pitchFamily="34" charset="0"/>
                <a:cs typeface="Lato" panose="020F0502020204030203" pitchFamily="34" charset="0"/>
              </a:rPr>
              <a:t>        </a:t>
            </a:r>
            <a:r>
              <a:rPr lang="en-PH" sz="2800" b="1" i="1" err="1">
                <a:solidFill>
                  <a:srgbClr val="1F4766"/>
                </a:solidFill>
                <a:latin typeface="Lato" panose="020F0502020204030203" pitchFamily="34" charset="0"/>
                <a:ea typeface="Lato" panose="020F0502020204030203" pitchFamily="34" charset="0"/>
                <a:cs typeface="Lato" panose="020F0502020204030203" pitchFamily="34" charset="0"/>
              </a:rPr>
              <a:t>MyIpon</a:t>
            </a:r>
            <a:r>
              <a:rPr lang="en-PH" sz="2800" b="1" i="1">
                <a:solidFill>
                  <a:srgbClr val="1F4766"/>
                </a:solidFill>
                <a:latin typeface="Lato" panose="020F0502020204030203" pitchFamily="34" charset="0"/>
                <a:ea typeface="Lato" panose="020F0502020204030203" pitchFamily="34" charset="0"/>
                <a:cs typeface="Lato" panose="020F0502020204030203" pitchFamily="34" charset="0"/>
              </a:rPr>
              <a:t> Savings</a:t>
            </a:r>
          </a:p>
        </p:txBody>
      </p:sp>
      <p:grpSp>
        <p:nvGrpSpPr>
          <p:cNvPr id="12" name="Group 11">
            <a:extLst>
              <a:ext uri="{FF2B5EF4-FFF2-40B4-BE49-F238E27FC236}">
                <a16:creationId xmlns:a16="http://schemas.microsoft.com/office/drawing/2014/main" id="{01A6A387-27BD-3759-D671-8A97EB87D32A}"/>
              </a:ext>
            </a:extLst>
          </p:cNvPr>
          <p:cNvGrpSpPr/>
          <p:nvPr/>
        </p:nvGrpSpPr>
        <p:grpSpPr>
          <a:xfrm>
            <a:off x="885615" y="629919"/>
            <a:ext cx="1146727" cy="740684"/>
            <a:chOff x="930439" y="310890"/>
            <a:chExt cx="1146727" cy="740684"/>
          </a:xfrm>
        </p:grpSpPr>
        <p:sp>
          <p:nvSpPr>
            <p:cNvPr id="13" name="Rectangle 12">
              <a:extLst>
                <a:ext uri="{FF2B5EF4-FFF2-40B4-BE49-F238E27FC236}">
                  <a16:creationId xmlns:a16="http://schemas.microsoft.com/office/drawing/2014/main" id="{B7DF43CD-32C8-0DC8-950E-719EFCAF4775}"/>
                </a:ext>
              </a:extLst>
            </p:cNvPr>
            <p:cNvSpPr/>
            <p:nvPr/>
          </p:nvSpPr>
          <p:spPr>
            <a:xfrm>
              <a:off x="930439" y="310890"/>
              <a:ext cx="1146727" cy="740684"/>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pic>
          <p:nvPicPr>
            <p:cNvPr id="14" name="Picture 13" descr="Logo&#10;&#10;Description automatically generated">
              <a:extLst>
                <a:ext uri="{FF2B5EF4-FFF2-40B4-BE49-F238E27FC236}">
                  <a16:creationId xmlns:a16="http://schemas.microsoft.com/office/drawing/2014/main" id="{818C51EC-B38E-9178-35BF-833E490AE0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35859" y="348590"/>
              <a:ext cx="535886" cy="612305"/>
            </a:xfrm>
            <a:prstGeom prst="rect">
              <a:avLst/>
            </a:prstGeom>
            <a:ln>
              <a:noFill/>
            </a:ln>
            <a:effectLst/>
          </p:spPr>
        </p:pic>
      </p:grpSp>
    </p:spTree>
    <p:extLst>
      <p:ext uri="{BB962C8B-B14F-4D97-AF65-F5344CB8AC3E}">
        <p14:creationId xmlns:p14="http://schemas.microsoft.com/office/powerpoint/2010/main" val="32821976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53EA2BA-8483-D3DE-DE62-79C4B723AF8D}"/>
              </a:ext>
            </a:extLst>
          </p:cNvPr>
          <p:cNvSpPr>
            <a:spLocks noGrp="1"/>
          </p:cNvSpPr>
          <p:nvPr>
            <p:ph type="sldNum" sz="quarter" idx="12"/>
          </p:nvPr>
        </p:nvSpPr>
        <p:spPr/>
        <p:txBody>
          <a:bodyPr/>
          <a:lstStyle/>
          <a:p>
            <a:fld id="{36D53BC0-5915-4EE6-A8B4-385258777E7F}" type="slidenum">
              <a:rPr lang="en-PH" smtClean="0"/>
              <a:pPr/>
              <a:t>43</a:t>
            </a:fld>
            <a:endParaRPr lang="en-PH"/>
          </a:p>
        </p:txBody>
      </p:sp>
      <p:sp>
        <p:nvSpPr>
          <p:cNvPr id="5" name="Title 1">
            <a:extLst>
              <a:ext uri="{FF2B5EF4-FFF2-40B4-BE49-F238E27FC236}">
                <a16:creationId xmlns:a16="http://schemas.microsoft.com/office/drawing/2014/main" id="{049CA0C8-0633-D4AA-BC0B-A512096E0758}"/>
              </a:ext>
            </a:extLst>
          </p:cNvPr>
          <p:cNvSpPr>
            <a:spLocks noGrp="1"/>
          </p:cNvSpPr>
          <p:nvPr>
            <p:ph type="title"/>
          </p:nvPr>
        </p:nvSpPr>
        <p:spPr>
          <a:xfrm>
            <a:off x="530486" y="941633"/>
            <a:ext cx="3430749" cy="608779"/>
          </a:xfrm>
        </p:spPr>
        <p:txBody>
          <a:bodyPr/>
          <a:lstStyle/>
          <a:p>
            <a:r>
              <a:rPr lang="en-US" sz="3200" b="1">
                <a:highlight>
                  <a:srgbClr val="FFFF00"/>
                </a:highlight>
              </a:rPr>
              <a:t>Product Features</a:t>
            </a:r>
          </a:p>
        </p:txBody>
      </p:sp>
      <p:graphicFrame>
        <p:nvGraphicFramePr>
          <p:cNvPr id="6" name="Table 27">
            <a:extLst>
              <a:ext uri="{FF2B5EF4-FFF2-40B4-BE49-F238E27FC236}">
                <a16:creationId xmlns:a16="http://schemas.microsoft.com/office/drawing/2014/main" id="{D68CD8CA-6A47-ADAC-FC24-15DF8B0B3502}"/>
              </a:ext>
            </a:extLst>
          </p:cNvPr>
          <p:cNvGraphicFramePr>
            <a:graphicFrameLocks noGrp="1"/>
          </p:cNvGraphicFramePr>
          <p:nvPr>
            <p:extLst>
              <p:ext uri="{D42A27DB-BD31-4B8C-83A1-F6EECF244321}">
                <p14:modId xmlns:p14="http://schemas.microsoft.com/office/powerpoint/2010/main" val="1569896170"/>
              </p:ext>
            </p:extLst>
          </p:nvPr>
        </p:nvGraphicFramePr>
        <p:xfrm>
          <a:off x="4006884" y="136525"/>
          <a:ext cx="3798856" cy="6362238"/>
        </p:xfrm>
        <a:graphic>
          <a:graphicData uri="http://schemas.openxmlformats.org/drawingml/2006/table">
            <a:tbl>
              <a:tblPr firstRow="1" bandRow="1">
                <a:tableStyleId>{2D5ABB26-0587-4C30-8999-92F81FD0307C}</a:tableStyleId>
              </a:tblPr>
              <a:tblGrid>
                <a:gridCol w="778682">
                  <a:extLst>
                    <a:ext uri="{9D8B030D-6E8A-4147-A177-3AD203B41FA5}">
                      <a16:colId xmlns:a16="http://schemas.microsoft.com/office/drawing/2014/main" val="1622108729"/>
                    </a:ext>
                  </a:extLst>
                </a:gridCol>
                <a:gridCol w="3020174">
                  <a:extLst>
                    <a:ext uri="{9D8B030D-6E8A-4147-A177-3AD203B41FA5}">
                      <a16:colId xmlns:a16="http://schemas.microsoft.com/office/drawing/2014/main" val="1450379266"/>
                    </a:ext>
                  </a:extLst>
                </a:gridCol>
              </a:tblGrid>
              <a:tr h="614773">
                <a:tc rowSpan="2">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a:solidFill>
                            <a:srgbClr val="1F4766"/>
                          </a:solidFill>
                          <a:latin typeface="Lato" panose="020F0502020204030203" pitchFamily="34" charset="0"/>
                          <a:ea typeface="Lato" panose="020F0502020204030203" pitchFamily="34" charset="0"/>
                          <a:cs typeface="Lato" panose="020F0502020204030203" pitchFamily="34" charset="0"/>
                        </a:rPr>
                        <a:t>Opening and Deposit Requirement</a:t>
                      </a:r>
                      <a:endParaRPr lang="en-PH" sz="1800" b="1">
                        <a:solidFill>
                          <a:srgbClr val="1F4766"/>
                        </a:solidFill>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0170993"/>
                  </a:ext>
                </a:extLst>
              </a:tr>
              <a:tr h="936798">
                <a:tc vMerge="1">
                  <a:txBody>
                    <a:bodyPr/>
                    <a:lstStyle/>
                    <a:p>
                      <a:endParaRPr lang="en-PH"/>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gn="l" rtl="0" fontAlgn="ctr">
                        <a:buFont typeface="Wingdings" panose="05000000000000000000" pitchFamily="2" charset="2"/>
                        <a:buChar char="ü"/>
                      </a:pPr>
                      <a:r>
                        <a:rPr lang="en-US" sz="1600" b="0" i="0" u="none" strike="noStrike" noProof="0">
                          <a:solidFill>
                            <a:schemeClr val="tx1"/>
                          </a:solidFill>
                          <a:effectLst/>
                          <a:latin typeface="Lato" panose="020F0502020204030203" pitchFamily="34" charset="0"/>
                          <a:ea typeface="Lato" panose="020F0502020204030203" pitchFamily="34" charset="0"/>
                          <a:cs typeface="Lato" panose="020F0502020204030203" pitchFamily="34" charset="0"/>
                        </a:rPr>
                        <a:t>MyIpon</a:t>
                      </a:r>
                      <a:r>
                        <a:rPr lang="en-US" sz="1800" b="0" i="0" u="none" strike="noStrike" noProof="0">
                          <a:solidFill>
                            <a:schemeClr val="tx1"/>
                          </a:solidFill>
                          <a:effectLst/>
                          <a:latin typeface="Lato" panose="020F0502020204030203" pitchFamily="34" charset="0"/>
                          <a:ea typeface="Lato" panose="020F0502020204030203" pitchFamily="34" charset="0"/>
                          <a:cs typeface="Lato" panose="020F0502020204030203" pitchFamily="34" charset="0"/>
                        </a:rPr>
                        <a:t> –</a:t>
                      </a:r>
                      <a:r>
                        <a:rPr lang="en-US" sz="1100" b="0" i="1" u="none" strike="noStrike" noProof="0">
                          <a:solidFill>
                            <a:schemeClr val="tx1"/>
                          </a:solidFill>
                          <a:effectLst/>
                          <a:latin typeface="Lato" panose="020F0502020204030203" pitchFamily="34" charset="0"/>
                          <a:ea typeface="Lato" panose="020F0502020204030203" pitchFamily="34" charset="0"/>
                          <a:cs typeface="Lato" panose="020F0502020204030203" pitchFamily="34" charset="0"/>
                        </a:rPr>
                        <a:t> minimum of P5.00</a:t>
                      </a:r>
                      <a:br>
                        <a:rPr lang="en-US" sz="1100" b="0" i="1" u="none" strike="noStrike" noProof="0">
                          <a:solidFill>
                            <a:srgbClr val="000000"/>
                          </a:solidFill>
                          <a:effectLst/>
                          <a:latin typeface="Lato" panose="020F0502020204030203" pitchFamily="34" charset="0"/>
                          <a:ea typeface="Lato" panose="020F0502020204030203" pitchFamily="34" charset="0"/>
                          <a:cs typeface="Lato" panose="020F0502020204030203" pitchFamily="34" charset="0"/>
                        </a:rPr>
                      </a:br>
                      <a:r>
                        <a:rPr lang="en-US" sz="1100" b="0" i="1" u="none" strike="noStrike" noProof="0">
                          <a:solidFill>
                            <a:schemeClr val="tx1"/>
                          </a:solidFill>
                          <a:effectLst/>
                          <a:latin typeface="Lato" panose="020F0502020204030203" pitchFamily="34" charset="0"/>
                          <a:ea typeface="Lato" panose="020F0502020204030203" pitchFamily="34" charset="0"/>
                          <a:cs typeface="Lato" panose="020F0502020204030203" pitchFamily="34" charset="0"/>
                        </a:rPr>
                        <a:t>(however, clients are encouraged to</a:t>
                      </a:r>
                      <a:r>
                        <a:rPr lang="en-US" sz="1800" b="0" i="0" u="none" strike="noStrike" noProof="0">
                          <a:solidFill>
                            <a:schemeClr val="tx1"/>
                          </a:solidFill>
                          <a:effectLst/>
                          <a:latin typeface="Lato" panose="020F0502020204030203" pitchFamily="34" charset="0"/>
                          <a:ea typeface="Lato" panose="020F0502020204030203" pitchFamily="34" charset="0"/>
                          <a:cs typeface="Lato" panose="020F0502020204030203" pitchFamily="34" charset="0"/>
                        </a:rPr>
                        <a:t> </a:t>
                      </a:r>
                      <a:r>
                        <a:rPr lang="en-US" sz="1100" b="0" i="1" u="none" strike="noStrike" noProof="0">
                          <a:solidFill>
                            <a:schemeClr val="tx1"/>
                          </a:solidFill>
                          <a:effectLst/>
                          <a:latin typeface="Lato" panose="020F0502020204030203" pitchFamily="34" charset="0"/>
                          <a:ea typeface="Lato" panose="020F0502020204030203" pitchFamily="34" charset="0"/>
                          <a:cs typeface="Lato" panose="020F0502020204030203" pitchFamily="34" charset="0"/>
                        </a:rPr>
                        <a:t>deposit more than the minimum amount)</a:t>
                      </a:r>
                      <a:endParaRPr lang="en-US" sz="1100" b="0" i="1" u="none" strike="noStrike">
                        <a:solidFill>
                          <a:schemeClr val="tx1"/>
                        </a:solidFill>
                        <a:effectLst/>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4695899"/>
                  </a:ext>
                </a:extLst>
              </a:tr>
              <a:tr h="614773">
                <a:tc rowSpan="2">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a:solidFill>
                            <a:srgbClr val="1F4766"/>
                          </a:solidFill>
                          <a:latin typeface="Lato" panose="020F0502020204030203" pitchFamily="34" charset="0"/>
                          <a:ea typeface="Lato" panose="020F0502020204030203" pitchFamily="34" charset="0"/>
                          <a:cs typeface="Lato" panose="020F0502020204030203" pitchFamily="34" charset="0"/>
                        </a:rPr>
                        <a:t>Minimum Balance to Earn Interest</a:t>
                      </a:r>
                      <a:endParaRPr lang="en-PH" sz="1800" b="1">
                        <a:solidFill>
                          <a:srgbClr val="1F4766"/>
                        </a:solidFill>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88353520"/>
                  </a:ext>
                </a:extLst>
              </a:tr>
              <a:tr h="322024">
                <a:tc vMerge="1">
                  <a:txBody>
                    <a:bodyPr/>
                    <a:lstStyle/>
                    <a:p>
                      <a:endParaRPr lang="en-PH"/>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600" b="0" i="0" kern="1200">
                          <a:solidFill>
                            <a:schemeClr val="tx1"/>
                          </a:solidFill>
                          <a:effectLst/>
                          <a:latin typeface="Lato" panose="020F0502020204030203" pitchFamily="34" charset="0"/>
                          <a:ea typeface="Lato" panose="020F0502020204030203" pitchFamily="34" charset="0"/>
                          <a:cs typeface="Lato" panose="020F0502020204030203" pitchFamily="34" charset="0"/>
                        </a:rPr>
                        <a:t>P500.00</a:t>
                      </a:r>
                      <a:endParaRPr lang="en-PH" sz="1600" b="0" i="0" kern="1200">
                        <a:solidFill>
                          <a:schemeClr val="tx1"/>
                        </a:solidFill>
                        <a:effectLst/>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11574103"/>
                  </a:ext>
                </a:extLst>
              </a:tr>
              <a:tr h="351299">
                <a:tc rowSpan="2">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b="1">
                          <a:solidFill>
                            <a:srgbClr val="1F4766"/>
                          </a:solidFill>
                          <a:latin typeface="Lato" panose="020F0502020204030203" pitchFamily="34" charset="0"/>
                          <a:ea typeface="Lato" panose="020F0502020204030203" pitchFamily="34" charset="0"/>
                          <a:cs typeface="Lato" panose="020F0502020204030203" pitchFamily="34" charset="0"/>
                        </a:rPr>
                        <a:t>Compounding Schedule</a:t>
                      </a:r>
                      <a:endParaRPr lang="en-PH" sz="1800" b="1">
                        <a:solidFill>
                          <a:srgbClr val="1F4766"/>
                        </a:solidFill>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68837476"/>
                  </a:ext>
                </a:extLst>
              </a:tr>
              <a:tr h="322024">
                <a:tc vMerge="1">
                  <a:txBody>
                    <a:bodyPr/>
                    <a:lstStyle/>
                    <a:p>
                      <a:endParaRPr lang="en-PH"/>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Wingdings" panose="05000000000000000000" pitchFamily="2" charset="2"/>
                        <a:buChar char="ü"/>
                      </a:pPr>
                      <a:r>
                        <a:rPr lang="en-US" sz="1600">
                          <a:latin typeface="Lato" panose="020F0502020204030203" pitchFamily="34" charset="0"/>
                          <a:ea typeface="Lato" panose="020F0502020204030203" pitchFamily="34" charset="0"/>
                          <a:cs typeface="Lato" panose="020F0502020204030203" pitchFamily="34" charset="0"/>
                        </a:rPr>
                        <a:t>Monthly</a:t>
                      </a:r>
                      <a:endParaRPr lang="en-PH" sz="16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54832442"/>
                  </a:ext>
                </a:extLst>
              </a:tr>
              <a:tr h="351299">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Wingdings" panose="05000000000000000000" pitchFamily="2" charset="2"/>
                        <a:buNone/>
                      </a:pPr>
                      <a:r>
                        <a:rPr lang="en-US" sz="1800" b="1">
                          <a:solidFill>
                            <a:srgbClr val="1F4766"/>
                          </a:solidFill>
                          <a:latin typeface="Lato" panose="020F0502020204030203" pitchFamily="34" charset="0"/>
                          <a:ea typeface="Lato" panose="020F0502020204030203" pitchFamily="34" charset="0"/>
                          <a:cs typeface="Lato" panose="020F0502020204030203" pitchFamily="34" charset="0"/>
                        </a:rPr>
                        <a:t>Posting Schedule</a:t>
                      </a:r>
                      <a:endParaRPr lang="en-PH" sz="1800" b="1">
                        <a:solidFill>
                          <a:srgbClr val="1F4766"/>
                        </a:solidFill>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15615276"/>
                  </a:ext>
                </a:extLst>
              </a:tr>
              <a:tr h="351299">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buFont typeface="Wingdings" panose="05000000000000000000" pitchFamily="2" charset="2"/>
                        <a:buChar char="ü"/>
                      </a:pPr>
                      <a:r>
                        <a:rPr lang="en-US" sz="1600">
                          <a:latin typeface="Lato" panose="020F0502020204030203" pitchFamily="34" charset="0"/>
                          <a:ea typeface="Lato" panose="020F0502020204030203" pitchFamily="34" charset="0"/>
                          <a:cs typeface="Lato" panose="020F0502020204030203" pitchFamily="34" charset="0"/>
                        </a:rPr>
                        <a:t>Quarterly</a:t>
                      </a:r>
                      <a:endParaRPr lang="en-PH" sz="16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61522439"/>
                  </a:ext>
                </a:extLst>
              </a:tr>
              <a:tr h="351299">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rtl="0" fontAlgn="base">
                        <a:buFont typeface="Wingdings" panose="05000000000000000000" pitchFamily="2" charset="2"/>
                        <a:buNone/>
                      </a:pPr>
                      <a:r>
                        <a:rPr lang="en-US" sz="1800" b="1" i="0" kern="1200">
                          <a:solidFill>
                            <a:srgbClr val="1F4766"/>
                          </a:solidFill>
                          <a:effectLst/>
                          <a:latin typeface="Lato" panose="020F0502020204030203" pitchFamily="34" charset="0"/>
                          <a:ea typeface="Lato" panose="020F0502020204030203" pitchFamily="34" charset="0"/>
                          <a:cs typeface="Lato" panose="020F0502020204030203" pitchFamily="34" charset="0"/>
                        </a:rPr>
                        <a:t>Interest on Savings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03086260"/>
                  </a:ext>
                </a:extLst>
              </a:tr>
              <a:tr h="351299">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rtl="0" fontAlgn="base">
                        <a:buFont typeface="Wingdings" panose="05000000000000000000" pitchFamily="2" charset="2"/>
                        <a:buChar char="ü"/>
                      </a:pPr>
                      <a:r>
                        <a:rPr lang="en-US" sz="1600" b="0" i="0" kern="1200">
                          <a:solidFill>
                            <a:schemeClr val="tx1"/>
                          </a:solidFill>
                          <a:effectLst/>
                          <a:latin typeface="Lato" panose="020F0502020204030203" pitchFamily="34" charset="0"/>
                          <a:ea typeface="Lato" panose="020F0502020204030203" pitchFamily="34" charset="0"/>
                          <a:cs typeface="Lato" panose="020F0502020204030203" pitchFamily="34" charset="0"/>
                        </a:rPr>
                        <a:t>6% per annum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80628261"/>
                  </a:ext>
                </a:extLst>
              </a:tr>
              <a:tr h="351299">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rtl="0" fontAlgn="base">
                        <a:buFont typeface="Wingdings" panose="05000000000000000000" pitchFamily="2" charset="2"/>
                        <a:buNone/>
                      </a:pPr>
                      <a:r>
                        <a:rPr lang="en-US" sz="1800" b="1" i="0" kern="1200">
                          <a:solidFill>
                            <a:srgbClr val="1F4766"/>
                          </a:solidFill>
                          <a:effectLst/>
                          <a:latin typeface="Lato" panose="020F0502020204030203" pitchFamily="34" charset="0"/>
                          <a:ea typeface="Lato" panose="020F0502020204030203" pitchFamily="34" charset="0"/>
                          <a:cs typeface="Lato" panose="020F0502020204030203" pitchFamily="34" charset="0"/>
                        </a:rPr>
                        <a:t>Resters</a:t>
                      </a:r>
                      <a:endParaRPr lang="en-US">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8986886"/>
                  </a:ext>
                </a:extLst>
              </a:tr>
              <a:tr h="614773">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rtl="0" fontAlgn="base">
                        <a:buFont typeface="Wingdings" panose="05000000000000000000" pitchFamily="2" charset="2"/>
                        <a:buChar char="ü"/>
                      </a:pPr>
                      <a:r>
                        <a:rPr lang="en-US" sz="1600" b="0" i="0" u="sng" kern="1200">
                          <a:solidFill>
                            <a:schemeClr val="tx1"/>
                          </a:solidFill>
                          <a:effectLst/>
                          <a:latin typeface="Lato" panose="020F0502020204030203" pitchFamily="34" charset="0"/>
                          <a:ea typeface="Lato" panose="020F0502020204030203" pitchFamily="34" charset="0"/>
                          <a:cs typeface="Lato" panose="020F0502020204030203" pitchFamily="34" charset="0"/>
                        </a:rPr>
                        <a:t>3 months</a:t>
                      </a:r>
                      <a:br>
                        <a:rPr lang="en-US" sz="1800" b="0" i="0" kern="1200">
                          <a:solidFill>
                            <a:schemeClr val="tx1"/>
                          </a:solidFill>
                          <a:effectLst/>
                          <a:latin typeface="Lato" panose="020F0502020204030203" pitchFamily="34" charset="0"/>
                          <a:ea typeface="Lato" panose="020F0502020204030203" pitchFamily="34" charset="0"/>
                          <a:cs typeface="Lato" panose="020F0502020204030203" pitchFamily="34" charset="0"/>
                        </a:rPr>
                      </a:br>
                      <a:r>
                        <a:rPr lang="en-US" sz="1000" b="0" i="1" kern="1200">
                          <a:solidFill>
                            <a:schemeClr val="tx1"/>
                          </a:solidFill>
                          <a:effectLst/>
                          <a:latin typeface="Lato" panose="020F0502020204030203" pitchFamily="34" charset="0"/>
                          <a:ea typeface="Lato" panose="020F0502020204030203" pitchFamily="34" charset="0"/>
                          <a:cs typeface="Lato" panose="020F0502020204030203" pitchFamily="34" charset="0"/>
                        </a:rPr>
                        <a:t>(maintenance fee: P10.00 per month after a 3-month period of inactivity)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24849468"/>
                  </a:ext>
                </a:extLst>
              </a:tr>
              <a:tr h="614773">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rtl="0" fontAlgn="base">
                        <a:buFont typeface="Wingdings" panose="05000000000000000000" pitchFamily="2" charset="2"/>
                        <a:buNone/>
                      </a:pPr>
                      <a:r>
                        <a:rPr lang="en-US" sz="2000" b="1" i="0" kern="1200">
                          <a:solidFill>
                            <a:srgbClr val="1F4766"/>
                          </a:solidFill>
                          <a:effectLst/>
                          <a:latin typeface="Lato" panose="020F0502020204030203" pitchFamily="34" charset="0"/>
                          <a:ea typeface="Lato" panose="020F0502020204030203" pitchFamily="34" charset="0"/>
                          <a:cs typeface="Lato" panose="020F0502020204030203" pitchFamily="34" charset="0"/>
                        </a:rPr>
                        <a:t>Maintaining Balance</a:t>
                      </a:r>
                    </a:p>
                    <a:p>
                      <a:pPr marL="342900" indent="-342900" rtl="0" fontAlgn="base">
                        <a:buFont typeface="Wingdings" panose="05000000000000000000" pitchFamily="2" charset="2"/>
                        <a:buChar char="ü"/>
                      </a:pPr>
                      <a:r>
                        <a:rPr lang="en-US" sz="1600" b="1" i="0" kern="1200">
                          <a:solidFill>
                            <a:schemeClr val="tx1"/>
                          </a:solidFill>
                          <a:effectLst/>
                          <a:latin typeface="Lato" panose="020F0502020204030203" pitchFamily="34" charset="0"/>
                          <a:ea typeface="Lato" panose="020F0502020204030203" pitchFamily="34" charset="0"/>
                          <a:cs typeface="Lato" panose="020F0502020204030203" pitchFamily="34" charset="0"/>
                        </a:rPr>
                        <a:t>100.00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74958979"/>
                  </a:ext>
                </a:extLst>
              </a:tr>
            </a:tbl>
          </a:graphicData>
        </a:graphic>
      </p:graphicFrame>
      <p:pic>
        <p:nvPicPr>
          <p:cNvPr id="7" name="Picture 6">
            <a:extLst>
              <a:ext uri="{FF2B5EF4-FFF2-40B4-BE49-F238E27FC236}">
                <a16:creationId xmlns:a16="http://schemas.microsoft.com/office/drawing/2014/main" id="{D9D1FE60-ADE9-CE8A-2756-3180EC59D85B}"/>
              </a:ext>
            </a:extLst>
          </p:cNvPr>
          <p:cNvPicPr>
            <a:picLocks noChangeAspect="1"/>
          </p:cNvPicPr>
          <p:nvPr/>
        </p:nvPicPr>
        <p:blipFill>
          <a:blip r:embed="rId2"/>
          <a:stretch>
            <a:fillRect/>
          </a:stretch>
        </p:blipFill>
        <p:spPr>
          <a:xfrm>
            <a:off x="4135808" y="194951"/>
            <a:ext cx="582219" cy="544561"/>
          </a:xfrm>
          <a:prstGeom prst="rect">
            <a:avLst/>
          </a:prstGeom>
        </p:spPr>
      </p:pic>
      <p:pic>
        <p:nvPicPr>
          <p:cNvPr id="8" name="Picture 7">
            <a:extLst>
              <a:ext uri="{FF2B5EF4-FFF2-40B4-BE49-F238E27FC236}">
                <a16:creationId xmlns:a16="http://schemas.microsoft.com/office/drawing/2014/main" id="{6A72070F-C572-394D-9FB1-3488B4886EAD}"/>
              </a:ext>
            </a:extLst>
          </p:cNvPr>
          <p:cNvPicPr>
            <a:picLocks noChangeAspect="1"/>
          </p:cNvPicPr>
          <p:nvPr/>
        </p:nvPicPr>
        <p:blipFill>
          <a:blip r:embed="rId3"/>
          <a:stretch>
            <a:fillRect/>
          </a:stretch>
        </p:blipFill>
        <p:spPr>
          <a:xfrm>
            <a:off x="4260737" y="3610171"/>
            <a:ext cx="582219" cy="550417"/>
          </a:xfrm>
          <a:prstGeom prst="rect">
            <a:avLst/>
          </a:prstGeom>
        </p:spPr>
      </p:pic>
      <p:pic>
        <p:nvPicPr>
          <p:cNvPr id="9" name="Picture 8">
            <a:extLst>
              <a:ext uri="{FF2B5EF4-FFF2-40B4-BE49-F238E27FC236}">
                <a16:creationId xmlns:a16="http://schemas.microsoft.com/office/drawing/2014/main" id="{4CBFBA07-CF02-9BDC-BDE3-7483466C7EE0}"/>
              </a:ext>
            </a:extLst>
          </p:cNvPr>
          <p:cNvPicPr>
            <a:picLocks noChangeAspect="1"/>
          </p:cNvPicPr>
          <p:nvPr/>
        </p:nvPicPr>
        <p:blipFill>
          <a:blip r:embed="rId4"/>
          <a:stretch>
            <a:fillRect/>
          </a:stretch>
        </p:blipFill>
        <p:spPr>
          <a:xfrm>
            <a:off x="4214434" y="2839727"/>
            <a:ext cx="582219" cy="550417"/>
          </a:xfrm>
          <a:prstGeom prst="rect">
            <a:avLst/>
          </a:prstGeom>
        </p:spPr>
      </p:pic>
      <p:graphicFrame>
        <p:nvGraphicFramePr>
          <p:cNvPr id="10" name="Table 27">
            <a:extLst>
              <a:ext uri="{FF2B5EF4-FFF2-40B4-BE49-F238E27FC236}">
                <a16:creationId xmlns:a16="http://schemas.microsoft.com/office/drawing/2014/main" id="{E462D0CE-FB04-6E1A-A3E3-1C8E280757FA}"/>
              </a:ext>
            </a:extLst>
          </p:cNvPr>
          <p:cNvGraphicFramePr>
            <a:graphicFrameLocks noGrp="1"/>
          </p:cNvGraphicFramePr>
          <p:nvPr>
            <p:extLst>
              <p:ext uri="{D42A27DB-BD31-4B8C-83A1-F6EECF244321}">
                <p14:modId xmlns:p14="http://schemas.microsoft.com/office/powerpoint/2010/main" val="3101254764"/>
              </p:ext>
            </p:extLst>
          </p:nvPr>
        </p:nvGraphicFramePr>
        <p:xfrm>
          <a:off x="7897037" y="126073"/>
          <a:ext cx="3939802" cy="6042444"/>
        </p:xfrm>
        <a:graphic>
          <a:graphicData uri="http://schemas.openxmlformats.org/drawingml/2006/table">
            <a:tbl>
              <a:tblPr firstRow="1" bandRow="1">
                <a:tableStyleId>{2D5ABB26-0587-4C30-8999-92F81FD0307C}</a:tableStyleId>
              </a:tblPr>
              <a:tblGrid>
                <a:gridCol w="621222">
                  <a:extLst>
                    <a:ext uri="{9D8B030D-6E8A-4147-A177-3AD203B41FA5}">
                      <a16:colId xmlns:a16="http://schemas.microsoft.com/office/drawing/2014/main" val="1622108729"/>
                    </a:ext>
                  </a:extLst>
                </a:gridCol>
                <a:gridCol w="3318580">
                  <a:extLst>
                    <a:ext uri="{9D8B030D-6E8A-4147-A177-3AD203B41FA5}">
                      <a16:colId xmlns:a16="http://schemas.microsoft.com/office/drawing/2014/main" val="1450379266"/>
                    </a:ext>
                  </a:extLst>
                </a:gridCol>
              </a:tblGrid>
              <a:tr h="351299">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a:solidFill>
                            <a:srgbClr val="1F4766"/>
                          </a:solidFill>
                          <a:latin typeface="Lato" panose="020F0502020204030203" pitchFamily="34" charset="0"/>
                          <a:ea typeface="Lato" panose="020F0502020204030203" pitchFamily="34" charset="0"/>
                          <a:cs typeface="Lato" panose="020F0502020204030203" pitchFamily="34" charset="0"/>
                        </a:rPr>
                        <a:t>Dormancy Period</a:t>
                      </a:r>
                      <a:endParaRPr lang="en-PH" sz="1800" b="1">
                        <a:solidFill>
                          <a:srgbClr val="1F4766"/>
                        </a:solidFill>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9860671"/>
                  </a:ext>
                </a:extLst>
              </a:tr>
              <a:tr h="351299">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buFont typeface="Wingdings" panose="05000000000000000000" pitchFamily="2" charset="2"/>
                        <a:buChar char="ü"/>
                      </a:pPr>
                      <a:r>
                        <a:rPr lang="en-US" sz="1600">
                          <a:latin typeface="Lato" panose="020F0502020204030203" pitchFamily="34" charset="0"/>
                          <a:ea typeface="Lato" panose="020F0502020204030203" pitchFamily="34" charset="0"/>
                          <a:cs typeface="Lato" panose="020F0502020204030203" pitchFamily="34" charset="0"/>
                        </a:rPr>
                        <a:t>2 years or 730 days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196663"/>
                  </a:ext>
                </a:extLst>
              </a:tr>
              <a:tr h="351299">
                <a:tc rowSpan="2">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b="1">
                          <a:solidFill>
                            <a:srgbClr val="1F4766"/>
                          </a:solidFill>
                          <a:latin typeface="Lato" panose="020F0502020204030203" pitchFamily="34" charset="0"/>
                          <a:ea typeface="Lato" panose="020F0502020204030203" pitchFamily="34" charset="0"/>
                          <a:cs typeface="Lato" panose="020F0502020204030203" pitchFamily="34" charset="0"/>
                        </a:rPr>
                        <a:t>Dormancy Fee</a:t>
                      </a:r>
                      <a:endParaRPr lang="en-PH" sz="1800" b="1">
                        <a:solidFill>
                          <a:srgbClr val="1F4766"/>
                        </a:solidFill>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68837476"/>
                  </a:ext>
                </a:extLst>
              </a:tr>
              <a:tr h="342684">
                <a:tc vMerge="1">
                  <a:txBody>
                    <a:bodyPr/>
                    <a:lstStyle/>
                    <a:p>
                      <a:endParaRPr lang="en-PH"/>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rtl="0" fontAlgn="base">
                        <a:buFont typeface="Wingdings" panose="05000000000000000000" pitchFamily="2" charset="2"/>
                        <a:buChar char="ü"/>
                      </a:pPr>
                      <a:r>
                        <a:rPr lang="en-US" sz="1600" b="0" i="0" kern="1200">
                          <a:solidFill>
                            <a:schemeClr val="tx1"/>
                          </a:solidFill>
                          <a:effectLst/>
                          <a:latin typeface="Lato" panose="020F0502020204030203" pitchFamily="34" charset="0"/>
                          <a:ea typeface="Lato" panose="020F0502020204030203" pitchFamily="34" charset="0"/>
                          <a:cs typeface="Lato" panose="020F0502020204030203" pitchFamily="34" charset="0"/>
                        </a:rPr>
                        <a:t>P30.00 per month</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54832442"/>
                  </a:ext>
                </a:extLst>
              </a:tr>
              <a:tr h="351299">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rtl="0" fontAlgn="base"/>
                      <a:r>
                        <a:rPr lang="en-US" sz="1800" b="1" i="0" kern="1200">
                          <a:solidFill>
                            <a:srgbClr val="1F4766"/>
                          </a:solidFill>
                          <a:effectLst/>
                          <a:latin typeface="Lato" panose="020F0502020204030203" pitchFamily="34" charset="0"/>
                          <a:ea typeface="Lato" panose="020F0502020204030203" pitchFamily="34" charset="0"/>
                          <a:cs typeface="Lato" panose="020F0502020204030203" pitchFamily="34" charset="0"/>
                        </a:rPr>
                        <a:t>Eligibility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21194152"/>
                  </a:ext>
                </a:extLst>
              </a:tr>
              <a:tr h="1141722">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rtl="0" fontAlgn="base">
                        <a:buFont typeface="Wingdings" panose="05000000000000000000" pitchFamily="2" charset="2"/>
                        <a:buChar char="ü"/>
                      </a:pPr>
                      <a:r>
                        <a:rPr lang="en-US" sz="1600" b="0" i="0" u="none" strike="noStrike" kern="1200">
                          <a:solidFill>
                            <a:schemeClr val="tx1"/>
                          </a:solidFill>
                          <a:effectLst/>
                          <a:latin typeface="Lato" panose="020F0502020204030203" pitchFamily="34" charset="0"/>
                          <a:ea typeface="Lato" panose="020F0502020204030203" pitchFamily="34" charset="0"/>
                          <a:cs typeface="Lato" panose="020F0502020204030203" pitchFamily="34" charset="0"/>
                        </a:rPr>
                        <a:t>All RAFI MFI</a:t>
                      </a:r>
                      <a:r>
                        <a:rPr lang="en-US" sz="1600" b="0" i="0" kern="1200">
                          <a:solidFill>
                            <a:schemeClr val="tx1"/>
                          </a:solidFill>
                          <a:effectLst/>
                          <a:latin typeface="Lato" panose="020F0502020204030203" pitchFamily="34" charset="0"/>
                          <a:ea typeface="Lato" panose="020F0502020204030203" pitchFamily="34" charset="0"/>
                          <a:cs typeface="Lato" panose="020F0502020204030203" pitchFamily="34" charset="0"/>
                        </a:rPr>
                        <a:t>​​ active Supplemental Loan borrowers on top of their CBU account </a:t>
                      </a:r>
                      <a:endParaRPr lang="en-US" sz="1600" b="0" i="0" u="none" strike="noStrike" kern="1200">
                        <a:solidFill>
                          <a:schemeClr val="tx1"/>
                        </a:solidFill>
                        <a:effectLst/>
                        <a:latin typeface="Lato" panose="020F0502020204030203" pitchFamily="34" charset="0"/>
                        <a:ea typeface="Lato" panose="020F0502020204030203" pitchFamily="34" charset="0"/>
                        <a:cs typeface="Lato" panose="020F0502020204030203" pitchFamily="34" charset="0"/>
                      </a:endParaRPr>
                    </a:p>
                    <a:p>
                      <a:pPr marL="267970" indent="0" rtl="0" fontAlgn="base">
                        <a:buFont typeface="Wingdings" panose="05000000000000000000" pitchFamily="2" charset="2"/>
                        <a:buNone/>
                      </a:pPr>
                      <a:r>
                        <a:rPr lang="en-US" sz="1200" b="0" i="1" u="none" strike="noStrike" kern="1200">
                          <a:solidFill>
                            <a:schemeClr val="tx1"/>
                          </a:solidFill>
                          <a:effectLst/>
                          <a:latin typeface="Lato" panose="020F0502020204030203" pitchFamily="34" charset="0"/>
                          <a:ea typeface="Lato" panose="020F0502020204030203" pitchFamily="34" charset="0"/>
                          <a:cs typeface="Lato" panose="020F0502020204030203" pitchFamily="34" charset="0"/>
                        </a:rPr>
                        <a:t>(only clients without PAR are entitled to interest compounding)</a:t>
                      </a:r>
                      <a:r>
                        <a:rPr lang="en-US" sz="1200" b="0" i="1" kern="1200">
                          <a:solidFill>
                            <a:schemeClr val="tx1"/>
                          </a:solidFill>
                          <a:effectLst/>
                          <a:latin typeface="Lato" panose="020F0502020204030203" pitchFamily="34" charset="0"/>
                          <a:ea typeface="Lato" panose="020F0502020204030203" pitchFamily="34" charset="0"/>
                          <a:cs typeface="Lato" panose="020F0502020204030203" pitchFamily="34" charset="0"/>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52534781"/>
                  </a:ext>
                </a:extLst>
              </a:tr>
              <a:tr h="351299">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rtl="0" fontAlgn="base">
                        <a:buFont typeface="Wingdings" panose="05000000000000000000" pitchFamily="2" charset="2"/>
                        <a:buNone/>
                      </a:pPr>
                      <a:r>
                        <a:rPr lang="en-US" sz="1800" b="1" i="0" kern="1200">
                          <a:solidFill>
                            <a:srgbClr val="1F4766"/>
                          </a:solidFill>
                          <a:effectLst/>
                          <a:latin typeface="Lato" panose="020F0502020204030203" pitchFamily="34" charset="0"/>
                          <a:ea typeface="Lato" panose="020F0502020204030203" pitchFamily="34" charset="0"/>
                          <a:cs typeface="Lato" panose="020F0502020204030203" pitchFamily="34" charset="0"/>
                        </a:rPr>
                        <a:t>Final Withholding Tax</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24855743"/>
                  </a:ext>
                </a:extLst>
              </a:tr>
              <a:tr h="556224">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rtl="0" fontAlgn="base">
                        <a:buFont typeface="Wingdings" panose="05000000000000000000" pitchFamily="2" charset="2"/>
                        <a:buChar char="ü"/>
                      </a:pPr>
                      <a:r>
                        <a:rPr lang="en-US" sz="1600" b="0" i="0" kern="1200">
                          <a:solidFill>
                            <a:schemeClr val="tx1"/>
                          </a:solidFill>
                          <a:effectLst/>
                          <a:latin typeface="Lato" panose="020F0502020204030203" pitchFamily="34" charset="0"/>
                          <a:ea typeface="Lato" panose="020F0502020204030203" pitchFamily="34" charset="0"/>
                          <a:cs typeface="Lato" panose="020F0502020204030203" pitchFamily="34" charset="0"/>
                        </a:rPr>
                        <a:t>20% on </a:t>
                      </a:r>
                      <a:r>
                        <a:rPr lang="en-US" sz="1600" b="0" i="0" kern="1200" err="1">
                          <a:solidFill>
                            <a:schemeClr val="tx1"/>
                          </a:solidFill>
                          <a:effectLst/>
                          <a:latin typeface="Lato" panose="020F0502020204030203" pitchFamily="34" charset="0"/>
                          <a:ea typeface="Lato" panose="020F0502020204030203" pitchFamily="34" charset="0"/>
                          <a:cs typeface="Lato" panose="020F0502020204030203" pitchFamily="34" charset="0"/>
                        </a:rPr>
                        <a:t>MyIpon</a:t>
                      </a:r>
                      <a:r>
                        <a:rPr lang="en-US" sz="1600" b="0" i="0" kern="1200">
                          <a:solidFill>
                            <a:schemeClr val="tx1"/>
                          </a:solidFill>
                          <a:effectLst/>
                          <a:latin typeface="Lato" panose="020F0502020204030203" pitchFamily="34" charset="0"/>
                          <a:ea typeface="Lato" panose="020F0502020204030203" pitchFamily="34" charset="0"/>
                          <a:cs typeface="Lato" panose="020F0502020204030203" pitchFamily="34" charset="0"/>
                        </a:rPr>
                        <a:t> interest earned by clients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38803253"/>
                  </a:ext>
                </a:extLst>
              </a:tr>
              <a:tr h="351299">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rtl="0" fontAlgn="base">
                        <a:buFont typeface="Wingdings" panose="05000000000000000000" pitchFamily="2" charset="2"/>
                        <a:buNone/>
                      </a:pPr>
                      <a:r>
                        <a:rPr lang="en-US" sz="1800" b="1" i="0" kern="1200">
                          <a:solidFill>
                            <a:srgbClr val="1F4766"/>
                          </a:solidFill>
                          <a:effectLst/>
                          <a:latin typeface="Lato" panose="020F0502020204030203" pitchFamily="34" charset="0"/>
                          <a:ea typeface="Lato" panose="020F0502020204030203" pitchFamily="34" charset="0"/>
                          <a:cs typeface="Lato" panose="020F0502020204030203" pitchFamily="34" charset="0"/>
                        </a:rPr>
                        <a:t>Documentary Requirements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93973218"/>
                  </a:ext>
                </a:extLst>
              </a:tr>
              <a:tr h="1668671">
                <a:tc>
                  <a:txBody>
                    <a:bodyPr/>
                    <a:lstStyle/>
                    <a:p>
                      <a:endParaRPr lang="en-PH" sz="180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rtl="0" fontAlgn="base">
                        <a:buFont typeface="Arial" panose="020B0604020202020204" pitchFamily="34" charset="0"/>
                        <a:buChar char="•"/>
                      </a:pPr>
                      <a:r>
                        <a:rPr lang="en-US" sz="1600" b="0" i="0" kern="1200">
                          <a:solidFill>
                            <a:schemeClr val="tx1"/>
                          </a:solidFill>
                          <a:effectLst/>
                          <a:latin typeface="Lato" panose="020F0502020204030203" pitchFamily="34" charset="0"/>
                          <a:ea typeface="Lato" panose="020F0502020204030203" pitchFamily="34" charset="0"/>
                          <a:cs typeface="Lato" panose="020F0502020204030203" pitchFamily="34" charset="0"/>
                        </a:rPr>
                        <a:t>Upon Application​</a:t>
                      </a:r>
                    </a:p>
                    <a:p>
                      <a:pPr marL="360045" indent="-171450" rtl="0" fontAlgn="base">
                        <a:buFont typeface="Wingdings" panose="05000000000000000000" pitchFamily="2" charset="2"/>
                        <a:buChar char="ü"/>
                      </a:pPr>
                      <a:r>
                        <a:rPr lang="en-US" sz="1600" b="0" i="0" u="none" strike="noStrike" kern="1200">
                          <a:solidFill>
                            <a:schemeClr val="tx1"/>
                          </a:solidFill>
                          <a:effectLst/>
                          <a:latin typeface="Lato" panose="020F0502020204030203" pitchFamily="34" charset="0"/>
                          <a:ea typeface="Lato" panose="020F0502020204030203" pitchFamily="34" charset="0"/>
                          <a:cs typeface="Lato" panose="020F0502020204030203" pitchFamily="34" charset="0"/>
                        </a:rPr>
                        <a:t>Passbook Payment for </a:t>
                      </a:r>
                      <a:r>
                        <a:rPr lang="en-US" sz="1600" b="0" i="0" u="none" strike="noStrike" kern="1200" err="1">
                          <a:solidFill>
                            <a:schemeClr val="tx1"/>
                          </a:solidFill>
                          <a:effectLst/>
                          <a:latin typeface="Lato" panose="020F0502020204030203" pitchFamily="34" charset="0"/>
                          <a:ea typeface="Lato" panose="020F0502020204030203" pitchFamily="34" charset="0"/>
                          <a:cs typeface="Lato" panose="020F0502020204030203" pitchFamily="34" charset="0"/>
                        </a:rPr>
                        <a:t>MyIpon</a:t>
                      </a:r>
                      <a:r>
                        <a:rPr lang="en-US" sz="1600" b="0" i="0" u="none" strike="noStrike" kern="1200">
                          <a:solidFill>
                            <a:schemeClr val="tx1"/>
                          </a:solidFill>
                          <a:effectLst/>
                          <a:latin typeface="Lato" panose="020F0502020204030203" pitchFamily="34" charset="0"/>
                          <a:ea typeface="Lato" panose="020F0502020204030203" pitchFamily="34" charset="0"/>
                          <a:cs typeface="Lato" panose="020F0502020204030203" pitchFamily="34" charset="0"/>
                        </a:rPr>
                        <a:t> account**</a:t>
                      </a:r>
                      <a:r>
                        <a:rPr lang="en-US" sz="1600" b="0" i="0" kern="1200">
                          <a:solidFill>
                            <a:schemeClr val="tx1"/>
                          </a:solidFill>
                          <a:effectLst/>
                          <a:latin typeface="Lato" panose="020F0502020204030203" pitchFamily="34" charset="0"/>
                          <a:ea typeface="Lato" panose="020F0502020204030203" pitchFamily="34" charset="0"/>
                          <a:cs typeface="Lato" panose="020F0502020204030203" pitchFamily="34" charset="0"/>
                        </a:rPr>
                        <a:t>​</a:t>
                      </a:r>
                    </a:p>
                    <a:p>
                      <a:pPr marL="171450" indent="-171450" rtl="0" fontAlgn="base">
                        <a:buFont typeface="Arial" panose="020B0604020202020204" pitchFamily="34" charset="0"/>
                        <a:buChar char="•"/>
                      </a:pPr>
                      <a:r>
                        <a:rPr lang="en-US" sz="1600" b="0" i="0" kern="1200">
                          <a:solidFill>
                            <a:schemeClr val="tx1"/>
                          </a:solidFill>
                          <a:effectLst/>
                          <a:latin typeface="Lato" panose="020F0502020204030203" pitchFamily="34" charset="0"/>
                          <a:ea typeface="Lato" panose="020F0502020204030203" pitchFamily="34" charset="0"/>
                          <a:cs typeface="Lato" panose="020F0502020204030203" pitchFamily="34" charset="0"/>
                        </a:rPr>
                        <a:t>Upon Withdrawal​</a:t>
                      </a:r>
                    </a:p>
                    <a:p>
                      <a:pPr marL="350520" indent="-171450" rtl="0" fontAlgn="base">
                        <a:buFont typeface="Wingdings" panose="05000000000000000000" pitchFamily="2" charset="2"/>
                        <a:buChar char="ü"/>
                      </a:pPr>
                      <a:r>
                        <a:rPr lang="en-US" sz="1600" b="0" i="0" u="none" strike="noStrike" kern="1200">
                          <a:solidFill>
                            <a:schemeClr val="tx1"/>
                          </a:solidFill>
                          <a:effectLst/>
                          <a:latin typeface="Lato" panose="020F0502020204030203" pitchFamily="34" charset="0"/>
                          <a:ea typeface="Lato" panose="020F0502020204030203" pitchFamily="34" charset="0"/>
                          <a:cs typeface="Lato" panose="020F0502020204030203" pitchFamily="34" charset="0"/>
                        </a:rPr>
                        <a:t>A duly filled-out and signed withdrawal slip*</a:t>
                      </a:r>
                      <a:r>
                        <a:rPr lang="en-US" sz="1600" b="0" i="0" kern="1200">
                          <a:solidFill>
                            <a:schemeClr val="tx1"/>
                          </a:solidFill>
                          <a:effectLst/>
                          <a:latin typeface="Lato" panose="020F0502020204030203" pitchFamily="34" charset="0"/>
                          <a:ea typeface="Lato" panose="020F0502020204030203" pitchFamily="34" charset="0"/>
                          <a:cs typeface="Lato" panose="020F0502020204030203" pitchFamily="34" charset="0"/>
                        </a:rPr>
                        <a:t>​</a:t>
                      </a:r>
                    </a:p>
                    <a:p>
                      <a:pPr marL="350520" lvl="0" indent="-171450">
                        <a:buFont typeface="Wingdings" panose="05000000000000000000" pitchFamily="2" charset="2"/>
                        <a:buChar char="ü"/>
                      </a:pPr>
                      <a:endParaRPr lang="en-US" sz="1200" b="0" i="0" kern="1200">
                        <a:solidFill>
                          <a:schemeClr val="tx1"/>
                        </a:solidFill>
                        <a:effectLst/>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57620124"/>
                  </a:ext>
                </a:extLst>
              </a:tr>
            </a:tbl>
          </a:graphicData>
        </a:graphic>
      </p:graphicFrame>
      <p:pic>
        <p:nvPicPr>
          <p:cNvPr id="11" name="Picture 10">
            <a:extLst>
              <a:ext uri="{FF2B5EF4-FFF2-40B4-BE49-F238E27FC236}">
                <a16:creationId xmlns:a16="http://schemas.microsoft.com/office/drawing/2014/main" id="{019ECD19-8208-039D-7BB9-0EF577AC40B2}"/>
              </a:ext>
            </a:extLst>
          </p:cNvPr>
          <p:cNvPicPr>
            <a:picLocks noChangeAspect="1"/>
          </p:cNvPicPr>
          <p:nvPr/>
        </p:nvPicPr>
        <p:blipFill>
          <a:blip r:embed="rId5"/>
          <a:stretch>
            <a:fillRect/>
          </a:stretch>
        </p:blipFill>
        <p:spPr>
          <a:xfrm>
            <a:off x="7953624" y="3147295"/>
            <a:ext cx="582219" cy="550417"/>
          </a:xfrm>
          <a:prstGeom prst="rect">
            <a:avLst/>
          </a:prstGeom>
        </p:spPr>
      </p:pic>
      <p:grpSp>
        <p:nvGrpSpPr>
          <p:cNvPr id="12" name="Group 11">
            <a:extLst>
              <a:ext uri="{FF2B5EF4-FFF2-40B4-BE49-F238E27FC236}">
                <a16:creationId xmlns:a16="http://schemas.microsoft.com/office/drawing/2014/main" id="{8CD26493-EA76-C23C-22F4-24DE0E6DFE9A}"/>
              </a:ext>
            </a:extLst>
          </p:cNvPr>
          <p:cNvGrpSpPr/>
          <p:nvPr/>
        </p:nvGrpSpPr>
        <p:grpSpPr>
          <a:xfrm>
            <a:off x="4260737" y="4343859"/>
            <a:ext cx="581839" cy="550057"/>
            <a:chOff x="6233774" y="1425062"/>
            <a:chExt cx="572700" cy="572700"/>
          </a:xfrm>
        </p:grpSpPr>
        <p:sp>
          <p:nvSpPr>
            <p:cNvPr id="13" name="Google Shape;839;p61">
              <a:extLst>
                <a:ext uri="{FF2B5EF4-FFF2-40B4-BE49-F238E27FC236}">
                  <a16:creationId xmlns:a16="http://schemas.microsoft.com/office/drawing/2014/main" id="{37B29879-A653-052D-568D-6F63C68E0AEC}"/>
                </a:ext>
              </a:extLst>
            </p:cNvPr>
            <p:cNvSpPr/>
            <p:nvPr/>
          </p:nvSpPr>
          <p:spPr>
            <a:xfrm>
              <a:off x="6233774" y="1425062"/>
              <a:ext cx="572700" cy="572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 name="Google Shape;16450;p127">
              <a:extLst>
                <a:ext uri="{FF2B5EF4-FFF2-40B4-BE49-F238E27FC236}">
                  <a16:creationId xmlns:a16="http://schemas.microsoft.com/office/drawing/2014/main" id="{833FF249-EFF7-30FB-208B-1C72D411010F}"/>
                </a:ext>
              </a:extLst>
            </p:cNvPr>
            <p:cNvGrpSpPr/>
            <p:nvPr/>
          </p:nvGrpSpPr>
          <p:grpSpPr>
            <a:xfrm>
              <a:off x="6348052" y="1531964"/>
              <a:ext cx="342824" cy="351228"/>
              <a:chOff x="870773" y="3357985"/>
              <a:chExt cx="342824" cy="351228"/>
            </a:xfrm>
          </p:grpSpPr>
          <p:sp>
            <p:nvSpPr>
              <p:cNvPr id="15" name="Google Shape;16451;p127">
                <a:extLst>
                  <a:ext uri="{FF2B5EF4-FFF2-40B4-BE49-F238E27FC236}">
                    <a16:creationId xmlns:a16="http://schemas.microsoft.com/office/drawing/2014/main" id="{DB19762B-5450-3E00-6B10-C9AB736D3769}"/>
                  </a:ext>
                </a:extLst>
              </p:cNvPr>
              <p:cNvSpPr/>
              <p:nvPr/>
            </p:nvSpPr>
            <p:spPr>
              <a:xfrm>
                <a:off x="870773" y="3357985"/>
                <a:ext cx="342824" cy="351228"/>
              </a:xfrm>
              <a:custGeom>
                <a:avLst/>
                <a:gdLst/>
                <a:ahLst/>
                <a:cxnLst/>
                <a:rect l="l" t="t" r="r" b="b"/>
                <a:pathLst>
                  <a:path w="13055" h="13375" extrusionOk="0">
                    <a:moveTo>
                      <a:pt x="6523" y="0"/>
                    </a:moveTo>
                    <a:cubicBezTo>
                      <a:pt x="6339" y="0"/>
                      <a:pt x="6155" y="89"/>
                      <a:pt x="6049" y="266"/>
                    </a:cubicBezTo>
                    <a:lnTo>
                      <a:pt x="5255" y="1606"/>
                    </a:lnTo>
                    <a:cubicBezTo>
                      <a:pt x="5152" y="1777"/>
                      <a:pt x="4972" y="1874"/>
                      <a:pt x="4786" y="1874"/>
                    </a:cubicBezTo>
                    <a:cubicBezTo>
                      <a:pt x="4712" y="1874"/>
                      <a:pt x="4637" y="1859"/>
                      <a:pt x="4566" y="1826"/>
                    </a:cubicBezTo>
                    <a:lnTo>
                      <a:pt x="3130" y="1213"/>
                    </a:lnTo>
                    <a:cubicBezTo>
                      <a:pt x="3059" y="1183"/>
                      <a:pt x="2986" y="1169"/>
                      <a:pt x="2915" y="1169"/>
                    </a:cubicBezTo>
                    <a:cubicBezTo>
                      <a:pt x="2606" y="1169"/>
                      <a:pt x="2334" y="1434"/>
                      <a:pt x="2365" y="1768"/>
                    </a:cubicBezTo>
                    <a:lnTo>
                      <a:pt x="2508" y="3328"/>
                    </a:lnTo>
                    <a:cubicBezTo>
                      <a:pt x="2527" y="3606"/>
                      <a:pt x="2346" y="3855"/>
                      <a:pt x="2078" y="3912"/>
                    </a:cubicBezTo>
                    <a:lnTo>
                      <a:pt x="566" y="4257"/>
                    </a:lnTo>
                    <a:cubicBezTo>
                      <a:pt x="154" y="4343"/>
                      <a:pt x="1" y="4840"/>
                      <a:pt x="278" y="5156"/>
                    </a:cubicBezTo>
                    <a:lnTo>
                      <a:pt x="1302" y="6324"/>
                    </a:lnTo>
                    <a:cubicBezTo>
                      <a:pt x="1484" y="6534"/>
                      <a:pt x="1484" y="6841"/>
                      <a:pt x="1302" y="7051"/>
                    </a:cubicBezTo>
                    <a:lnTo>
                      <a:pt x="278" y="8219"/>
                    </a:lnTo>
                    <a:cubicBezTo>
                      <a:pt x="1" y="8535"/>
                      <a:pt x="154" y="9023"/>
                      <a:pt x="566" y="9118"/>
                    </a:cubicBezTo>
                    <a:lnTo>
                      <a:pt x="2078" y="9463"/>
                    </a:lnTo>
                    <a:cubicBezTo>
                      <a:pt x="2355" y="9520"/>
                      <a:pt x="2537" y="9779"/>
                      <a:pt x="2508" y="10047"/>
                    </a:cubicBezTo>
                    <a:lnTo>
                      <a:pt x="2365" y="11607"/>
                    </a:lnTo>
                    <a:cubicBezTo>
                      <a:pt x="2334" y="11941"/>
                      <a:pt x="2606" y="12206"/>
                      <a:pt x="2915" y="12206"/>
                    </a:cubicBezTo>
                    <a:cubicBezTo>
                      <a:pt x="2986" y="12206"/>
                      <a:pt x="3059" y="12192"/>
                      <a:pt x="3130" y="12162"/>
                    </a:cubicBezTo>
                    <a:lnTo>
                      <a:pt x="4566" y="11549"/>
                    </a:lnTo>
                    <a:cubicBezTo>
                      <a:pt x="4637" y="11520"/>
                      <a:pt x="4711" y="11507"/>
                      <a:pt x="4783" y="11507"/>
                    </a:cubicBezTo>
                    <a:cubicBezTo>
                      <a:pt x="4975" y="11507"/>
                      <a:pt x="5158" y="11603"/>
                      <a:pt x="5255" y="11769"/>
                    </a:cubicBezTo>
                    <a:lnTo>
                      <a:pt x="6049" y="13109"/>
                    </a:lnTo>
                    <a:cubicBezTo>
                      <a:pt x="6155" y="13286"/>
                      <a:pt x="6339" y="13375"/>
                      <a:pt x="6523" y="13375"/>
                    </a:cubicBezTo>
                    <a:cubicBezTo>
                      <a:pt x="6707" y="13375"/>
                      <a:pt x="6892" y="13286"/>
                      <a:pt x="6997" y="13109"/>
                    </a:cubicBezTo>
                    <a:lnTo>
                      <a:pt x="7791" y="11769"/>
                    </a:lnTo>
                    <a:cubicBezTo>
                      <a:pt x="7894" y="11598"/>
                      <a:pt x="8076" y="11505"/>
                      <a:pt x="8262" y="11505"/>
                    </a:cubicBezTo>
                    <a:cubicBezTo>
                      <a:pt x="8336" y="11505"/>
                      <a:pt x="8410" y="11519"/>
                      <a:pt x="8480" y="11549"/>
                    </a:cubicBezTo>
                    <a:lnTo>
                      <a:pt x="9916" y="12162"/>
                    </a:lnTo>
                    <a:cubicBezTo>
                      <a:pt x="9987" y="12192"/>
                      <a:pt x="10060" y="12206"/>
                      <a:pt x="10131" y="12206"/>
                    </a:cubicBezTo>
                    <a:cubicBezTo>
                      <a:pt x="10440" y="12206"/>
                      <a:pt x="10712" y="11941"/>
                      <a:pt x="10681" y="11607"/>
                    </a:cubicBezTo>
                    <a:lnTo>
                      <a:pt x="10547" y="10056"/>
                    </a:lnTo>
                    <a:cubicBezTo>
                      <a:pt x="10519" y="9779"/>
                      <a:pt x="10701" y="9520"/>
                      <a:pt x="10968" y="9463"/>
                    </a:cubicBezTo>
                    <a:lnTo>
                      <a:pt x="12490" y="9118"/>
                    </a:lnTo>
                    <a:cubicBezTo>
                      <a:pt x="12892" y="9023"/>
                      <a:pt x="13055" y="8535"/>
                      <a:pt x="12777" y="8219"/>
                    </a:cubicBezTo>
                    <a:lnTo>
                      <a:pt x="11753" y="7051"/>
                    </a:lnTo>
                    <a:cubicBezTo>
                      <a:pt x="11571" y="6841"/>
                      <a:pt x="11571" y="6534"/>
                      <a:pt x="11753" y="6324"/>
                    </a:cubicBezTo>
                    <a:lnTo>
                      <a:pt x="12777" y="5156"/>
                    </a:lnTo>
                    <a:cubicBezTo>
                      <a:pt x="13055" y="4840"/>
                      <a:pt x="12892" y="4343"/>
                      <a:pt x="12481" y="4257"/>
                    </a:cubicBezTo>
                    <a:lnTo>
                      <a:pt x="10968" y="3912"/>
                    </a:lnTo>
                    <a:cubicBezTo>
                      <a:pt x="10701" y="3845"/>
                      <a:pt x="10519" y="3596"/>
                      <a:pt x="10538" y="3319"/>
                    </a:cubicBezTo>
                    <a:lnTo>
                      <a:pt x="10681" y="1768"/>
                    </a:lnTo>
                    <a:cubicBezTo>
                      <a:pt x="10712" y="1429"/>
                      <a:pt x="10445" y="1164"/>
                      <a:pt x="10140" y="1164"/>
                    </a:cubicBezTo>
                    <a:cubicBezTo>
                      <a:pt x="10066" y="1164"/>
                      <a:pt x="9990" y="1180"/>
                      <a:pt x="9916" y="1213"/>
                    </a:cubicBezTo>
                    <a:lnTo>
                      <a:pt x="8480" y="1826"/>
                    </a:lnTo>
                    <a:cubicBezTo>
                      <a:pt x="8410" y="1854"/>
                      <a:pt x="8337" y="1868"/>
                      <a:pt x="8264" y="1868"/>
                    </a:cubicBezTo>
                    <a:cubicBezTo>
                      <a:pt x="8072" y="1868"/>
                      <a:pt x="7889" y="1770"/>
                      <a:pt x="7791" y="1596"/>
                    </a:cubicBezTo>
                    <a:lnTo>
                      <a:pt x="6997" y="266"/>
                    </a:lnTo>
                    <a:cubicBezTo>
                      <a:pt x="6892" y="89"/>
                      <a:pt x="6707" y="0"/>
                      <a:pt x="6523" y="0"/>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452;p127">
                <a:extLst>
                  <a:ext uri="{FF2B5EF4-FFF2-40B4-BE49-F238E27FC236}">
                    <a16:creationId xmlns:a16="http://schemas.microsoft.com/office/drawing/2014/main" id="{DE46EEEA-F53B-CD72-C79F-7E0584618241}"/>
                  </a:ext>
                </a:extLst>
              </p:cNvPr>
              <p:cNvSpPr/>
              <p:nvPr/>
            </p:nvSpPr>
            <p:spPr>
              <a:xfrm>
                <a:off x="1024577" y="3357985"/>
                <a:ext cx="50288" cy="49238"/>
              </a:xfrm>
              <a:custGeom>
                <a:avLst/>
                <a:gdLst/>
                <a:ahLst/>
                <a:cxnLst/>
                <a:rect l="l" t="t" r="r" b="b"/>
                <a:pathLst>
                  <a:path w="1915" h="1875" extrusionOk="0">
                    <a:moveTo>
                      <a:pt x="666" y="0"/>
                    </a:moveTo>
                    <a:cubicBezTo>
                      <a:pt x="482" y="0"/>
                      <a:pt x="298" y="89"/>
                      <a:pt x="192" y="266"/>
                    </a:cubicBezTo>
                    <a:lnTo>
                      <a:pt x="1" y="591"/>
                    </a:lnTo>
                    <a:lnTo>
                      <a:pt x="604" y="1606"/>
                    </a:lnTo>
                    <a:cubicBezTo>
                      <a:pt x="706" y="1777"/>
                      <a:pt x="887" y="1874"/>
                      <a:pt x="1073" y="1874"/>
                    </a:cubicBezTo>
                    <a:cubicBezTo>
                      <a:pt x="1147" y="1874"/>
                      <a:pt x="1222" y="1859"/>
                      <a:pt x="1293" y="1826"/>
                    </a:cubicBezTo>
                    <a:lnTo>
                      <a:pt x="1915" y="1567"/>
                    </a:lnTo>
                    <a:lnTo>
                      <a:pt x="1140" y="266"/>
                    </a:lnTo>
                    <a:cubicBezTo>
                      <a:pt x="1035" y="89"/>
                      <a:pt x="850" y="0"/>
                      <a:pt x="666" y="0"/>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6453;p127">
                <a:extLst>
                  <a:ext uri="{FF2B5EF4-FFF2-40B4-BE49-F238E27FC236}">
                    <a16:creationId xmlns:a16="http://schemas.microsoft.com/office/drawing/2014/main" id="{FE6729A3-6994-7B7A-D678-CDFAC3EFCFC0}"/>
                  </a:ext>
                </a:extLst>
              </p:cNvPr>
              <p:cNvSpPr/>
              <p:nvPr/>
            </p:nvSpPr>
            <p:spPr>
              <a:xfrm>
                <a:off x="1111787" y="3388552"/>
                <a:ext cx="101810" cy="289832"/>
              </a:xfrm>
              <a:custGeom>
                <a:avLst/>
                <a:gdLst/>
                <a:ahLst/>
                <a:cxnLst/>
                <a:rect l="l" t="t" r="r" b="b"/>
                <a:pathLst>
                  <a:path w="3877" h="11037" extrusionOk="0">
                    <a:moveTo>
                      <a:pt x="962" y="0"/>
                    </a:moveTo>
                    <a:cubicBezTo>
                      <a:pt x="888" y="0"/>
                      <a:pt x="812" y="16"/>
                      <a:pt x="738" y="49"/>
                    </a:cubicBezTo>
                    <a:lnTo>
                      <a:pt x="116" y="308"/>
                    </a:lnTo>
                    <a:cubicBezTo>
                      <a:pt x="164" y="403"/>
                      <a:pt x="183" y="499"/>
                      <a:pt x="173" y="604"/>
                    </a:cubicBezTo>
                    <a:lnTo>
                      <a:pt x="30" y="2155"/>
                    </a:lnTo>
                    <a:cubicBezTo>
                      <a:pt x="1" y="2432"/>
                      <a:pt x="183" y="2681"/>
                      <a:pt x="460" y="2748"/>
                    </a:cubicBezTo>
                    <a:lnTo>
                      <a:pt x="1972" y="3093"/>
                    </a:lnTo>
                    <a:cubicBezTo>
                      <a:pt x="2384" y="3179"/>
                      <a:pt x="2537" y="3676"/>
                      <a:pt x="2269" y="3992"/>
                    </a:cubicBezTo>
                    <a:lnTo>
                      <a:pt x="1245" y="5160"/>
                    </a:lnTo>
                    <a:cubicBezTo>
                      <a:pt x="1054" y="5361"/>
                      <a:pt x="1054" y="5677"/>
                      <a:pt x="1245" y="5887"/>
                    </a:cubicBezTo>
                    <a:lnTo>
                      <a:pt x="2269" y="7055"/>
                    </a:lnTo>
                    <a:cubicBezTo>
                      <a:pt x="2537" y="7371"/>
                      <a:pt x="2384" y="7859"/>
                      <a:pt x="1972" y="7954"/>
                    </a:cubicBezTo>
                    <a:lnTo>
                      <a:pt x="460" y="8299"/>
                    </a:lnTo>
                    <a:cubicBezTo>
                      <a:pt x="183" y="8356"/>
                      <a:pt x="1" y="8615"/>
                      <a:pt x="30" y="8883"/>
                    </a:cubicBezTo>
                    <a:lnTo>
                      <a:pt x="173" y="10433"/>
                    </a:lnTo>
                    <a:cubicBezTo>
                      <a:pt x="183" y="10538"/>
                      <a:pt x="164" y="10634"/>
                      <a:pt x="116" y="10730"/>
                    </a:cubicBezTo>
                    <a:lnTo>
                      <a:pt x="738" y="10988"/>
                    </a:lnTo>
                    <a:cubicBezTo>
                      <a:pt x="812" y="11022"/>
                      <a:pt x="888" y="11037"/>
                      <a:pt x="962" y="11037"/>
                    </a:cubicBezTo>
                    <a:cubicBezTo>
                      <a:pt x="1267" y="11037"/>
                      <a:pt x="1534" y="10772"/>
                      <a:pt x="1503" y="10433"/>
                    </a:cubicBezTo>
                    <a:lnTo>
                      <a:pt x="1360" y="8892"/>
                    </a:lnTo>
                    <a:cubicBezTo>
                      <a:pt x="1331" y="8615"/>
                      <a:pt x="1513" y="8356"/>
                      <a:pt x="1790" y="8299"/>
                    </a:cubicBezTo>
                    <a:lnTo>
                      <a:pt x="3303" y="7954"/>
                    </a:lnTo>
                    <a:cubicBezTo>
                      <a:pt x="3714" y="7859"/>
                      <a:pt x="3867" y="7371"/>
                      <a:pt x="3599" y="7055"/>
                    </a:cubicBezTo>
                    <a:lnTo>
                      <a:pt x="2575" y="5887"/>
                    </a:lnTo>
                    <a:cubicBezTo>
                      <a:pt x="2393" y="5677"/>
                      <a:pt x="2393" y="5370"/>
                      <a:pt x="2575" y="5160"/>
                    </a:cubicBezTo>
                    <a:lnTo>
                      <a:pt x="3599" y="3992"/>
                    </a:lnTo>
                    <a:cubicBezTo>
                      <a:pt x="3877" y="3676"/>
                      <a:pt x="3714" y="3179"/>
                      <a:pt x="3303" y="3093"/>
                    </a:cubicBezTo>
                    <a:lnTo>
                      <a:pt x="1790" y="2748"/>
                    </a:lnTo>
                    <a:cubicBezTo>
                      <a:pt x="1523" y="2681"/>
                      <a:pt x="1341" y="2432"/>
                      <a:pt x="1360" y="2155"/>
                    </a:cubicBezTo>
                    <a:lnTo>
                      <a:pt x="1503" y="604"/>
                    </a:lnTo>
                    <a:cubicBezTo>
                      <a:pt x="1534" y="265"/>
                      <a:pt x="1267" y="0"/>
                      <a:pt x="962" y="0"/>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6454;p127">
                <a:extLst>
                  <a:ext uri="{FF2B5EF4-FFF2-40B4-BE49-F238E27FC236}">
                    <a16:creationId xmlns:a16="http://schemas.microsoft.com/office/drawing/2014/main" id="{AE7BA59B-BB71-2C99-9A43-989FACA157F0}"/>
                  </a:ext>
                </a:extLst>
              </p:cNvPr>
              <p:cNvSpPr/>
              <p:nvPr/>
            </p:nvSpPr>
            <p:spPr>
              <a:xfrm>
                <a:off x="1024840" y="3660133"/>
                <a:ext cx="50025" cy="49080"/>
              </a:xfrm>
              <a:custGeom>
                <a:avLst/>
                <a:gdLst/>
                <a:ahLst/>
                <a:cxnLst/>
                <a:rect l="l" t="t" r="r" b="b"/>
                <a:pathLst>
                  <a:path w="1905" h="1869" extrusionOk="0">
                    <a:moveTo>
                      <a:pt x="1071" y="1"/>
                    </a:moveTo>
                    <a:cubicBezTo>
                      <a:pt x="883" y="1"/>
                      <a:pt x="698" y="97"/>
                      <a:pt x="594" y="263"/>
                    </a:cubicBezTo>
                    <a:lnTo>
                      <a:pt x="0" y="1278"/>
                    </a:lnTo>
                    <a:lnTo>
                      <a:pt x="192" y="1603"/>
                    </a:lnTo>
                    <a:cubicBezTo>
                      <a:pt x="297" y="1780"/>
                      <a:pt x="479" y="1869"/>
                      <a:pt x="662" y="1869"/>
                    </a:cubicBezTo>
                    <a:cubicBezTo>
                      <a:pt x="845" y="1869"/>
                      <a:pt x="1029" y="1780"/>
                      <a:pt x="1139" y="1603"/>
                    </a:cubicBezTo>
                    <a:lnTo>
                      <a:pt x="1905" y="311"/>
                    </a:lnTo>
                    <a:lnTo>
                      <a:pt x="1283" y="43"/>
                    </a:lnTo>
                    <a:cubicBezTo>
                      <a:pt x="1215" y="14"/>
                      <a:pt x="1143" y="1"/>
                      <a:pt x="1071" y="1"/>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6455;p127">
                <a:extLst>
                  <a:ext uri="{FF2B5EF4-FFF2-40B4-BE49-F238E27FC236}">
                    <a16:creationId xmlns:a16="http://schemas.microsoft.com/office/drawing/2014/main" id="{095E83C4-E69F-9FB6-40DC-7CF140EF908B}"/>
                  </a:ext>
                </a:extLst>
              </p:cNvPr>
              <p:cNvSpPr/>
              <p:nvPr/>
            </p:nvSpPr>
            <p:spPr>
              <a:xfrm>
                <a:off x="939390" y="3431067"/>
                <a:ext cx="211892" cy="205222"/>
              </a:xfrm>
              <a:custGeom>
                <a:avLst/>
                <a:gdLst/>
                <a:ahLst/>
                <a:cxnLst/>
                <a:rect l="l" t="t" r="r" b="b"/>
                <a:pathLst>
                  <a:path w="8069" h="7815" extrusionOk="0">
                    <a:moveTo>
                      <a:pt x="3916" y="0"/>
                    </a:moveTo>
                    <a:cubicBezTo>
                      <a:pt x="1659" y="0"/>
                      <a:pt x="1" y="1823"/>
                      <a:pt x="1" y="3895"/>
                    </a:cubicBezTo>
                    <a:cubicBezTo>
                      <a:pt x="1" y="6224"/>
                      <a:pt x="1910" y="7814"/>
                      <a:pt x="3928" y="7814"/>
                    </a:cubicBezTo>
                    <a:cubicBezTo>
                      <a:pt x="4771" y="7814"/>
                      <a:pt x="5634" y="7537"/>
                      <a:pt x="6384" y="6919"/>
                    </a:cubicBezTo>
                    <a:cubicBezTo>
                      <a:pt x="7561" y="5962"/>
                      <a:pt x="8068" y="4421"/>
                      <a:pt x="7695" y="2947"/>
                    </a:cubicBezTo>
                    <a:cubicBezTo>
                      <a:pt x="7331" y="1483"/>
                      <a:pt x="6154" y="363"/>
                      <a:pt x="4671" y="67"/>
                    </a:cubicBezTo>
                    <a:cubicBezTo>
                      <a:pt x="4413" y="22"/>
                      <a:pt x="4161" y="0"/>
                      <a:pt x="3916" y="0"/>
                    </a:cubicBezTo>
                    <a:close/>
                  </a:path>
                </a:pathLst>
              </a:custGeom>
              <a:solidFill>
                <a:srgbClr val="C1C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6456;p127">
                <a:extLst>
                  <a:ext uri="{FF2B5EF4-FFF2-40B4-BE49-F238E27FC236}">
                    <a16:creationId xmlns:a16="http://schemas.microsoft.com/office/drawing/2014/main" id="{33F7D06C-AF6D-D034-5BF2-77ACD3736FA9}"/>
                  </a:ext>
                </a:extLst>
              </p:cNvPr>
              <p:cNvSpPr/>
              <p:nvPr/>
            </p:nvSpPr>
            <p:spPr>
              <a:xfrm>
                <a:off x="970561" y="3470641"/>
                <a:ext cx="60345" cy="51653"/>
              </a:xfrm>
              <a:custGeom>
                <a:avLst/>
                <a:gdLst/>
                <a:ahLst/>
                <a:cxnLst/>
                <a:rect l="l" t="t" r="r" b="b"/>
                <a:pathLst>
                  <a:path w="2298" h="1967" extrusionOk="0">
                    <a:moveTo>
                      <a:pt x="1315" y="409"/>
                    </a:moveTo>
                    <a:cubicBezTo>
                      <a:pt x="1456" y="409"/>
                      <a:pt x="1599" y="461"/>
                      <a:pt x="1713" y="579"/>
                    </a:cubicBezTo>
                    <a:cubicBezTo>
                      <a:pt x="2077" y="943"/>
                      <a:pt x="1819" y="1555"/>
                      <a:pt x="1311" y="1555"/>
                    </a:cubicBezTo>
                    <a:cubicBezTo>
                      <a:pt x="996" y="1555"/>
                      <a:pt x="737" y="1297"/>
                      <a:pt x="737" y="981"/>
                    </a:cubicBezTo>
                    <a:cubicBezTo>
                      <a:pt x="737" y="638"/>
                      <a:pt x="1022" y="409"/>
                      <a:pt x="1315" y="409"/>
                    </a:cubicBezTo>
                    <a:close/>
                    <a:moveTo>
                      <a:pt x="1308" y="0"/>
                    </a:moveTo>
                    <a:cubicBezTo>
                      <a:pt x="1067" y="0"/>
                      <a:pt x="821" y="90"/>
                      <a:pt x="622" y="292"/>
                    </a:cubicBezTo>
                    <a:cubicBezTo>
                      <a:pt x="0" y="905"/>
                      <a:pt x="441" y="1967"/>
                      <a:pt x="1311" y="1967"/>
                    </a:cubicBezTo>
                    <a:cubicBezTo>
                      <a:pt x="1857" y="1967"/>
                      <a:pt x="2288" y="1527"/>
                      <a:pt x="2297" y="981"/>
                    </a:cubicBezTo>
                    <a:cubicBezTo>
                      <a:pt x="2297" y="392"/>
                      <a:pt x="1812" y="0"/>
                      <a:pt x="1308" y="0"/>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6457;p127">
                <a:extLst>
                  <a:ext uri="{FF2B5EF4-FFF2-40B4-BE49-F238E27FC236}">
                    <a16:creationId xmlns:a16="http://schemas.microsoft.com/office/drawing/2014/main" id="{C464E195-401E-ED71-3F0D-4F4099944059}"/>
                  </a:ext>
                </a:extLst>
              </p:cNvPr>
              <p:cNvSpPr/>
              <p:nvPr/>
            </p:nvSpPr>
            <p:spPr>
              <a:xfrm>
                <a:off x="1053332" y="3545140"/>
                <a:ext cx="60188" cy="51417"/>
              </a:xfrm>
              <a:custGeom>
                <a:avLst/>
                <a:gdLst/>
                <a:ahLst/>
                <a:cxnLst/>
                <a:rect l="l" t="t" r="r" b="b"/>
                <a:pathLst>
                  <a:path w="2292" h="1958" extrusionOk="0">
                    <a:moveTo>
                      <a:pt x="983" y="393"/>
                    </a:moveTo>
                    <a:cubicBezTo>
                      <a:pt x="1299" y="403"/>
                      <a:pt x="1557" y="652"/>
                      <a:pt x="1557" y="967"/>
                    </a:cubicBezTo>
                    <a:cubicBezTo>
                      <a:pt x="1557" y="1317"/>
                      <a:pt x="1276" y="1549"/>
                      <a:pt x="982" y="1549"/>
                    </a:cubicBezTo>
                    <a:cubicBezTo>
                      <a:pt x="841" y="1549"/>
                      <a:pt x="698" y="1496"/>
                      <a:pt x="581" y="1379"/>
                    </a:cubicBezTo>
                    <a:cubicBezTo>
                      <a:pt x="217" y="1015"/>
                      <a:pt x="475" y="393"/>
                      <a:pt x="983" y="393"/>
                    </a:cubicBezTo>
                    <a:close/>
                    <a:moveTo>
                      <a:pt x="994" y="1"/>
                    </a:moveTo>
                    <a:cubicBezTo>
                      <a:pt x="991" y="1"/>
                      <a:pt x="987" y="1"/>
                      <a:pt x="983" y="1"/>
                    </a:cubicBezTo>
                    <a:cubicBezTo>
                      <a:pt x="437" y="1"/>
                      <a:pt x="7" y="431"/>
                      <a:pt x="7" y="967"/>
                    </a:cubicBezTo>
                    <a:cubicBezTo>
                      <a:pt x="0" y="1563"/>
                      <a:pt x="484" y="1957"/>
                      <a:pt x="991" y="1957"/>
                    </a:cubicBezTo>
                    <a:cubicBezTo>
                      <a:pt x="1233" y="1957"/>
                      <a:pt x="1480" y="1867"/>
                      <a:pt x="1681" y="1666"/>
                    </a:cubicBezTo>
                    <a:cubicBezTo>
                      <a:pt x="2291" y="1047"/>
                      <a:pt x="1858" y="1"/>
                      <a:pt x="994" y="1"/>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6458;p127">
                <a:extLst>
                  <a:ext uri="{FF2B5EF4-FFF2-40B4-BE49-F238E27FC236}">
                    <a16:creationId xmlns:a16="http://schemas.microsoft.com/office/drawing/2014/main" id="{783065D5-D4E0-6CDA-9B75-46CA04767BFF}"/>
                  </a:ext>
                </a:extLst>
              </p:cNvPr>
              <p:cNvSpPr/>
              <p:nvPr/>
            </p:nvSpPr>
            <p:spPr>
              <a:xfrm>
                <a:off x="992330" y="3479595"/>
                <a:ext cx="106090" cy="101836"/>
              </a:xfrm>
              <a:custGeom>
                <a:avLst/>
                <a:gdLst/>
                <a:ahLst/>
                <a:cxnLst/>
                <a:rect l="l" t="t" r="r" b="b"/>
                <a:pathLst>
                  <a:path w="4040" h="3878" extrusionOk="0">
                    <a:moveTo>
                      <a:pt x="3742" y="0"/>
                    </a:moveTo>
                    <a:cubicBezTo>
                      <a:pt x="3692" y="0"/>
                      <a:pt x="3639" y="22"/>
                      <a:pt x="3593" y="75"/>
                    </a:cubicBezTo>
                    <a:lnTo>
                      <a:pt x="128" y="3540"/>
                    </a:lnTo>
                    <a:cubicBezTo>
                      <a:pt x="1" y="3682"/>
                      <a:pt x="132" y="3877"/>
                      <a:pt x="286" y="3877"/>
                    </a:cubicBezTo>
                    <a:cubicBezTo>
                      <a:pt x="329" y="3877"/>
                      <a:pt x="374" y="3862"/>
                      <a:pt x="415" y="3827"/>
                    </a:cubicBezTo>
                    <a:lnTo>
                      <a:pt x="3880" y="363"/>
                    </a:lnTo>
                    <a:cubicBezTo>
                      <a:pt x="4040" y="217"/>
                      <a:pt x="3902" y="0"/>
                      <a:pt x="3742" y="0"/>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23" name="Picture 22">
            <a:extLst>
              <a:ext uri="{FF2B5EF4-FFF2-40B4-BE49-F238E27FC236}">
                <a16:creationId xmlns:a16="http://schemas.microsoft.com/office/drawing/2014/main" id="{6C235EB9-1241-0946-B138-EA1F5CDC0BB2}"/>
              </a:ext>
            </a:extLst>
          </p:cNvPr>
          <p:cNvPicPr>
            <a:picLocks noChangeAspect="1"/>
          </p:cNvPicPr>
          <p:nvPr/>
        </p:nvPicPr>
        <p:blipFill>
          <a:blip r:embed="rId6"/>
          <a:stretch>
            <a:fillRect/>
          </a:stretch>
        </p:blipFill>
        <p:spPr>
          <a:xfrm>
            <a:off x="7940677" y="4200786"/>
            <a:ext cx="582219" cy="550417"/>
          </a:xfrm>
          <a:prstGeom prst="rect">
            <a:avLst/>
          </a:prstGeom>
        </p:spPr>
      </p:pic>
      <p:pic>
        <p:nvPicPr>
          <p:cNvPr id="24" name="Picture 23">
            <a:extLst>
              <a:ext uri="{FF2B5EF4-FFF2-40B4-BE49-F238E27FC236}">
                <a16:creationId xmlns:a16="http://schemas.microsoft.com/office/drawing/2014/main" id="{FDB9A204-EA36-4A8A-6D1A-3B2B8CC7B874}"/>
              </a:ext>
            </a:extLst>
          </p:cNvPr>
          <p:cNvPicPr>
            <a:picLocks noChangeAspect="1"/>
          </p:cNvPicPr>
          <p:nvPr/>
        </p:nvPicPr>
        <p:blipFill>
          <a:blip r:embed="rId7"/>
          <a:stretch>
            <a:fillRect/>
          </a:stretch>
        </p:blipFill>
        <p:spPr>
          <a:xfrm>
            <a:off x="4192665" y="1836443"/>
            <a:ext cx="582219" cy="550417"/>
          </a:xfrm>
          <a:prstGeom prst="rect">
            <a:avLst/>
          </a:prstGeom>
        </p:spPr>
      </p:pic>
      <p:pic>
        <p:nvPicPr>
          <p:cNvPr id="25" name="Picture 24">
            <a:extLst>
              <a:ext uri="{FF2B5EF4-FFF2-40B4-BE49-F238E27FC236}">
                <a16:creationId xmlns:a16="http://schemas.microsoft.com/office/drawing/2014/main" id="{0C164F51-AE42-11CA-1C58-8A04406C14D2}"/>
              </a:ext>
            </a:extLst>
          </p:cNvPr>
          <p:cNvPicPr>
            <a:picLocks noChangeAspect="1"/>
          </p:cNvPicPr>
          <p:nvPr/>
        </p:nvPicPr>
        <p:blipFill>
          <a:blip r:embed="rId8"/>
          <a:stretch>
            <a:fillRect/>
          </a:stretch>
        </p:blipFill>
        <p:spPr>
          <a:xfrm>
            <a:off x="7932581" y="267232"/>
            <a:ext cx="582219" cy="550417"/>
          </a:xfrm>
          <a:prstGeom prst="rect">
            <a:avLst/>
          </a:prstGeom>
        </p:spPr>
      </p:pic>
      <p:pic>
        <p:nvPicPr>
          <p:cNvPr id="26" name="Picture 25">
            <a:extLst>
              <a:ext uri="{FF2B5EF4-FFF2-40B4-BE49-F238E27FC236}">
                <a16:creationId xmlns:a16="http://schemas.microsoft.com/office/drawing/2014/main" id="{06F95806-7260-FD84-BC8D-6B9C84D75605}"/>
              </a:ext>
            </a:extLst>
          </p:cNvPr>
          <p:cNvPicPr>
            <a:picLocks noChangeAspect="1"/>
          </p:cNvPicPr>
          <p:nvPr/>
        </p:nvPicPr>
        <p:blipFill>
          <a:blip r:embed="rId9"/>
          <a:stretch>
            <a:fillRect/>
          </a:stretch>
        </p:blipFill>
        <p:spPr>
          <a:xfrm>
            <a:off x="7971093" y="1042001"/>
            <a:ext cx="582219" cy="550417"/>
          </a:xfrm>
          <a:prstGeom prst="rect">
            <a:avLst/>
          </a:prstGeom>
        </p:spPr>
      </p:pic>
      <p:grpSp>
        <p:nvGrpSpPr>
          <p:cNvPr id="27" name="Group 26">
            <a:extLst>
              <a:ext uri="{FF2B5EF4-FFF2-40B4-BE49-F238E27FC236}">
                <a16:creationId xmlns:a16="http://schemas.microsoft.com/office/drawing/2014/main" id="{E5C16DC0-78A5-BF29-C561-CAAFDC3D97A9}"/>
              </a:ext>
            </a:extLst>
          </p:cNvPr>
          <p:cNvGrpSpPr/>
          <p:nvPr/>
        </p:nvGrpSpPr>
        <p:grpSpPr>
          <a:xfrm>
            <a:off x="772702" y="1918966"/>
            <a:ext cx="2111577" cy="3460366"/>
            <a:chOff x="1175608" y="1770863"/>
            <a:chExt cx="2078412" cy="3602809"/>
          </a:xfrm>
        </p:grpSpPr>
        <p:sp>
          <p:nvSpPr>
            <p:cNvPr id="28" name="Google Shape;8795;p119">
              <a:extLst>
                <a:ext uri="{FF2B5EF4-FFF2-40B4-BE49-F238E27FC236}">
                  <a16:creationId xmlns:a16="http://schemas.microsoft.com/office/drawing/2014/main" id="{E602A9C5-0A22-1431-A13F-067D17110304}"/>
                </a:ext>
              </a:extLst>
            </p:cNvPr>
            <p:cNvSpPr/>
            <p:nvPr/>
          </p:nvSpPr>
          <p:spPr>
            <a:xfrm flipH="1">
              <a:off x="1175608" y="1770863"/>
              <a:ext cx="2078412" cy="3602809"/>
            </a:xfrm>
            <a:prstGeom prst="flowChartMagneticDisk">
              <a:avLst/>
            </a:prstGeom>
            <a:noFill/>
            <a:ln w="38100" cap="flat" cmpd="sng">
              <a:solidFill>
                <a:srgbClr val="FFC000"/>
              </a:solidFill>
              <a:prstDash val="solid"/>
              <a:round/>
              <a:headEnd type="none" w="sm" len="sm"/>
              <a:tailEnd type="none" w="sm" len="sm"/>
            </a:ln>
            <a:effectLst>
              <a:glow rad="139700">
                <a:schemeClr val="accent4">
                  <a:satMod val="175000"/>
                  <a:alpha val="40000"/>
                </a:schemeClr>
              </a:glo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 name="Picture 28">
              <a:extLst>
                <a:ext uri="{FF2B5EF4-FFF2-40B4-BE49-F238E27FC236}">
                  <a16:creationId xmlns:a16="http://schemas.microsoft.com/office/drawing/2014/main" id="{D5C223F8-9F28-BFB3-40B5-7D881A04A1D2}"/>
                </a:ext>
              </a:extLst>
            </p:cNvPr>
            <p:cNvPicPr>
              <a:picLocks noChangeAspect="1"/>
            </p:cNvPicPr>
            <p:nvPr/>
          </p:nvPicPr>
          <p:blipFill>
            <a:blip r:embed="rId10"/>
            <a:stretch>
              <a:fillRect/>
            </a:stretch>
          </p:blipFill>
          <p:spPr>
            <a:xfrm>
              <a:off x="1357816" y="3172153"/>
              <a:ext cx="1679299" cy="1580100"/>
            </a:xfrm>
            <a:prstGeom prst="rect">
              <a:avLst/>
            </a:prstGeom>
            <a:effectLst>
              <a:glow rad="101600">
                <a:schemeClr val="accent5">
                  <a:satMod val="175000"/>
                  <a:alpha val="40000"/>
                </a:schemeClr>
              </a:glow>
            </a:effectLst>
          </p:spPr>
        </p:pic>
      </p:grpSp>
      <p:graphicFrame>
        <p:nvGraphicFramePr>
          <p:cNvPr id="30" name="Table 29">
            <a:extLst>
              <a:ext uri="{FF2B5EF4-FFF2-40B4-BE49-F238E27FC236}">
                <a16:creationId xmlns:a16="http://schemas.microsoft.com/office/drawing/2014/main" id="{93F211D2-DD04-BEE5-F83B-FCF825CF2C15}"/>
              </a:ext>
            </a:extLst>
          </p:cNvPr>
          <p:cNvGraphicFramePr>
            <a:graphicFrameLocks noGrp="1"/>
          </p:cNvGraphicFramePr>
          <p:nvPr>
            <p:extLst>
              <p:ext uri="{D42A27DB-BD31-4B8C-83A1-F6EECF244321}">
                <p14:modId xmlns:p14="http://schemas.microsoft.com/office/powerpoint/2010/main" val="255169232"/>
              </p:ext>
            </p:extLst>
          </p:nvPr>
        </p:nvGraphicFramePr>
        <p:xfrm>
          <a:off x="10353514" y="5783282"/>
          <a:ext cx="1694938" cy="411480"/>
        </p:xfrm>
        <a:graphic>
          <a:graphicData uri="http://schemas.openxmlformats.org/drawingml/2006/table">
            <a:tbl>
              <a:tblPr/>
              <a:tblGrid>
                <a:gridCol w="1694938">
                  <a:extLst>
                    <a:ext uri="{9D8B030D-6E8A-4147-A177-3AD203B41FA5}">
                      <a16:colId xmlns:a16="http://schemas.microsoft.com/office/drawing/2014/main" val="2961821437"/>
                    </a:ext>
                  </a:extLst>
                </a:gridCol>
              </a:tblGrid>
              <a:tr h="395211">
                <a:tc>
                  <a:txBody>
                    <a:bodyPr/>
                    <a:lstStyle/>
                    <a:p>
                      <a:pPr algn="l" fontAlgn="base"/>
                      <a:r>
                        <a:rPr lang="en-PH" sz="1050" b="0" i="0">
                          <a:solidFill>
                            <a:srgbClr val="000000"/>
                          </a:solidFill>
                          <a:effectLst/>
                          <a:latin typeface="Lato" panose="020F0502020204030203" pitchFamily="34" charset="0"/>
                        </a:rPr>
                        <a:t>*Obtained from branches</a:t>
                      </a:r>
                    </a:p>
                    <a:p>
                      <a:pPr algn="l" fontAlgn="base"/>
                      <a:r>
                        <a:rPr lang="en-PH" sz="1050" b="0" i="0">
                          <a:solidFill>
                            <a:schemeClr val="tx1"/>
                          </a:solidFill>
                          <a:effectLst/>
                          <a:latin typeface="Lato" panose="020F0502020204030203" pitchFamily="34" charset="0"/>
                        </a:rPr>
                        <a:t>​**Obtained from clients</a:t>
                      </a:r>
                      <a:endParaRPr lang="en-PH" b="0" i="0">
                        <a:solidFill>
                          <a:schemeClr val="tx1"/>
                        </a:solidFill>
                        <a:effectLst/>
                      </a:endParaRPr>
                    </a:p>
                  </a:txBody>
                  <a:tcP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tcPr>
                </a:tc>
                <a:extLst>
                  <a:ext uri="{0D108BD9-81ED-4DB2-BD59-A6C34878D82A}">
                    <a16:rowId xmlns:a16="http://schemas.microsoft.com/office/drawing/2014/main" val="2125938212"/>
                  </a:ext>
                </a:extLst>
              </a:tr>
            </a:tbl>
          </a:graphicData>
        </a:graphic>
      </p:graphicFrame>
      <p:pic>
        <p:nvPicPr>
          <p:cNvPr id="31" name="Picture 30">
            <a:extLst>
              <a:ext uri="{FF2B5EF4-FFF2-40B4-BE49-F238E27FC236}">
                <a16:creationId xmlns:a16="http://schemas.microsoft.com/office/drawing/2014/main" id="{A2EE3DD3-4E46-05DE-9DB1-A89E34A585FF}"/>
              </a:ext>
            </a:extLst>
          </p:cNvPr>
          <p:cNvPicPr>
            <a:picLocks noChangeAspect="1"/>
          </p:cNvPicPr>
          <p:nvPr/>
        </p:nvPicPr>
        <p:blipFill>
          <a:blip r:embed="rId11"/>
          <a:stretch>
            <a:fillRect/>
          </a:stretch>
        </p:blipFill>
        <p:spPr>
          <a:xfrm>
            <a:off x="7971093" y="1832834"/>
            <a:ext cx="582219" cy="550417"/>
          </a:xfrm>
          <a:prstGeom prst="rect">
            <a:avLst/>
          </a:prstGeom>
        </p:spPr>
      </p:pic>
      <p:pic>
        <p:nvPicPr>
          <p:cNvPr id="32" name="Picture 31">
            <a:extLst>
              <a:ext uri="{FF2B5EF4-FFF2-40B4-BE49-F238E27FC236}">
                <a16:creationId xmlns:a16="http://schemas.microsoft.com/office/drawing/2014/main" id="{D3E754D7-60C0-C20C-46A1-D2A05AFAB826}"/>
              </a:ext>
            </a:extLst>
          </p:cNvPr>
          <p:cNvPicPr>
            <a:picLocks noChangeAspect="1"/>
          </p:cNvPicPr>
          <p:nvPr/>
        </p:nvPicPr>
        <p:blipFill>
          <a:blip r:embed="rId4"/>
          <a:stretch>
            <a:fillRect/>
          </a:stretch>
        </p:blipFill>
        <p:spPr>
          <a:xfrm>
            <a:off x="4259890" y="5064626"/>
            <a:ext cx="582219" cy="550417"/>
          </a:xfrm>
          <a:prstGeom prst="rect">
            <a:avLst/>
          </a:prstGeom>
        </p:spPr>
      </p:pic>
      <p:pic>
        <p:nvPicPr>
          <p:cNvPr id="33" name="Picture 32" descr="Maintenance Icon, Transparent Maintenance.PNG Images ...">
            <a:extLst>
              <a:ext uri="{FF2B5EF4-FFF2-40B4-BE49-F238E27FC236}">
                <a16:creationId xmlns:a16="http://schemas.microsoft.com/office/drawing/2014/main" id="{6EA2C4FD-4A5F-73C8-B4BF-748316C90B1A}"/>
              </a:ext>
            </a:extLst>
          </p:cNvPr>
          <p:cNvPicPr>
            <a:picLocks noChangeAspect="1"/>
          </p:cNvPicPr>
          <p:nvPr/>
        </p:nvPicPr>
        <p:blipFill>
          <a:blip r:embed="rId12"/>
          <a:stretch>
            <a:fillRect/>
          </a:stretch>
        </p:blipFill>
        <p:spPr>
          <a:xfrm>
            <a:off x="4310387" y="5860506"/>
            <a:ext cx="464497" cy="450930"/>
          </a:xfrm>
          <a:prstGeom prst="flowChartConnector">
            <a:avLst/>
          </a:prstGeom>
        </p:spPr>
      </p:pic>
    </p:spTree>
    <p:extLst>
      <p:ext uri="{BB962C8B-B14F-4D97-AF65-F5344CB8AC3E}">
        <p14:creationId xmlns:p14="http://schemas.microsoft.com/office/powerpoint/2010/main" val="4108930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barn(inVertical)">
                                      <p:cBhvr>
                                        <p:cTn id="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31393E-5DA5-9EA4-DD5E-5F0A122D760E}"/>
              </a:ext>
            </a:extLst>
          </p:cNvPr>
          <p:cNvSpPr>
            <a:spLocks noGrp="1"/>
          </p:cNvSpPr>
          <p:nvPr>
            <p:ph type="sldNum" sz="quarter" idx="12"/>
          </p:nvPr>
        </p:nvSpPr>
        <p:spPr/>
        <p:txBody>
          <a:bodyPr/>
          <a:lstStyle/>
          <a:p>
            <a:fld id="{36D53BC0-5915-4EE6-A8B4-385258777E7F}" type="slidenum">
              <a:rPr lang="en-PH" smtClean="0"/>
              <a:pPr/>
              <a:t>44</a:t>
            </a:fld>
            <a:endParaRPr lang="en-PH"/>
          </a:p>
        </p:txBody>
      </p:sp>
      <p:sp>
        <p:nvSpPr>
          <p:cNvPr id="5" name="Arrow: Right 4">
            <a:extLst>
              <a:ext uri="{FF2B5EF4-FFF2-40B4-BE49-F238E27FC236}">
                <a16:creationId xmlns:a16="http://schemas.microsoft.com/office/drawing/2014/main" id="{918B5D38-2254-DAAE-008D-DAC7B3E1CC05}"/>
              </a:ext>
            </a:extLst>
          </p:cNvPr>
          <p:cNvSpPr/>
          <p:nvPr/>
        </p:nvSpPr>
        <p:spPr>
          <a:xfrm>
            <a:off x="224118" y="79344"/>
            <a:ext cx="7304314" cy="1626041"/>
          </a:xfrm>
          <a:prstGeom prst="rightArrow">
            <a:avLst/>
          </a:prstGeom>
          <a:solidFill>
            <a:srgbClr val="FFD92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2800" b="1">
                <a:solidFill>
                  <a:srgbClr val="1F4766"/>
                </a:solidFill>
                <a:latin typeface="Lato" panose="020F0502020204030203" pitchFamily="34" charset="0"/>
                <a:ea typeface="Lato" panose="020F0502020204030203" pitchFamily="34" charset="0"/>
                <a:cs typeface="Lato" panose="020F0502020204030203" pitchFamily="34" charset="0"/>
              </a:rPr>
              <a:t>        </a:t>
            </a:r>
            <a:r>
              <a:rPr lang="en-PH" sz="2800" b="1" i="1">
                <a:solidFill>
                  <a:srgbClr val="1F4766"/>
                </a:solidFill>
                <a:latin typeface="Lato" panose="020F0502020204030203" pitchFamily="34" charset="0"/>
                <a:ea typeface="Lato" panose="020F0502020204030203" pitchFamily="34" charset="0"/>
                <a:cs typeface="Lato" panose="020F0502020204030203" pitchFamily="34" charset="0"/>
              </a:rPr>
              <a:t>SAGIP Loan as Disaster Recovery</a:t>
            </a:r>
          </a:p>
        </p:txBody>
      </p:sp>
      <p:pic>
        <p:nvPicPr>
          <p:cNvPr id="6" name="Picture 3" descr="A picture containing icon&#10;&#10;Description automatically generated">
            <a:extLst>
              <a:ext uri="{FF2B5EF4-FFF2-40B4-BE49-F238E27FC236}">
                <a16:creationId xmlns:a16="http://schemas.microsoft.com/office/drawing/2014/main" id="{F85B892A-17D5-8C2F-8887-5FFFF3BDAF96}"/>
              </a:ext>
            </a:extLst>
          </p:cNvPr>
          <p:cNvPicPr>
            <a:picLocks noChangeAspect="1"/>
          </p:cNvPicPr>
          <p:nvPr/>
        </p:nvPicPr>
        <p:blipFill>
          <a:blip r:embed="rId2"/>
          <a:stretch>
            <a:fillRect/>
          </a:stretch>
        </p:blipFill>
        <p:spPr>
          <a:xfrm>
            <a:off x="408264" y="534667"/>
            <a:ext cx="891270" cy="738139"/>
          </a:xfrm>
          <a:prstGeom prst="rect">
            <a:avLst/>
          </a:prstGeom>
        </p:spPr>
      </p:pic>
      <p:sp>
        <p:nvSpPr>
          <p:cNvPr id="7" name="TextBox 6">
            <a:extLst>
              <a:ext uri="{FF2B5EF4-FFF2-40B4-BE49-F238E27FC236}">
                <a16:creationId xmlns:a16="http://schemas.microsoft.com/office/drawing/2014/main" id="{414898B4-05B1-F199-0D8E-8D3D05B92A98}"/>
              </a:ext>
            </a:extLst>
          </p:cNvPr>
          <p:cNvSpPr txBox="1"/>
          <p:nvPr/>
        </p:nvSpPr>
        <p:spPr>
          <a:xfrm>
            <a:off x="408264" y="1347826"/>
            <a:ext cx="6104020" cy="453137"/>
          </a:xfrm>
          <a:prstGeom prst="rect">
            <a:avLst/>
          </a:prstGeom>
          <a:noFill/>
        </p:spPr>
        <p:txBody>
          <a:bodyPr wrap="square">
            <a:spAutoFit/>
          </a:bodyPr>
          <a:lstStyle/>
          <a:p>
            <a:pPr algn="just">
              <a:lnSpc>
                <a:spcPct val="150000"/>
              </a:lnSpc>
            </a:pPr>
            <a:r>
              <a:rPr lang="en-US" sz="1800" b="1" i="1">
                <a:solidFill>
                  <a:srgbClr val="1F4766"/>
                </a:solidFill>
                <a:latin typeface="Lato"/>
                <a:ea typeface="Lato"/>
                <a:cs typeface="Lato"/>
              </a:rPr>
              <a:t>(Social Assistance Geared for Indigent People Loan)</a:t>
            </a:r>
          </a:p>
        </p:txBody>
      </p:sp>
      <p:sp>
        <p:nvSpPr>
          <p:cNvPr id="9" name="Text Placeholder 2">
            <a:extLst>
              <a:ext uri="{FF2B5EF4-FFF2-40B4-BE49-F238E27FC236}">
                <a16:creationId xmlns:a16="http://schemas.microsoft.com/office/drawing/2014/main" id="{A12BC0AB-C2D7-F4D3-B834-A43EDB8056C4}"/>
              </a:ext>
            </a:extLst>
          </p:cNvPr>
          <p:cNvSpPr txBox="1">
            <a:spLocks/>
          </p:cNvSpPr>
          <p:nvPr/>
        </p:nvSpPr>
        <p:spPr>
          <a:xfrm>
            <a:off x="381371" y="1838141"/>
            <a:ext cx="7819490" cy="738139"/>
          </a:xfrm>
          <a:prstGeom prst="rect">
            <a:avLst/>
          </a:prstGeom>
        </p:spPr>
        <p:txBody>
          <a:bodyPr lIns="91440" tIns="45720" rIns="91440" bIns="45720" anchor="t">
            <a:no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tint val="75000"/>
                  </a:schemeClr>
                </a:solidFill>
                <a:latin typeface="Lato" panose="020F0502020204030203"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just">
              <a:lnSpc>
                <a:spcPct val="150000"/>
              </a:lnSpc>
            </a:pPr>
            <a:r>
              <a:rPr lang="en-PH" sz="1600">
                <a:solidFill>
                  <a:srgbClr val="1F4766"/>
                </a:solidFill>
                <a:latin typeface="Lato"/>
                <a:ea typeface="Lato"/>
                <a:cs typeface="Lato"/>
              </a:rPr>
              <a:t>This product shall be offered to existing clients/ members who have an immediate need for emergency funds as a results of a natural or manmade disaster within twelve (12) months </a:t>
            </a:r>
            <a:r>
              <a:rPr lang="en-US" sz="1600">
                <a:solidFill>
                  <a:srgbClr val="1F4766"/>
                </a:solidFill>
                <a:latin typeface="Lato"/>
                <a:ea typeface="Lato"/>
                <a:cs typeface="Lato"/>
              </a:rPr>
              <a:t>where such disaster impacted the branch for 30% or more of its member base’s houses or livelihood through the following purposes:</a:t>
            </a:r>
          </a:p>
        </p:txBody>
      </p:sp>
      <p:pic>
        <p:nvPicPr>
          <p:cNvPr id="10" name="Picture 9" descr="A picture containing text, book&#10;&#10;Description automatically generated">
            <a:extLst>
              <a:ext uri="{FF2B5EF4-FFF2-40B4-BE49-F238E27FC236}">
                <a16:creationId xmlns:a16="http://schemas.microsoft.com/office/drawing/2014/main" id="{F04CE75C-2DCF-0E6F-6FF9-5A82E30D664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49732" t="13057" b="2654"/>
          <a:stretch/>
        </p:blipFill>
        <p:spPr>
          <a:xfrm>
            <a:off x="8633012" y="295614"/>
            <a:ext cx="3469341" cy="5773491"/>
          </a:xfrm>
          <a:prstGeom prst="rect">
            <a:avLst/>
          </a:prstGeom>
          <a:ln w="38100">
            <a:solidFill>
              <a:schemeClr val="bg1"/>
            </a:solidFill>
          </a:ln>
        </p:spPr>
      </p:pic>
      <p:graphicFrame>
        <p:nvGraphicFramePr>
          <p:cNvPr id="8" name="Table 7">
            <a:extLst>
              <a:ext uri="{FF2B5EF4-FFF2-40B4-BE49-F238E27FC236}">
                <a16:creationId xmlns:a16="http://schemas.microsoft.com/office/drawing/2014/main" id="{39D8C047-E426-DFBB-570D-961851115CF4}"/>
              </a:ext>
            </a:extLst>
          </p:cNvPr>
          <p:cNvGraphicFramePr>
            <a:graphicFrameLocks noGrp="1"/>
          </p:cNvGraphicFramePr>
          <p:nvPr>
            <p:extLst>
              <p:ext uri="{D42A27DB-BD31-4B8C-83A1-F6EECF244321}">
                <p14:modId xmlns:p14="http://schemas.microsoft.com/office/powerpoint/2010/main" val="2704957674"/>
              </p:ext>
            </p:extLst>
          </p:nvPr>
        </p:nvGraphicFramePr>
        <p:xfrm>
          <a:off x="343184" y="3910956"/>
          <a:ext cx="8343900" cy="1833880"/>
        </p:xfrm>
        <a:graphic>
          <a:graphicData uri="http://schemas.openxmlformats.org/drawingml/2006/table">
            <a:tbl>
              <a:tblPr firstRow="1" bandRow="1">
                <a:tableStyleId>{5C22544A-7EE6-4342-B048-85BDC9FD1C3A}</a:tableStyleId>
              </a:tblPr>
              <a:tblGrid>
                <a:gridCol w="4171950">
                  <a:extLst>
                    <a:ext uri="{9D8B030D-6E8A-4147-A177-3AD203B41FA5}">
                      <a16:colId xmlns:a16="http://schemas.microsoft.com/office/drawing/2014/main" val="781543507"/>
                    </a:ext>
                  </a:extLst>
                </a:gridCol>
                <a:gridCol w="4171950">
                  <a:extLst>
                    <a:ext uri="{9D8B030D-6E8A-4147-A177-3AD203B41FA5}">
                      <a16:colId xmlns:a16="http://schemas.microsoft.com/office/drawing/2014/main" val="3272706943"/>
                    </a:ext>
                  </a:extLst>
                </a:gridCol>
              </a:tblGrid>
              <a:tr h="276352">
                <a:tc>
                  <a:txBody>
                    <a:bodyPr/>
                    <a:lstStyle/>
                    <a:p>
                      <a:pPr marL="283464" marR="0" indent="-283464" algn="l" rtl="0" eaLnBrk="1" fontAlgn="auto" latinLnBrk="0" hangingPunct="1">
                        <a:buClrTx/>
                        <a:buSzPts val="1600"/>
                        <a:buFont typeface="Arial" panose="020B0604020202020204" pitchFamily="34" charset="0"/>
                        <a:buChar char="•"/>
                      </a:pPr>
                      <a:r>
                        <a:rPr lang="en-US" sz="1600" kern="1200">
                          <a:solidFill>
                            <a:srgbClr val="1F4766"/>
                          </a:solidFill>
                          <a:effectLst/>
                          <a:latin typeface="Lato" panose="020F0502020204030203" pitchFamily="34" charset="0"/>
                          <a:ea typeface="Lato" panose="020F0502020204030203" pitchFamily="34" charset="0"/>
                          <a:cs typeface="Lato" panose="020F0502020204030203" pitchFamily="34" charset="0"/>
                        </a:rPr>
                        <a:t>SLDR - Hospital/medical fees</a:t>
                      </a:r>
                      <a:endParaRPr lang="en-US" sz="1600">
                        <a:effectLst/>
                      </a:endParaRPr>
                    </a:p>
                  </a:txBody>
                  <a:tcPr marL="0" marR="0" marT="0" marB="0" anchor="ctr">
                    <a:lnL>
                      <a:noFill/>
                    </a:lnL>
                    <a:lnR>
                      <a:noFill/>
                    </a:lnR>
                    <a:lnT>
                      <a:noFill/>
                    </a:lnT>
                    <a:lnB>
                      <a:noFill/>
                    </a:lnB>
                    <a:noFill/>
                  </a:tcPr>
                </a:tc>
                <a:tc>
                  <a:txBody>
                    <a:bodyPr/>
                    <a:lstStyle/>
                    <a:p>
                      <a:pPr marL="283464" marR="0" indent="-283464" algn="l" rtl="0" eaLnBrk="1" fontAlgn="auto" latinLnBrk="0" hangingPunct="1">
                        <a:buClrTx/>
                        <a:buSzPts val="1600"/>
                        <a:buFont typeface="Arial" panose="020B0604020202020204" pitchFamily="34" charset="0"/>
                        <a:buChar char="•"/>
                      </a:pPr>
                      <a:r>
                        <a:rPr lang="en-US" sz="1600" kern="1200">
                          <a:solidFill>
                            <a:srgbClr val="1F4766"/>
                          </a:solidFill>
                          <a:effectLst/>
                          <a:latin typeface="Lato" panose="020F0502020204030203" pitchFamily="34" charset="0"/>
                          <a:ea typeface="Lato" panose="020F0502020204030203" pitchFamily="34" charset="0"/>
                          <a:cs typeface="Lato" panose="020F0502020204030203" pitchFamily="34" charset="0"/>
                        </a:rPr>
                        <a:t>SLDR - Fishing boat and/or implements acquisition</a:t>
                      </a:r>
                      <a:endParaRPr lang="en-US" sz="1600">
                        <a:effectLst/>
                      </a:endParaRPr>
                    </a:p>
                  </a:txBody>
                  <a:tcPr marL="0" marR="0" marT="0" marB="0" anchor="ctr">
                    <a:lnL>
                      <a:noFill/>
                    </a:lnL>
                    <a:lnR>
                      <a:noFill/>
                    </a:lnR>
                    <a:lnT>
                      <a:noFill/>
                    </a:lnT>
                    <a:lnB>
                      <a:noFill/>
                    </a:lnB>
                    <a:noFill/>
                  </a:tcPr>
                </a:tc>
                <a:extLst>
                  <a:ext uri="{0D108BD9-81ED-4DB2-BD59-A6C34878D82A}">
                    <a16:rowId xmlns:a16="http://schemas.microsoft.com/office/drawing/2014/main" val="1427522993"/>
                  </a:ext>
                </a:extLst>
              </a:tr>
              <a:tr h="370840">
                <a:tc>
                  <a:txBody>
                    <a:bodyPr/>
                    <a:lstStyle/>
                    <a:p>
                      <a:pPr marL="283464" marR="0" indent="-283464" algn="l" rtl="0" eaLnBrk="1" fontAlgn="auto" latinLnBrk="0" hangingPunct="1">
                        <a:buClrTx/>
                        <a:buSzPts val="1600"/>
                        <a:buFont typeface="Arial" panose="020B0604020202020204" pitchFamily="34" charset="0"/>
                        <a:buChar char="•"/>
                      </a:pPr>
                      <a:r>
                        <a:rPr lang="en-US" sz="1600" kern="1200">
                          <a:solidFill>
                            <a:srgbClr val="1F4766"/>
                          </a:solidFill>
                          <a:effectLst/>
                          <a:latin typeface="Lato" panose="020F0502020204030203" pitchFamily="34" charset="0"/>
                          <a:ea typeface="Lato" panose="020F0502020204030203" pitchFamily="34" charset="0"/>
                          <a:cs typeface="Lato" panose="020F0502020204030203" pitchFamily="34" charset="0"/>
                        </a:rPr>
                        <a:t>SLDR - Purchase of medicines</a:t>
                      </a:r>
                      <a:endParaRPr lang="en-US" sz="1600">
                        <a:effectLst/>
                      </a:endParaRPr>
                    </a:p>
                  </a:txBody>
                  <a:tcPr marL="0" marR="0" marT="0" marB="0" anchor="ctr">
                    <a:lnL>
                      <a:noFill/>
                    </a:lnL>
                    <a:lnR>
                      <a:noFill/>
                    </a:lnR>
                    <a:lnT>
                      <a:noFill/>
                    </a:lnT>
                    <a:lnB>
                      <a:noFill/>
                    </a:lnB>
                    <a:noFill/>
                  </a:tcPr>
                </a:tc>
                <a:tc>
                  <a:txBody>
                    <a:bodyPr/>
                    <a:lstStyle/>
                    <a:p>
                      <a:pPr marL="283464" marR="0" indent="-283464" algn="l" rtl="0" eaLnBrk="1" fontAlgn="auto" latinLnBrk="0" hangingPunct="1">
                        <a:buClrTx/>
                        <a:buSzPts val="1600"/>
                        <a:buFont typeface="Arial" panose="020B0604020202020204" pitchFamily="34" charset="0"/>
                        <a:buChar char="•"/>
                      </a:pPr>
                      <a:r>
                        <a:rPr lang="en-US" sz="1600" kern="1200">
                          <a:solidFill>
                            <a:srgbClr val="1F4766"/>
                          </a:solidFill>
                          <a:effectLst/>
                          <a:latin typeface="Lato" panose="020F0502020204030203" pitchFamily="34" charset="0"/>
                          <a:ea typeface="Lato" panose="020F0502020204030203" pitchFamily="34" charset="0"/>
                          <a:cs typeface="Lato" panose="020F0502020204030203" pitchFamily="34" charset="0"/>
                        </a:rPr>
                        <a:t>SLDR - Fishing boat repair</a:t>
                      </a:r>
                      <a:endParaRPr lang="en-US" sz="1600">
                        <a:effectLst/>
                      </a:endParaRPr>
                    </a:p>
                  </a:txBody>
                  <a:tcPr marL="0" marR="0" marT="0" marB="0" anchor="ctr">
                    <a:lnL>
                      <a:noFill/>
                    </a:lnL>
                    <a:lnR>
                      <a:noFill/>
                    </a:lnR>
                    <a:lnT>
                      <a:noFill/>
                    </a:lnT>
                    <a:lnB>
                      <a:noFill/>
                    </a:lnB>
                    <a:noFill/>
                  </a:tcPr>
                </a:tc>
                <a:extLst>
                  <a:ext uri="{0D108BD9-81ED-4DB2-BD59-A6C34878D82A}">
                    <a16:rowId xmlns:a16="http://schemas.microsoft.com/office/drawing/2014/main" val="2972802240"/>
                  </a:ext>
                </a:extLst>
              </a:tr>
              <a:tr h="370840">
                <a:tc>
                  <a:txBody>
                    <a:bodyPr/>
                    <a:lstStyle/>
                    <a:p>
                      <a:pPr marL="283464" marR="0" indent="-283464" algn="l" rtl="0" eaLnBrk="1" fontAlgn="auto" latinLnBrk="0" hangingPunct="1">
                        <a:buClrTx/>
                        <a:buSzPts val="1600"/>
                        <a:buFont typeface="Arial" panose="020B0604020202020204" pitchFamily="34" charset="0"/>
                        <a:buChar char="•"/>
                      </a:pPr>
                      <a:r>
                        <a:rPr lang="en-US" sz="1600" kern="1200">
                          <a:solidFill>
                            <a:srgbClr val="1F4766"/>
                          </a:solidFill>
                          <a:effectLst/>
                          <a:latin typeface="Lato" panose="020F0502020204030203" pitchFamily="34" charset="0"/>
                          <a:ea typeface="Lato" panose="020F0502020204030203" pitchFamily="34" charset="0"/>
                          <a:cs typeface="Lato" panose="020F0502020204030203" pitchFamily="34" charset="0"/>
                        </a:rPr>
                        <a:t>SLDR - Facilities remediation and maintenance</a:t>
                      </a:r>
                      <a:endParaRPr lang="en-US" sz="1600">
                        <a:effectLst/>
                      </a:endParaRPr>
                    </a:p>
                  </a:txBody>
                  <a:tcPr marL="0" marR="0" marT="0" marB="0" anchor="ctr">
                    <a:lnL>
                      <a:noFill/>
                    </a:lnL>
                    <a:lnR>
                      <a:noFill/>
                    </a:lnR>
                    <a:lnT>
                      <a:noFill/>
                    </a:lnT>
                    <a:lnB>
                      <a:noFill/>
                    </a:lnB>
                    <a:noFill/>
                  </a:tcPr>
                </a:tc>
                <a:tc>
                  <a:txBody>
                    <a:bodyPr/>
                    <a:lstStyle/>
                    <a:p>
                      <a:pPr>
                        <a:buNone/>
                      </a:pPr>
                      <a:endParaRPr lang="en-US">
                        <a:effectLst/>
                      </a:endParaRPr>
                    </a:p>
                  </a:txBody>
                  <a:tcPr marL="0" marR="0" marT="0" marB="0" anchor="ctr">
                    <a:lnL>
                      <a:noFill/>
                    </a:lnL>
                    <a:lnR>
                      <a:noFill/>
                    </a:lnR>
                    <a:lnT>
                      <a:noFill/>
                    </a:lnT>
                    <a:lnB>
                      <a:noFill/>
                    </a:lnB>
                    <a:noFill/>
                  </a:tcPr>
                </a:tc>
                <a:extLst>
                  <a:ext uri="{0D108BD9-81ED-4DB2-BD59-A6C34878D82A}">
                    <a16:rowId xmlns:a16="http://schemas.microsoft.com/office/drawing/2014/main" val="2807743788"/>
                  </a:ext>
                </a:extLst>
              </a:tr>
              <a:tr h="370840">
                <a:tc>
                  <a:txBody>
                    <a:bodyPr/>
                    <a:lstStyle/>
                    <a:p>
                      <a:pPr marL="283464" marR="0" indent="-283464" algn="l" rtl="0" eaLnBrk="1" fontAlgn="auto" latinLnBrk="0" hangingPunct="1">
                        <a:buClrTx/>
                        <a:buSzPts val="1600"/>
                        <a:buFont typeface="Arial" panose="020B0604020202020204" pitchFamily="34" charset="0"/>
                        <a:buChar char="•"/>
                      </a:pPr>
                      <a:r>
                        <a:rPr lang="en-US" sz="1600" kern="1200">
                          <a:solidFill>
                            <a:srgbClr val="1F4766"/>
                          </a:solidFill>
                          <a:effectLst/>
                          <a:latin typeface="Lato" panose="020F0502020204030203" pitchFamily="34" charset="0"/>
                          <a:ea typeface="Lato" panose="020F0502020204030203" pitchFamily="34" charset="0"/>
                          <a:cs typeface="Lato" panose="020F0502020204030203" pitchFamily="34" charset="0"/>
                        </a:rPr>
                        <a:t>SLDR - Business re-capitalization </a:t>
                      </a:r>
                      <a:r>
                        <a:rPr lang="en-US" sz="1600" i="1" kern="1200">
                          <a:solidFill>
                            <a:srgbClr val="1F4766"/>
                          </a:solidFill>
                          <a:effectLst/>
                          <a:latin typeface="Lato" panose="020F0502020204030203" pitchFamily="34" charset="0"/>
                          <a:ea typeface="Lato" panose="020F0502020204030203" pitchFamily="34" charset="0"/>
                          <a:cs typeface="Lato" panose="020F0502020204030203" pitchFamily="34" charset="0"/>
                        </a:rPr>
                        <a:t>(with loan proceeds offsetting features)</a:t>
                      </a:r>
                      <a:endParaRPr lang="en-US" sz="1600">
                        <a:effectLst/>
                      </a:endParaRPr>
                    </a:p>
                  </a:txBody>
                  <a:tcPr marL="0" marR="0" marT="0" marB="0" anchor="ctr">
                    <a:lnL>
                      <a:noFill/>
                    </a:lnL>
                    <a:lnR>
                      <a:noFill/>
                    </a:lnR>
                    <a:lnT>
                      <a:noFill/>
                    </a:lnT>
                    <a:lnB>
                      <a:noFill/>
                    </a:lnB>
                    <a:noFill/>
                  </a:tcPr>
                </a:tc>
                <a:tc>
                  <a:txBody>
                    <a:bodyPr/>
                    <a:lstStyle/>
                    <a:p>
                      <a:pPr>
                        <a:buNone/>
                      </a:pPr>
                      <a:endParaRPr lang="en-US">
                        <a:effectLst/>
                      </a:endParaRPr>
                    </a:p>
                  </a:txBody>
                  <a:tcPr marL="0" marR="0" marT="0" marB="0" anchor="ctr">
                    <a:lnL>
                      <a:noFill/>
                    </a:lnL>
                    <a:lnR>
                      <a:noFill/>
                    </a:lnR>
                    <a:lnT>
                      <a:noFill/>
                    </a:lnT>
                    <a:lnB>
                      <a:noFill/>
                    </a:lnB>
                    <a:noFill/>
                  </a:tcPr>
                </a:tc>
                <a:extLst>
                  <a:ext uri="{0D108BD9-81ED-4DB2-BD59-A6C34878D82A}">
                    <a16:rowId xmlns:a16="http://schemas.microsoft.com/office/drawing/2014/main" val="3768766756"/>
                  </a:ext>
                </a:extLst>
              </a:tr>
            </a:tbl>
          </a:graphicData>
        </a:graphic>
      </p:graphicFrame>
    </p:spTree>
    <p:extLst>
      <p:ext uri="{BB962C8B-B14F-4D97-AF65-F5344CB8AC3E}">
        <p14:creationId xmlns:p14="http://schemas.microsoft.com/office/powerpoint/2010/main" val="3394640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6D53BC0-5915-4EE6-A8B4-385258777E7F}" type="slidenum">
              <a:rPr lang="en-PH" smtClean="0"/>
              <a:pPr/>
              <a:t>45</a:t>
            </a:fld>
            <a:endParaRPr lang="en-PH"/>
          </a:p>
        </p:txBody>
      </p:sp>
      <p:sp>
        <p:nvSpPr>
          <p:cNvPr id="5" name="Text Placeholder 1">
            <a:extLst>
              <a:ext uri="{FF2B5EF4-FFF2-40B4-BE49-F238E27FC236}">
                <a16:creationId xmlns:a16="http://schemas.microsoft.com/office/drawing/2014/main" id="{0E5586A1-CEB2-09F9-6E9D-02D1C5644E10}"/>
              </a:ext>
            </a:extLst>
          </p:cNvPr>
          <p:cNvSpPr txBox="1">
            <a:spLocks/>
          </p:cNvSpPr>
          <p:nvPr/>
        </p:nvSpPr>
        <p:spPr>
          <a:xfrm>
            <a:off x="3159405" y="3850829"/>
            <a:ext cx="5285508" cy="874712"/>
          </a:xfrm>
          <a:prstGeom prst="rect">
            <a:avLst/>
          </a:prstGeom>
        </p:spPr>
        <p:txBody>
          <a:bodyPr vert="horz" lIns="91440" tIns="45720" rIns="91440" bIns="45720" rtlCol="0" anchor="t">
            <a:noAutofit/>
          </a:bodyPr>
          <a:lstStyle>
            <a:defPPr>
              <a:defRPr lang="en-US"/>
            </a:defPPr>
            <a:lvl1pPr marL="0" algn="l" defTabSz="914400" rtl="0" eaLnBrk="1" latinLnBrk="0" hangingPunct="1">
              <a:defRPr sz="1200" kern="1200">
                <a:solidFill>
                  <a:schemeClr val="tx1">
                    <a:tint val="75000"/>
                  </a:schemeClr>
                </a:solidFill>
                <a:latin typeface="Lato" panose="020F0502020204030203" pitchFamily="34" charset="0"/>
                <a:ea typeface="Lato" panose="020F0502020204030203" pitchFamily="34" charset="0"/>
                <a:cs typeface="Lato" panose="020F050202020403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800" b="1">
                <a:latin typeface="Lato"/>
                <a:ea typeface="Lato"/>
                <a:cs typeface="Lato"/>
              </a:rPr>
              <a:t>Salamat!</a:t>
            </a:r>
            <a:endParaRPr lang="en-US" sz="8800" b="1"/>
          </a:p>
        </p:txBody>
      </p:sp>
    </p:spTree>
    <p:extLst>
      <p:ext uri="{BB962C8B-B14F-4D97-AF65-F5344CB8AC3E}">
        <p14:creationId xmlns:p14="http://schemas.microsoft.com/office/powerpoint/2010/main" val="20002706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e35d92d-4918-40ca-a9db-e033b743ecb4">
      <Terms xmlns="http://schemas.microsoft.com/office/infopath/2007/PartnerControls"/>
    </lcf76f155ced4ddcb4097134ff3c332f>
    <TaxCatchAll xmlns="fc53dd41-976b-4a60-afef-ecd0b7631567" xsi:nil="true"/>
    <FullName xmlns="2e35d92d-4918-40ca-a9db-e033b743ecb4" xsi:nil="true"/>
    <TrainingDate xmlns="2e35d92d-4918-40ca-a9db-e033b743ecb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AABEA870D756143BCD429AF04F65C88" ma:contentTypeVersion="17" ma:contentTypeDescription="Create a new document." ma:contentTypeScope="" ma:versionID="c77e6df1cece6a648544ee0a4069798c">
  <xsd:schema xmlns:xsd="http://www.w3.org/2001/XMLSchema" xmlns:xs="http://www.w3.org/2001/XMLSchema" xmlns:p="http://schemas.microsoft.com/office/2006/metadata/properties" xmlns:ns2="2e35d92d-4918-40ca-a9db-e033b743ecb4" xmlns:ns3="fc53dd41-976b-4a60-afef-ecd0b7631567" targetNamespace="http://schemas.microsoft.com/office/2006/metadata/properties" ma:root="true" ma:fieldsID="80c786f863c054bc4db4b9a3877c7ecd" ns2:_="" ns3:_="">
    <xsd:import namespace="2e35d92d-4918-40ca-a9db-e033b743ecb4"/>
    <xsd:import namespace="fc53dd41-976b-4a60-afef-ecd0b763156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lcf76f155ced4ddcb4097134ff3c332f" minOccurs="0"/>
                <xsd:element ref="ns3:TaxCatchAll" minOccurs="0"/>
                <xsd:element ref="ns2:MediaServiceOCR" minOccurs="0"/>
                <xsd:element ref="ns2:MediaServiceLocation" minOccurs="0"/>
                <xsd:element ref="ns2:FullName" minOccurs="0"/>
                <xsd:element ref="ns2:Training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35d92d-4918-40ca-a9db-e033b743ecb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BillingMetadata" ma:index="16" nillable="true" ma:displayName="MediaServiceBillingMetadata" ma:hidden="true" ma:internalName="MediaServiceBillingMetadata" ma:readOnly="true">
      <xsd:simpleType>
        <xsd:restriction base="dms:Note"/>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e456cd5b-cc4c-4003-bd9e-feae8d86794f"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Location" ma:index="21" nillable="true" ma:displayName="Location" ma:indexed="true" ma:internalName="MediaServiceLocation" ma:readOnly="true">
      <xsd:simpleType>
        <xsd:restriction base="dms:Text"/>
      </xsd:simpleType>
    </xsd:element>
    <xsd:element name="FullName" ma:index="22" nillable="true" ma:displayName="FullName" ma:description="Name of respondent." ma:format="Dropdown" ma:internalName="FullName">
      <xsd:simpleType>
        <xsd:restriction base="dms:Text">
          <xsd:maxLength value="255"/>
        </xsd:restriction>
      </xsd:simpleType>
    </xsd:element>
    <xsd:element name="TrainingDate" ma:index="23" nillable="true" ma:displayName="TrainingDate" ma:description="Date when Training Completed" ma:format="Dropdown" ma:internalName="TrainingDat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c53dd41-976b-4a60-afef-ecd0b7631567"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ac5a612a-c03e-4236-8d8b-71cfff349272}" ma:internalName="TaxCatchAll" ma:showField="CatchAllData" ma:web="fc53dd41-976b-4a60-afef-ecd0b763156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55998B3-F2FA-4AED-ADB3-A87FA22C795A}">
  <ds:schemaRefs>
    <ds:schemaRef ds:uri="2e35d92d-4918-40ca-a9db-e033b743ecb4"/>
    <ds:schemaRef ds:uri="67071125-947d-4fe2-ac8b-21bd61e4a96d"/>
    <ds:schemaRef ds:uri="f980c4db-0492-44a1-9b89-469b170c9d8a"/>
    <ds:schemaRef ds:uri="fc53dd41-976b-4a60-afef-ecd0b7631567"/>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BF33B039-CE03-48B2-A970-C20ECD08E7A3}">
  <ds:schemaRefs>
    <ds:schemaRef ds:uri="http://schemas.microsoft.com/sharepoint/v3/contenttype/forms"/>
  </ds:schemaRefs>
</ds:datastoreItem>
</file>

<file path=customXml/itemProps3.xml><?xml version="1.0" encoding="utf-8"?>
<ds:datastoreItem xmlns:ds="http://schemas.openxmlformats.org/officeDocument/2006/customXml" ds:itemID="{03D61E92-2805-41B5-9AE0-AB6F726DC102}">
  <ds:schemaRefs>
    <ds:schemaRef ds:uri="2e35d92d-4918-40ca-a9db-e033b743ecb4"/>
    <ds:schemaRef ds:uri="fc53dd41-976b-4a60-afef-ecd0b763156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99e9f4b3-e8dc-4938-a270-6ac0a443a7f2}" enabled="1" method="Privileged" siteId="{70f85b1c-c478-4390-a3af-d8ff3d4cd639}" contentBits="3"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45</Slides>
  <Notes>19</Notes>
  <HiddenSlides>0</HiddenSlide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RAFI MFI Financial Products and Services</vt:lpstr>
      <vt:lpstr>PowerPoint Presentation</vt:lpstr>
      <vt:lpstr>Product Features</vt:lpstr>
      <vt:lpstr>PowerPoint Presentation</vt:lpstr>
      <vt:lpstr>PowerPoint Presentation</vt:lpstr>
      <vt:lpstr>PowerPoint Presentation</vt:lpstr>
      <vt:lpstr>Product Features</vt:lpstr>
      <vt:lpstr>RAFI MFI Financial Products and Services</vt:lpstr>
      <vt:lpstr>PowerPoint Presentation</vt:lpstr>
      <vt:lpstr>PowerPoint Presentation</vt:lpstr>
      <vt:lpstr>PowerPoint Presentation</vt:lpstr>
      <vt:lpstr>PowerPoint Presentation</vt:lpstr>
      <vt:lpstr>PowerPoint Presentation</vt:lpstr>
      <vt:lpstr>Product Features</vt:lpstr>
      <vt:lpstr>PowerPoint Presentation</vt:lpstr>
      <vt:lpstr>Product Features</vt:lpstr>
      <vt:lpstr>PowerPoint Presentation</vt:lpstr>
      <vt:lpstr>Product Features</vt:lpstr>
      <vt:lpstr>RAFI MFI Financial Products and Services</vt:lpstr>
      <vt:lpstr>Kaagabay GPA Insurance Comprehensive Accident Insurance </vt:lpstr>
      <vt:lpstr>Kaagabay (GPA) Comprehensive Accident Insurance</vt:lpstr>
      <vt:lpstr>Kaagabay (GPA) Comprehensive Accident Insurance                    Enhanced GPA for MPLUS</vt:lpstr>
      <vt:lpstr>Kaagabay (GPA)</vt:lpstr>
      <vt:lpstr>Family Relief Plan(Burial (BURIAL ASSISTANCE)</vt:lpstr>
      <vt:lpstr>PowerPoint Presentation</vt:lpstr>
      <vt:lpstr>Loan Redemption Fund</vt:lpstr>
      <vt:lpstr>RAFI MFI Financial Products and Services</vt:lpstr>
      <vt:lpstr>PowerPoint Presentation</vt:lpstr>
      <vt:lpstr>Product Features</vt:lpstr>
      <vt:lpstr>PowerPoint Presentation</vt:lpstr>
      <vt:lpstr>PowerPoint Presentation</vt:lpstr>
      <vt:lpstr>PowerPoint Presentation</vt:lpstr>
      <vt:lpstr>PowerPoint Presentation</vt:lpstr>
      <vt:lpstr>Product Features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Lemuel</dc:creator>
  <cp:revision>307</cp:revision>
  <dcterms:created xsi:type="dcterms:W3CDTF">2024-12-03T01:45:36Z</dcterms:created>
  <dcterms:modified xsi:type="dcterms:W3CDTF">2026-05-19T07:04:13Z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803a0d2-1701-4995-93c5-e9b51454cb78_Enabled">
    <vt:lpwstr>true</vt:lpwstr>
  </property>
  <property fmtid="{D5CDD505-2E9C-101B-9397-08002B2CF9AE}" pid="3" name="MSIP_Label_a803a0d2-1701-4995-93c5-e9b51454cb78_SetDate">
    <vt:lpwstr>2025-01-08T02:14:31Z</vt:lpwstr>
  </property>
  <property fmtid="{D5CDD505-2E9C-101B-9397-08002B2CF9AE}" pid="4" name="MSIP_Label_a803a0d2-1701-4995-93c5-e9b51454cb78_Method">
    <vt:lpwstr>Privileged</vt:lpwstr>
  </property>
  <property fmtid="{D5CDD505-2E9C-101B-9397-08002B2CF9AE}" pid="5" name="MSIP_Label_a803a0d2-1701-4995-93c5-e9b51454cb78_Name">
    <vt:lpwstr>a803a0d2-1701-4995-93c5-e9b51454cb78</vt:lpwstr>
  </property>
  <property fmtid="{D5CDD505-2E9C-101B-9397-08002B2CF9AE}" pid="6" name="MSIP_Label_a803a0d2-1701-4995-93c5-e9b51454cb78_SiteId">
    <vt:lpwstr>4f2f5733-1a9d-48ac-98f4-a6c588424b7b</vt:lpwstr>
  </property>
  <property fmtid="{D5CDD505-2E9C-101B-9397-08002B2CF9AE}" pid="7" name="MSIP_Label_a803a0d2-1701-4995-93c5-e9b51454cb78_ActionId">
    <vt:lpwstr>430a826b-aaeb-4f81-9ed9-52caa55066f0</vt:lpwstr>
  </property>
  <property fmtid="{D5CDD505-2E9C-101B-9397-08002B2CF9AE}" pid="8" name="MSIP_Label_a803a0d2-1701-4995-93c5-e9b51454cb78_ContentBits">
    <vt:lpwstr>0</vt:lpwstr>
  </property>
  <property fmtid="{D5CDD505-2E9C-101B-9397-08002B2CF9AE}" pid="9" name="ContentTypeId">
    <vt:lpwstr>0x0101000AABEA870D756143BCD429AF04F65C88</vt:lpwstr>
  </property>
  <property fmtid="{D5CDD505-2E9C-101B-9397-08002B2CF9AE}" pid="10" name="ClassificationContentMarkingFooterLocations">
    <vt:lpwstr>Office Theme:11</vt:lpwstr>
  </property>
  <property fmtid="{D5CDD505-2E9C-101B-9397-08002B2CF9AE}" pid="11" name="ClassificationContentMarkingFooterText">
    <vt:lpwstr>Information in this document or emails are intended for RAFI MFI internal use only.</vt:lpwstr>
  </property>
  <property fmtid="{D5CDD505-2E9C-101B-9397-08002B2CF9AE}" pid="12" name="ClassificationContentMarkingHeaderLocations">
    <vt:lpwstr>Office Theme:10</vt:lpwstr>
  </property>
  <property fmtid="{D5CDD505-2E9C-101B-9397-08002B2CF9AE}" pid="13" name="ClassificationContentMarkingHeaderText">
    <vt:lpwstr>RAFI MFI - Internal (General Information)</vt:lpwstr>
  </property>
  <property fmtid="{D5CDD505-2E9C-101B-9397-08002B2CF9AE}" pid="14" name="MediaServiceImageTags">
    <vt:lpwstr/>
  </property>
</Properties>
</file>